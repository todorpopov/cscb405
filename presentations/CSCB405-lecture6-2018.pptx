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5" r:id="rId1"/>
  </p:sldMasterIdLst>
  <p:notesMasterIdLst>
    <p:notesMasterId r:id="rId47"/>
  </p:notesMasterIdLst>
  <p:handoutMasterIdLst>
    <p:handoutMasterId r:id="rId48"/>
  </p:handoutMasterIdLst>
  <p:sldIdLst>
    <p:sldId id="256" r:id="rId2"/>
    <p:sldId id="257" r:id="rId3"/>
    <p:sldId id="258" r:id="rId4"/>
    <p:sldId id="260" r:id="rId5"/>
    <p:sldId id="263" r:id="rId6"/>
    <p:sldId id="355" r:id="rId7"/>
    <p:sldId id="259" r:id="rId8"/>
    <p:sldId id="312" r:id="rId9"/>
    <p:sldId id="313" r:id="rId10"/>
    <p:sldId id="264" r:id="rId11"/>
    <p:sldId id="317" r:id="rId12"/>
    <p:sldId id="318" r:id="rId13"/>
    <p:sldId id="282" r:id="rId14"/>
    <p:sldId id="315" r:id="rId15"/>
    <p:sldId id="314" r:id="rId16"/>
    <p:sldId id="283" r:id="rId17"/>
    <p:sldId id="351" r:id="rId18"/>
    <p:sldId id="284" r:id="rId19"/>
    <p:sldId id="285" r:id="rId20"/>
    <p:sldId id="286" r:id="rId21"/>
    <p:sldId id="352" r:id="rId22"/>
    <p:sldId id="354" r:id="rId23"/>
    <p:sldId id="287" r:id="rId24"/>
    <p:sldId id="288" r:id="rId25"/>
    <p:sldId id="289" r:id="rId26"/>
    <p:sldId id="290" r:id="rId27"/>
    <p:sldId id="359" r:id="rId28"/>
    <p:sldId id="292" r:id="rId29"/>
    <p:sldId id="348" r:id="rId30"/>
    <p:sldId id="349" r:id="rId31"/>
    <p:sldId id="363" r:id="rId32"/>
    <p:sldId id="293" r:id="rId33"/>
    <p:sldId id="347" r:id="rId34"/>
    <p:sldId id="294" r:id="rId35"/>
    <p:sldId id="295" r:id="rId36"/>
    <p:sldId id="296" r:id="rId37"/>
    <p:sldId id="356" r:id="rId38"/>
    <p:sldId id="357" r:id="rId39"/>
    <p:sldId id="358" r:id="rId40"/>
    <p:sldId id="365" r:id="rId41"/>
    <p:sldId id="360" r:id="rId42"/>
    <p:sldId id="361" r:id="rId43"/>
    <p:sldId id="362" r:id="rId44"/>
    <p:sldId id="364" r:id="rId45"/>
    <p:sldId id="302" r:id="rId46"/>
  </p:sldIdLst>
  <p:sldSz cx="9144000" cy="6858000" type="screen4x3"/>
  <p:notesSz cx="6858000" cy="9144000"/>
  <p:defaultTextStyle>
    <a:defPPr>
      <a:defRPr lang="bg-BG"/>
    </a:defPPr>
    <a:lvl1pPr algn="r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Arial Narrow" pitchFamily="34" charset="0"/>
        <a:ea typeface="+mn-ea"/>
        <a:cs typeface="+mn-cs"/>
      </a:defRPr>
    </a:lvl1pPr>
    <a:lvl2pPr marL="457200" algn="r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Arial Narrow" pitchFamily="34" charset="0"/>
        <a:ea typeface="+mn-ea"/>
        <a:cs typeface="+mn-cs"/>
      </a:defRPr>
    </a:lvl2pPr>
    <a:lvl3pPr marL="914400" algn="r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Arial Narrow" pitchFamily="34" charset="0"/>
        <a:ea typeface="+mn-ea"/>
        <a:cs typeface="+mn-cs"/>
      </a:defRPr>
    </a:lvl3pPr>
    <a:lvl4pPr marL="1371600" algn="r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Arial Narrow" pitchFamily="34" charset="0"/>
        <a:ea typeface="+mn-ea"/>
        <a:cs typeface="+mn-cs"/>
      </a:defRPr>
    </a:lvl4pPr>
    <a:lvl5pPr marL="1828800" algn="r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Arial Narrow" pitchFamily="34" charset="0"/>
        <a:ea typeface="+mn-ea"/>
        <a:cs typeface="+mn-cs"/>
      </a:defRPr>
    </a:lvl5pPr>
    <a:lvl6pPr marL="2286000" algn="l" defTabSz="914400" rtl="0" eaLnBrk="1" latinLnBrk="0" hangingPunct="1">
      <a:defRPr sz="3200" kern="1200">
        <a:solidFill>
          <a:schemeClr val="tx1"/>
        </a:solidFill>
        <a:latin typeface="Arial Narrow" pitchFamily="34" charset="0"/>
        <a:ea typeface="+mn-ea"/>
        <a:cs typeface="+mn-cs"/>
      </a:defRPr>
    </a:lvl6pPr>
    <a:lvl7pPr marL="2743200" algn="l" defTabSz="914400" rtl="0" eaLnBrk="1" latinLnBrk="0" hangingPunct="1">
      <a:defRPr sz="3200" kern="1200">
        <a:solidFill>
          <a:schemeClr val="tx1"/>
        </a:solidFill>
        <a:latin typeface="Arial Narrow" pitchFamily="34" charset="0"/>
        <a:ea typeface="+mn-ea"/>
        <a:cs typeface="+mn-cs"/>
      </a:defRPr>
    </a:lvl7pPr>
    <a:lvl8pPr marL="3200400" algn="l" defTabSz="914400" rtl="0" eaLnBrk="1" latinLnBrk="0" hangingPunct="1">
      <a:defRPr sz="3200" kern="1200">
        <a:solidFill>
          <a:schemeClr val="tx1"/>
        </a:solidFill>
        <a:latin typeface="Arial Narrow" pitchFamily="34" charset="0"/>
        <a:ea typeface="+mn-ea"/>
        <a:cs typeface="+mn-cs"/>
      </a:defRPr>
    </a:lvl8pPr>
    <a:lvl9pPr marL="3657600" algn="l" defTabSz="914400" rtl="0" eaLnBrk="1" latinLnBrk="0" hangingPunct="1">
      <a:defRPr sz="3200" kern="1200">
        <a:solidFill>
          <a:schemeClr val="tx1"/>
        </a:solidFill>
        <a:latin typeface="Arial Narrow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66"/>
    <a:srgbClr val="006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30" autoAdjust="0"/>
    <p:restoredTop sz="94636" autoAdjust="0"/>
  </p:normalViewPr>
  <p:slideViewPr>
    <p:cSldViewPr>
      <p:cViewPr varScale="1">
        <p:scale>
          <a:sx n="106" d="100"/>
          <a:sy n="106" d="100"/>
        </p:scale>
        <p:origin x="1038" y="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3" d="100"/>
          <a:sy n="83" d="100"/>
        </p:scale>
        <p:origin x="-1422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Arial" charset="0"/>
              </a:defRPr>
            </a:lvl1pPr>
          </a:lstStyle>
          <a:p>
            <a:endParaRPr lang="bg-BG" altLang="bg-BG"/>
          </a:p>
        </p:txBody>
      </p:sp>
      <p:sp>
        <p:nvSpPr>
          <p:cNvPr id="11981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endParaRPr lang="bg-BG" altLang="bg-BG"/>
          </a:p>
        </p:txBody>
      </p:sp>
      <p:sp>
        <p:nvSpPr>
          <p:cNvPr id="11981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Arial" charset="0"/>
              </a:defRPr>
            </a:lvl1pPr>
          </a:lstStyle>
          <a:p>
            <a:endParaRPr lang="bg-BG" altLang="bg-BG"/>
          </a:p>
        </p:txBody>
      </p:sp>
      <p:sp>
        <p:nvSpPr>
          <p:cNvPr id="11981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fld id="{924B2EA3-3DEA-488F-9033-16351051D19C}" type="slidenum">
              <a:rPr lang="bg-BG" altLang="bg-BG"/>
              <a:pPr/>
              <a:t>‹#›</a:t>
            </a:fld>
            <a:endParaRPr lang="bg-BG" altLang="bg-BG"/>
          </a:p>
        </p:txBody>
      </p:sp>
    </p:spTree>
    <p:extLst>
      <p:ext uri="{BB962C8B-B14F-4D97-AF65-F5344CB8AC3E}">
        <p14:creationId xmlns:p14="http://schemas.microsoft.com/office/powerpoint/2010/main" val="232829901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Arial" charset="0"/>
              </a:defRPr>
            </a:lvl1pPr>
          </a:lstStyle>
          <a:p>
            <a:endParaRPr lang="bg-BG" altLang="bg-BG"/>
          </a:p>
        </p:txBody>
      </p:sp>
      <p:sp>
        <p:nvSpPr>
          <p:cNvPr id="9830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endParaRPr lang="bg-BG" altLang="bg-BG"/>
          </a:p>
        </p:txBody>
      </p:sp>
      <p:sp>
        <p:nvSpPr>
          <p:cNvPr id="983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9830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bg-BG" altLang="bg-BG" smtClean="0"/>
              <a:t>Click to edit Master text styles</a:t>
            </a:r>
          </a:p>
          <a:p>
            <a:pPr lvl="1"/>
            <a:r>
              <a:rPr lang="bg-BG" altLang="bg-BG" smtClean="0"/>
              <a:t>Second level</a:t>
            </a:r>
          </a:p>
          <a:p>
            <a:pPr lvl="2"/>
            <a:r>
              <a:rPr lang="bg-BG" altLang="bg-BG" smtClean="0"/>
              <a:t>Third level</a:t>
            </a:r>
          </a:p>
          <a:p>
            <a:pPr lvl="3"/>
            <a:r>
              <a:rPr lang="bg-BG" altLang="bg-BG" smtClean="0"/>
              <a:t>Fourth level</a:t>
            </a:r>
          </a:p>
          <a:p>
            <a:pPr lvl="4"/>
            <a:r>
              <a:rPr lang="bg-BG" altLang="bg-BG" smtClean="0"/>
              <a:t>Fifth level</a:t>
            </a:r>
          </a:p>
        </p:txBody>
      </p:sp>
      <p:sp>
        <p:nvSpPr>
          <p:cNvPr id="9831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Arial" charset="0"/>
              </a:defRPr>
            </a:lvl1pPr>
          </a:lstStyle>
          <a:p>
            <a:endParaRPr lang="bg-BG" altLang="bg-BG"/>
          </a:p>
        </p:txBody>
      </p:sp>
      <p:sp>
        <p:nvSpPr>
          <p:cNvPr id="9831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fld id="{E1FDAF5C-8A41-46A8-9011-28775DFFF7F0}" type="slidenum">
              <a:rPr lang="bg-BG" altLang="bg-BG"/>
              <a:pPr/>
              <a:t>‹#›</a:t>
            </a:fld>
            <a:endParaRPr lang="bg-BG" altLang="bg-BG"/>
          </a:p>
        </p:txBody>
      </p:sp>
    </p:spTree>
    <p:extLst>
      <p:ext uri="{BB962C8B-B14F-4D97-AF65-F5344CB8AC3E}">
        <p14:creationId xmlns:p14="http://schemas.microsoft.com/office/powerpoint/2010/main" val="35699387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3D51EF6-DEFA-48C0-8507-769B15BE8FCF}" type="slidenum">
              <a:rPr lang="bg-BG" altLang="bg-BG"/>
              <a:pPr/>
              <a:t>17</a:t>
            </a:fld>
            <a:endParaRPr lang="bg-BG" altLang="bg-BG"/>
          </a:p>
        </p:txBody>
      </p:sp>
      <p:sp>
        <p:nvSpPr>
          <p:cNvPr id="302082" name="Rectangle 2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2083" name="Rectangle 3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0050" cy="4108450"/>
          </a:xfr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bg-BG" altLang="bg-BG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A3B4F50-EBFB-4C7B-9800-D3C1A176A467}" type="slidenum">
              <a:rPr lang="bg-BG" altLang="bg-BG"/>
              <a:pPr/>
              <a:t>22</a:t>
            </a:fld>
            <a:endParaRPr lang="bg-BG" altLang="bg-BG"/>
          </a:p>
        </p:txBody>
      </p:sp>
      <p:sp>
        <p:nvSpPr>
          <p:cNvPr id="308226" name="Rectangle 2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8227" name="Rectangle 3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0050" cy="4108450"/>
          </a:xfr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bg-BG" altLang="bg-BG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777240" y="0"/>
            <a:ext cx="7543800" cy="304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3200400"/>
            <a:ext cx="7543800" cy="1524000"/>
          </a:xfrm>
        </p:spPr>
        <p:txBody>
          <a:bodyPr>
            <a:noAutofit/>
          </a:bodyPr>
          <a:lstStyle>
            <a:lvl1pPr>
              <a:defRPr sz="8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4724400"/>
            <a:ext cx="6858000" cy="990600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8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 smtClean="0"/>
              <a:t>Юлиана Пенева</a:t>
            </a:r>
            <a:endParaRPr lang="bg-BG" alt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altLang="bg-BG" smtClean="0"/>
              <a:t>CSCB405- модул 6</a:t>
            </a:r>
            <a:endParaRPr lang="bg-BG" alt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617CAA-9C1D-4DCE-980A-40A2E1B8D844}" type="slidenum">
              <a:rPr lang="bg-BG" altLang="bg-BG" smtClean="0"/>
              <a:pPr/>
              <a:t>‹#›</a:t>
            </a:fld>
            <a:endParaRPr lang="bg-BG" altLang="bg-BG"/>
          </a:p>
        </p:txBody>
      </p:sp>
      <p:sp>
        <p:nvSpPr>
          <p:cNvPr id="7" name="Rectangle 6"/>
          <p:cNvSpPr/>
          <p:nvPr/>
        </p:nvSpPr>
        <p:spPr>
          <a:xfrm>
            <a:off x="777240" y="6172200"/>
            <a:ext cx="7543800" cy="274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 smtClean="0"/>
              <a:t>Юлиана Пенева</a:t>
            </a:r>
            <a:endParaRPr lang="bg-BG" alt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altLang="bg-BG" smtClean="0"/>
              <a:t>CSCB405- модул 6</a:t>
            </a:r>
            <a:endParaRPr lang="bg-BG" alt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397170-AE73-4126-96AC-6579BEE074EF}" type="slidenum">
              <a:rPr lang="bg-BG" altLang="bg-BG" smtClean="0"/>
              <a:pPr/>
              <a:t>‹#›</a:t>
            </a:fld>
            <a:endParaRPr lang="bg-BG" altLang="bg-BG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777240" y="0"/>
            <a:ext cx="7543800" cy="304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276600"/>
            <a:ext cx="7543800" cy="1676400"/>
          </a:xfrm>
        </p:spPr>
        <p:txBody>
          <a:bodyPr anchor="b" anchorCtr="0"/>
          <a:lstStyle>
            <a:lvl1pPr algn="l">
              <a:defRPr sz="54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4953000"/>
            <a:ext cx="6858000" cy="914400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 smtClean="0"/>
              <a:t>Юлиана Пенева</a:t>
            </a:r>
            <a:endParaRPr lang="bg-BG" alt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altLang="bg-BG" smtClean="0"/>
              <a:t>CSCB405- модул 6</a:t>
            </a:r>
            <a:endParaRPr lang="bg-BG" alt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9A8DBF-CB53-4916-BF7C-8583D307F226}" type="slidenum">
              <a:rPr lang="bg-BG" altLang="bg-BG" smtClean="0"/>
              <a:pPr/>
              <a:t>‹#›</a:t>
            </a:fld>
            <a:endParaRPr lang="bg-BG" altLang="bg-BG"/>
          </a:p>
        </p:txBody>
      </p:sp>
      <p:sp>
        <p:nvSpPr>
          <p:cNvPr id="8" name="Rectangle 7"/>
          <p:cNvSpPr/>
          <p:nvPr/>
        </p:nvSpPr>
        <p:spPr>
          <a:xfrm>
            <a:off x="777240" y="6172200"/>
            <a:ext cx="7543800" cy="274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2000" y="609601"/>
            <a:ext cx="3657600" cy="376732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609601"/>
            <a:ext cx="3657600" cy="376732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 smtClean="0"/>
              <a:t>Юлиана Пенева</a:t>
            </a:r>
            <a:endParaRPr lang="bg-BG" alt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altLang="bg-BG" smtClean="0"/>
              <a:t>CSCB405- модул 6</a:t>
            </a:r>
            <a:endParaRPr lang="bg-BG" alt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069C3-0027-418D-A6F8-AE35808DAFDA}" type="slidenum">
              <a:rPr lang="bg-BG" altLang="bg-BG" smtClean="0"/>
              <a:pPr/>
              <a:t>‹#›</a:t>
            </a:fld>
            <a:endParaRPr lang="bg-BG" altLang="bg-BG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609600"/>
            <a:ext cx="3657600" cy="6397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8952" y="1329264"/>
            <a:ext cx="3657600" cy="3048000"/>
          </a:xfrm>
        </p:spPr>
        <p:txBody>
          <a:bodyPr anchor="t" anchorCtr="0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152" y="609600"/>
            <a:ext cx="3657600" cy="6397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152" y="1329264"/>
            <a:ext cx="3657600" cy="3048000"/>
          </a:xfrm>
        </p:spPr>
        <p:txBody>
          <a:bodyPr anchor="t" anchorCtr="0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 smtClean="0"/>
              <a:t>Юлиана Пенева</a:t>
            </a:r>
            <a:endParaRPr lang="bg-BG" altLang="bg-B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altLang="bg-BG" smtClean="0"/>
              <a:t>CSCB405- модул 6</a:t>
            </a:r>
            <a:endParaRPr lang="bg-BG" altLang="bg-B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8F4413-1D34-47D2-AC68-6A0929466ED0}" type="slidenum">
              <a:rPr lang="bg-BG" altLang="bg-BG" smtClean="0"/>
              <a:pPr/>
              <a:t>‹#›</a:t>
            </a:fld>
            <a:endParaRPr lang="bg-BG" altLang="bg-BG"/>
          </a:p>
        </p:txBody>
      </p:sp>
      <p:cxnSp>
        <p:nvCxnSpPr>
          <p:cNvPr id="11" name="Straight Connector 10"/>
          <p:cNvCxnSpPr/>
          <p:nvPr/>
        </p:nvCxnSpPr>
        <p:spPr>
          <a:xfrm>
            <a:off x="758952" y="1249362"/>
            <a:ext cx="3657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645152" y="1249362"/>
            <a:ext cx="36576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 smtClean="0"/>
              <a:t>Юлиана Пенева</a:t>
            </a:r>
            <a:endParaRPr lang="bg-BG" altLang="bg-B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altLang="bg-BG" smtClean="0"/>
              <a:t>CSCB405- модул 6</a:t>
            </a:r>
            <a:endParaRPr lang="bg-BG" altLang="bg-B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104AD5-21CB-4F7C-B252-994C1032338B}" type="slidenum">
              <a:rPr lang="bg-BG" altLang="bg-BG" smtClean="0"/>
              <a:pPr/>
              <a:t>‹#›</a:t>
            </a:fld>
            <a:endParaRPr lang="bg-BG" altLang="bg-BG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 smtClean="0"/>
              <a:t>Юлиана Пенева</a:t>
            </a:r>
            <a:endParaRPr lang="bg-BG" altLang="bg-B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altLang="bg-BG" smtClean="0"/>
              <a:t>CSCB405- модул 6</a:t>
            </a:r>
            <a:endParaRPr lang="bg-BG" altLang="bg-B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FDB1E-66BB-4B91-85DD-D466EDBC1C79}" type="slidenum">
              <a:rPr lang="bg-BG" altLang="bg-BG" smtClean="0"/>
              <a:pPr/>
              <a:t>‹#›</a:t>
            </a:fld>
            <a:endParaRPr lang="bg-BG" altLang="bg-BG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4572000"/>
            <a:ext cx="6784848" cy="1600200"/>
          </a:xfrm>
        </p:spPr>
        <p:txBody>
          <a:bodyPr anchor="b">
            <a:normAutofit/>
          </a:bodyPr>
          <a:lstStyle>
            <a:lvl1pPr algn="l">
              <a:defRPr sz="54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0866" y="457200"/>
            <a:ext cx="4594934" cy="4114799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2001" y="457200"/>
            <a:ext cx="2673657" cy="4114800"/>
          </a:xfrm>
        </p:spPr>
        <p:txBody>
          <a:bodyPr>
            <a:normAutofit/>
          </a:bodyPr>
          <a:lstStyle>
            <a:lvl1pPr marL="0" indent="0">
              <a:buNone/>
              <a:defRPr sz="21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 smtClean="0"/>
              <a:t>Юлиана Пенева</a:t>
            </a:r>
            <a:endParaRPr lang="bg-BG" alt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altLang="bg-BG" smtClean="0"/>
              <a:t>CSCB405- модул 6</a:t>
            </a:r>
            <a:endParaRPr lang="bg-BG" alt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108A2-1EDC-489F-AC04-DB13EF85DD75}" type="slidenum">
              <a:rPr lang="bg-BG" altLang="bg-BG" smtClean="0"/>
              <a:pPr/>
              <a:t>‹#›</a:t>
            </a:fld>
            <a:endParaRPr lang="bg-BG" altLang="bg-BG"/>
          </a:p>
        </p:txBody>
      </p:sp>
      <p:cxnSp>
        <p:nvCxnSpPr>
          <p:cNvPr id="10" name="Straight Connector 9"/>
          <p:cNvCxnSpPr/>
          <p:nvPr/>
        </p:nvCxnSpPr>
        <p:spPr>
          <a:xfrm rot="5400000">
            <a:off x="1677194" y="2514600"/>
            <a:ext cx="3810000" cy="1588"/>
          </a:xfrm>
          <a:prstGeom prst="line">
            <a:avLst/>
          </a:prstGeom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8952" y="4572000"/>
            <a:ext cx="6784848" cy="1600200"/>
          </a:xfrm>
        </p:spPr>
        <p:txBody>
          <a:bodyPr anchor="b">
            <a:normAutofit/>
          </a:bodyPr>
          <a:lstStyle>
            <a:lvl1pPr algn="l">
              <a:defRPr sz="5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777240" y="457200"/>
            <a:ext cx="7543800" cy="2895600"/>
          </a:xfrm>
          <a:ln w="6350">
            <a:solidFill>
              <a:schemeClr val="tx2"/>
            </a:solidFill>
          </a:ln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0392" y="3505200"/>
            <a:ext cx="7391400" cy="804862"/>
          </a:xfrm>
        </p:spPr>
        <p:txBody>
          <a:bodyPr anchor="t" anchorCtr="0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 smtClean="0"/>
              <a:t>Юлиана Пенева</a:t>
            </a:r>
            <a:endParaRPr lang="bg-BG" alt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altLang="bg-BG" smtClean="0"/>
              <a:t>CSCB405- модул 6</a:t>
            </a:r>
            <a:endParaRPr lang="bg-BG" alt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D79710-84CF-4BF8-81C3-44F6E5834BBF}" type="slidenum">
              <a:rPr lang="bg-BG" altLang="bg-BG" smtClean="0"/>
              <a:pPr/>
              <a:t>‹#›</a:t>
            </a:fld>
            <a:endParaRPr lang="bg-BG" altLang="bg-BG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685800"/>
            <a:ext cx="7239000" cy="3886200"/>
          </a:xfrm>
        </p:spPr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 smtClean="0"/>
              <a:t>Юлиана Пенева</a:t>
            </a:r>
            <a:endParaRPr lang="bg-BG" alt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altLang="bg-BG" smtClean="0"/>
              <a:t>CSCB405- модул 6</a:t>
            </a:r>
            <a:endParaRPr lang="bg-BG" alt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1AFD4-3473-437E-AF41-93A8DB844BFF}" type="slidenum">
              <a:rPr lang="bg-BG" altLang="bg-BG" smtClean="0"/>
              <a:pPr/>
              <a:t>‹#›</a:t>
            </a:fld>
            <a:endParaRPr lang="bg-BG" altLang="bg-BG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2000" y="685801"/>
            <a:ext cx="1828800" cy="5410199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90800" y="685801"/>
            <a:ext cx="5715000" cy="4876800"/>
          </a:xfrm>
        </p:spPr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 smtClean="0"/>
              <a:t>Юлиана Пенева</a:t>
            </a:r>
            <a:endParaRPr lang="bg-BG" alt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altLang="bg-BG" smtClean="0"/>
              <a:t>CSCB405- модул 6</a:t>
            </a:r>
            <a:endParaRPr lang="bg-BG" alt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D1B25-3B65-4722-8D38-2F2C3E4FEEEF}" type="slidenum">
              <a:rPr lang="bg-BG" altLang="bg-BG" smtClean="0"/>
              <a:pPr/>
              <a:t>‹#›</a:t>
            </a:fld>
            <a:endParaRPr lang="bg-BG" altLang="bg-BG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913" y="103188"/>
            <a:ext cx="8243887" cy="13144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bg-BG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4561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4561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bg-BG" altLang="bg-BG"/>
              <a:t>Юлиана Пенева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bg-BG" altLang="bg-BG"/>
              <a:t>CSCB405- модул 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C95FD92A-9B3B-434A-936C-EEB31316E48C}" type="slidenum">
              <a:rPr lang="bg-BG" altLang="bg-BG"/>
              <a:pPr/>
              <a:t>‹#›</a:t>
            </a:fld>
            <a:endParaRPr lang="bg-BG" altLang="bg-BG"/>
          </a:p>
        </p:txBody>
      </p:sp>
    </p:spTree>
    <p:extLst>
      <p:ext uri="{BB962C8B-B14F-4D97-AF65-F5344CB8AC3E}">
        <p14:creationId xmlns:p14="http://schemas.microsoft.com/office/powerpoint/2010/main" val="1849938547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913" y="103188"/>
            <a:ext cx="8243887" cy="13144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bg-BG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8229600" cy="21510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3903663"/>
            <a:ext cx="8229600" cy="215265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bg-BG" altLang="bg-BG"/>
              <a:t>Юлиана Пенева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bg-BG" altLang="bg-BG"/>
              <a:t>CSCB405- модул 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BDB317EC-D605-4182-88EA-3BC5906D44D7}" type="slidenum">
              <a:rPr lang="bg-BG" altLang="bg-BG"/>
              <a:pPr/>
              <a:t>‹#›</a:t>
            </a:fld>
            <a:endParaRPr lang="bg-BG" altLang="bg-BG"/>
          </a:p>
        </p:txBody>
      </p:sp>
    </p:spTree>
    <p:extLst>
      <p:ext uri="{BB962C8B-B14F-4D97-AF65-F5344CB8AC3E}">
        <p14:creationId xmlns:p14="http://schemas.microsoft.com/office/powerpoint/2010/main" val="3523531413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913" y="103188"/>
            <a:ext cx="8243887" cy="13144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bg-B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4561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48200" y="1600200"/>
            <a:ext cx="4038600" cy="44561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bg-BG" altLang="bg-BG"/>
              <a:t>Юлиана Пенева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bg-BG" altLang="bg-BG"/>
              <a:t>CSCB405- модул 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8E81AF0B-9E7E-430E-8EA9-7AC595AF65CE}" type="slidenum">
              <a:rPr lang="bg-BG" altLang="bg-BG"/>
              <a:pPr/>
              <a:t>‹#›</a:t>
            </a:fld>
            <a:endParaRPr lang="bg-BG" altLang="bg-BG"/>
          </a:p>
        </p:txBody>
      </p:sp>
    </p:spTree>
    <p:extLst>
      <p:ext uri="{BB962C8B-B14F-4D97-AF65-F5344CB8AC3E}">
        <p14:creationId xmlns:p14="http://schemas.microsoft.com/office/powerpoint/2010/main" val="1154553559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913" y="103188"/>
            <a:ext cx="8243887" cy="13144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bg-B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8229600" cy="21510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3903663"/>
            <a:ext cx="8229600" cy="215265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bg-BG" altLang="bg-BG"/>
              <a:t>Юлиана Пенева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bg-BG" altLang="bg-BG"/>
              <a:t>CSCB405- модул 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0A3E764C-A720-4AEE-87C2-EDFA41FE30A6}" type="slidenum">
              <a:rPr lang="bg-BG" altLang="bg-BG"/>
              <a:pPr/>
              <a:t>‹#›</a:t>
            </a:fld>
            <a:endParaRPr lang="bg-BG" altLang="bg-BG"/>
          </a:p>
        </p:txBody>
      </p:sp>
    </p:spTree>
    <p:extLst>
      <p:ext uri="{BB962C8B-B14F-4D97-AF65-F5344CB8AC3E}">
        <p14:creationId xmlns:p14="http://schemas.microsoft.com/office/powerpoint/2010/main" val="1894076084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2000" y="4572000"/>
            <a:ext cx="6781800" cy="16002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685800"/>
            <a:ext cx="7543800" cy="388620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48400" y="6208776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2">
                    <a:lumMod val="90000"/>
                    <a:lumOff val="10000"/>
                  </a:schemeClr>
                </a:solidFill>
                <a:latin typeface="+mn-lt"/>
              </a:defRPr>
            </a:lvl1pPr>
          </a:lstStyle>
          <a:p>
            <a:r>
              <a:rPr lang="bg-BG" altLang="bg-BG" smtClean="0"/>
              <a:t>Юлиана Пенева</a:t>
            </a:r>
            <a:endParaRPr lang="bg-BG" alt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61999" y="6208776"/>
            <a:ext cx="487386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bg-BG" altLang="bg-BG" smtClean="0"/>
              <a:t>CSCB405- модул 6</a:t>
            </a:r>
            <a:endParaRPr lang="bg-BG" alt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5687568"/>
            <a:ext cx="762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</a:lstStyle>
          <a:p>
            <a:fld id="{D6622E24-D348-4552-9473-23312B3537B6}" type="slidenum">
              <a:rPr lang="bg-BG" altLang="bg-BG" smtClean="0"/>
              <a:pPr/>
              <a:t>‹#›</a:t>
            </a:fld>
            <a:endParaRPr lang="bg-BG" altLang="bg-BG"/>
          </a:p>
        </p:txBody>
      </p:sp>
      <p:sp>
        <p:nvSpPr>
          <p:cNvPr id="8" name="Rectangle 7"/>
          <p:cNvSpPr/>
          <p:nvPr/>
        </p:nvSpPr>
        <p:spPr>
          <a:xfrm>
            <a:off x="777240" y="0"/>
            <a:ext cx="7543800" cy="381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7240" y="6172200"/>
            <a:ext cx="7543800" cy="2743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77" r:id="rId12"/>
    <p:sldLayoutId id="2147483678" r:id="rId13"/>
    <p:sldLayoutId id="2147483679" r:id="rId14"/>
    <p:sldLayoutId id="2147483680" r:id="rId15"/>
  </p:sldLayoutIdLst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  <p:hf hdr="0"/>
  <p:txStyles>
    <p:titleStyle>
      <a:lvl1pPr algn="l" defTabSz="914400" rtl="0" eaLnBrk="1" latinLnBrk="0" hangingPunct="1">
        <a:spcBef>
          <a:spcPct val="0"/>
        </a:spcBef>
        <a:buNone/>
        <a:defRPr sz="54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94360" indent="-27432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6868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64592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1901952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219456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8pPr>
      <a:lvl9pPr marL="246888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3.jpe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55576" y="332656"/>
            <a:ext cx="7543800" cy="2807568"/>
          </a:xfrm>
        </p:spPr>
        <p:txBody>
          <a:bodyPr/>
          <a:lstStyle/>
          <a:p>
            <a:r>
              <a:rPr lang="en-US" altLang="bg-BG" sz="2700" dirty="0">
                <a:solidFill>
                  <a:srgbClr val="FF0000"/>
                </a:solidFill>
              </a:rPr>
              <a:t>CSCB405 </a:t>
            </a:r>
            <a:r>
              <a:rPr lang="bg-BG" altLang="bg-BG" sz="2700" dirty="0">
                <a:solidFill>
                  <a:srgbClr val="FF0000"/>
                </a:solidFill>
              </a:rPr>
              <a:t>Бази от данни и СУБД</a:t>
            </a:r>
            <a:br>
              <a:rPr lang="bg-BG" altLang="bg-BG" sz="2700" dirty="0">
                <a:solidFill>
                  <a:srgbClr val="FF0000"/>
                </a:solidFill>
              </a:rPr>
            </a:br>
            <a:r>
              <a:rPr lang="bg-BG" altLang="bg-BG" sz="2700" dirty="0">
                <a:solidFill>
                  <a:srgbClr val="FF0000"/>
                </a:solidFill>
              </a:rPr>
              <a:t/>
            </a:r>
            <a:br>
              <a:rPr lang="bg-BG" altLang="bg-BG" sz="2700" dirty="0">
                <a:solidFill>
                  <a:srgbClr val="FF0000"/>
                </a:solidFill>
              </a:rPr>
            </a:br>
            <a:r>
              <a:rPr lang="bg-BG" altLang="bg-BG" sz="2700" dirty="0"/>
              <a:t> Модул </a:t>
            </a:r>
            <a:r>
              <a:rPr lang="en-US" altLang="bg-BG" sz="2700" dirty="0"/>
              <a:t>6</a:t>
            </a:r>
            <a:r>
              <a:rPr lang="bg-BG" altLang="bg-BG" sz="2700" dirty="0"/>
              <a:t>: Концептуално моделиране</a:t>
            </a:r>
            <a:br>
              <a:rPr lang="bg-BG" altLang="bg-BG" sz="2700" dirty="0"/>
            </a:br>
            <a:r>
              <a:rPr lang="bg-BG" altLang="bg-BG" sz="2700" dirty="0"/>
              <a:t/>
            </a:r>
            <a:br>
              <a:rPr lang="bg-BG" altLang="bg-BG" sz="2700" dirty="0"/>
            </a:br>
            <a:endParaRPr lang="bg-BG" altLang="bg-BG" sz="2700" dirty="0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755576" y="3429000"/>
            <a:ext cx="6858000" cy="1224136"/>
          </a:xfrm>
        </p:spPr>
        <p:txBody>
          <a:bodyPr>
            <a:noAutofit/>
          </a:bodyPr>
          <a:lstStyle/>
          <a:p>
            <a:pPr indent="360363">
              <a:lnSpc>
                <a:spcPct val="90000"/>
              </a:lnSpc>
            </a:pPr>
            <a:r>
              <a:rPr lang="bg-BG" altLang="bg-BG" sz="2400" dirty="0"/>
              <a:t>Юлиана Пенева</a:t>
            </a:r>
          </a:p>
          <a:p>
            <a:pPr indent="360363">
              <a:lnSpc>
                <a:spcPct val="90000"/>
              </a:lnSpc>
            </a:pPr>
            <a:r>
              <a:rPr lang="bg-BG" altLang="bg-BG" sz="2400" dirty="0"/>
              <a:t>Департамент “Информатика”</a:t>
            </a:r>
          </a:p>
          <a:p>
            <a:pPr indent="360363">
              <a:lnSpc>
                <a:spcPct val="90000"/>
              </a:lnSpc>
            </a:pPr>
            <a:r>
              <a:rPr lang="en-US" altLang="bg-BG" sz="2400" dirty="0"/>
              <a:t>july_peneva@abv.bg</a:t>
            </a:r>
            <a:endParaRPr lang="bg-BG" altLang="bg-BG" sz="24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2080" y="4002640"/>
            <a:ext cx="3589572" cy="1878543"/>
          </a:xfrm>
          <a:prstGeom prst="rect">
            <a:avLst/>
          </a:prstGeom>
          <a:ln w="19050">
            <a:solidFill>
              <a:srgbClr val="C00000"/>
            </a:solidFill>
          </a:ln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467544" y="404664"/>
            <a:ext cx="8243887" cy="581025"/>
          </a:xfrm>
        </p:spPr>
        <p:txBody>
          <a:bodyPr>
            <a:noAutofit/>
          </a:bodyPr>
          <a:lstStyle/>
          <a:p>
            <a:pPr algn="ctr"/>
            <a:r>
              <a:rPr lang="bg-BG" altLang="bg-BG" sz="3200" b="1" dirty="0">
                <a:solidFill>
                  <a:schemeClr val="accent1"/>
                </a:solidFill>
              </a:rPr>
              <a:t>Съдържание</a:t>
            </a:r>
            <a:r>
              <a:rPr lang="bg-BG" altLang="bg-BG" sz="3200" dirty="0">
                <a:solidFill>
                  <a:schemeClr val="accent1"/>
                </a:solidFill>
              </a:rPr>
              <a:t> 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>
          <a:xfrm>
            <a:off x="539552" y="1196752"/>
            <a:ext cx="8229600" cy="4320480"/>
          </a:xfrm>
        </p:spPr>
        <p:txBody>
          <a:bodyPr/>
          <a:lstStyle/>
          <a:p>
            <a:pPr marL="990600" lvl="1" indent="-533400">
              <a:buFontTx/>
              <a:buAutoNum type="arabicPeriod"/>
            </a:pPr>
            <a:r>
              <a:rPr lang="bg-BG" altLang="bg-BG" sz="2800" dirty="0"/>
              <a:t>Концептуално моделиране при проектиране на бази от данни.</a:t>
            </a:r>
          </a:p>
          <a:p>
            <a:pPr marL="990600" lvl="1" indent="-533400">
              <a:buFontTx/>
              <a:buAutoNum type="arabicPeriod"/>
            </a:pPr>
            <a:r>
              <a:rPr lang="bg-BG" altLang="bg-BG" sz="2800" dirty="0"/>
              <a:t>Основни понятия при модела “обект-връзка”.</a:t>
            </a:r>
          </a:p>
          <a:p>
            <a:pPr marL="990600" lvl="1" indent="-533400">
              <a:buFontTx/>
              <a:buAutoNum type="arabicPeriod"/>
            </a:pPr>
            <a:r>
              <a:rPr lang="bg-BG" altLang="bg-BG" sz="2800" dirty="0"/>
              <a:t>Структурни ограничения.</a:t>
            </a:r>
          </a:p>
          <a:p>
            <a:pPr marL="990600" lvl="1" indent="-533400">
              <a:buFontTx/>
              <a:buAutoNum type="arabicPeriod"/>
            </a:pPr>
            <a:r>
              <a:rPr lang="bg-BG" altLang="bg-BG" sz="2800" dirty="0"/>
              <a:t>Диаграми, означения и примери.</a:t>
            </a:r>
          </a:p>
          <a:p>
            <a:pPr marL="990600" lvl="1" indent="-533400">
              <a:buFontTx/>
              <a:buAutoNum type="arabicPeriod"/>
            </a:pPr>
            <a:endParaRPr lang="bg-BG" altLang="bg-BG" dirty="0"/>
          </a:p>
          <a:p>
            <a:pPr marL="990600" lvl="1" indent="-533400">
              <a:buFontTx/>
              <a:buNone/>
            </a:pPr>
            <a:r>
              <a:rPr lang="bg-BG" altLang="bg-BG" sz="2400" dirty="0"/>
              <a:t>Трябва да е усвоен Модул 2: Моделиране на данните. Архитектура и компоненти на </a:t>
            </a:r>
            <a:r>
              <a:rPr lang="bg-BG" altLang="bg-BG" sz="2400" dirty="0" smtClean="0"/>
              <a:t>СУБД</a:t>
            </a:r>
            <a:r>
              <a:rPr lang="en-US" altLang="bg-BG" sz="2400" dirty="0" smtClean="0"/>
              <a:t>.</a:t>
            </a:r>
            <a:r>
              <a:rPr lang="bg-BG" altLang="bg-BG" dirty="0" smtClean="0"/>
              <a:t> </a:t>
            </a:r>
            <a:endParaRPr lang="bg-BG" altLang="bg-BG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/>
              <a:t>Юлиана Пенева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altLang="bg-BG"/>
              <a:t>CSCB405- модул 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28A3B0-EE01-44E5-AE15-41CEB0966D37}" type="slidenum">
              <a:rPr lang="bg-BG" altLang="bg-BG"/>
              <a:pPr/>
              <a:t>2</a:t>
            </a:fld>
            <a:endParaRPr lang="bg-BG" altLang="bg-BG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32656"/>
            <a:ext cx="9036495" cy="608608"/>
          </a:xfrm>
        </p:spPr>
        <p:txBody>
          <a:bodyPr>
            <a:noAutofit/>
          </a:bodyPr>
          <a:lstStyle/>
          <a:p>
            <a:pPr marL="838200" indent="-838200" algn="ctr"/>
            <a:r>
              <a:rPr lang="bg-BG" altLang="bg-BG" sz="3200" dirty="0">
                <a:solidFill>
                  <a:schemeClr val="accent1"/>
                </a:solidFill>
              </a:rPr>
              <a:t>Основни фази при проектиране на бази от данни</a:t>
            </a:r>
          </a:p>
        </p:txBody>
      </p:sp>
      <p:sp>
        <p:nvSpPr>
          <p:cNvPr id="8201" name="Rectangle 9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981075"/>
            <a:ext cx="3898900" cy="5328245"/>
          </a:xfrm>
        </p:spPr>
        <p:txBody>
          <a:bodyPr>
            <a:normAutofit lnSpcReduction="10000"/>
          </a:bodyPr>
          <a:lstStyle/>
          <a:p>
            <a:pPr marL="381000" indent="-381000">
              <a:lnSpc>
                <a:spcPct val="90000"/>
              </a:lnSpc>
              <a:spcBef>
                <a:spcPts val="700"/>
              </a:spcBef>
              <a:buFont typeface="Arial" charset="0"/>
              <a:buAutoNum type="arabicPeriod"/>
            </a:pPr>
            <a:r>
              <a:rPr lang="bg-BG" altLang="bg-BG" sz="2200" dirty="0"/>
              <a:t>Представени са две основни дейности</a:t>
            </a:r>
            <a:r>
              <a:rPr lang="en-US" altLang="bg-BG" sz="2200" dirty="0"/>
              <a:t>:</a:t>
            </a:r>
          </a:p>
          <a:p>
            <a:pPr marL="800100" lvl="1" indent="-342900">
              <a:lnSpc>
                <a:spcPct val="90000"/>
              </a:lnSpc>
              <a:spcBef>
                <a:spcPts val="650"/>
              </a:spcBef>
              <a:buFont typeface="Arial" charset="0"/>
              <a:buChar char="–"/>
            </a:pPr>
            <a:r>
              <a:rPr lang="bg-BG" altLang="bg-BG" sz="2200" dirty="0"/>
              <a:t>проектиране на схемата на базата;</a:t>
            </a:r>
            <a:endParaRPr lang="en-US" altLang="bg-BG" sz="2200" dirty="0"/>
          </a:p>
          <a:p>
            <a:pPr marL="800100" lvl="1" indent="-342900">
              <a:lnSpc>
                <a:spcPct val="90000"/>
              </a:lnSpc>
              <a:spcBef>
                <a:spcPts val="650"/>
              </a:spcBef>
              <a:buFont typeface="Arial" charset="0"/>
              <a:buChar char="–"/>
            </a:pPr>
            <a:r>
              <a:rPr lang="bg-BG" altLang="bg-BG" sz="2200" dirty="0"/>
              <a:t>Проектиране на приложните програми.</a:t>
            </a:r>
            <a:endParaRPr lang="en-US" altLang="bg-BG" sz="2200" dirty="0"/>
          </a:p>
          <a:p>
            <a:pPr marL="381000" indent="-381000">
              <a:lnSpc>
                <a:spcPct val="90000"/>
              </a:lnSpc>
              <a:spcBef>
                <a:spcPts val="700"/>
              </a:spcBef>
              <a:buFont typeface="Arial" charset="0"/>
              <a:buAutoNum type="arabicPeriod"/>
            </a:pPr>
            <a:r>
              <a:rPr lang="bg-BG" altLang="bg-BG" sz="2200" dirty="0"/>
              <a:t>Разглеждаме първата дейност – при дадени изисквания към базата да се проектира концептуалната й схема.</a:t>
            </a:r>
            <a:endParaRPr lang="en-US" altLang="bg-BG" sz="2200" dirty="0"/>
          </a:p>
          <a:p>
            <a:pPr marL="381000" indent="-381000">
              <a:lnSpc>
                <a:spcPct val="90000"/>
              </a:lnSpc>
              <a:spcBef>
                <a:spcPts val="700"/>
              </a:spcBef>
              <a:buFont typeface="Arial" charset="0"/>
              <a:buAutoNum type="arabicPeriod"/>
            </a:pPr>
            <a:r>
              <a:rPr lang="bg-BG" altLang="bg-BG" sz="2200" dirty="0"/>
              <a:t>Проектирането на приложните програми се занимава с програмите и интерфейсите за достъп до базата – предмет е на дисциплината софтуерен инженеринг.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/>
              <a:t>Юлиана Пенева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altLang="bg-BG"/>
              <a:t>CSCB405- модул 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11044-2290-47A9-ACF9-FDA70DD3AF96}" type="slidenum">
              <a:rPr lang="bg-BG" altLang="bg-BG"/>
              <a:pPr/>
              <a:t>3</a:t>
            </a:fld>
            <a:endParaRPr lang="bg-BG" altLang="bg-BG"/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214005" y="1412776"/>
            <a:ext cx="4822490" cy="3930138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>
          <a:xfrm>
            <a:off x="447479" y="385129"/>
            <a:ext cx="8243887" cy="1012825"/>
          </a:xfrm>
        </p:spPr>
        <p:txBody>
          <a:bodyPr>
            <a:noAutofit/>
          </a:bodyPr>
          <a:lstStyle/>
          <a:p>
            <a:pPr marL="685800" indent="-685800" algn="ctr"/>
            <a:r>
              <a:rPr lang="bg-BG" altLang="bg-BG" sz="3200" dirty="0">
                <a:solidFill>
                  <a:schemeClr val="accent1"/>
                </a:solidFill>
              </a:rPr>
              <a:t>Концептуално моделиране при проектиране на бази от данни</a:t>
            </a:r>
          </a:p>
        </p:txBody>
      </p:sp>
      <p:sp>
        <p:nvSpPr>
          <p:cNvPr id="60432" name="Rectangle 16"/>
          <p:cNvSpPr>
            <a:spLocks noGrp="1" noChangeArrowheads="1"/>
          </p:cNvSpPr>
          <p:nvPr>
            <p:ph idx="1"/>
          </p:nvPr>
        </p:nvSpPr>
        <p:spPr>
          <a:xfrm>
            <a:off x="429149" y="1198307"/>
            <a:ext cx="8229600" cy="3275385"/>
          </a:xfrm>
        </p:spPr>
        <p:txBody>
          <a:bodyPr/>
          <a:lstStyle/>
          <a:p>
            <a:pPr marL="609600" indent="-609600" algn="ctr">
              <a:buFontTx/>
              <a:buNone/>
            </a:pPr>
            <a:r>
              <a:rPr lang="bg-BG" altLang="bg-BG" sz="2800" dirty="0">
                <a:solidFill>
                  <a:srgbClr val="C00000"/>
                </a:solidFill>
              </a:rPr>
              <a:t>Цели</a:t>
            </a:r>
          </a:p>
          <a:p>
            <a:pPr marL="609600" indent="-609600">
              <a:buFontTx/>
              <a:buAutoNum type="arabicPeriod"/>
            </a:pPr>
            <a:r>
              <a:rPr lang="bg-BG" altLang="bg-BG" sz="2800" dirty="0"/>
              <a:t> Да се създаде концептуална схема, която да отразява потребителски изискания!</a:t>
            </a:r>
          </a:p>
          <a:p>
            <a:pPr marL="609600" indent="-609600">
              <a:buFontTx/>
              <a:buAutoNum type="arabicPeriod"/>
            </a:pPr>
            <a:r>
              <a:rPr lang="bg-BG" altLang="bg-BG" sz="2800" dirty="0"/>
              <a:t> Използва се някакъв </a:t>
            </a:r>
            <a:r>
              <a:rPr lang="bg-BG" altLang="bg-BG" sz="2800" dirty="0">
                <a:solidFill>
                  <a:srgbClr val="C00000"/>
                </a:solidFill>
              </a:rPr>
              <a:t>концептуален модел</a:t>
            </a:r>
            <a:r>
              <a:rPr lang="bg-BG" altLang="bg-BG" dirty="0">
                <a:solidFill>
                  <a:srgbClr val="C00000"/>
                </a:solidFill>
              </a:rPr>
              <a:t>  </a:t>
            </a:r>
            <a:r>
              <a:rPr lang="bg-BG" altLang="bg-BG" dirty="0"/>
              <a:t>- </a:t>
            </a:r>
            <a:r>
              <a:rPr lang="bg-BG" altLang="bg-BG" sz="2800" dirty="0"/>
              <a:t>например модел “понятие -взаимодействие” или </a:t>
            </a:r>
            <a:r>
              <a:rPr lang="en-US" altLang="bg-BG" sz="2800" dirty="0"/>
              <a:t>E</a:t>
            </a:r>
            <a:r>
              <a:rPr lang="bg-BG" altLang="bg-BG" sz="2800" dirty="0"/>
              <a:t>-</a:t>
            </a:r>
            <a:r>
              <a:rPr lang="en-US" altLang="bg-BG" sz="2800" dirty="0"/>
              <a:t>R </a:t>
            </a:r>
            <a:r>
              <a:rPr lang="bg-BG" altLang="bg-BG" sz="2800" dirty="0"/>
              <a:t>(</a:t>
            </a:r>
            <a:r>
              <a:rPr lang="en-US" altLang="bg-BG" sz="2800" dirty="0"/>
              <a:t>entity</a:t>
            </a:r>
            <a:r>
              <a:rPr lang="bg-BG" altLang="bg-BG" sz="2800" dirty="0"/>
              <a:t>-</a:t>
            </a:r>
            <a:r>
              <a:rPr lang="en-US" altLang="bg-BG" sz="2800" dirty="0"/>
              <a:t>relationship</a:t>
            </a:r>
            <a:r>
              <a:rPr lang="bg-BG" altLang="bg-BG" sz="2800" dirty="0"/>
              <a:t>) </a:t>
            </a:r>
            <a:r>
              <a:rPr lang="bg-BG" altLang="bg-BG" sz="2800" dirty="0" smtClean="0"/>
              <a:t>модел</a:t>
            </a:r>
            <a:r>
              <a:rPr lang="en-US" altLang="bg-BG" sz="2800" dirty="0" smtClean="0"/>
              <a:t>.</a:t>
            </a:r>
            <a:r>
              <a:rPr lang="bg-BG" altLang="bg-BG" sz="2800" dirty="0" smtClean="0"/>
              <a:t> </a:t>
            </a:r>
            <a:endParaRPr lang="bg-BG" altLang="bg-BG" sz="2800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/>
              <a:t>Юлиана Пенева</a:t>
            </a: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altLang="bg-BG"/>
              <a:t>CSCB405- модул 6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6F1478-7567-4B0C-9537-F31E48953C13}" type="slidenum">
              <a:rPr lang="bg-BG" altLang="bg-BG"/>
              <a:pPr/>
              <a:t>4</a:t>
            </a:fld>
            <a:endParaRPr lang="bg-BG" altLang="bg-BG"/>
          </a:p>
        </p:txBody>
      </p:sp>
      <p:sp>
        <p:nvSpPr>
          <p:cNvPr id="60434" name="Rectangle 1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bg-BG"/>
          </a:p>
        </p:txBody>
      </p:sp>
      <p:sp>
        <p:nvSpPr>
          <p:cNvPr id="60436" name="Rectangle 2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bg-BG"/>
          </a:p>
        </p:txBody>
      </p:sp>
      <p:sp>
        <p:nvSpPr>
          <p:cNvPr id="60438" name="Rectangle 2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bg-BG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8933" y="4423573"/>
            <a:ext cx="2857500" cy="1600200"/>
          </a:xfrm>
          <a:prstGeom prst="rect">
            <a:avLst/>
          </a:prstGeom>
          <a:ln w="15875">
            <a:solidFill>
              <a:srgbClr val="C00000"/>
            </a:solidFill>
          </a:ln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>
          <a:xfrm>
            <a:off x="450056" y="332656"/>
            <a:ext cx="8243887" cy="1084262"/>
          </a:xfrm>
        </p:spPr>
        <p:txBody>
          <a:bodyPr>
            <a:noAutofit/>
          </a:bodyPr>
          <a:lstStyle/>
          <a:p>
            <a:pPr marL="685800" indent="-685800" algn="ctr"/>
            <a:r>
              <a:rPr lang="bg-BG" altLang="bg-BG" sz="3200" dirty="0">
                <a:solidFill>
                  <a:schemeClr val="accent1"/>
                </a:solidFill>
              </a:rPr>
              <a:t>Концептуално моделиране при проектиране на бази от данни</a:t>
            </a:r>
          </a:p>
        </p:txBody>
      </p:sp>
      <p:sp>
        <p:nvSpPr>
          <p:cNvPr id="66595" name="Rectangle 35"/>
          <p:cNvSpPr>
            <a:spLocks noGrp="1" noChangeArrowheads="1"/>
          </p:cNvSpPr>
          <p:nvPr>
            <p:ph idx="1"/>
          </p:nvPr>
        </p:nvSpPr>
        <p:spPr>
          <a:xfrm>
            <a:off x="762000" y="1340768"/>
            <a:ext cx="7698432" cy="4752528"/>
          </a:xfrm>
        </p:spPr>
        <p:txBody>
          <a:bodyPr>
            <a:normAutofit/>
          </a:bodyPr>
          <a:lstStyle/>
          <a:p>
            <a:pPr marL="457200" indent="-457200">
              <a:lnSpc>
                <a:spcPct val="90000"/>
              </a:lnSpc>
              <a:buFontTx/>
              <a:buAutoNum type="arabicPeriod"/>
            </a:pPr>
            <a:r>
              <a:rPr lang="bg-BG" altLang="bg-BG" sz="2400" dirty="0">
                <a:solidFill>
                  <a:srgbClr val="C00000"/>
                </a:solidFill>
              </a:rPr>
              <a:t>Концептуален модел </a:t>
            </a:r>
            <a:r>
              <a:rPr lang="bg-BG" altLang="bg-BG" sz="2400" dirty="0"/>
              <a:t>-  множеството от понятия, с които се описва структурата на разработваната база от данни и свързаните с нея транзакции. </a:t>
            </a:r>
          </a:p>
          <a:p>
            <a:pPr marL="457200" indent="-457200">
              <a:lnSpc>
                <a:spcPct val="90000"/>
              </a:lnSpc>
              <a:buFontTx/>
              <a:buAutoNum type="arabicPeriod"/>
            </a:pPr>
            <a:r>
              <a:rPr lang="bg-BG" altLang="bg-BG" sz="2400" dirty="0">
                <a:solidFill>
                  <a:srgbClr val="C00000"/>
                </a:solidFill>
              </a:rPr>
              <a:t>Главна цел </a:t>
            </a:r>
            <a:r>
              <a:rPr lang="bg-BG" altLang="bg-BG" sz="2400" dirty="0"/>
              <a:t>при разработването на концептуален модел е да се отрази възможно най-добре потребителското възприемане на данните като същевременно се пренебрегва разглеждането на чисто технически аспекти, свързани с проектирането. </a:t>
            </a:r>
          </a:p>
          <a:p>
            <a:pPr marL="457200" indent="-457200">
              <a:lnSpc>
                <a:spcPct val="90000"/>
              </a:lnSpc>
              <a:buFontTx/>
              <a:buAutoNum type="arabicPeriod"/>
            </a:pPr>
            <a:r>
              <a:rPr lang="bg-BG" altLang="bg-BG" sz="2400" dirty="0"/>
              <a:t>Концептуалният модел е </a:t>
            </a:r>
            <a:r>
              <a:rPr lang="bg-BG" altLang="bg-BG" sz="2400" dirty="0">
                <a:solidFill>
                  <a:srgbClr val="C00000"/>
                </a:solidFill>
              </a:rPr>
              <a:t>независим</a:t>
            </a:r>
            <a:r>
              <a:rPr lang="bg-BG" altLang="bg-BG" sz="2400" dirty="0"/>
              <a:t> от избраната СУБД или хардуерна платформа, с чиято помощ ще се извършва реализацията на базата. </a:t>
            </a:r>
          </a:p>
          <a:p>
            <a:pPr marL="457200" indent="-457200">
              <a:lnSpc>
                <a:spcPct val="90000"/>
              </a:lnSpc>
              <a:buFontTx/>
              <a:buAutoNum type="arabicPeriod"/>
            </a:pPr>
            <a:r>
              <a:rPr lang="bg-BG" altLang="bg-BG" sz="2400" dirty="0"/>
              <a:t>В литературата се използува и терминът “семантично моделиране”, който има аналогично съдържание.</a:t>
            </a:r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/>
              <a:t>Юлиана Пенева</a:t>
            </a: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altLang="bg-BG"/>
              <a:t>CSCB405- модул 6</a:t>
            </a:r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86909-63FF-4557-A301-4319D56F7922}" type="slidenum">
              <a:rPr lang="bg-BG" altLang="bg-BG"/>
              <a:pPr/>
              <a:t>5</a:t>
            </a:fld>
            <a:endParaRPr lang="bg-BG" altLang="bg-BG"/>
          </a:p>
        </p:txBody>
      </p:sp>
      <p:sp>
        <p:nvSpPr>
          <p:cNvPr id="66573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bg-BG"/>
          </a:p>
        </p:txBody>
      </p:sp>
      <p:sp>
        <p:nvSpPr>
          <p:cNvPr id="66575" name="Rectangle 1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bg-BG"/>
          </a:p>
        </p:txBody>
      </p:sp>
      <p:sp>
        <p:nvSpPr>
          <p:cNvPr id="66583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bg-BG"/>
          </a:p>
        </p:txBody>
      </p:sp>
      <p:sp>
        <p:nvSpPr>
          <p:cNvPr id="66585" name="Rectangle 2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bg-BG"/>
          </a:p>
        </p:txBody>
      </p:sp>
      <p:sp>
        <p:nvSpPr>
          <p:cNvPr id="66587" name="Rectangle 2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bg-BG"/>
          </a:p>
        </p:txBody>
      </p:sp>
      <p:sp>
        <p:nvSpPr>
          <p:cNvPr id="66589" name="Rectangle 2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bg-BG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>
          <a:xfrm>
            <a:off x="450056" y="332656"/>
            <a:ext cx="8243887" cy="1084262"/>
          </a:xfrm>
        </p:spPr>
        <p:txBody>
          <a:bodyPr>
            <a:noAutofit/>
          </a:bodyPr>
          <a:lstStyle/>
          <a:p>
            <a:pPr marL="685800" indent="-685800" algn="ctr"/>
            <a:r>
              <a:rPr lang="bg-BG" altLang="bg-BG" sz="3200" dirty="0">
                <a:solidFill>
                  <a:schemeClr val="accent1"/>
                </a:solidFill>
              </a:rPr>
              <a:t>Концептуално моделиране при проектиране на бази от данни</a:t>
            </a:r>
          </a:p>
        </p:txBody>
      </p:sp>
      <p:pic>
        <p:nvPicPr>
          <p:cNvPr id="2" name="Content Placeholder 1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3768" y="1435880"/>
            <a:ext cx="3980518" cy="4368556"/>
          </a:xfrm>
          <a:ln w="19050">
            <a:solidFill>
              <a:srgbClr val="C00000"/>
            </a:solidFill>
          </a:ln>
        </p:spPr>
      </p:pic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/>
              <a:t>Юлиана Пенева</a:t>
            </a: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altLang="bg-BG"/>
              <a:t>CSCB405- модул 6</a:t>
            </a:r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B86909-63FF-4557-A301-4319D56F7922}" type="slidenum">
              <a:rPr lang="bg-BG" altLang="bg-BG"/>
              <a:pPr/>
              <a:t>6</a:t>
            </a:fld>
            <a:endParaRPr lang="bg-BG" altLang="bg-BG"/>
          </a:p>
        </p:txBody>
      </p:sp>
      <p:sp>
        <p:nvSpPr>
          <p:cNvPr id="66573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bg-BG"/>
          </a:p>
        </p:txBody>
      </p:sp>
      <p:sp>
        <p:nvSpPr>
          <p:cNvPr id="66575" name="Rectangle 1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bg-BG"/>
          </a:p>
        </p:txBody>
      </p:sp>
      <p:sp>
        <p:nvSpPr>
          <p:cNvPr id="66583" name="Rectangle 2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bg-BG"/>
          </a:p>
        </p:txBody>
      </p:sp>
      <p:sp>
        <p:nvSpPr>
          <p:cNvPr id="66585" name="Rectangle 2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bg-BG"/>
          </a:p>
        </p:txBody>
      </p:sp>
      <p:sp>
        <p:nvSpPr>
          <p:cNvPr id="66587" name="Rectangle 2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bg-BG"/>
          </a:p>
        </p:txBody>
      </p:sp>
      <p:sp>
        <p:nvSpPr>
          <p:cNvPr id="66589" name="Rectangle 2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69315905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>
          <a:xfrm>
            <a:off x="467544" y="404664"/>
            <a:ext cx="8243887" cy="1012825"/>
          </a:xfrm>
        </p:spPr>
        <p:txBody>
          <a:bodyPr>
            <a:noAutofit/>
          </a:bodyPr>
          <a:lstStyle/>
          <a:p>
            <a:pPr marL="685800" indent="-685800" algn="ctr"/>
            <a:r>
              <a:rPr lang="bg-BG" altLang="bg-BG" sz="3200" dirty="0">
                <a:solidFill>
                  <a:schemeClr val="accent1"/>
                </a:solidFill>
              </a:rPr>
              <a:t>Концептуално моделиране при проектиране на бази от данни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idx="1"/>
          </p:nvPr>
        </p:nvSpPr>
        <p:spPr>
          <a:xfrm>
            <a:off x="467544" y="1340768"/>
            <a:ext cx="8363272" cy="4868008"/>
          </a:xfrm>
        </p:spPr>
        <p:txBody>
          <a:bodyPr>
            <a:normAutofit fontScale="92500"/>
          </a:bodyPr>
          <a:lstStyle/>
          <a:p>
            <a:pPr marL="609600" indent="-609600">
              <a:buFontTx/>
              <a:buNone/>
            </a:pPr>
            <a:r>
              <a:rPr lang="bg-BG" altLang="bg-BG" sz="2000" dirty="0">
                <a:solidFill>
                  <a:srgbClr val="C00000"/>
                </a:solidFill>
              </a:rPr>
              <a:t>Примерни потребителски изисквания </a:t>
            </a:r>
            <a:r>
              <a:rPr lang="bg-BG" altLang="bg-BG" sz="2000" dirty="0"/>
              <a:t>към базата от данни ПРЕДПРИЯТИЕ:</a:t>
            </a:r>
          </a:p>
          <a:p>
            <a:pPr marL="609600" indent="-609600">
              <a:buFontTx/>
              <a:buAutoNum type="arabicPeriod"/>
            </a:pPr>
            <a:r>
              <a:rPr lang="bg-BG" altLang="bg-BG" sz="2000" dirty="0"/>
              <a:t>Предприятието се състои от отдели, които имат уникални имена, номер и ръководител, за когото се пазят датата на встъпването му в тази длъжност. Отделите могат да бъдат разположени в различни градове.</a:t>
            </a:r>
          </a:p>
          <a:p>
            <a:pPr marL="609600" indent="-609600">
              <a:buFontTx/>
              <a:buAutoNum type="arabicPeriod"/>
            </a:pPr>
            <a:r>
              <a:rPr lang="bg-BG" altLang="bg-BG" sz="2000" dirty="0"/>
              <a:t>Всеки отдел разработва определен брой проекти. Проектът се характеризира с име, номер и местоположение. Няма проекти с еднакви номера или имена.</a:t>
            </a:r>
          </a:p>
          <a:p>
            <a:pPr marL="609600" indent="-609600">
              <a:buFontTx/>
              <a:buAutoNum type="arabicPeriod"/>
            </a:pPr>
            <a:r>
              <a:rPr lang="bg-BG" altLang="bg-BG" sz="2000" dirty="0"/>
              <a:t>За всеки служител се пазят следните данни: номер, адрес, заплата, рождена дата, пол. За да се отчита неговата работа, трябва да се знае в рамките на всяка седмица по кои проекти колко часа е работил. Всеки служител е причислен към точно един отдел, но може да работи по няколко проекта едновременно. Необходимо е да пазят данни за това кой е прекият му ръководител.</a:t>
            </a:r>
          </a:p>
          <a:p>
            <a:pPr marL="609600" indent="-609600">
              <a:buFontTx/>
              <a:buAutoNum type="arabicPeriod"/>
            </a:pPr>
            <a:r>
              <a:rPr lang="bg-BG" altLang="bg-BG" sz="2000" dirty="0"/>
              <a:t>За нуждите на осигуряването за всеки служител се събират данни за осигуряваните от него лица.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/>
              <a:t>Юлиана Пенева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altLang="bg-BG"/>
              <a:t>CSCB405- модул 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7EA2AD-1CBC-47D7-BE3B-C0E344C1AD9B}" type="slidenum">
              <a:rPr lang="bg-BG" altLang="bg-BG"/>
              <a:pPr/>
              <a:t>7</a:t>
            </a:fld>
            <a:endParaRPr lang="bg-BG" altLang="bg-BG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4" name="Rectangle 2"/>
          <p:cNvSpPr>
            <a:spLocks noGrp="1" noChangeArrowheads="1"/>
          </p:cNvSpPr>
          <p:nvPr>
            <p:ph type="title"/>
          </p:nvPr>
        </p:nvSpPr>
        <p:spPr>
          <a:xfrm>
            <a:off x="467544" y="260648"/>
            <a:ext cx="8243887" cy="1081088"/>
          </a:xfrm>
        </p:spPr>
        <p:txBody>
          <a:bodyPr>
            <a:noAutofit/>
          </a:bodyPr>
          <a:lstStyle/>
          <a:p>
            <a:pPr marL="685800" indent="-685800" algn="ctr"/>
            <a:r>
              <a:rPr lang="bg-BG" altLang="bg-BG" sz="3200" dirty="0">
                <a:solidFill>
                  <a:schemeClr val="accent1"/>
                </a:solidFill>
              </a:rPr>
              <a:t>Концептуално моделиране при проектиране на бази от данни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/>
              <a:t>Юлиана Пенева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altLang="bg-BG"/>
              <a:t>CSCB405- модул 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FDAD2-1F1C-4D18-B2BB-AFA240EF6F25}" type="slidenum">
              <a:rPr lang="bg-BG" altLang="bg-BG"/>
              <a:pPr/>
              <a:t>8</a:t>
            </a:fld>
            <a:endParaRPr lang="bg-BG" altLang="bg-BG"/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59632" y="1497819"/>
            <a:ext cx="6946955" cy="4408383"/>
          </a:xfrm>
          <a:prstGeom prst="rect">
            <a:avLst/>
          </a:prstGeom>
          <a:ln w="19050">
            <a:solidFill>
              <a:srgbClr val="C00000"/>
            </a:solidFill>
          </a:ln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Rectangle 2"/>
          <p:cNvSpPr>
            <a:spLocks noGrp="1" noChangeArrowheads="1"/>
          </p:cNvSpPr>
          <p:nvPr>
            <p:ph type="title"/>
          </p:nvPr>
        </p:nvSpPr>
        <p:spPr>
          <a:xfrm>
            <a:off x="323528" y="332656"/>
            <a:ext cx="8640960" cy="664096"/>
          </a:xfrm>
        </p:spPr>
        <p:txBody>
          <a:bodyPr>
            <a:noAutofit/>
          </a:bodyPr>
          <a:lstStyle/>
          <a:p>
            <a:pPr marL="685800" indent="-685800" algn="ctr"/>
            <a:r>
              <a:rPr lang="bg-BG" altLang="bg-BG" sz="3200" dirty="0">
                <a:solidFill>
                  <a:schemeClr val="accent1"/>
                </a:solidFill>
              </a:rPr>
              <a:t>Основни понятия при модела “обект-връзка</a:t>
            </a:r>
            <a:r>
              <a:rPr lang="bg-BG" altLang="bg-BG" sz="3200" dirty="0" smtClean="0">
                <a:solidFill>
                  <a:schemeClr val="accent1"/>
                </a:solidFill>
              </a:rPr>
              <a:t>”</a:t>
            </a:r>
            <a:endParaRPr lang="bg-BG" altLang="bg-BG" sz="3200" dirty="0">
              <a:solidFill>
                <a:schemeClr val="accent1"/>
              </a:solidFill>
            </a:endParaRPr>
          </a:p>
        </p:txBody>
      </p:sp>
      <p:sp>
        <p:nvSpPr>
          <p:cNvPr id="188423" name="Rectangle 7"/>
          <p:cNvSpPr>
            <a:spLocks noGrp="1" noChangeArrowheads="1"/>
          </p:cNvSpPr>
          <p:nvPr>
            <p:ph idx="1"/>
          </p:nvPr>
        </p:nvSpPr>
        <p:spPr>
          <a:xfrm>
            <a:off x="467544" y="1124744"/>
            <a:ext cx="8229600" cy="5111750"/>
          </a:xfrm>
        </p:spPr>
        <p:txBody>
          <a:bodyPr>
            <a:normAutofit lnSpcReduction="10000"/>
          </a:bodyPr>
          <a:lstStyle/>
          <a:p>
            <a:pPr marL="381000" indent="-381000" algn="ctr">
              <a:lnSpc>
                <a:spcPct val="80000"/>
              </a:lnSpc>
              <a:buFontTx/>
              <a:buNone/>
            </a:pPr>
            <a:r>
              <a:rPr lang="bg-BG" altLang="bg-BG" sz="2800" u="sng" dirty="0">
                <a:solidFill>
                  <a:srgbClr val="C00000"/>
                </a:solidFill>
              </a:rPr>
              <a:t>Обекти</a:t>
            </a:r>
            <a:endParaRPr lang="bg-BG" altLang="bg-BG" sz="2800" dirty="0">
              <a:solidFill>
                <a:srgbClr val="C00000"/>
              </a:solidFill>
            </a:endParaRPr>
          </a:p>
          <a:p>
            <a:pPr marL="381000" indent="-381000">
              <a:lnSpc>
                <a:spcPct val="80000"/>
              </a:lnSpc>
              <a:buFontTx/>
              <a:buAutoNum type="arabicPeriod"/>
            </a:pPr>
            <a:r>
              <a:rPr lang="bg-BG" altLang="bg-BG" sz="2400" i="1" dirty="0"/>
              <a:t>Обект</a:t>
            </a:r>
            <a:r>
              <a:rPr lang="bg-BG" altLang="bg-BG" sz="2400" dirty="0"/>
              <a:t> </a:t>
            </a:r>
            <a:r>
              <a:rPr lang="bg-BG" altLang="bg-BG" sz="2400" i="1" dirty="0"/>
              <a:t>(entity</a:t>
            </a:r>
            <a:r>
              <a:rPr lang="bg-BG" altLang="bg-BG" sz="2400" dirty="0"/>
              <a:t>) - основно понятие в модела на Чен:</a:t>
            </a:r>
          </a:p>
          <a:p>
            <a:pPr marL="800100" lvl="1" indent="-342900">
              <a:lnSpc>
                <a:spcPct val="80000"/>
              </a:lnSpc>
              <a:buFontTx/>
              <a:buChar char="•"/>
            </a:pPr>
            <a:r>
              <a:rPr lang="bg-BG" altLang="bg-BG" sz="2400" dirty="0"/>
              <a:t> произволен елемент от реалния свят, за който се пазят данни в </a:t>
            </a:r>
            <a:r>
              <a:rPr lang="bg-BG" altLang="bg-BG" sz="2400" dirty="0" smtClean="0"/>
              <a:t>базата</a:t>
            </a:r>
            <a:r>
              <a:rPr lang="en-US" altLang="bg-BG" sz="2400" dirty="0"/>
              <a:t>;</a:t>
            </a:r>
            <a:endParaRPr lang="bg-BG" altLang="bg-BG" sz="2400" dirty="0"/>
          </a:p>
          <a:p>
            <a:pPr marL="800100" lvl="1" indent="-342900">
              <a:lnSpc>
                <a:spcPct val="80000"/>
              </a:lnSpc>
              <a:buFontTx/>
              <a:buChar char="•"/>
            </a:pPr>
            <a:r>
              <a:rPr lang="bg-BG" altLang="bg-BG" sz="2400" dirty="0"/>
              <a:t> “нещо, което може да се отличи и идентифицира</a:t>
            </a:r>
            <a:r>
              <a:rPr lang="bg-BG" altLang="bg-BG" sz="2400" dirty="0" smtClean="0"/>
              <a:t>”</a:t>
            </a:r>
            <a:r>
              <a:rPr lang="en-US" altLang="bg-BG" sz="2400" dirty="0" smtClean="0"/>
              <a:t>.</a:t>
            </a:r>
            <a:endParaRPr lang="en-US" altLang="bg-BG" sz="2400" dirty="0"/>
          </a:p>
          <a:p>
            <a:pPr marL="800100" lvl="1" indent="-342900">
              <a:lnSpc>
                <a:spcPct val="80000"/>
              </a:lnSpc>
              <a:buFontTx/>
              <a:buNone/>
            </a:pPr>
            <a:r>
              <a:rPr lang="bg-BG" altLang="bg-BG" sz="2400" dirty="0"/>
              <a:t>Примери: СЛУЖИТЕЛ “Иван Петров”, ОТДЕЛ “Продажби”</a:t>
            </a:r>
          </a:p>
          <a:p>
            <a:pPr marL="381000" indent="-381000">
              <a:lnSpc>
                <a:spcPct val="80000"/>
              </a:lnSpc>
              <a:buFontTx/>
              <a:buAutoNum type="arabicPeriod"/>
            </a:pPr>
            <a:r>
              <a:rPr lang="bg-BG" altLang="bg-BG" sz="2400" dirty="0"/>
              <a:t>Обектите биват:</a:t>
            </a:r>
          </a:p>
          <a:p>
            <a:pPr marL="800100" lvl="1" indent="-342900">
              <a:lnSpc>
                <a:spcPct val="80000"/>
              </a:lnSpc>
              <a:buFontTx/>
              <a:buChar char="•"/>
            </a:pPr>
            <a:r>
              <a:rPr lang="bg-BG" altLang="bg-BG" sz="2400" dirty="0"/>
              <a:t>физически - МПС, човек, служител, студент.....</a:t>
            </a:r>
          </a:p>
          <a:p>
            <a:pPr marL="800100" lvl="1" indent="-342900">
              <a:lnSpc>
                <a:spcPct val="80000"/>
              </a:lnSpc>
              <a:buFontTx/>
              <a:buChar char="•"/>
            </a:pPr>
            <a:r>
              <a:rPr lang="bg-BG" altLang="bg-BG" sz="2400" dirty="0"/>
              <a:t>концептуални (абстрактни)- предприятие, университетски курс, банкова сметка...</a:t>
            </a:r>
          </a:p>
          <a:p>
            <a:pPr marL="381000" indent="-381000">
              <a:lnSpc>
                <a:spcPct val="80000"/>
              </a:lnSpc>
              <a:buFontTx/>
              <a:buAutoNum type="arabicPeriod"/>
            </a:pPr>
            <a:r>
              <a:rPr lang="bg-BG" altLang="bg-BG" sz="2400" dirty="0"/>
              <a:t>Всеки обект притежава някакви свойства (</a:t>
            </a:r>
            <a:r>
              <a:rPr lang="en-US" altLang="bg-BG" sz="2400" dirty="0"/>
              <a:t>properties</a:t>
            </a:r>
            <a:r>
              <a:rPr lang="bg-BG" altLang="bg-BG" sz="2400" dirty="0"/>
              <a:t>), наречени </a:t>
            </a:r>
            <a:r>
              <a:rPr lang="bg-BG" altLang="bg-BG" sz="2400" i="1" dirty="0"/>
              <a:t>атрибути (</a:t>
            </a:r>
            <a:r>
              <a:rPr lang="en-US" altLang="bg-BG" sz="2400" i="1" dirty="0"/>
              <a:t>attributes</a:t>
            </a:r>
            <a:r>
              <a:rPr lang="bg-BG" altLang="bg-BG" sz="2400" i="1" dirty="0"/>
              <a:t>) - </a:t>
            </a:r>
            <a:r>
              <a:rPr lang="bg-BG" altLang="bg-BG" sz="2400" dirty="0"/>
              <a:t>описват неговите характеристики. </a:t>
            </a:r>
            <a:endParaRPr lang="en-US" altLang="bg-BG" sz="2400" dirty="0"/>
          </a:p>
          <a:p>
            <a:pPr marL="800100" lvl="1" indent="-342900">
              <a:lnSpc>
                <a:spcPct val="80000"/>
              </a:lnSpc>
              <a:buFontTx/>
              <a:buNone/>
            </a:pPr>
            <a:r>
              <a:rPr lang="bg-BG" altLang="bg-BG" sz="2400" dirty="0"/>
              <a:t>Пример: обектът "СЛУЖИТЕЛ" се описва от име, възраст, адрес, заплата, ЕГН, длъжност и т.н.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/>
              <a:t>Юлиана Пенева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altLang="bg-BG" dirty="0"/>
              <a:t>CSCB405- модул 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B7880-E611-4DB6-B96A-40A8EF4CB7C9}" type="slidenum">
              <a:rPr lang="bg-BG" altLang="bg-BG"/>
              <a:pPr/>
              <a:t>9</a:t>
            </a:fld>
            <a:endParaRPr lang="bg-BG" altLang="bg-BG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>
          <a:xfrm>
            <a:off x="395536" y="332656"/>
            <a:ext cx="8243887" cy="580926"/>
          </a:xfrm>
        </p:spPr>
        <p:txBody>
          <a:bodyPr>
            <a:noAutofit/>
          </a:bodyPr>
          <a:lstStyle/>
          <a:p>
            <a:pPr marL="685800" indent="-685800" algn="ctr"/>
            <a:r>
              <a:rPr lang="bg-BG" altLang="bg-BG" sz="3200" dirty="0">
                <a:solidFill>
                  <a:schemeClr val="accent1"/>
                </a:solidFill>
              </a:rPr>
              <a:t>Основни понятия при модела “обект-връзка</a:t>
            </a:r>
            <a:r>
              <a:rPr lang="bg-BG" altLang="bg-BG" sz="3200" dirty="0" smtClean="0">
                <a:solidFill>
                  <a:schemeClr val="accent1"/>
                </a:solidFill>
              </a:rPr>
              <a:t>”</a:t>
            </a:r>
            <a:endParaRPr lang="bg-BG" altLang="bg-BG" sz="3200" dirty="0">
              <a:solidFill>
                <a:schemeClr val="accent1"/>
              </a:solidFill>
            </a:endParaRPr>
          </a:p>
        </p:txBody>
      </p:sp>
      <p:sp>
        <p:nvSpPr>
          <p:cNvPr id="67599" name="Rectangle 15"/>
          <p:cNvSpPr>
            <a:spLocks noGrp="1" noChangeArrowheads="1"/>
          </p:cNvSpPr>
          <p:nvPr>
            <p:ph type="body" sz="half" idx="1"/>
          </p:nvPr>
        </p:nvSpPr>
        <p:spPr>
          <a:xfrm>
            <a:off x="467544" y="1052736"/>
            <a:ext cx="8229600" cy="1368152"/>
          </a:xfrm>
        </p:spPr>
        <p:txBody>
          <a:bodyPr>
            <a:noAutofit/>
          </a:bodyPr>
          <a:lstStyle/>
          <a:p>
            <a:pPr marL="533400" indent="-533400">
              <a:lnSpc>
                <a:spcPct val="90000"/>
              </a:lnSpc>
              <a:buFontTx/>
              <a:buAutoNum type="arabicPeriod" startAt="4"/>
            </a:pPr>
            <a:r>
              <a:rPr lang="bg-BG" altLang="bg-BG" dirty="0"/>
              <a:t>Всеки атрибут за конкретния обект има стойност, която се съхранява в базата от данни. </a:t>
            </a:r>
          </a:p>
          <a:p>
            <a:pPr marL="533400" indent="-533400">
              <a:lnSpc>
                <a:spcPct val="90000"/>
              </a:lnSpc>
              <a:buFontTx/>
              <a:buAutoNum type="arabicPeriod" startAt="4"/>
            </a:pPr>
            <a:r>
              <a:rPr lang="bg-BG" altLang="bg-BG" dirty="0"/>
              <a:t>Обекти могат да се представят графично по следния начин: 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/>
              <a:t>Юлиана Пенева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altLang="bg-BG"/>
              <a:t>CSCB405- модул 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EA6287-C005-4B1A-AB2F-35A4983A9D40}" type="slidenum">
              <a:rPr lang="bg-BG" altLang="bg-BG"/>
              <a:pPr/>
              <a:t>10</a:t>
            </a:fld>
            <a:endParaRPr lang="bg-BG" altLang="bg-BG"/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323528" y="2852936"/>
            <a:ext cx="8559952" cy="2304256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4" name="Rectangle 2"/>
          <p:cNvSpPr>
            <a:spLocks noGrp="1" noChangeArrowheads="1"/>
          </p:cNvSpPr>
          <p:nvPr>
            <p:ph type="title"/>
          </p:nvPr>
        </p:nvSpPr>
        <p:spPr>
          <a:xfrm>
            <a:off x="395536" y="332656"/>
            <a:ext cx="8243887" cy="652934"/>
          </a:xfrm>
        </p:spPr>
        <p:txBody>
          <a:bodyPr>
            <a:normAutofit fontScale="90000"/>
          </a:bodyPr>
          <a:lstStyle/>
          <a:p>
            <a:pPr marL="685800" indent="-685800" algn="ctr"/>
            <a:r>
              <a:rPr lang="bg-BG" altLang="bg-BG" sz="3600" dirty="0">
                <a:solidFill>
                  <a:schemeClr val="accent1"/>
                </a:solidFill>
              </a:rPr>
              <a:t>Основни понятия при модела “обект-връзка</a:t>
            </a:r>
            <a:r>
              <a:rPr lang="bg-BG" altLang="bg-BG" sz="3600" dirty="0" smtClean="0">
                <a:solidFill>
                  <a:schemeClr val="accent1"/>
                </a:solidFill>
              </a:rPr>
              <a:t>”</a:t>
            </a:r>
            <a:endParaRPr lang="bg-BG" altLang="bg-BG" dirty="0">
              <a:solidFill>
                <a:schemeClr val="accent1"/>
              </a:solidFill>
            </a:endParaRPr>
          </a:p>
        </p:txBody>
      </p:sp>
      <p:sp>
        <p:nvSpPr>
          <p:cNvPr id="192516" name="Rectangle 4"/>
          <p:cNvSpPr>
            <a:spLocks noGrp="1" noChangeArrowheads="1"/>
          </p:cNvSpPr>
          <p:nvPr>
            <p:ph type="body" sz="half" idx="1"/>
          </p:nvPr>
        </p:nvSpPr>
        <p:spPr>
          <a:xfrm>
            <a:off x="467544" y="980728"/>
            <a:ext cx="8229600" cy="2664296"/>
          </a:xfrm>
        </p:spPr>
        <p:txBody>
          <a:bodyPr>
            <a:normAutofit lnSpcReduction="10000"/>
          </a:bodyPr>
          <a:lstStyle/>
          <a:p>
            <a:pPr algn="ctr">
              <a:buFontTx/>
              <a:buNone/>
            </a:pPr>
            <a:r>
              <a:rPr lang="bg-BG" altLang="bg-BG" dirty="0">
                <a:solidFill>
                  <a:srgbClr val="C00000"/>
                </a:solidFill>
              </a:rPr>
              <a:t>Видове атрибути в </a:t>
            </a:r>
            <a:r>
              <a:rPr lang="en-US" altLang="bg-BG" dirty="0">
                <a:solidFill>
                  <a:srgbClr val="C00000"/>
                </a:solidFill>
              </a:rPr>
              <a:t>E</a:t>
            </a:r>
            <a:r>
              <a:rPr lang="bg-BG" altLang="bg-BG" dirty="0">
                <a:solidFill>
                  <a:srgbClr val="C00000"/>
                </a:solidFill>
              </a:rPr>
              <a:t>-</a:t>
            </a:r>
            <a:r>
              <a:rPr lang="en-US" altLang="bg-BG" dirty="0">
                <a:solidFill>
                  <a:srgbClr val="C00000"/>
                </a:solidFill>
              </a:rPr>
              <a:t>R</a:t>
            </a:r>
            <a:r>
              <a:rPr lang="bg-BG" altLang="bg-BG" dirty="0">
                <a:solidFill>
                  <a:srgbClr val="C00000"/>
                </a:solidFill>
              </a:rPr>
              <a:t> модела</a:t>
            </a:r>
          </a:p>
          <a:p>
            <a:pPr>
              <a:buFontTx/>
              <a:buAutoNum type="arabicPeriod"/>
            </a:pPr>
            <a:r>
              <a:rPr lang="bg-BG" altLang="bg-BG" sz="2000" dirty="0"/>
              <a:t>Прости (</a:t>
            </a:r>
            <a:r>
              <a:rPr lang="en-US" altLang="bg-BG" sz="2000" dirty="0"/>
              <a:t>simple</a:t>
            </a:r>
            <a:r>
              <a:rPr lang="bg-BG" altLang="bg-BG" sz="2000" dirty="0"/>
              <a:t>) и съставни (сложни, </a:t>
            </a:r>
            <a:r>
              <a:rPr lang="en-US" altLang="bg-BG" sz="2000" dirty="0"/>
              <a:t>composite</a:t>
            </a:r>
            <a:r>
              <a:rPr lang="bg-BG" altLang="bg-BG" sz="2000" dirty="0"/>
              <a:t>) атрибути</a:t>
            </a:r>
          </a:p>
          <a:p>
            <a:pPr marL="762000" lvl="1" indent="-304800"/>
            <a:r>
              <a:rPr lang="bg-BG" altLang="bg-BG" sz="2000" dirty="0"/>
              <a:t>Прости атрибути - неделими атрибути,  изградени от единствен компонент, който приема една атомарна стойност (пример – пол</a:t>
            </a:r>
            <a:r>
              <a:rPr lang="bg-BG" altLang="bg-BG" sz="2000" dirty="0" smtClean="0"/>
              <a:t>)</a:t>
            </a:r>
            <a:r>
              <a:rPr lang="en-US" altLang="bg-BG" sz="2000" dirty="0" smtClean="0"/>
              <a:t>.</a:t>
            </a:r>
            <a:endParaRPr lang="bg-BG" altLang="bg-BG" sz="2000" dirty="0"/>
          </a:p>
          <a:p>
            <a:pPr marL="762000" lvl="1" indent="-304800"/>
            <a:r>
              <a:rPr lang="bg-BG" altLang="bg-BG" sz="2000" dirty="0"/>
              <a:t>Сложни атрибути - атрибути, изградени от други атрибути, всеки от които има независимо значение, могат да образуват йерархия, стойността им е конкатенация от стойностите на изграждащите атрибути (пример – адрес</a:t>
            </a:r>
            <a:r>
              <a:rPr lang="bg-BG" altLang="bg-BG" sz="2000" dirty="0" smtClean="0"/>
              <a:t>)</a:t>
            </a:r>
            <a:r>
              <a:rPr lang="en-US" altLang="bg-BG" sz="2000" dirty="0" smtClean="0"/>
              <a:t>.</a:t>
            </a:r>
            <a:r>
              <a:rPr lang="bg-BG" altLang="bg-BG" sz="2000" dirty="0" smtClean="0"/>
              <a:t> </a:t>
            </a:r>
            <a:endParaRPr lang="bg-BG" altLang="bg-BG" sz="2000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/>
              <a:t>Юлиана Пенева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altLang="bg-BG"/>
              <a:t>CSCB405- модул 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9B1C6-8DFD-4486-AC4E-8EB8DAD274E1}" type="slidenum">
              <a:rPr lang="bg-BG" altLang="bg-BG"/>
              <a:pPr/>
              <a:t>11</a:t>
            </a:fld>
            <a:endParaRPr lang="bg-BG" altLang="bg-BG"/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907704" y="3861830"/>
            <a:ext cx="5831632" cy="2160240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38" name="Rectangle 2"/>
          <p:cNvSpPr>
            <a:spLocks noGrp="1" noChangeArrowheads="1"/>
          </p:cNvSpPr>
          <p:nvPr>
            <p:ph type="title"/>
          </p:nvPr>
        </p:nvSpPr>
        <p:spPr>
          <a:xfrm>
            <a:off x="611560" y="332656"/>
            <a:ext cx="8352928" cy="582960"/>
          </a:xfrm>
        </p:spPr>
        <p:txBody>
          <a:bodyPr>
            <a:normAutofit/>
          </a:bodyPr>
          <a:lstStyle/>
          <a:p>
            <a:pPr algn="ctr"/>
            <a:r>
              <a:rPr lang="bg-BG" altLang="bg-BG" sz="3200" dirty="0">
                <a:solidFill>
                  <a:schemeClr val="accent1"/>
                </a:solidFill>
              </a:rPr>
              <a:t>Основни понятия при модела “обект-връзка</a:t>
            </a:r>
            <a:r>
              <a:rPr lang="bg-BG" altLang="bg-BG" sz="3200" dirty="0" smtClean="0">
                <a:solidFill>
                  <a:schemeClr val="accent1"/>
                </a:solidFill>
              </a:rPr>
              <a:t>”</a:t>
            </a:r>
            <a:endParaRPr lang="bg-BG" altLang="bg-BG" sz="3200" dirty="0">
              <a:solidFill>
                <a:schemeClr val="accent1"/>
              </a:solidFill>
            </a:endParaRPr>
          </a:p>
        </p:txBody>
      </p:sp>
      <p:sp>
        <p:nvSpPr>
          <p:cNvPr id="193539" name="Rectangle 3"/>
          <p:cNvSpPr>
            <a:spLocks noGrp="1" noChangeArrowheads="1"/>
          </p:cNvSpPr>
          <p:nvPr>
            <p:ph idx="1"/>
          </p:nvPr>
        </p:nvSpPr>
        <p:spPr>
          <a:xfrm>
            <a:off x="683568" y="980728"/>
            <a:ext cx="7543800" cy="4176464"/>
          </a:xfrm>
        </p:spPr>
        <p:txBody>
          <a:bodyPr>
            <a:normAutofit lnSpcReduction="10000"/>
          </a:bodyPr>
          <a:lstStyle/>
          <a:p>
            <a:pPr marL="609600" indent="-609600">
              <a:lnSpc>
                <a:spcPct val="90000"/>
              </a:lnSpc>
              <a:buFontTx/>
              <a:buAutoNum type="arabicPeriod" startAt="2"/>
            </a:pPr>
            <a:r>
              <a:rPr lang="en-US" altLang="bg-BG" sz="2400" dirty="0"/>
              <a:t>E</a:t>
            </a:r>
            <a:r>
              <a:rPr lang="bg-BG" altLang="bg-BG" sz="2400" dirty="0"/>
              <a:t>дностойности (</a:t>
            </a:r>
            <a:r>
              <a:rPr lang="en-US" altLang="bg-BG" sz="2400" dirty="0"/>
              <a:t>single</a:t>
            </a:r>
            <a:r>
              <a:rPr lang="bg-BG" altLang="bg-BG" sz="2400" dirty="0"/>
              <a:t>-</a:t>
            </a:r>
            <a:r>
              <a:rPr lang="en-US" altLang="bg-BG" sz="2400" dirty="0"/>
              <a:t>valued</a:t>
            </a:r>
            <a:r>
              <a:rPr lang="bg-BG" altLang="bg-BG" sz="2400" dirty="0"/>
              <a:t>) и многостойностни (</a:t>
            </a:r>
            <a:r>
              <a:rPr lang="en-US" altLang="bg-BG" sz="2400" dirty="0"/>
              <a:t>multi</a:t>
            </a:r>
            <a:r>
              <a:rPr lang="bg-BG" altLang="bg-BG" sz="2400" dirty="0"/>
              <a:t>-</a:t>
            </a:r>
            <a:r>
              <a:rPr lang="en-US" altLang="bg-BG" sz="2400" dirty="0"/>
              <a:t>valued</a:t>
            </a:r>
            <a:r>
              <a:rPr lang="bg-BG" altLang="bg-BG" sz="2400" dirty="0"/>
              <a:t>) </a:t>
            </a:r>
            <a:r>
              <a:rPr lang="bg-BG" altLang="bg-BG" sz="2400" dirty="0" smtClean="0"/>
              <a:t>атрибути</a:t>
            </a:r>
            <a:r>
              <a:rPr lang="en-US" altLang="bg-BG" sz="2400" dirty="0" smtClean="0"/>
              <a:t>.</a:t>
            </a:r>
            <a:endParaRPr lang="bg-BG" altLang="bg-BG" sz="2400" dirty="0"/>
          </a:p>
          <a:p>
            <a:pPr marL="990600" lvl="1" indent="-533400">
              <a:lnSpc>
                <a:spcPct val="90000"/>
              </a:lnSpc>
              <a:buFontTx/>
              <a:buChar char="•"/>
            </a:pPr>
            <a:r>
              <a:rPr lang="bg-BG" altLang="bg-BG" sz="2400" dirty="0"/>
              <a:t>едностойностни</a:t>
            </a:r>
            <a:r>
              <a:rPr lang="bg-BG" altLang="bg-BG" sz="2400" i="1" dirty="0"/>
              <a:t> - а</a:t>
            </a:r>
            <a:r>
              <a:rPr lang="bg-BG" altLang="bg-BG" sz="2400" dirty="0"/>
              <a:t>трибути, които приемат единствена стойност за даден </a:t>
            </a:r>
            <a:r>
              <a:rPr lang="bg-BG" altLang="bg-BG" sz="2400" dirty="0" smtClean="0"/>
              <a:t>обект</a:t>
            </a:r>
            <a:r>
              <a:rPr lang="en-US" altLang="bg-BG" sz="2400" dirty="0" smtClean="0"/>
              <a:t>;</a:t>
            </a:r>
            <a:r>
              <a:rPr lang="bg-BG" altLang="bg-BG" sz="2400" dirty="0" smtClean="0"/>
              <a:t> </a:t>
            </a:r>
            <a:endParaRPr lang="bg-BG" altLang="bg-BG" sz="2400" dirty="0"/>
          </a:p>
          <a:p>
            <a:pPr marL="990600" lvl="1" indent="-533400">
              <a:lnSpc>
                <a:spcPct val="90000"/>
              </a:lnSpc>
              <a:buFontTx/>
              <a:buChar char="•"/>
            </a:pPr>
            <a:r>
              <a:rPr lang="bg-BG" altLang="bg-BG" sz="2400" dirty="0"/>
              <a:t>многостойностни - атрибути, които могат да приемат множество от стойности, могат да имат долна и горна граница на стойностите</a:t>
            </a:r>
            <a:r>
              <a:rPr lang="bg-BG" altLang="bg-BG" sz="2000" dirty="0"/>
              <a:t>. </a:t>
            </a:r>
          </a:p>
          <a:p>
            <a:pPr marL="609600" indent="-609600">
              <a:lnSpc>
                <a:spcPct val="90000"/>
              </a:lnSpc>
              <a:buFontTx/>
              <a:buNone/>
            </a:pPr>
            <a:r>
              <a:rPr lang="bg-BG" altLang="bg-BG" sz="2400" dirty="0"/>
              <a:t>Примери:</a:t>
            </a:r>
          </a:p>
          <a:p>
            <a:pPr marL="609600" indent="-609600">
              <a:lnSpc>
                <a:spcPct val="90000"/>
              </a:lnSpc>
              <a:buFontTx/>
              <a:buNone/>
            </a:pPr>
            <a:r>
              <a:rPr lang="bg-BG" altLang="bg-BG" sz="2400" dirty="0"/>
              <a:t> Възраст - едностойностен атрибут на обекта "ЧОВЕК", </a:t>
            </a:r>
          </a:p>
          <a:p>
            <a:pPr marL="609600" indent="-609600">
              <a:lnSpc>
                <a:spcPct val="90000"/>
              </a:lnSpc>
              <a:buFontTx/>
              <a:buNone/>
            </a:pPr>
            <a:r>
              <a:rPr lang="bg-BG" altLang="bg-BG" sz="2400" dirty="0"/>
              <a:t> Оценка на обекта "УЧЕНИК"  - може да приема пет различни стойности по една и съща дисциплина {2,3,4,5,6}.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/>
              <a:t>Юлиана Пенева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altLang="bg-BG"/>
              <a:t>CSCB405- модул 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CFB7E-FB3C-4191-9C83-39E446A6765C}" type="slidenum">
              <a:rPr lang="bg-BG" altLang="bg-BG"/>
              <a:pPr/>
              <a:t>12</a:t>
            </a:fld>
            <a:endParaRPr lang="bg-BG" altLang="bg-BG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6" name="Rectangle 4"/>
          <p:cNvSpPr>
            <a:spLocks noGrp="1" noChangeArrowheads="1"/>
          </p:cNvSpPr>
          <p:nvPr>
            <p:ph type="title"/>
          </p:nvPr>
        </p:nvSpPr>
        <p:spPr>
          <a:xfrm>
            <a:off x="323528" y="404664"/>
            <a:ext cx="8352928" cy="582960"/>
          </a:xfrm>
        </p:spPr>
        <p:txBody>
          <a:bodyPr>
            <a:normAutofit/>
          </a:bodyPr>
          <a:lstStyle/>
          <a:p>
            <a:pPr algn="ctr"/>
            <a:r>
              <a:rPr lang="bg-BG" altLang="bg-BG" sz="3200" dirty="0">
                <a:solidFill>
                  <a:schemeClr val="accent1"/>
                </a:solidFill>
              </a:rPr>
              <a:t>Основни понятия при модела “обект-връзка</a:t>
            </a:r>
            <a:r>
              <a:rPr lang="bg-BG" altLang="bg-BG" sz="3200" dirty="0" smtClean="0">
                <a:solidFill>
                  <a:schemeClr val="accent1"/>
                </a:solidFill>
              </a:rPr>
              <a:t>”</a:t>
            </a:r>
            <a:endParaRPr lang="bg-BG" altLang="bg-BG" sz="3200" dirty="0">
              <a:solidFill>
                <a:schemeClr val="accent1"/>
              </a:solidFill>
            </a:endParaRPr>
          </a:p>
        </p:txBody>
      </p:sp>
      <p:sp>
        <p:nvSpPr>
          <p:cNvPr id="136197" name="Rectangle 5"/>
          <p:cNvSpPr>
            <a:spLocks noGrp="1" noChangeArrowheads="1"/>
          </p:cNvSpPr>
          <p:nvPr>
            <p:ph idx="1"/>
          </p:nvPr>
        </p:nvSpPr>
        <p:spPr>
          <a:xfrm>
            <a:off x="323528" y="1124744"/>
            <a:ext cx="8229600" cy="4752528"/>
          </a:xfrm>
        </p:spPr>
        <p:txBody>
          <a:bodyPr/>
          <a:lstStyle/>
          <a:p>
            <a:pPr marL="609600" indent="-609600">
              <a:buFontTx/>
              <a:buAutoNum type="arabicPeriod" startAt="3"/>
            </a:pPr>
            <a:r>
              <a:rPr lang="bg-BG" altLang="bg-BG" sz="2400" dirty="0"/>
              <a:t>Съхранявани (</a:t>
            </a:r>
            <a:r>
              <a:rPr lang="en-US" altLang="bg-BG" sz="2400" dirty="0"/>
              <a:t>stored</a:t>
            </a:r>
            <a:r>
              <a:rPr lang="bg-BG" altLang="bg-BG" sz="2400" dirty="0"/>
              <a:t>) и изчислими (derived) атрибути</a:t>
            </a:r>
          </a:p>
          <a:p>
            <a:pPr marL="990600" lvl="1" indent="-533400">
              <a:buFontTx/>
              <a:buChar char="•"/>
            </a:pPr>
            <a:r>
              <a:rPr lang="bg-BG" altLang="bg-BG" sz="2400" dirty="0"/>
              <a:t>изчислим  - атрибут, чиято стойност може да се пресметне от стойностите на други атрибути</a:t>
            </a:r>
          </a:p>
          <a:p>
            <a:pPr marL="990600" lvl="1" indent="-533400">
              <a:buFontTx/>
              <a:buChar char="•"/>
            </a:pPr>
            <a:r>
              <a:rPr lang="bg-BG" altLang="bg-BG" sz="2400" dirty="0"/>
              <a:t>съхраняван - атрибут, чиито стойности се записват директно в базата</a:t>
            </a:r>
          </a:p>
          <a:p>
            <a:pPr marL="609600" indent="-609600">
              <a:buFontTx/>
              <a:buNone/>
            </a:pPr>
            <a:r>
              <a:rPr lang="bg-BG" altLang="bg-BG" sz="2400" dirty="0"/>
              <a:t>Пример: атрибутите ЕГН, Рождена дата и Възраст на обекта "ЧОВЕК"   - ЕГН е съхраняван, а останалите могат да се приемат за изчислими</a:t>
            </a:r>
          </a:p>
          <a:p>
            <a:pPr marL="609600" indent="-609600">
              <a:buFontTx/>
              <a:buNone/>
            </a:pPr>
            <a:endParaRPr lang="bg-BG" altLang="bg-BG" sz="700" dirty="0"/>
          </a:p>
          <a:p>
            <a:pPr marL="609600" indent="-609600">
              <a:buFontTx/>
              <a:buNone/>
            </a:pPr>
            <a:r>
              <a:rPr lang="bg-BG" altLang="bg-BG" sz="2400" dirty="0"/>
              <a:t>Ако стойността на даден атрибут е неизвестна или няма смисъл за него, се използува специалната константа </a:t>
            </a:r>
            <a:r>
              <a:rPr lang="bg-BG" altLang="bg-BG" sz="2400" dirty="0">
                <a:solidFill>
                  <a:srgbClr val="C00000"/>
                </a:solidFill>
              </a:rPr>
              <a:t>null.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/>
              <a:t>Юлиана Пенева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altLang="bg-BG"/>
              <a:t>CSCB405- модул 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30970A-C4AE-4D21-8A16-CD0D36CD1CC9}" type="slidenum">
              <a:rPr lang="bg-BG" altLang="bg-BG"/>
              <a:pPr/>
              <a:t>13</a:t>
            </a:fld>
            <a:endParaRPr lang="bg-BG" altLang="bg-BG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72" name="Rectangle 8"/>
          <p:cNvSpPr>
            <a:spLocks noGrp="1" noChangeArrowheads="1"/>
          </p:cNvSpPr>
          <p:nvPr>
            <p:ph type="title"/>
          </p:nvPr>
        </p:nvSpPr>
        <p:spPr>
          <a:xfrm>
            <a:off x="323528" y="476672"/>
            <a:ext cx="8243887" cy="648072"/>
          </a:xfrm>
        </p:spPr>
        <p:txBody>
          <a:bodyPr>
            <a:normAutofit fontScale="90000"/>
          </a:bodyPr>
          <a:lstStyle/>
          <a:p>
            <a:pPr algn="ctr"/>
            <a:r>
              <a:rPr lang="bg-BG" altLang="bg-BG" sz="3600" dirty="0">
                <a:solidFill>
                  <a:schemeClr val="accent1"/>
                </a:solidFill>
              </a:rPr>
              <a:t>Основни понятия при модела “обект-връзка</a:t>
            </a:r>
            <a:r>
              <a:rPr lang="bg-BG" altLang="bg-BG" sz="3600" dirty="0" smtClean="0">
                <a:solidFill>
                  <a:schemeClr val="accent1"/>
                </a:solidFill>
              </a:rPr>
              <a:t>”</a:t>
            </a:r>
            <a:endParaRPr lang="bg-BG" altLang="bg-BG" sz="3600" dirty="0">
              <a:solidFill>
                <a:schemeClr val="accent1"/>
              </a:solidFill>
            </a:endParaRPr>
          </a:p>
        </p:txBody>
      </p:sp>
      <p:pic>
        <p:nvPicPr>
          <p:cNvPr id="190484" name="Picture 20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7504" y="1412776"/>
            <a:ext cx="4704620" cy="3456384"/>
          </a:xfrm>
          <a:noFill/>
          <a:ln w="19050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90482" name="Rectangle 18"/>
          <p:cNvSpPr>
            <a:spLocks noGrp="1" noChangeArrowheads="1"/>
          </p:cNvSpPr>
          <p:nvPr>
            <p:ph type="body" sz="half" idx="2"/>
          </p:nvPr>
        </p:nvSpPr>
        <p:spPr>
          <a:xfrm>
            <a:off x="4716016" y="1340768"/>
            <a:ext cx="4038600" cy="3203377"/>
          </a:xfrm>
        </p:spPr>
        <p:txBody>
          <a:bodyPr/>
          <a:lstStyle/>
          <a:p>
            <a:r>
              <a:rPr lang="bg-BG" altLang="bg-BG" sz="2400" dirty="0"/>
              <a:t>Различните типове атрибути диаграмно се изобразяват с различен вид елипси 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/>
              <a:t>Юлиана Пенева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altLang="bg-BG"/>
              <a:t>CSCB405- модул 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1BC226-9216-47DE-843D-28234FB178E3}" type="slidenum">
              <a:rPr lang="bg-BG" altLang="bg-BG"/>
              <a:pPr/>
              <a:t>14</a:t>
            </a:fld>
            <a:endParaRPr lang="bg-BG" altLang="bg-BG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46" name="Rectangle 6"/>
          <p:cNvSpPr>
            <a:spLocks noGrp="1" noChangeArrowheads="1"/>
          </p:cNvSpPr>
          <p:nvPr>
            <p:ph type="title"/>
          </p:nvPr>
        </p:nvSpPr>
        <p:spPr>
          <a:xfrm>
            <a:off x="395288" y="260350"/>
            <a:ext cx="8243887" cy="725488"/>
          </a:xfrm>
        </p:spPr>
        <p:txBody>
          <a:bodyPr>
            <a:noAutofit/>
          </a:bodyPr>
          <a:lstStyle/>
          <a:p>
            <a:pPr algn="ctr"/>
            <a:r>
              <a:rPr lang="bg-BG" altLang="bg-BG" sz="3200" dirty="0">
                <a:solidFill>
                  <a:schemeClr val="accent1"/>
                </a:solidFill>
              </a:rPr>
              <a:t>Основни понятия при модела “обект-връзка”</a:t>
            </a:r>
          </a:p>
        </p:txBody>
      </p:sp>
      <p:sp>
        <p:nvSpPr>
          <p:cNvPr id="189449" name="Rectangle 9"/>
          <p:cNvSpPr>
            <a:spLocks noGrp="1" noChangeArrowheads="1"/>
          </p:cNvSpPr>
          <p:nvPr>
            <p:ph type="body" sz="half" idx="1"/>
          </p:nvPr>
        </p:nvSpPr>
        <p:spPr>
          <a:xfrm>
            <a:off x="467544" y="1196752"/>
            <a:ext cx="8229600" cy="1728787"/>
          </a:xfrm>
        </p:spPr>
        <p:txBody>
          <a:bodyPr>
            <a:normAutofit lnSpcReduction="10000"/>
          </a:bodyPr>
          <a:lstStyle/>
          <a:p>
            <a:pPr marL="381000" indent="-381000" algn="ctr">
              <a:lnSpc>
                <a:spcPct val="80000"/>
              </a:lnSpc>
              <a:buFontTx/>
              <a:buNone/>
            </a:pPr>
            <a:r>
              <a:rPr lang="bg-BG" altLang="bg-BG" u="sng" dirty="0">
                <a:solidFill>
                  <a:srgbClr val="C00000"/>
                </a:solidFill>
              </a:rPr>
              <a:t>Тип на обект</a:t>
            </a:r>
          </a:p>
          <a:p>
            <a:pPr marL="381000" indent="-381000">
              <a:lnSpc>
                <a:spcPct val="80000"/>
              </a:lnSpc>
              <a:buFontTx/>
              <a:buAutoNum type="arabicPeriod"/>
            </a:pPr>
            <a:r>
              <a:rPr lang="bg-BG" altLang="bg-BG" sz="2000" dirty="0"/>
              <a:t>Тип на обект - множество от обекти с еднакви </a:t>
            </a:r>
            <a:r>
              <a:rPr lang="bg-BG" altLang="bg-BG" sz="2000" dirty="0" smtClean="0"/>
              <a:t>атрибути</a:t>
            </a:r>
            <a:r>
              <a:rPr lang="en-US" altLang="bg-BG" sz="2000" dirty="0" smtClean="0"/>
              <a:t>.</a:t>
            </a:r>
            <a:endParaRPr lang="bg-BG" altLang="bg-BG" sz="2000" dirty="0"/>
          </a:p>
          <a:p>
            <a:pPr marL="381000" indent="-381000">
              <a:lnSpc>
                <a:spcPct val="80000"/>
              </a:lnSpc>
              <a:buFontTx/>
              <a:buAutoNum type="arabicPeriod"/>
            </a:pPr>
            <a:r>
              <a:rPr lang="bg-BG" altLang="bg-BG" sz="2000" dirty="0"/>
              <a:t> Всеки тип на обект се описва от име и списък от </a:t>
            </a:r>
            <a:r>
              <a:rPr lang="bg-BG" altLang="bg-BG" sz="2000" dirty="0" smtClean="0"/>
              <a:t>атрибути</a:t>
            </a:r>
            <a:r>
              <a:rPr lang="en-US" altLang="bg-BG" sz="2000" dirty="0" smtClean="0"/>
              <a:t>.</a:t>
            </a:r>
            <a:endParaRPr lang="bg-BG" altLang="bg-BG" sz="2000" dirty="0"/>
          </a:p>
          <a:p>
            <a:pPr marL="381000" indent="-381000">
              <a:lnSpc>
                <a:spcPct val="80000"/>
              </a:lnSpc>
              <a:buFontTx/>
              <a:buAutoNum type="arabicPeriod"/>
            </a:pPr>
            <a:r>
              <a:rPr lang="bg-BG" altLang="bg-BG" sz="2000" dirty="0"/>
              <a:t>Типът е шаблон, еднакъв за група от обекти със сходни </a:t>
            </a:r>
            <a:r>
              <a:rPr lang="bg-BG" altLang="bg-BG" sz="2000" dirty="0" smtClean="0"/>
              <a:t>характеристики</a:t>
            </a:r>
            <a:r>
              <a:rPr lang="en-US" altLang="bg-BG" sz="2000" dirty="0" smtClean="0"/>
              <a:t>.</a:t>
            </a:r>
            <a:endParaRPr lang="bg-BG" altLang="bg-BG" sz="2000" dirty="0"/>
          </a:p>
          <a:p>
            <a:pPr marL="381000" indent="-381000">
              <a:lnSpc>
                <a:spcPct val="80000"/>
              </a:lnSpc>
              <a:buFontTx/>
              <a:buAutoNum type="arabicPeriod"/>
            </a:pPr>
            <a:r>
              <a:rPr lang="bg-BG" altLang="bg-BG" sz="2000" dirty="0"/>
              <a:t>Диаграмно се представя чрез </a:t>
            </a:r>
            <a:r>
              <a:rPr lang="bg-BG" altLang="bg-BG" sz="2000" dirty="0" smtClean="0"/>
              <a:t>правоъгълник</a:t>
            </a:r>
            <a:r>
              <a:rPr lang="en-US" altLang="bg-BG" sz="2000" dirty="0" smtClean="0"/>
              <a:t>.</a:t>
            </a:r>
            <a:r>
              <a:rPr lang="bg-BG" altLang="bg-BG" sz="1800" dirty="0" smtClean="0"/>
              <a:t> </a:t>
            </a:r>
            <a:endParaRPr lang="bg-BG" altLang="bg-BG" sz="1800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/>
              <a:t>Юлиана Пенева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altLang="bg-BG"/>
              <a:t>CSCB405- модул 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7924A6-5BFE-412C-BC2B-83A78AACC38A}" type="slidenum">
              <a:rPr lang="bg-BG" altLang="bg-BG"/>
              <a:pPr/>
              <a:t>15</a:t>
            </a:fld>
            <a:endParaRPr lang="bg-BG" altLang="bg-BG"/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1560" y="3137820"/>
            <a:ext cx="7763982" cy="2700097"/>
          </a:xfrm>
          <a:prstGeom prst="rect">
            <a:avLst/>
          </a:prstGeom>
          <a:ln w="19050">
            <a:solidFill>
              <a:srgbClr val="C00000"/>
            </a:solidFill>
          </a:ln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24" name="Rectangle 8"/>
          <p:cNvSpPr>
            <a:spLocks noGrp="1" noChangeArrowheads="1"/>
          </p:cNvSpPr>
          <p:nvPr>
            <p:ph type="title"/>
          </p:nvPr>
        </p:nvSpPr>
        <p:spPr>
          <a:xfrm>
            <a:off x="468313" y="404664"/>
            <a:ext cx="8243887" cy="581174"/>
          </a:xfrm>
        </p:spPr>
        <p:txBody>
          <a:bodyPr>
            <a:noAutofit/>
          </a:bodyPr>
          <a:lstStyle/>
          <a:p>
            <a:pPr algn="ctr"/>
            <a:r>
              <a:rPr lang="bg-BG" altLang="bg-BG" sz="3200" dirty="0">
                <a:solidFill>
                  <a:schemeClr val="accent1"/>
                </a:solidFill>
              </a:rPr>
              <a:t>Основни понятия при модела “обект-връзка”</a:t>
            </a:r>
          </a:p>
        </p:txBody>
      </p:sp>
      <p:sp>
        <p:nvSpPr>
          <p:cNvPr id="137226" name="Rectangle 10"/>
          <p:cNvSpPr>
            <a:spLocks noGrp="1" noChangeArrowheads="1"/>
          </p:cNvSpPr>
          <p:nvPr>
            <p:ph idx="1"/>
          </p:nvPr>
        </p:nvSpPr>
        <p:spPr>
          <a:xfrm>
            <a:off x="457200" y="1125538"/>
            <a:ext cx="8229600" cy="4930775"/>
          </a:xfrm>
        </p:spPr>
        <p:txBody>
          <a:bodyPr>
            <a:normAutofit lnSpcReduction="10000"/>
          </a:bodyPr>
          <a:lstStyle/>
          <a:p>
            <a:pPr marL="457200" indent="-457200" algn="ctr">
              <a:lnSpc>
                <a:spcPct val="80000"/>
              </a:lnSpc>
              <a:buFontTx/>
              <a:buNone/>
            </a:pPr>
            <a:r>
              <a:rPr lang="bg-BG" altLang="bg-BG" sz="2800" dirty="0">
                <a:solidFill>
                  <a:srgbClr val="C00000"/>
                </a:solidFill>
              </a:rPr>
              <a:t>Ограничения върху обектите от даден тип</a:t>
            </a:r>
          </a:p>
          <a:p>
            <a:pPr marL="457200" indent="-457200" algn="ctr">
              <a:lnSpc>
                <a:spcPct val="80000"/>
              </a:lnSpc>
              <a:buFontTx/>
              <a:buNone/>
            </a:pPr>
            <a:endParaRPr lang="bg-BG" altLang="bg-BG" sz="1200" dirty="0"/>
          </a:p>
          <a:p>
            <a:pPr marL="457200" indent="-457200">
              <a:lnSpc>
                <a:spcPct val="80000"/>
              </a:lnSpc>
              <a:buFontTx/>
              <a:buAutoNum type="arabicPeriod"/>
            </a:pPr>
            <a:r>
              <a:rPr lang="bg-BG" altLang="bg-BG" sz="2800" dirty="0"/>
              <a:t>Всеки тип на обект притежава </a:t>
            </a:r>
            <a:r>
              <a:rPr lang="bg-BG" altLang="bg-BG" sz="2800" dirty="0">
                <a:solidFill>
                  <a:srgbClr val="C00000"/>
                </a:solidFill>
              </a:rPr>
              <a:t>ключ</a:t>
            </a:r>
            <a:r>
              <a:rPr lang="bg-BG" altLang="bg-BG" sz="2800" i="1" dirty="0"/>
              <a:t> </a:t>
            </a:r>
            <a:r>
              <a:rPr lang="bg-BG" altLang="bg-BG" sz="2800" dirty="0"/>
              <a:t>за идентифициране на отделните обекти. Ключът в </a:t>
            </a:r>
            <a:r>
              <a:rPr lang="en-US" altLang="bg-BG" sz="2800" dirty="0"/>
              <a:t>E</a:t>
            </a:r>
            <a:r>
              <a:rPr lang="bg-BG" altLang="bg-BG" sz="2800" dirty="0"/>
              <a:t>-</a:t>
            </a:r>
            <a:r>
              <a:rPr lang="en-US" altLang="bg-BG" sz="2800" dirty="0"/>
              <a:t>R</a:t>
            </a:r>
            <a:r>
              <a:rPr lang="bg-BG" altLang="bg-BG" sz="2800" dirty="0"/>
              <a:t> диаграмите е подчертан.</a:t>
            </a:r>
          </a:p>
          <a:p>
            <a:pPr marL="457200" indent="-457200">
              <a:lnSpc>
                <a:spcPct val="80000"/>
              </a:lnSpc>
              <a:buFontTx/>
              <a:buAutoNum type="arabicPeriod"/>
            </a:pPr>
            <a:r>
              <a:rPr lang="bg-BG" altLang="bg-BG" sz="2800" dirty="0"/>
              <a:t>Ключът може да бъде изграден от няколко атрибута като комбинациите от техните стойности са уникални за съответните екземпляри. Тогава ключът се нарича съставен. </a:t>
            </a:r>
          </a:p>
          <a:p>
            <a:pPr marL="457200" indent="-457200">
              <a:lnSpc>
                <a:spcPct val="80000"/>
              </a:lnSpc>
              <a:buFontTx/>
              <a:buAutoNum type="arabicPeriod"/>
            </a:pPr>
            <a:r>
              <a:rPr lang="bg-BG" altLang="bg-BG" sz="2800" dirty="0"/>
              <a:t>Определянето на даден атрибут за ключ означава, че той приема различни стойности за произволно разширение на типа. </a:t>
            </a:r>
          </a:p>
          <a:p>
            <a:pPr marL="457200" indent="-457200">
              <a:lnSpc>
                <a:spcPct val="80000"/>
              </a:lnSpc>
              <a:buFontTx/>
              <a:buAutoNum type="arabicPeriod"/>
            </a:pPr>
            <a:r>
              <a:rPr lang="bg-BG" altLang="bg-BG" sz="2800" dirty="0"/>
              <a:t>Някои типове обекти притежават повече от един ключ. 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/>
              <a:t>Юлиана Пенева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altLang="bg-BG"/>
              <a:t>CSCB405- модул 6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AC866-EC1B-42A4-BED7-557342B88D72}" type="slidenum">
              <a:rPr lang="bg-BG" altLang="bg-BG"/>
              <a:pPr/>
              <a:t>16</a:t>
            </a:fld>
            <a:endParaRPr lang="bg-BG" altLang="bg-BG"/>
          </a:p>
        </p:txBody>
      </p:sp>
      <p:sp>
        <p:nvSpPr>
          <p:cNvPr id="137221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bg-BG"/>
          </a:p>
        </p:txBody>
      </p:sp>
      <p:sp>
        <p:nvSpPr>
          <p:cNvPr id="137223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bg-BG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058" name="Rectangle 2"/>
          <p:cNvSpPr>
            <a:spLocks noGrp="1" noChangeArrowheads="1"/>
          </p:cNvSpPr>
          <p:nvPr>
            <p:ph type="title"/>
          </p:nvPr>
        </p:nvSpPr>
        <p:spPr>
          <a:xfrm>
            <a:off x="467544" y="404664"/>
            <a:ext cx="8243887" cy="509290"/>
          </a:xfr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noAutofit/>
          </a:bodyPr>
          <a:lstStyle/>
          <a:p>
            <a:pPr algn="ctr" defTabSz="4572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bg-BG" altLang="bg-BG" sz="3200" dirty="0">
                <a:solidFill>
                  <a:schemeClr val="accent1"/>
                </a:solidFill>
              </a:rPr>
              <a:t>Основни понятия при модела “обект-връзка”</a:t>
            </a:r>
            <a:endParaRPr lang="en-US" altLang="bg-BG" sz="3200" dirty="0">
              <a:solidFill>
                <a:schemeClr val="accent1"/>
              </a:solidFill>
            </a:endParaRPr>
          </a:p>
        </p:txBody>
      </p:sp>
      <p:sp>
        <p:nvSpPr>
          <p:cNvPr id="30105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836613"/>
            <a:ext cx="4402832" cy="5400675"/>
          </a:xfr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0" bIns="46800">
            <a:normAutofit lnSpcReduction="10000"/>
          </a:bodyPr>
          <a:lstStyle/>
          <a:p>
            <a:pPr marL="533400" indent="-533400" algn="ctr" defTabSz="457200">
              <a:spcBef>
                <a:spcPts val="700"/>
              </a:spcBef>
              <a:buFont typeface="Arial" charset="0"/>
              <a:buNone/>
              <a:tabLst>
                <a:tab pos="334963" algn="l"/>
                <a:tab pos="447675" algn="l"/>
                <a:tab pos="904875" algn="l"/>
                <a:tab pos="1362075" algn="l"/>
                <a:tab pos="1819275" algn="l"/>
                <a:tab pos="2276475" algn="l"/>
                <a:tab pos="2733675" algn="l"/>
                <a:tab pos="3190875" algn="l"/>
                <a:tab pos="3648075" algn="l"/>
                <a:tab pos="4105275" algn="l"/>
                <a:tab pos="4562475" algn="l"/>
                <a:tab pos="5019675" algn="l"/>
                <a:tab pos="5476875" algn="l"/>
                <a:tab pos="5934075" algn="l"/>
                <a:tab pos="6391275" algn="l"/>
                <a:tab pos="6848475" algn="l"/>
                <a:tab pos="7305675" algn="l"/>
                <a:tab pos="7762875" algn="l"/>
                <a:tab pos="8220075" algn="l"/>
                <a:tab pos="8677275" algn="l"/>
                <a:tab pos="9134475" algn="l"/>
              </a:tabLst>
            </a:pPr>
            <a:r>
              <a:rPr lang="bg-BG" altLang="bg-BG" sz="2400" dirty="0">
                <a:solidFill>
                  <a:srgbClr val="C00000"/>
                </a:solidFill>
              </a:rPr>
              <a:t>Начален проект на типовете обекти</a:t>
            </a:r>
          </a:p>
          <a:p>
            <a:pPr marL="533400" indent="-533400" defTabSz="457200">
              <a:spcBef>
                <a:spcPts val="700"/>
              </a:spcBef>
              <a:buFont typeface="Arial" charset="0"/>
              <a:buAutoNum type="arabicPeriod"/>
              <a:tabLst>
                <a:tab pos="334963" algn="l"/>
                <a:tab pos="447675" algn="l"/>
                <a:tab pos="904875" algn="l"/>
                <a:tab pos="1362075" algn="l"/>
                <a:tab pos="1819275" algn="l"/>
                <a:tab pos="2276475" algn="l"/>
                <a:tab pos="2733675" algn="l"/>
                <a:tab pos="3190875" algn="l"/>
                <a:tab pos="3648075" algn="l"/>
                <a:tab pos="4105275" algn="l"/>
                <a:tab pos="4562475" algn="l"/>
                <a:tab pos="5019675" algn="l"/>
                <a:tab pos="5476875" algn="l"/>
                <a:tab pos="5934075" algn="l"/>
                <a:tab pos="6391275" algn="l"/>
                <a:tab pos="6848475" algn="l"/>
                <a:tab pos="7305675" algn="l"/>
                <a:tab pos="7762875" algn="l"/>
                <a:tab pos="8220075" algn="l"/>
                <a:tab pos="8677275" algn="l"/>
                <a:tab pos="9134475" algn="l"/>
              </a:tabLst>
            </a:pPr>
            <a:r>
              <a:rPr lang="bg-BG" altLang="bg-BG" sz="2400" dirty="0"/>
              <a:t>Предвид изискванията могат да се идентифицират четири типа от обекти:</a:t>
            </a:r>
          </a:p>
          <a:p>
            <a:pPr marL="914400" lvl="1" indent="-457200" defTabSz="457200">
              <a:spcBef>
                <a:spcPts val="700"/>
              </a:spcBef>
              <a:buFontTx/>
              <a:buChar char="•"/>
              <a:tabLst>
                <a:tab pos="334963" algn="l"/>
                <a:tab pos="447675" algn="l"/>
                <a:tab pos="904875" algn="l"/>
                <a:tab pos="1362075" algn="l"/>
                <a:tab pos="1819275" algn="l"/>
                <a:tab pos="2276475" algn="l"/>
                <a:tab pos="2733675" algn="l"/>
                <a:tab pos="3190875" algn="l"/>
                <a:tab pos="3648075" algn="l"/>
                <a:tab pos="4105275" algn="l"/>
                <a:tab pos="4562475" algn="l"/>
                <a:tab pos="5019675" algn="l"/>
                <a:tab pos="5476875" algn="l"/>
                <a:tab pos="5934075" algn="l"/>
                <a:tab pos="6391275" algn="l"/>
                <a:tab pos="6848475" algn="l"/>
                <a:tab pos="7305675" algn="l"/>
                <a:tab pos="7762875" algn="l"/>
                <a:tab pos="8220075" algn="l"/>
                <a:tab pos="8677275" algn="l"/>
                <a:tab pos="9134475" algn="l"/>
              </a:tabLst>
            </a:pPr>
            <a:r>
              <a:rPr lang="en-US" altLang="bg-BG" sz="2400" dirty="0"/>
              <a:t>DEPARTMENT</a:t>
            </a:r>
          </a:p>
          <a:p>
            <a:pPr marL="914400" lvl="1" indent="-457200" defTabSz="457200">
              <a:spcBef>
                <a:spcPts val="650"/>
              </a:spcBef>
              <a:buFontTx/>
              <a:buChar char="•"/>
              <a:tabLst>
                <a:tab pos="334963" algn="l"/>
                <a:tab pos="447675" algn="l"/>
                <a:tab pos="904875" algn="l"/>
                <a:tab pos="1362075" algn="l"/>
                <a:tab pos="1819275" algn="l"/>
                <a:tab pos="2276475" algn="l"/>
                <a:tab pos="2733675" algn="l"/>
                <a:tab pos="3190875" algn="l"/>
                <a:tab pos="3648075" algn="l"/>
                <a:tab pos="4105275" algn="l"/>
                <a:tab pos="4562475" algn="l"/>
                <a:tab pos="5019675" algn="l"/>
                <a:tab pos="5476875" algn="l"/>
                <a:tab pos="5934075" algn="l"/>
                <a:tab pos="6391275" algn="l"/>
                <a:tab pos="6848475" algn="l"/>
                <a:tab pos="7305675" algn="l"/>
                <a:tab pos="7762875" algn="l"/>
                <a:tab pos="8220075" algn="l"/>
                <a:tab pos="8677275" algn="l"/>
                <a:tab pos="9134475" algn="l"/>
              </a:tabLst>
            </a:pPr>
            <a:r>
              <a:rPr lang="en-US" altLang="bg-BG" sz="2400" dirty="0"/>
              <a:t>PROJECT</a:t>
            </a:r>
          </a:p>
          <a:p>
            <a:pPr marL="914400" lvl="1" indent="-457200" defTabSz="457200">
              <a:spcBef>
                <a:spcPts val="650"/>
              </a:spcBef>
              <a:buFontTx/>
              <a:buChar char="•"/>
              <a:tabLst>
                <a:tab pos="334963" algn="l"/>
                <a:tab pos="447675" algn="l"/>
                <a:tab pos="904875" algn="l"/>
                <a:tab pos="1362075" algn="l"/>
                <a:tab pos="1819275" algn="l"/>
                <a:tab pos="2276475" algn="l"/>
                <a:tab pos="2733675" algn="l"/>
                <a:tab pos="3190875" algn="l"/>
                <a:tab pos="3648075" algn="l"/>
                <a:tab pos="4105275" algn="l"/>
                <a:tab pos="4562475" algn="l"/>
                <a:tab pos="5019675" algn="l"/>
                <a:tab pos="5476875" algn="l"/>
                <a:tab pos="5934075" algn="l"/>
                <a:tab pos="6391275" algn="l"/>
                <a:tab pos="6848475" algn="l"/>
                <a:tab pos="7305675" algn="l"/>
                <a:tab pos="7762875" algn="l"/>
                <a:tab pos="8220075" algn="l"/>
                <a:tab pos="8677275" algn="l"/>
                <a:tab pos="9134475" algn="l"/>
              </a:tabLst>
            </a:pPr>
            <a:r>
              <a:rPr lang="en-US" altLang="bg-BG" sz="2400" dirty="0"/>
              <a:t>EMPLOYEE</a:t>
            </a:r>
          </a:p>
          <a:p>
            <a:pPr marL="914400" lvl="1" indent="-457200" defTabSz="457200">
              <a:spcBef>
                <a:spcPts val="650"/>
              </a:spcBef>
              <a:buFontTx/>
              <a:buChar char="•"/>
              <a:tabLst>
                <a:tab pos="334963" algn="l"/>
                <a:tab pos="447675" algn="l"/>
                <a:tab pos="904875" algn="l"/>
                <a:tab pos="1362075" algn="l"/>
                <a:tab pos="1819275" algn="l"/>
                <a:tab pos="2276475" algn="l"/>
                <a:tab pos="2733675" algn="l"/>
                <a:tab pos="3190875" algn="l"/>
                <a:tab pos="3648075" algn="l"/>
                <a:tab pos="4105275" algn="l"/>
                <a:tab pos="4562475" algn="l"/>
                <a:tab pos="5019675" algn="l"/>
                <a:tab pos="5476875" algn="l"/>
                <a:tab pos="5934075" algn="l"/>
                <a:tab pos="6391275" algn="l"/>
                <a:tab pos="6848475" algn="l"/>
                <a:tab pos="7305675" algn="l"/>
                <a:tab pos="7762875" algn="l"/>
                <a:tab pos="8220075" algn="l"/>
                <a:tab pos="8677275" algn="l"/>
                <a:tab pos="9134475" algn="l"/>
              </a:tabLst>
            </a:pPr>
            <a:r>
              <a:rPr lang="en-US" altLang="bg-BG" sz="2400" dirty="0"/>
              <a:t>DEPENDENT</a:t>
            </a:r>
            <a:endParaRPr lang="bg-BG" altLang="bg-BG" sz="2400" dirty="0"/>
          </a:p>
          <a:p>
            <a:pPr marL="533400" indent="-533400" defTabSz="457200">
              <a:spcBef>
                <a:spcPts val="650"/>
              </a:spcBef>
              <a:buFontTx/>
              <a:buAutoNum type="arabicPeriod"/>
              <a:tabLst>
                <a:tab pos="334963" algn="l"/>
                <a:tab pos="447675" algn="l"/>
                <a:tab pos="904875" algn="l"/>
                <a:tab pos="1362075" algn="l"/>
                <a:tab pos="1819275" algn="l"/>
                <a:tab pos="2276475" algn="l"/>
                <a:tab pos="2733675" algn="l"/>
                <a:tab pos="3190875" algn="l"/>
                <a:tab pos="3648075" algn="l"/>
                <a:tab pos="4105275" algn="l"/>
                <a:tab pos="4562475" algn="l"/>
                <a:tab pos="5019675" algn="l"/>
                <a:tab pos="5476875" algn="l"/>
                <a:tab pos="5934075" algn="l"/>
                <a:tab pos="6391275" algn="l"/>
                <a:tab pos="6848475" algn="l"/>
                <a:tab pos="7305675" algn="l"/>
                <a:tab pos="7762875" algn="l"/>
                <a:tab pos="8220075" algn="l"/>
                <a:tab pos="8677275" algn="l"/>
                <a:tab pos="9134475" algn="l"/>
              </a:tabLst>
            </a:pPr>
            <a:r>
              <a:rPr lang="bg-BG" altLang="bg-BG" sz="2400" dirty="0"/>
              <a:t>Началният проект не  е пълен!</a:t>
            </a:r>
          </a:p>
          <a:p>
            <a:pPr marL="533400" indent="-533400" defTabSz="457200">
              <a:spcBef>
                <a:spcPts val="650"/>
              </a:spcBef>
              <a:buFontTx/>
              <a:buAutoNum type="arabicPeriod"/>
              <a:tabLst>
                <a:tab pos="334963" algn="l"/>
                <a:tab pos="447675" algn="l"/>
                <a:tab pos="904875" algn="l"/>
                <a:tab pos="1362075" algn="l"/>
                <a:tab pos="1819275" algn="l"/>
                <a:tab pos="2276475" algn="l"/>
                <a:tab pos="2733675" algn="l"/>
                <a:tab pos="3190875" algn="l"/>
                <a:tab pos="3648075" algn="l"/>
                <a:tab pos="4105275" algn="l"/>
                <a:tab pos="4562475" algn="l"/>
                <a:tab pos="5019675" algn="l"/>
                <a:tab pos="5476875" algn="l"/>
                <a:tab pos="5934075" algn="l"/>
                <a:tab pos="6391275" algn="l"/>
                <a:tab pos="6848475" algn="l"/>
                <a:tab pos="7305675" algn="l"/>
                <a:tab pos="7762875" algn="l"/>
                <a:tab pos="8220075" algn="l"/>
                <a:tab pos="8677275" algn="l"/>
                <a:tab pos="9134475" algn="l"/>
              </a:tabLst>
            </a:pPr>
            <a:r>
              <a:rPr lang="bg-BG" altLang="bg-BG" sz="2400" dirty="0"/>
              <a:t>Някои от изискванията се представят като връзки.</a:t>
            </a:r>
            <a:endParaRPr lang="en-US" altLang="bg-BG" sz="2400" dirty="0"/>
          </a:p>
        </p:txBody>
      </p:sp>
      <p:pic>
        <p:nvPicPr>
          <p:cNvPr id="301066" name="Picture 10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004048" y="908720"/>
            <a:ext cx="3798827" cy="5219576"/>
          </a:xfrm>
          <a:ln w="19050">
            <a:solidFill>
              <a:srgbClr val="C00000"/>
            </a:solidFill>
          </a:ln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/>
              <a:t>Юлиана Пенева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altLang="bg-BG"/>
              <a:t>CSCB405- модул 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2E3718-AD90-43E5-A49C-1ED7D287E279}" type="slidenum">
              <a:rPr lang="bg-BG" altLang="bg-BG"/>
              <a:pPr/>
              <a:t>17</a:t>
            </a:fld>
            <a:endParaRPr lang="bg-BG" altLang="bg-BG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332656"/>
            <a:ext cx="8243887" cy="653182"/>
          </a:xfrm>
        </p:spPr>
        <p:txBody>
          <a:bodyPr>
            <a:noAutofit/>
          </a:bodyPr>
          <a:lstStyle/>
          <a:p>
            <a:pPr algn="ctr"/>
            <a:r>
              <a:rPr lang="bg-BG" altLang="bg-BG" sz="3200" dirty="0">
                <a:solidFill>
                  <a:schemeClr val="accent1"/>
                </a:solidFill>
              </a:rPr>
              <a:t>Основни понятия при модела “обект-връзка”</a:t>
            </a:r>
          </a:p>
        </p:txBody>
      </p:sp>
      <p:sp>
        <p:nvSpPr>
          <p:cNvPr id="138243" name="Rectangle 3"/>
          <p:cNvSpPr>
            <a:spLocks noGrp="1" noChangeArrowheads="1"/>
          </p:cNvSpPr>
          <p:nvPr>
            <p:ph idx="1"/>
          </p:nvPr>
        </p:nvSpPr>
        <p:spPr>
          <a:xfrm>
            <a:off x="467544" y="980728"/>
            <a:ext cx="8507288" cy="5040560"/>
          </a:xfrm>
        </p:spPr>
        <p:txBody>
          <a:bodyPr>
            <a:normAutofit lnSpcReduction="10000"/>
          </a:bodyPr>
          <a:lstStyle/>
          <a:p>
            <a:pPr marL="609600" indent="-609600" algn="ctr">
              <a:lnSpc>
                <a:spcPct val="90000"/>
              </a:lnSpc>
              <a:buFontTx/>
              <a:buNone/>
            </a:pPr>
            <a:r>
              <a:rPr lang="bg-BG" altLang="bg-BG" sz="2800" u="sng" dirty="0">
                <a:solidFill>
                  <a:srgbClr val="C00000"/>
                </a:solidFill>
              </a:rPr>
              <a:t>Тип на връзка</a:t>
            </a:r>
            <a:endParaRPr lang="bg-BG" altLang="bg-BG" sz="2800" dirty="0">
              <a:solidFill>
                <a:srgbClr val="C00000"/>
              </a:solidFill>
            </a:endParaRPr>
          </a:p>
          <a:p>
            <a:pPr marL="609600" indent="-609600">
              <a:lnSpc>
                <a:spcPct val="90000"/>
              </a:lnSpc>
              <a:buFontTx/>
              <a:buNone/>
            </a:pPr>
            <a:r>
              <a:rPr lang="bg-BG" altLang="bg-BG" sz="2400" dirty="0"/>
              <a:t>Дадени са </a:t>
            </a:r>
            <a:r>
              <a:rPr lang="bg-BG" altLang="bg-BG" sz="2400" i="1" dirty="0"/>
              <a:t>n</a:t>
            </a:r>
            <a:r>
              <a:rPr lang="bg-BG" altLang="bg-BG" sz="2400" dirty="0"/>
              <a:t> типа обекти </a:t>
            </a:r>
            <a:r>
              <a:rPr lang="bg-BG" altLang="bg-BG" sz="2400" i="1" dirty="0"/>
              <a:t>Е</a:t>
            </a:r>
            <a:r>
              <a:rPr lang="bg-BG" altLang="bg-BG" sz="2400" i="1" baseline="-25000" dirty="0"/>
              <a:t>1</a:t>
            </a:r>
            <a:r>
              <a:rPr lang="bg-BG" altLang="bg-BG" sz="2400" i="1" dirty="0"/>
              <a:t>,Е</a:t>
            </a:r>
            <a:r>
              <a:rPr lang="bg-BG" altLang="bg-BG" sz="2400" i="1" baseline="-25000" dirty="0"/>
              <a:t>2</a:t>
            </a:r>
            <a:r>
              <a:rPr lang="bg-BG" altLang="bg-BG" sz="2400" i="1" dirty="0"/>
              <a:t>,.....,Е </a:t>
            </a:r>
            <a:r>
              <a:rPr lang="bg-BG" altLang="bg-BG" sz="2400" i="1" baseline="-25000" dirty="0" smtClean="0"/>
              <a:t>n</a:t>
            </a:r>
            <a:r>
              <a:rPr lang="en-US" altLang="bg-BG" sz="2400" i="1" baseline="-25000" dirty="0" smtClean="0"/>
              <a:t>.</a:t>
            </a:r>
            <a:endParaRPr lang="bg-BG" altLang="bg-BG" sz="2400" i="1" baseline="-25000" dirty="0"/>
          </a:p>
          <a:p>
            <a:pPr marL="609600" indent="-609600">
              <a:lnSpc>
                <a:spcPct val="90000"/>
              </a:lnSpc>
              <a:buFontTx/>
              <a:buAutoNum type="arabicPeriod"/>
            </a:pPr>
            <a:r>
              <a:rPr lang="bg-BG" altLang="bg-BG" sz="2400" dirty="0" smtClean="0"/>
              <a:t>Тип </a:t>
            </a:r>
            <a:r>
              <a:rPr lang="bg-BG" altLang="bg-BG" sz="2400" dirty="0"/>
              <a:t>на връзка </a:t>
            </a:r>
            <a:r>
              <a:rPr lang="bg-BG" altLang="bg-BG" sz="2400" i="1" dirty="0"/>
              <a:t>R</a:t>
            </a:r>
            <a:r>
              <a:rPr lang="bg-BG" altLang="bg-BG" sz="2400" dirty="0"/>
              <a:t> се нарича произволно отношение определено върху обектите </a:t>
            </a:r>
            <a:r>
              <a:rPr lang="bg-BG" altLang="bg-BG" sz="2400" i="1" dirty="0"/>
              <a:t>Е</a:t>
            </a:r>
            <a:r>
              <a:rPr lang="bg-BG" altLang="bg-BG" sz="2400" i="1" baseline="-25000" dirty="0"/>
              <a:t>1</a:t>
            </a:r>
            <a:r>
              <a:rPr lang="bg-BG" altLang="bg-BG" sz="2400" i="1" dirty="0"/>
              <a:t> ,Е</a:t>
            </a:r>
            <a:r>
              <a:rPr lang="bg-BG" altLang="bg-BG" sz="2400" i="1" baseline="-25000" dirty="0"/>
              <a:t>2</a:t>
            </a:r>
            <a:r>
              <a:rPr lang="bg-BG" altLang="bg-BG" sz="2400" i="1" dirty="0"/>
              <a:t>, ....., Е</a:t>
            </a:r>
            <a:r>
              <a:rPr lang="bg-BG" altLang="bg-BG" sz="2400" i="1" baseline="-25000" dirty="0"/>
              <a:t>n</a:t>
            </a:r>
            <a:r>
              <a:rPr lang="bg-BG" altLang="bg-BG" sz="2400" dirty="0"/>
              <a:t>, </a:t>
            </a:r>
          </a:p>
          <a:p>
            <a:pPr marL="609600" indent="-609600" algn="ctr">
              <a:lnSpc>
                <a:spcPct val="90000"/>
              </a:lnSpc>
              <a:buFontTx/>
              <a:buNone/>
            </a:pPr>
            <a:r>
              <a:rPr lang="bg-BG" altLang="bg-BG" sz="2400" dirty="0"/>
              <a:t> </a:t>
            </a:r>
            <a:r>
              <a:rPr lang="bg-BG" altLang="bg-BG" sz="2400" i="1" dirty="0"/>
              <a:t>R </a:t>
            </a:r>
            <a:r>
              <a:rPr lang="bg-BG" altLang="bg-BG" sz="2400" i="1" dirty="0">
                <a:latin typeface="Symbol" pitchFamily="18" charset="2"/>
              </a:rPr>
              <a:t>Ì </a:t>
            </a:r>
            <a:r>
              <a:rPr lang="bg-BG" altLang="bg-BG" sz="2400" i="1" dirty="0"/>
              <a:t> Е</a:t>
            </a:r>
            <a:r>
              <a:rPr lang="bg-BG" altLang="bg-BG" sz="2400" i="1" baseline="-25000" dirty="0"/>
              <a:t>1</a:t>
            </a:r>
            <a:r>
              <a:rPr lang="bg-BG" altLang="bg-BG" sz="2400" i="1" dirty="0"/>
              <a:t> </a:t>
            </a:r>
            <a:r>
              <a:rPr lang="en-US" altLang="bg-BG" sz="2400" i="1" dirty="0"/>
              <a:t>x</a:t>
            </a:r>
            <a:r>
              <a:rPr lang="bg-BG" altLang="bg-BG" sz="2400" i="1" dirty="0"/>
              <a:t> Е</a:t>
            </a:r>
            <a:r>
              <a:rPr lang="bg-BG" altLang="bg-BG" sz="2400" i="1" baseline="-25000" dirty="0"/>
              <a:t>2</a:t>
            </a:r>
            <a:r>
              <a:rPr lang="bg-BG" altLang="bg-BG" sz="2400" i="1" dirty="0"/>
              <a:t> </a:t>
            </a:r>
            <a:r>
              <a:rPr lang="en-US" altLang="bg-BG" sz="2400" i="1" dirty="0"/>
              <a:t>x</a:t>
            </a:r>
            <a:r>
              <a:rPr lang="bg-BG" altLang="bg-BG" sz="2400" i="1" dirty="0"/>
              <a:t> ... </a:t>
            </a:r>
            <a:r>
              <a:rPr lang="en-US" altLang="bg-BG" sz="2400" i="1" dirty="0"/>
              <a:t>x</a:t>
            </a:r>
            <a:r>
              <a:rPr lang="bg-BG" altLang="bg-BG" sz="2400" i="1" dirty="0"/>
              <a:t> Е</a:t>
            </a:r>
            <a:r>
              <a:rPr lang="bg-BG" altLang="bg-BG" sz="2400" i="1" baseline="-25000" dirty="0"/>
              <a:t>n</a:t>
            </a:r>
            <a:r>
              <a:rPr lang="bg-BG" altLang="bg-BG" sz="2400" i="1" dirty="0"/>
              <a:t>, </a:t>
            </a:r>
            <a:endParaRPr lang="bg-BG" altLang="bg-BG" sz="2400" dirty="0"/>
          </a:p>
          <a:p>
            <a:pPr marL="609600" indent="-609600">
              <a:lnSpc>
                <a:spcPct val="90000"/>
              </a:lnSpc>
              <a:buFontTx/>
              <a:buAutoNum type="arabicPeriod" startAt="2"/>
            </a:pPr>
            <a:r>
              <a:rPr lang="bg-BG" altLang="bg-BG" sz="2400" dirty="0"/>
              <a:t>Всеки тип връзка представлява множество от отделни екземпляри </a:t>
            </a:r>
            <a:r>
              <a:rPr lang="en-US" altLang="bg-BG" sz="2400" i="1" dirty="0"/>
              <a:t>r</a:t>
            </a:r>
            <a:r>
              <a:rPr lang="bg-BG" altLang="bg-BG" sz="2400" i="1" baseline="-25000" dirty="0"/>
              <a:t>1</a:t>
            </a:r>
            <a:r>
              <a:rPr lang="bg-BG" altLang="bg-BG" sz="2400" i="1" dirty="0"/>
              <a:t>,</a:t>
            </a:r>
            <a:r>
              <a:rPr lang="en-US" altLang="bg-BG" sz="2400" i="1" dirty="0"/>
              <a:t>r</a:t>
            </a:r>
            <a:r>
              <a:rPr lang="bg-BG" altLang="bg-BG" sz="2400" i="1" baseline="-25000" dirty="0"/>
              <a:t>2</a:t>
            </a:r>
            <a:r>
              <a:rPr lang="bg-BG" altLang="bg-BG" sz="2400" i="1" dirty="0"/>
              <a:t>,.....,</a:t>
            </a:r>
            <a:r>
              <a:rPr lang="en-US" altLang="bg-BG" sz="2400" i="1" dirty="0" err="1"/>
              <a:t>r</a:t>
            </a:r>
            <a:r>
              <a:rPr lang="en-US" altLang="bg-BG" sz="2400" i="1" baseline="-25000" dirty="0" err="1"/>
              <a:t>s</a:t>
            </a:r>
            <a:r>
              <a:rPr lang="bg-BG" altLang="bg-BG" sz="2400" dirty="0"/>
              <a:t> на връзката </a:t>
            </a:r>
            <a:r>
              <a:rPr lang="en-US" altLang="bg-BG" sz="2400" i="1" dirty="0"/>
              <a:t>R</a:t>
            </a:r>
            <a:r>
              <a:rPr lang="bg-BG" altLang="bg-BG" sz="2400" i="1" dirty="0"/>
              <a:t>,</a:t>
            </a:r>
            <a:r>
              <a:rPr lang="bg-BG" altLang="bg-BG" sz="2400" dirty="0"/>
              <a:t> наречени </a:t>
            </a:r>
            <a:r>
              <a:rPr lang="bg-BG" altLang="bg-BG" sz="2400" i="1" dirty="0">
                <a:solidFill>
                  <a:srgbClr val="C00000"/>
                </a:solidFill>
              </a:rPr>
              <a:t>състояния</a:t>
            </a:r>
          </a:p>
          <a:p>
            <a:pPr marL="609600" indent="-609600">
              <a:lnSpc>
                <a:spcPct val="90000"/>
              </a:lnSpc>
              <a:buFontTx/>
              <a:buAutoNum type="arabicPeriod" startAt="2"/>
            </a:pPr>
            <a:r>
              <a:rPr lang="bg-BG" altLang="bg-BG" sz="2400" dirty="0"/>
              <a:t>Всяко състояние </a:t>
            </a:r>
            <a:r>
              <a:rPr lang="bg-BG" altLang="bg-BG" sz="2400" i="1" dirty="0"/>
              <a:t>r</a:t>
            </a:r>
            <a:r>
              <a:rPr lang="bg-BG" altLang="bg-BG" sz="2400" i="1" baseline="-25000" dirty="0"/>
              <a:t>i</a:t>
            </a:r>
            <a:r>
              <a:rPr lang="bg-BG" altLang="bg-BG" sz="2400" dirty="0"/>
              <a:t> на типа връзка </a:t>
            </a:r>
            <a:r>
              <a:rPr lang="bg-BG" altLang="bg-BG" sz="2400" i="1" dirty="0"/>
              <a:t>R</a:t>
            </a:r>
            <a:r>
              <a:rPr lang="bg-BG" altLang="bg-BG" sz="2400" i="1" baseline="-25000" dirty="0"/>
              <a:t>i</a:t>
            </a:r>
            <a:r>
              <a:rPr lang="bg-BG" altLang="bg-BG" sz="2400" i="1" dirty="0"/>
              <a:t> </a:t>
            </a:r>
            <a:r>
              <a:rPr lang="bg-BG" altLang="bg-BG" sz="2400" dirty="0"/>
              <a:t>свързва </a:t>
            </a:r>
            <a:r>
              <a:rPr lang="bg-BG" altLang="bg-BG" sz="2400" i="1" dirty="0"/>
              <a:t>n</a:t>
            </a:r>
            <a:r>
              <a:rPr lang="bg-BG" altLang="bg-BG" sz="2400" dirty="0"/>
              <a:t> екземпляра </a:t>
            </a:r>
            <a:r>
              <a:rPr lang="bg-BG" altLang="bg-BG" sz="2400" i="1" dirty="0"/>
              <a:t>е</a:t>
            </a:r>
            <a:r>
              <a:rPr lang="bg-BG" altLang="bg-BG" sz="2400" i="1" baseline="-25000" dirty="0"/>
              <a:t>1</a:t>
            </a:r>
            <a:r>
              <a:rPr lang="bg-BG" altLang="bg-BG" sz="2400" i="1" dirty="0"/>
              <a:t>,е</a:t>
            </a:r>
            <a:r>
              <a:rPr lang="bg-BG" altLang="bg-BG" sz="2400" i="1" baseline="-25000" dirty="0"/>
              <a:t>2</a:t>
            </a:r>
            <a:r>
              <a:rPr lang="bg-BG" altLang="bg-BG" sz="2400" i="1" dirty="0"/>
              <a:t>,.....,е</a:t>
            </a:r>
            <a:r>
              <a:rPr lang="bg-BG" altLang="bg-BG" sz="2400" i="1" baseline="-25000" dirty="0"/>
              <a:t>n</a:t>
            </a:r>
            <a:r>
              <a:rPr lang="bg-BG" altLang="bg-BG" sz="2400" dirty="0"/>
              <a:t>, като </a:t>
            </a:r>
            <a:r>
              <a:rPr lang="bg-BG" altLang="bg-BG" sz="2400" i="1" dirty="0"/>
              <a:t>е</a:t>
            </a:r>
            <a:r>
              <a:rPr lang="bg-BG" altLang="bg-BG" sz="2400" i="1" baseline="-25000" dirty="0"/>
              <a:t>i</a:t>
            </a:r>
            <a:r>
              <a:rPr lang="bg-BG" altLang="bg-BG" sz="2400" i="1" dirty="0"/>
              <a:t> </a:t>
            </a:r>
            <a:r>
              <a:rPr lang="bg-BG" altLang="bg-BG" sz="2400" i="1" dirty="0">
                <a:latin typeface="Symbol" pitchFamily="18" charset="2"/>
              </a:rPr>
              <a:t>Î</a:t>
            </a:r>
            <a:r>
              <a:rPr lang="bg-BG" altLang="bg-BG" sz="2400" i="1" dirty="0"/>
              <a:t> E </a:t>
            </a:r>
            <a:r>
              <a:rPr lang="bg-BG" altLang="bg-BG" sz="2400" dirty="0"/>
              <a:t>, за </a:t>
            </a:r>
            <a:r>
              <a:rPr lang="bg-BG" altLang="bg-BG" sz="2400" i="1" dirty="0"/>
              <a:t>1 </a:t>
            </a:r>
            <a:r>
              <a:rPr lang="bg-BG" altLang="bg-BG" sz="2400" i="1" dirty="0">
                <a:latin typeface="Symbol" pitchFamily="18" charset="2"/>
              </a:rPr>
              <a:t>£</a:t>
            </a:r>
            <a:r>
              <a:rPr lang="bg-BG" altLang="bg-BG" sz="2400" i="1" dirty="0"/>
              <a:t> i </a:t>
            </a:r>
            <a:r>
              <a:rPr lang="bg-BG" altLang="bg-BG" sz="2400" i="1" dirty="0">
                <a:latin typeface="Symbol" pitchFamily="18" charset="2"/>
              </a:rPr>
              <a:t>£</a:t>
            </a:r>
            <a:r>
              <a:rPr lang="bg-BG" altLang="bg-BG" sz="2400" i="1" dirty="0"/>
              <a:t> </a:t>
            </a:r>
            <a:r>
              <a:rPr lang="en-US" altLang="bg-BG" sz="2400" i="1" dirty="0"/>
              <a:t>s</a:t>
            </a:r>
            <a:r>
              <a:rPr lang="bg-BG" altLang="bg-BG" sz="2400" dirty="0"/>
              <a:t>. </a:t>
            </a:r>
          </a:p>
          <a:p>
            <a:pPr marL="609600" indent="-609600">
              <a:lnSpc>
                <a:spcPct val="90000"/>
              </a:lnSpc>
              <a:buFontTx/>
              <a:buAutoNum type="arabicPeriod" startAt="2"/>
            </a:pPr>
            <a:r>
              <a:rPr lang="bg-BG" altLang="bg-BG" sz="2400" dirty="0"/>
              <a:t>Неформално, всяко състояние </a:t>
            </a:r>
            <a:r>
              <a:rPr lang="bg-BG" altLang="bg-BG" sz="2400" i="1" dirty="0"/>
              <a:t>r</a:t>
            </a:r>
            <a:r>
              <a:rPr lang="bg-BG" altLang="bg-BG" sz="2400" i="1" baseline="-25000" dirty="0"/>
              <a:t>i</a:t>
            </a:r>
            <a:r>
              <a:rPr lang="bg-BG" altLang="bg-BG" sz="2400" i="1" dirty="0"/>
              <a:t> </a:t>
            </a:r>
            <a:r>
              <a:rPr lang="bg-BG" altLang="bg-BG" sz="2400" dirty="0"/>
              <a:t>на типа връзка </a:t>
            </a:r>
            <a:r>
              <a:rPr lang="bg-BG" altLang="bg-BG" sz="2400" i="1" dirty="0"/>
              <a:t>R</a:t>
            </a:r>
            <a:r>
              <a:rPr lang="bg-BG" altLang="bg-BG" sz="2400" i="1" baseline="-25000" dirty="0"/>
              <a:t>i</a:t>
            </a:r>
            <a:r>
              <a:rPr lang="bg-BG" altLang="bg-BG" sz="2400" dirty="0"/>
              <a:t> представя факта, че екземплярите </a:t>
            </a:r>
            <a:r>
              <a:rPr lang="bg-BG" altLang="bg-BG" sz="2400" i="1" dirty="0"/>
              <a:t>е</a:t>
            </a:r>
            <a:r>
              <a:rPr lang="bg-BG" altLang="bg-BG" sz="2400" i="1" baseline="-25000" dirty="0"/>
              <a:t>1</a:t>
            </a:r>
            <a:r>
              <a:rPr lang="bg-BG" altLang="bg-BG" sz="2400" i="1" dirty="0"/>
              <a:t>,е</a:t>
            </a:r>
            <a:r>
              <a:rPr lang="bg-BG" altLang="bg-BG" sz="2400" i="1" baseline="-25000" dirty="0"/>
              <a:t>2</a:t>
            </a:r>
            <a:r>
              <a:rPr lang="bg-BG" altLang="bg-BG" sz="2400" i="1" dirty="0"/>
              <a:t>,.....,е</a:t>
            </a:r>
            <a:r>
              <a:rPr lang="bg-BG" altLang="bg-BG" sz="2400" i="1" baseline="-25000" dirty="0"/>
              <a:t>n</a:t>
            </a:r>
            <a:r>
              <a:rPr lang="bg-BG" altLang="bg-BG" sz="2400" dirty="0"/>
              <a:t> са в някакво отношение помежду си, което моделира взаимодействието им в реалния свят. В диаграмите типът връзка се представя чрез ромб. </a:t>
            </a:r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/>
              <a:t>Юлиана Пенева</a:t>
            </a: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altLang="bg-BG"/>
              <a:t>CSCB405- модул 6</a:t>
            </a:r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D8C1A-5693-48A7-8871-7792E8AAB52C}" type="slidenum">
              <a:rPr lang="bg-BG" altLang="bg-BG"/>
              <a:pPr/>
              <a:t>18</a:t>
            </a:fld>
            <a:endParaRPr lang="bg-BG" altLang="bg-BG"/>
          </a:p>
        </p:txBody>
      </p:sp>
      <p:sp>
        <p:nvSpPr>
          <p:cNvPr id="138245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bg-BG"/>
          </a:p>
        </p:txBody>
      </p:sp>
      <p:sp>
        <p:nvSpPr>
          <p:cNvPr id="138247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bg-BG"/>
          </a:p>
        </p:txBody>
      </p:sp>
      <p:sp>
        <p:nvSpPr>
          <p:cNvPr id="138249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bg-BG"/>
          </a:p>
        </p:txBody>
      </p:sp>
      <p:sp>
        <p:nvSpPr>
          <p:cNvPr id="138251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bg-BG"/>
          </a:p>
        </p:txBody>
      </p:sp>
      <p:sp>
        <p:nvSpPr>
          <p:cNvPr id="138253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bg-BG"/>
          </a:p>
        </p:txBody>
      </p:sp>
      <p:sp>
        <p:nvSpPr>
          <p:cNvPr id="138255" name="Rectangle 1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bg-BG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2"/>
          <p:cNvSpPr>
            <a:spLocks noGrp="1" noChangeArrowheads="1"/>
          </p:cNvSpPr>
          <p:nvPr>
            <p:ph type="title"/>
          </p:nvPr>
        </p:nvSpPr>
        <p:spPr>
          <a:xfrm>
            <a:off x="450056" y="476672"/>
            <a:ext cx="8243887" cy="580926"/>
          </a:xfrm>
        </p:spPr>
        <p:txBody>
          <a:bodyPr>
            <a:noAutofit/>
          </a:bodyPr>
          <a:lstStyle/>
          <a:p>
            <a:pPr algn="ctr"/>
            <a:r>
              <a:rPr lang="bg-BG" altLang="bg-BG" sz="3200" dirty="0">
                <a:solidFill>
                  <a:schemeClr val="accent1"/>
                </a:solidFill>
              </a:rPr>
              <a:t>Основни понятия при модела “обект-връзка” </a:t>
            </a:r>
          </a:p>
        </p:txBody>
      </p:sp>
      <p:sp>
        <p:nvSpPr>
          <p:cNvPr id="139275" name="Rectangle 11"/>
          <p:cNvSpPr>
            <a:spLocks noGrp="1" noChangeArrowheads="1"/>
          </p:cNvSpPr>
          <p:nvPr>
            <p:ph type="body" sz="half" idx="2"/>
          </p:nvPr>
        </p:nvSpPr>
        <p:spPr>
          <a:xfrm>
            <a:off x="457200" y="5373215"/>
            <a:ext cx="8229600" cy="683097"/>
          </a:xfrm>
        </p:spPr>
        <p:txBody>
          <a:bodyPr/>
          <a:lstStyle/>
          <a:p>
            <a:pPr>
              <a:lnSpc>
                <a:spcPct val="80000"/>
              </a:lnSpc>
            </a:pPr>
            <a:endParaRPr lang="bg-BG" altLang="bg-BG" sz="800" dirty="0"/>
          </a:p>
          <a:p>
            <a:pPr>
              <a:lnSpc>
                <a:spcPct val="80000"/>
              </a:lnSpc>
            </a:pPr>
            <a:endParaRPr lang="bg-BG" altLang="bg-BG" sz="800" dirty="0"/>
          </a:p>
          <a:p>
            <a:pPr algn="ctr">
              <a:lnSpc>
                <a:spcPct val="80000"/>
              </a:lnSpc>
              <a:buFontTx/>
              <a:buNone/>
            </a:pPr>
            <a:r>
              <a:rPr lang="bg-BG" altLang="bg-BG" sz="2400" dirty="0">
                <a:solidFill>
                  <a:srgbClr val="C00000"/>
                </a:solidFill>
              </a:rPr>
              <a:t>Състояния на връзката “РАБОТИ - </a:t>
            </a:r>
            <a:r>
              <a:rPr lang="bg-BG" altLang="bg-BG" sz="2400" dirty="0" smtClean="0">
                <a:solidFill>
                  <a:srgbClr val="C00000"/>
                </a:solidFill>
              </a:rPr>
              <a:t>В” </a:t>
            </a:r>
            <a:endParaRPr lang="bg-BG" altLang="bg-BG" sz="2400" dirty="0">
              <a:solidFill>
                <a:srgbClr val="C00000"/>
              </a:solidFill>
            </a:endParaRPr>
          </a:p>
        </p:txBody>
      </p:sp>
      <p:sp>
        <p:nvSpPr>
          <p:cNvPr id="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/>
              <a:t>Юлиана Пенева</a:t>
            </a:r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altLang="bg-BG"/>
              <a:t>CSCB405- модул 6</a:t>
            </a:r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F6C6A-EAD3-4C7E-BC44-35A954BC37A5}" type="slidenum">
              <a:rPr lang="bg-BG" altLang="bg-BG"/>
              <a:pPr/>
              <a:t>19</a:t>
            </a:fld>
            <a:endParaRPr lang="bg-BG" altLang="bg-BG"/>
          </a:p>
        </p:txBody>
      </p:sp>
      <p:sp>
        <p:nvSpPr>
          <p:cNvPr id="139271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bg-BG"/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619672" y="1244924"/>
            <a:ext cx="5625276" cy="4133056"/>
          </a:xfrm>
          <a:prstGeom prst="rect">
            <a:avLst/>
          </a:prstGeom>
          <a:ln w="15875">
            <a:solidFill>
              <a:srgbClr val="C00000"/>
            </a:solidFill>
          </a:ln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2"/>
          <p:cNvSpPr>
            <a:spLocks noGrp="1" noChangeArrowheads="1"/>
          </p:cNvSpPr>
          <p:nvPr>
            <p:ph type="title"/>
          </p:nvPr>
        </p:nvSpPr>
        <p:spPr>
          <a:xfrm>
            <a:off x="539552" y="548680"/>
            <a:ext cx="8243887" cy="580926"/>
          </a:xfrm>
        </p:spPr>
        <p:txBody>
          <a:bodyPr>
            <a:noAutofit/>
          </a:bodyPr>
          <a:lstStyle/>
          <a:p>
            <a:pPr algn="ctr"/>
            <a:r>
              <a:rPr lang="bg-BG" altLang="bg-BG" sz="3200" dirty="0">
                <a:solidFill>
                  <a:schemeClr val="accent1"/>
                </a:solidFill>
              </a:rPr>
              <a:t>Основни понятия при модела “обект-връзка” </a:t>
            </a:r>
          </a:p>
        </p:txBody>
      </p:sp>
      <p:sp>
        <p:nvSpPr>
          <p:cNvPr id="140294" name="Rectangle 6"/>
          <p:cNvSpPr>
            <a:spLocks noGrp="1" noChangeArrowheads="1"/>
          </p:cNvSpPr>
          <p:nvPr>
            <p:ph type="body" sz="half" idx="1"/>
          </p:nvPr>
        </p:nvSpPr>
        <p:spPr>
          <a:xfrm>
            <a:off x="467544" y="1052736"/>
            <a:ext cx="8229600" cy="1900238"/>
          </a:xfrm>
        </p:spPr>
        <p:txBody>
          <a:bodyPr>
            <a:normAutofit fontScale="92500"/>
          </a:bodyPr>
          <a:lstStyle/>
          <a:p>
            <a:pPr marL="457200" indent="-457200" algn="ctr">
              <a:buFontTx/>
              <a:buNone/>
            </a:pPr>
            <a:r>
              <a:rPr lang="bg-BG" altLang="bg-BG" sz="3000" dirty="0">
                <a:solidFill>
                  <a:srgbClr val="C00000"/>
                </a:solidFill>
              </a:rPr>
              <a:t>Степен на типа връзка</a:t>
            </a:r>
          </a:p>
          <a:p>
            <a:pPr marL="457200" indent="-457200">
              <a:buFontTx/>
              <a:buAutoNum type="arabicPeriod"/>
            </a:pPr>
            <a:r>
              <a:rPr lang="bg-BG" altLang="bg-BG" sz="2400" dirty="0"/>
              <a:t>Степен на типа връзка </a:t>
            </a:r>
            <a:r>
              <a:rPr lang="bg-BG" altLang="bg-BG" sz="2400" i="1" dirty="0"/>
              <a:t>R</a:t>
            </a:r>
            <a:r>
              <a:rPr lang="bg-BG" altLang="bg-BG" sz="2400" dirty="0"/>
              <a:t> се нарича броят на участвуващите в нея типове обекти</a:t>
            </a:r>
          </a:p>
          <a:p>
            <a:pPr marL="457200" indent="-457200">
              <a:buFontTx/>
              <a:buAutoNum type="arabicPeriod"/>
            </a:pPr>
            <a:r>
              <a:rPr lang="bg-BG" altLang="bg-BG" sz="2400" dirty="0"/>
              <a:t>Връзките могат да бъдат рекурсивни, двоични, троични и т.н. 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/>
              <a:t>Юлиана Пенева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altLang="bg-BG"/>
              <a:t>CSCB405- модул 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5B4E8-8DD8-4A91-A48A-7253F9DC5C8B}" type="slidenum">
              <a:rPr lang="bg-BG" altLang="bg-BG"/>
              <a:pPr/>
              <a:t>20</a:t>
            </a:fld>
            <a:endParaRPr lang="bg-BG" altLang="bg-BG"/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931729" y="3140968"/>
            <a:ext cx="7280542" cy="2137002"/>
          </a:xfrm>
          <a:prstGeom prst="rect">
            <a:avLst/>
          </a:prstGeom>
          <a:ln w="19050">
            <a:solidFill>
              <a:srgbClr val="C00000"/>
            </a:solidFill>
          </a:ln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130" name="Rectangle 2"/>
          <p:cNvSpPr>
            <a:spLocks noGrp="1" noChangeArrowheads="1"/>
          </p:cNvSpPr>
          <p:nvPr>
            <p:ph type="title"/>
          </p:nvPr>
        </p:nvSpPr>
        <p:spPr>
          <a:xfrm>
            <a:off x="467544" y="404664"/>
            <a:ext cx="8243887" cy="536277"/>
          </a:xfrm>
        </p:spPr>
        <p:txBody>
          <a:bodyPr>
            <a:noAutofit/>
          </a:bodyPr>
          <a:lstStyle/>
          <a:p>
            <a:pPr algn="ctr"/>
            <a:r>
              <a:rPr lang="bg-BG" altLang="bg-BG" sz="3200" dirty="0">
                <a:solidFill>
                  <a:schemeClr val="accent1"/>
                </a:solidFill>
              </a:rPr>
              <a:t>Основни понятия при модела “обект-връзка” </a:t>
            </a:r>
          </a:p>
        </p:txBody>
      </p:sp>
      <p:sp>
        <p:nvSpPr>
          <p:cNvPr id="30413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51520" y="980728"/>
            <a:ext cx="4249738" cy="5219700"/>
          </a:xfrm>
        </p:spPr>
        <p:txBody>
          <a:bodyPr>
            <a:normAutofit lnSpcReduction="10000"/>
          </a:bodyPr>
          <a:lstStyle/>
          <a:p>
            <a:pPr marL="457200" indent="-457200" algn="ctr">
              <a:lnSpc>
                <a:spcPct val="80000"/>
              </a:lnSpc>
              <a:buFontTx/>
              <a:buNone/>
            </a:pPr>
            <a:r>
              <a:rPr lang="bg-BG" altLang="bg-BG" sz="2000" dirty="0">
                <a:solidFill>
                  <a:srgbClr val="C00000"/>
                </a:solidFill>
              </a:rPr>
              <a:t>Доуточняване на първоначалния проект – включване на връзки</a:t>
            </a:r>
          </a:p>
          <a:p>
            <a:pPr marL="457200" indent="-457200">
              <a:lnSpc>
                <a:spcPct val="80000"/>
              </a:lnSpc>
              <a:spcBef>
                <a:spcPts val="600"/>
              </a:spcBef>
              <a:buFont typeface="Arial" charset="0"/>
              <a:buAutoNum type="arabicPeriod"/>
            </a:pPr>
            <a:r>
              <a:rPr lang="bg-BG" altLang="bg-BG" sz="2000" dirty="0"/>
              <a:t>Изследват се изискванията и атрибути от началния проект, които са свързани с други обекти се преобразуват във връзки и се премахват от съответните типове обекти.</a:t>
            </a:r>
          </a:p>
          <a:p>
            <a:pPr marL="457200" indent="-457200">
              <a:lnSpc>
                <a:spcPct val="80000"/>
              </a:lnSpc>
              <a:spcBef>
                <a:spcPts val="600"/>
              </a:spcBef>
              <a:buFont typeface="Arial" charset="0"/>
              <a:buAutoNum type="arabicPeriod"/>
            </a:pPr>
            <a:r>
              <a:rPr lang="bg-BG" altLang="bg-BG" sz="2000" dirty="0"/>
              <a:t>Примери на връзки:</a:t>
            </a:r>
            <a:endParaRPr lang="en-US" altLang="bg-BG" sz="2000" dirty="0"/>
          </a:p>
          <a:p>
            <a:pPr marL="457200" indent="-457200">
              <a:lnSpc>
                <a:spcPct val="80000"/>
              </a:lnSpc>
              <a:spcBef>
                <a:spcPts val="550"/>
              </a:spcBef>
              <a:buFont typeface="Arial" charset="0"/>
              <a:buChar char="–"/>
            </a:pPr>
            <a:r>
              <a:rPr lang="bg-BG" altLang="bg-BG" sz="2000" dirty="0"/>
              <a:t>Атрибутът</a:t>
            </a:r>
            <a:r>
              <a:rPr lang="en-US" altLang="bg-BG" sz="2000" dirty="0"/>
              <a:t> Department </a:t>
            </a:r>
            <a:r>
              <a:rPr lang="bg-BG" altLang="bg-BG" sz="2000" dirty="0"/>
              <a:t>на</a:t>
            </a:r>
            <a:r>
              <a:rPr lang="en-US" altLang="bg-BG" sz="2000" dirty="0"/>
              <a:t> EMPLOYEE </a:t>
            </a:r>
            <a:r>
              <a:rPr lang="bg-BG" altLang="bg-BG" sz="2000" dirty="0"/>
              <a:t>е свързан с обекта </a:t>
            </a:r>
            <a:r>
              <a:rPr lang="en-US" altLang="bg-BG" sz="2000" dirty="0"/>
              <a:t>DEPARTMENT </a:t>
            </a:r>
            <a:r>
              <a:rPr lang="bg-BG" altLang="bg-BG" sz="2000" dirty="0"/>
              <a:t>– служителят работи </a:t>
            </a:r>
            <a:r>
              <a:rPr lang="en-US" altLang="bg-BG" sz="2000" dirty="0"/>
              <a:t>WORKS_FOR</a:t>
            </a:r>
            <a:r>
              <a:rPr lang="bg-BG" altLang="bg-BG" sz="2000" dirty="0"/>
              <a:t>  за  даден отдел</a:t>
            </a:r>
            <a:endParaRPr lang="en-US" altLang="bg-BG" sz="2000" dirty="0"/>
          </a:p>
          <a:p>
            <a:pPr marL="457200" indent="-457200">
              <a:lnSpc>
                <a:spcPct val="80000"/>
              </a:lnSpc>
              <a:spcBef>
                <a:spcPts val="550"/>
              </a:spcBef>
              <a:buFont typeface="Arial" charset="0"/>
              <a:buChar char="–"/>
            </a:pPr>
            <a:r>
              <a:rPr lang="bg-BG" altLang="bg-BG" sz="2000" dirty="0"/>
              <a:t>Атрибутът </a:t>
            </a:r>
            <a:r>
              <a:rPr lang="en-US" altLang="bg-BG" sz="2000" dirty="0"/>
              <a:t> Manager </a:t>
            </a:r>
            <a:r>
              <a:rPr lang="bg-BG" altLang="bg-BG" sz="2000" dirty="0"/>
              <a:t>на</a:t>
            </a:r>
            <a:r>
              <a:rPr lang="en-US" altLang="bg-BG" sz="2000" dirty="0"/>
              <a:t> DEPARTMENT </a:t>
            </a:r>
            <a:r>
              <a:rPr lang="bg-BG" altLang="bg-BG" sz="2000" dirty="0"/>
              <a:t>е свързан с обекта </a:t>
            </a:r>
            <a:r>
              <a:rPr lang="en-US" altLang="bg-BG" sz="2000" dirty="0"/>
              <a:t>EMPLOYEE</a:t>
            </a:r>
            <a:r>
              <a:rPr lang="bg-BG" altLang="bg-BG" sz="2000" dirty="0"/>
              <a:t>, който управява </a:t>
            </a:r>
            <a:r>
              <a:rPr lang="en-US" altLang="bg-BG" sz="2000" dirty="0"/>
              <a:t>MANAGES </a:t>
            </a:r>
            <a:r>
              <a:rPr lang="bg-BG" altLang="bg-BG" sz="2000" dirty="0"/>
              <a:t>отдела</a:t>
            </a:r>
            <a:endParaRPr lang="en-US" altLang="bg-BG" sz="2000" dirty="0"/>
          </a:p>
          <a:p>
            <a:pPr marL="457200" indent="-457200">
              <a:lnSpc>
                <a:spcPct val="80000"/>
              </a:lnSpc>
              <a:spcBef>
                <a:spcPts val="550"/>
              </a:spcBef>
              <a:buFont typeface="Arial" charset="0"/>
              <a:buChar char="–"/>
            </a:pPr>
            <a:r>
              <a:rPr lang="bg-BG" altLang="bg-BG" sz="2000" dirty="0"/>
              <a:t>Рекурсивната връзка </a:t>
            </a:r>
            <a:r>
              <a:rPr lang="en-US" altLang="bg-BG" sz="2000" dirty="0"/>
              <a:t>Supervisor </a:t>
            </a:r>
            <a:r>
              <a:rPr lang="bg-BG" altLang="bg-BG" sz="2000" dirty="0"/>
              <a:t>между обектите с тип</a:t>
            </a:r>
            <a:r>
              <a:rPr lang="en-US" altLang="bg-BG" sz="2000" dirty="0"/>
              <a:t> EMPLOYEE </a:t>
            </a:r>
            <a:endParaRPr lang="bg-BG" altLang="bg-BG" sz="2000" dirty="0"/>
          </a:p>
        </p:txBody>
      </p:sp>
      <p:pic>
        <p:nvPicPr>
          <p:cNvPr id="304133" name="Picture 5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00563" y="1484784"/>
            <a:ext cx="4643437" cy="4392613"/>
          </a:xfrm>
          <a:ln w="19050">
            <a:solidFill>
              <a:srgbClr val="C00000"/>
            </a:solidFill>
          </a:ln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/>
              <a:t>Юлиана Пенева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altLang="bg-BG"/>
              <a:t>CSCB405- модул 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558651-B810-4ADC-89F8-923AC3B62468}" type="slidenum">
              <a:rPr lang="bg-BG" altLang="bg-BG"/>
              <a:pPr/>
              <a:t>21</a:t>
            </a:fld>
            <a:endParaRPr lang="bg-BG" altLang="bg-BG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02" name="Rectangle 2"/>
          <p:cNvSpPr>
            <a:spLocks noGrp="1" noChangeArrowheads="1"/>
          </p:cNvSpPr>
          <p:nvPr>
            <p:ph type="title"/>
          </p:nvPr>
        </p:nvSpPr>
        <p:spPr>
          <a:xfrm>
            <a:off x="179512" y="476672"/>
            <a:ext cx="8304212" cy="558502"/>
          </a:xfr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noAutofit/>
          </a:bodyPr>
          <a:lstStyle/>
          <a:p>
            <a:pPr algn="ctr" defTabSz="457200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bg-BG" altLang="bg-BG" sz="3200" dirty="0">
                <a:solidFill>
                  <a:schemeClr val="accent1"/>
                </a:solidFill>
              </a:rPr>
              <a:t>Основни понятия при модела “обект-връзка”</a:t>
            </a:r>
            <a:endParaRPr lang="en-US" altLang="bg-BG" sz="3200" dirty="0">
              <a:solidFill>
                <a:schemeClr val="accent1"/>
              </a:solidFill>
            </a:endParaRPr>
          </a:p>
        </p:txBody>
      </p:sp>
      <p:sp>
        <p:nvSpPr>
          <p:cNvPr id="307203" name="Rectangle 3"/>
          <p:cNvSpPr>
            <a:spLocks noGrp="1" noChangeArrowheads="1"/>
          </p:cNvSpPr>
          <p:nvPr>
            <p:ph idx="1"/>
          </p:nvPr>
        </p:nvSpPr>
        <p:spPr>
          <a:xfrm>
            <a:off x="251520" y="1052736"/>
            <a:ext cx="8294687" cy="5046662"/>
          </a:xfr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0" bIns="46800">
            <a:normAutofit lnSpcReduction="10000"/>
          </a:bodyPr>
          <a:lstStyle/>
          <a:p>
            <a:pPr marL="533400" indent="-533400" defTabSz="457200">
              <a:spcBef>
                <a:spcPts val="600"/>
              </a:spcBef>
              <a:buFont typeface="Arial" charset="0"/>
              <a:buAutoNum type="arabicPeriod"/>
              <a:tabLst>
                <a:tab pos="334963" algn="l"/>
                <a:tab pos="447675" algn="l"/>
                <a:tab pos="904875" algn="l"/>
                <a:tab pos="1362075" algn="l"/>
                <a:tab pos="1819275" algn="l"/>
                <a:tab pos="2276475" algn="l"/>
                <a:tab pos="2733675" algn="l"/>
                <a:tab pos="3190875" algn="l"/>
                <a:tab pos="3648075" algn="l"/>
                <a:tab pos="4105275" algn="l"/>
                <a:tab pos="4562475" algn="l"/>
                <a:tab pos="5019675" algn="l"/>
                <a:tab pos="5476875" algn="l"/>
                <a:tab pos="5934075" algn="l"/>
                <a:tab pos="6391275" algn="l"/>
                <a:tab pos="6848475" algn="l"/>
                <a:tab pos="7305675" algn="l"/>
                <a:tab pos="7762875" algn="l"/>
                <a:tab pos="8220075" algn="l"/>
                <a:tab pos="8677275" algn="l"/>
                <a:tab pos="9134475" algn="l"/>
              </a:tabLst>
            </a:pPr>
            <a:r>
              <a:rPr lang="bg-BG" altLang="bg-BG" sz="2800" dirty="0"/>
              <a:t>В доуточнения проект някои от атрибутите са превърнати във връзки</a:t>
            </a:r>
            <a:r>
              <a:rPr lang="en-US" altLang="bg-BG" sz="2800" dirty="0"/>
              <a:t>:</a:t>
            </a:r>
          </a:p>
          <a:p>
            <a:pPr marL="1295400" lvl="2" indent="-381000" defTabSz="457200">
              <a:spcBef>
                <a:spcPts val="550"/>
              </a:spcBef>
              <a:buFont typeface="Arial" charset="0"/>
              <a:buChar char="–"/>
              <a:tabLst>
                <a:tab pos="334963" algn="l"/>
                <a:tab pos="447675" algn="l"/>
                <a:tab pos="904875" algn="l"/>
                <a:tab pos="1362075" algn="l"/>
                <a:tab pos="1819275" algn="l"/>
                <a:tab pos="2276475" algn="l"/>
                <a:tab pos="2733675" algn="l"/>
                <a:tab pos="3190875" algn="l"/>
                <a:tab pos="3648075" algn="l"/>
                <a:tab pos="4105275" algn="l"/>
                <a:tab pos="4562475" algn="l"/>
                <a:tab pos="5019675" algn="l"/>
                <a:tab pos="5476875" algn="l"/>
                <a:tab pos="5934075" algn="l"/>
                <a:tab pos="6391275" algn="l"/>
                <a:tab pos="6848475" algn="l"/>
                <a:tab pos="7305675" algn="l"/>
                <a:tab pos="7762875" algn="l"/>
                <a:tab pos="8220075" algn="l"/>
                <a:tab pos="8677275" algn="l"/>
                <a:tab pos="9134475" algn="l"/>
              </a:tabLst>
            </a:pPr>
            <a:r>
              <a:rPr lang="en-US" altLang="bg-BG" sz="2800" dirty="0"/>
              <a:t>Manager </a:t>
            </a:r>
            <a:r>
              <a:rPr lang="bg-BG" altLang="bg-BG" sz="2800" dirty="0"/>
              <a:t>на</a:t>
            </a:r>
            <a:r>
              <a:rPr lang="en-US" altLang="bg-BG" sz="2800" dirty="0"/>
              <a:t> DEPARTMENT -&gt; MANAGES</a:t>
            </a:r>
          </a:p>
          <a:p>
            <a:pPr marL="1295400" lvl="2" indent="-381000" defTabSz="457200">
              <a:spcBef>
                <a:spcPts val="550"/>
              </a:spcBef>
              <a:buFont typeface="Arial" charset="0"/>
              <a:buChar char="–"/>
              <a:tabLst>
                <a:tab pos="334963" algn="l"/>
                <a:tab pos="447675" algn="l"/>
                <a:tab pos="904875" algn="l"/>
                <a:tab pos="1362075" algn="l"/>
                <a:tab pos="1819275" algn="l"/>
                <a:tab pos="2276475" algn="l"/>
                <a:tab pos="2733675" algn="l"/>
                <a:tab pos="3190875" algn="l"/>
                <a:tab pos="3648075" algn="l"/>
                <a:tab pos="4105275" algn="l"/>
                <a:tab pos="4562475" algn="l"/>
                <a:tab pos="5019675" algn="l"/>
                <a:tab pos="5476875" algn="l"/>
                <a:tab pos="5934075" algn="l"/>
                <a:tab pos="6391275" algn="l"/>
                <a:tab pos="6848475" algn="l"/>
                <a:tab pos="7305675" algn="l"/>
                <a:tab pos="7762875" algn="l"/>
                <a:tab pos="8220075" algn="l"/>
                <a:tab pos="8677275" algn="l"/>
                <a:tab pos="9134475" algn="l"/>
              </a:tabLst>
            </a:pPr>
            <a:r>
              <a:rPr lang="en-US" altLang="bg-BG" sz="2800" dirty="0" err="1"/>
              <a:t>Works_on</a:t>
            </a:r>
            <a:r>
              <a:rPr lang="en-US" altLang="bg-BG" sz="2800" dirty="0"/>
              <a:t> </a:t>
            </a:r>
            <a:r>
              <a:rPr lang="bg-BG" altLang="bg-BG" sz="2800" dirty="0"/>
              <a:t>на</a:t>
            </a:r>
            <a:r>
              <a:rPr lang="en-US" altLang="bg-BG" sz="2800" dirty="0"/>
              <a:t> EMPLOYEE -&gt; WORKS_ON</a:t>
            </a:r>
          </a:p>
          <a:p>
            <a:pPr marL="1295400" lvl="2" indent="-381000" defTabSz="457200">
              <a:spcBef>
                <a:spcPts val="550"/>
              </a:spcBef>
              <a:buFont typeface="Arial" charset="0"/>
              <a:buChar char="–"/>
              <a:tabLst>
                <a:tab pos="334963" algn="l"/>
                <a:tab pos="447675" algn="l"/>
                <a:tab pos="904875" algn="l"/>
                <a:tab pos="1362075" algn="l"/>
                <a:tab pos="1819275" algn="l"/>
                <a:tab pos="2276475" algn="l"/>
                <a:tab pos="2733675" algn="l"/>
                <a:tab pos="3190875" algn="l"/>
                <a:tab pos="3648075" algn="l"/>
                <a:tab pos="4105275" algn="l"/>
                <a:tab pos="4562475" algn="l"/>
                <a:tab pos="5019675" algn="l"/>
                <a:tab pos="5476875" algn="l"/>
                <a:tab pos="5934075" algn="l"/>
                <a:tab pos="6391275" algn="l"/>
                <a:tab pos="6848475" algn="l"/>
                <a:tab pos="7305675" algn="l"/>
                <a:tab pos="7762875" algn="l"/>
                <a:tab pos="8220075" algn="l"/>
                <a:tab pos="8677275" algn="l"/>
                <a:tab pos="9134475" algn="l"/>
              </a:tabLst>
            </a:pPr>
            <a:r>
              <a:rPr lang="en-US" altLang="bg-BG" sz="2800" dirty="0"/>
              <a:t>Department </a:t>
            </a:r>
            <a:r>
              <a:rPr lang="bg-BG" altLang="bg-BG" sz="2800" dirty="0"/>
              <a:t>на</a:t>
            </a:r>
            <a:r>
              <a:rPr lang="en-US" altLang="bg-BG" sz="2800" dirty="0"/>
              <a:t> EMPLOYEE -&gt; WORKS_FOR</a:t>
            </a:r>
            <a:endParaRPr lang="bg-BG" altLang="bg-BG" sz="2800" dirty="0"/>
          </a:p>
          <a:p>
            <a:pPr marL="1295400" lvl="2" indent="-381000" defTabSz="457200">
              <a:spcBef>
                <a:spcPts val="550"/>
              </a:spcBef>
              <a:buFont typeface="Arial" charset="0"/>
              <a:buChar char="–"/>
              <a:tabLst>
                <a:tab pos="334963" algn="l"/>
                <a:tab pos="447675" algn="l"/>
                <a:tab pos="904875" algn="l"/>
                <a:tab pos="1362075" algn="l"/>
                <a:tab pos="1819275" algn="l"/>
                <a:tab pos="2276475" algn="l"/>
                <a:tab pos="2733675" algn="l"/>
                <a:tab pos="3190875" algn="l"/>
                <a:tab pos="3648075" algn="l"/>
                <a:tab pos="4105275" algn="l"/>
                <a:tab pos="4562475" algn="l"/>
                <a:tab pos="5019675" algn="l"/>
                <a:tab pos="5476875" algn="l"/>
                <a:tab pos="5934075" algn="l"/>
                <a:tab pos="6391275" algn="l"/>
                <a:tab pos="6848475" algn="l"/>
                <a:tab pos="7305675" algn="l"/>
                <a:tab pos="7762875" algn="l"/>
                <a:tab pos="8220075" algn="l"/>
                <a:tab pos="8677275" algn="l"/>
                <a:tab pos="9134475" algn="l"/>
              </a:tabLst>
            </a:pPr>
            <a:r>
              <a:rPr lang="bg-BG" altLang="bg-BG" sz="2800" dirty="0"/>
              <a:t>.............................................................</a:t>
            </a:r>
            <a:endParaRPr lang="en-US" altLang="bg-BG" sz="2800" dirty="0"/>
          </a:p>
          <a:p>
            <a:pPr marL="533400" indent="-533400" defTabSz="457200">
              <a:spcBef>
                <a:spcPts val="600"/>
              </a:spcBef>
              <a:buFont typeface="Arial" charset="0"/>
              <a:buAutoNum type="arabicPeriod"/>
              <a:tabLst>
                <a:tab pos="334963" algn="l"/>
                <a:tab pos="447675" algn="l"/>
                <a:tab pos="904875" algn="l"/>
                <a:tab pos="1362075" algn="l"/>
                <a:tab pos="1819275" algn="l"/>
                <a:tab pos="2276475" algn="l"/>
                <a:tab pos="2733675" algn="l"/>
                <a:tab pos="3190875" algn="l"/>
                <a:tab pos="3648075" algn="l"/>
                <a:tab pos="4105275" algn="l"/>
                <a:tab pos="4562475" algn="l"/>
                <a:tab pos="5019675" algn="l"/>
                <a:tab pos="5476875" algn="l"/>
                <a:tab pos="5934075" algn="l"/>
                <a:tab pos="6391275" algn="l"/>
                <a:tab pos="6848475" algn="l"/>
                <a:tab pos="7305675" algn="l"/>
                <a:tab pos="7762875" algn="l"/>
                <a:tab pos="8220075" algn="l"/>
                <a:tab pos="8677275" algn="l"/>
                <a:tab pos="9134475" algn="l"/>
              </a:tabLst>
            </a:pPr>
            <a:r>
              <a:rPr lang="bg-BG" altLang="bg-BG" sz="2800" dirty="0"/>
              <a:t>В общия случай може да съществува повече от една връзка между два типа обекти: </a:t>
            </a:r>
          </a:p>
          <a:p>
            <a:pPr marL="1295400" lvl="2" indent="-381000" defTabSz="457200">
              <a:spcBef>
                <a:spcPts val="600"/>
              </a:spcBef>
              <a:buFont typeface="Arial" charset="0"/>
              <a:buChar char="•"/>
              <a:tabLst>
                <a:tab pos="334963" algn="l"/>
                <a:tab pos="447675" algn="l"/>
                <a:tab pos="904875" algn="l"/>
                <a:tab pos="1362075" algn="l"/>
                <a:tab pos="1819275" algn="l"/>
                <a:tab pos="2276475" algn="l"/>
                <a:tab pos="2733675" algn="l"/>
                <a:tab pos="3190875" algn="l"/>
                <a:tab pos="3648075" algn="l"/>
                <a:tab pos="4105275" algn="l"/>
                <a:tab pos="4562475" algn="l"/>
                <a:tab pos="5019675" algn="l"/>
                <a:tab pos="5476875" algn="l"/>
                <a:tab pos="5934075" algn="l"/>
                <a:tab pos="6391275" algn="l"/>
                <a:tab pos="6848475" algn="l"/>
                <a:tab pos="7305675" algn="l"/>
                <a:tab pos="7762875" algn="l"/>
                <a:tab pos="8220075" algn="l"/>
                <a:tab pos="8677275" algn="l"/>
                <a:tab pos="9134475" algn="l"/>
              </a:tabLst>
            </a:pPr>
            <a:r>
              <a:rPr lang="en-US" altLang="bg-BG" sz="2800" dirty="0"/>
              <a:t>MANAGES </a:t>
            </a:r>
            <a:r>
              <a:rPr lang="bg-BG" altLang="bg-BG" sz="2800" dirty="0"/>
              <a:t>и</a:t>
            </a:r>
            <a:r>
              <a:rPr lang="en-US" altLang="bg-BG" sz="2800" dirty="0"/>
              <a:t> WORKS_FOR </a:t>
            </a:r>
            <a:r>
              <a:rPr lang="bg-BG" altLang="bg-BG" sz="2800" dirty="0"/>
              <a:t>са розлични типове връзки между </a:t>
            </a:r>
            <a:r>
              <a:rPr lang="en-US" altLang="bg-BG" sz="2800" dirty="0"/>
              <a:t> EMPLOYEE </a:t>
            </a:r>
            <a:r>
              <a:rPr lang="bg-BG" altLang="bg-BG" sz="2800" dirty="0"/>
              <a:t>и</a:t>
            </a:r>
            <a:r>
              <a:rPr lang="en-US" altLang="bg-BG" sz="2800" dirty="0"/>
              <a:t> DEPARTMENT</a:t>
            </a:r>
            <a:endParaRPr lang="en-US" altLang="bg-BG" sz="27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09D30-E1A0-4025-A6CF-BE4A3E84F877}" type="slidenum">
              <a:rPr lang="bg-BG" altLang="bg-BG"/>
              <a:pPr/>
              <a:t>22</a:t>
            </a:fld>
            <a:endParaRPr lang="bg-BG" altLang="bg-BG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2"/>
          <p:cNvSpPr>
            <a:spLocks noGrp="1" noChangeArrowheads="1"/>
          </p:cNvSpPr>
          <p:nvPr>
            <p:ph type="title"/>
          </p:nvPr>
        </p:nvSpPr>
        <p:spPr>
          <a:xfrm>
            <a:off x="467544" y="404664"/>
            <a:ext cx="8243887" cy="536277"/>
          </a:xfrm>
        </p:spPr>
        <p:txBody>
          <a:bodyPr>
            <a:noAutofit/>
          </a:bodyPr>
          <a:lstStyle/>
          <a:p>
            <a:pPr algn="ctr"/>
            <a:r>
              <a:rPr lang="bg-BG" altLang="bg-BG" sz="3200" dirty="0">
                <a:solidFill>
                  <a:schemeClr val="accent1"/>
                </a:solidFill>
              </a:rPr>
              <a:t>Основни понятия при модела “обект-връзка”</a:t>
            </a:r>
          </a:p>
        </p:txBody>
      </p:sp>
      <p:sp>
        <p:nvSpPr>
          <p:cNvPr id="141328" name="Rectangle 16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852004"/>
            <a:ext cx="8424862" cy="1728788"/>
          </a:xfrm>
        </p:spPr>
        <p:txBody>
          <a:bodyPr>
            <a:normAutofit fontScale="92500"/>
          </a:bodyPr>
          <a:lstStyle/>
          <a:p>
            <a:pPr marL="457200" indent="-457200" algn="ctr">
              <a:lnSpc>
                <a:spcPct val="90000"/>
              </a:lnSpc>
              <a:buFontTx/>
              <a:buNone/>
            </a:pPr>
            <a:r>
              <a:rPr lang="bg-BG" altLang="bg-BG" sz="3000" dirty="0">
                <a:solidFill>
                  <a:srgbClr val="C00000"/>
                </a:solidFill>
              </a:rPr>
              <a:t>Роли</a:t>
            </a:r>
          </a:p>
          <a:p>
            <a:pPr marL="457200" indent="-457200">
              <a:lnSpc>
                <a:spcPct val="90000"/>
              </a:lnSpc>
              <a:buFontTx/>
              <a:buAutoNum type="arabicPeriod"/>
            </a:pPr>
            <a:r>
              <a:rPr lang="bg-BG" altLang="bg-BG" sz="2000" dirty="0"/>
              <a:t>При рекурсивните връзки се налага да се въведат роли (</a:t>
            </a:r>
            <a:r>
              <a:rPr lang="en-US" altLang="bg-BG" sz="2000" dirty="0"/>
              <a:t>roles</a:t>
            </a:r>
            <a:r>
              <a:rPr lang="bg-BG" altLang="bg-BG" sz="2000" dirty="0"/>
              <a:t>) - отразяват взаимодействия между екземплярите на един и същ тип </a:t>
            </a:r>
            <a:r>
              <a:rPr lang="bg-BG" altLang="bg-BG" sz="2000" dirty="0" smtClean="0"/>
              <a:t>обект</a:t>
            </a:r>
            <a:r>
              <a:rPr lang="en-US" altLang="bg-BG" sz="2000" dirty="0" smtClean="0"/>
              <a:t>.</a:t>
            </a:r>
            <a:endParaRPr lang="bg-BG" altLang="bg-BG" sz="2000" dirty="0"/>
          </a:p>
          <a:p>
            <a:pPr marL="457200" indent="-457200">
              <a:lnSpc>
                <a:spcPct val="90000"/>
              </a:lnSpc>
              <a:buFontTx/>
              <a:buAutoNum type="arabicPeriod"/>
            </a:pPr>
            <a:r>
              <a:rPr lang="bg-BG" altLang="bg-BG" sz="2000" dirty="0"/>
              <a:t> Пример: връзката “НАЧАЛНИК (1)– ПОДЧИНЕН(2)”, която показва взаимодействието между служителя и прекия му </a:t>
            </a:r>
            <a:r>
              <a:rPr lang="bg-BG" altLang="bg-BG" sz="2000" dirty="0" smtClean="0"/>
              <a:t>ръководител</a:t>
            </a:r>
            <a:r>
              <a:rPr lang="en-US" altLang="bg-BG" sz="2000" dirty="0" smtClean="0"/>
              <a:t>.</a:t>
            </a:r>
            <a:r>
              <a:rPr lang="bg-BG" altLang="bg-BG" sz="2400" dirty="0" smtClean="0"/>
              <a:t> </a:t>
            </a:r>
            <a:endParaRPr lang="bg-BG" altLang="bg-BG" sz="2400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/>
              <a:t>Юлиана Пенева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altLang="bg-BG"/>
              <a:t>CSCB405- модул 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FF10F9-6B7F-48DB-885B-F302C00BD31C}" type="slidenum">
              <a:rPr lang="bg-BG" altLang="bg-BG"/>
              <a:pPr/>
              <a:t>23</a:t>
            </a:fld>
            <a:endParaRPr lang="bg-BG" altLang="bg-BG"/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2123728" y="2636912"/>
            <a:ext cx="4680520" cy="3499247"/>
          </a:xfrm>
          <a:prstGeom prst="rect">
            <a:avLst/>
          </a:prstGeom>
          <a:ln w="15875">
            <a:solidFill>
              <a:srgbClr val="C00000"/>
            </a:solidFill>
          </a:ln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260648"/>
            <a:ext cx="8243887" cy="653752"/>
          </a:xfrm>
        </p:spPr>
        <p:txBody>
          <a:bodyPr>
            <a:noAutofit/>
          </a:bodyPr>
          <a:lstStyle/>
          <a:p>
            <a:pPr algn="ctr"/>
            <a:r>
              <a:rPr lang="bg-BG" altLang="bg-BG" sz="3200" dirty="0">
                <a:solidFill>
                  <a:schemeClr val="accent1"/>
                </a:solidFill>
              </a:rPr>
              <a:t>Основни понятия при модела “обект-връзка”</a:t>
            </a:r>
          </a:p>
        </p:txBody>
      </p:sp>
      <p:sp>
        <p:nvSpPr>
          <p:cNvPr id="142339" name="Rectangle 3"/>
          <p:cNvSpPr>
            <a:spLocks noGrp="1" noChangeArrowheads="1"/>
          </p:cNvSpPr>
          <p:nvPr>
            <p:ph idx="1"/>
          </p:nvPr>
        </p:nvSpPr>
        <p:spPr>
          <a:xfrm>
            <a:off x="395536" y="980728"/>
            <a:ext cx="8229600" cy="4824412"/>
          </a:xfrm>
        </p:spPr>
        <p:txBody>
          <a:bodyPr>
            <a:normAutofit lnSpcReduction="10000"/>
          </a:bodyPr>
          <a:lstStyle/>
          <a:p>
            <a:pPr marL="609600" indent="-609600" algn="ctr">
              <a:lnSpc>
                <a:spcPct val="80000"/>
              </a:lnSpc>
              <a:buFontTx/>
              <a:buNone/>
            </a:pPr>
            <a:r>
              <a:rPr lang="bg-BG" altLang="bg-BG" sz="2800" u="sng" dirty="0">
                <a:solidFill>
                  <a:srgbClr val="C00000"/>
                </a:solidFill>
              </a:rPr>
              <a:t>Слаби типове обекти</a:t>
            </a:r>
            <a:endParaRPr lang="bg-BG" altLang="bg-BG" sz="2800" dirty="0">
              <a:solidFill>
                <a:srgbClr val="C00000"/>
              </a:solidFill>
            </a:endParaRPr>
          </a:p>
          <a:p>
            <a:pPr marL="609600" indent="-609600">
              <a:lnSpc>
                <a:spcPct val="80000"/>
              </a:lnSpc>
              <a:buFontTx/>
              <a:buAutoNum type="arabicPeriod"/>
            </a:pPr>
            <a:r>
              <a:rPr lang="bg-BG" altLang="bg-BG" sz="2800" dirty="0"/>
              <a:t>Слаби типове обекти - не притежават ключов </a:t>
            </a:r>
            <a:r>
              <a:rPr lang="bg-BG" altLang="bg-BG" sz="2800" dirty="0" smtClean="0"/>
              <a:t>атрибут</a:t>
            </a:r>
            <a:r>
              <a:rPr lang="en-US" altLang="bg-BG" sz="2800" dirty="0" smtClean="0"/>
              <a:t>.</a:t>
            </a:r>
            <a:r>
              <a:rPr lang="bg-BG" altLang="bg-BG" sz="2800" dirty="0" smtClean="0"/>
              <a:t> </a:t>
            </a:r>
            <a:endParaRPr lang="bg-BG" altLang="bg-BG" sz="2800" dirty="0"/>
          </a:p>
          <a:p>
            <a:pPr marL="609600" indent="-609600">
              <a:lnSpc>
                <a:spcPct val="80000"/>
              </a:lnSpc>
              <a:buFontTx/>
              <a:buAutoNum type="arabicPeriod"/>
            </a:pPr>
            <a:r>
              <a:rPr lang="bg-BG" altLang="bg-BG" sz="2800" dirty="0"/>
              <a:t>Техните екземпляри се идентифицират чрез свързването им с екземплярите на друг тип обект, което се осъществява чрез стойностите на даден атрибут. </a:t>
            </a:r>
          </a:p>
          <a:p>
            <a:pPr marL="609600" indent="-609600">
              <a:lnSpc>
                <a:spcPct val="80000"/>
              </a:lnSpc>
              <a:buFontTx/>
              <a:buAutoNum type="arabicPeriod"/>
            </a:pPr>
            <a:r>
              <a:rPr lang="bg-BG" altLang="bg-BG" sz="2800" dirty="0"/>
              <a:t>Съществуването на слабите типове обекти зависи от съществуването или наличието на други типове обекти, свързани с тях. </a:t>
            </a:r>
          </a:p>
          <a:p>
            <a:pPr marL="609600" indent="-609600">
              <a:lnSpc>
                <a:spcPct val="80000"/>
              </a:lnSpc>
              <a:buFontTx/>
              <a:buAutoNum type="arabicPeriod"/>
            </a:pPr>
            <a:r>
              <a:rPr lang="bg-BG" altLang="bg-BG" sz="2800" dirty="0"/>
              <a:t>На диаграмите слабите типове се представят чрез правоъгълник с двойна линия, а идентифициращата ги връзка – с двойно очертан ромб.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/>
              <a:t>Юлиана Пенева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altLang="bg-BG"/>
              <a:t>CSCB405- модул 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85EAD-99FF-4300-9859-A463C921A1D3}" type="slidenum">
              <a:rPr lang="bg-BG" altLang="bg-BG"/>
              <a:pPr/>
              <a:t>24</a:t>
            </a:fld>
            <a:endParaRPr lang="bg-BG" altLang="bg-BG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2"/>
          <p:cNvSpPr>
            <a:spLocks noGrp="1" noChangeArrowheads="1"/>
          </p:cNvSpPr>
          <p:nvPr>
            <p:ph type="title"/>
          </p:nvPr>
        </p:nvSpPr>
        <p:spPr>
          <a:xfrm>
            <a:off x="539552" y="476672"/>
            <a:ext cx="8208912" cy="582960"/>
          </a:xfrm>
        </p:spPr>
        <p:txBody>
          <a:bodyPr>
            <a:normAutofit/>
          </a:bodyPr>
          <a:lstStyle/>
          <a:p>
            <a:pPr algn="ctr"/>
            <a:r>
              <a:rPr lang="bg-BG" altLang="bg-BG" sz="3200" dirty="0">
                <a:solidFill>
                  <a:schemeClr val="accent1"/>
                </a:solidFill>
              </a:rPr>
              <a:t>Основни понятия при модела “обект-връзка</a:t>
            </a:r>
            <a:r>
              <a:rPr lang="bg-BG" altLang="bg-BG" sz="3200" dirty="0" smtClean="0">
                <a:solidFill>
                  <a:schemeClr val="accent1"/>
                </a:solidFill>
              </a:rPr>
              <a:t>”</a:t>
            </a:r>
            <a:endParaRPr lang="bg-BG" altLang="bg-BG" sz="3200" dirty="0">
              <a:solidFill>
                <a:schemeClr val="accent1"/>
              </a:solidFill>
            </a:endParaRPr>
          </a:p>
        </p:txBody>
      </p:sp>
      <p:sp>
        <p:nvSpPr>
          <p:cNvPr id="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/>
              <a:t>Юлиана Пенева</a:t>
            </a:r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altLang="bg-BG"/>
              <a:t>CSCB405- модул 6</a:t>
            </a:r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17AA7-9970-456F-A8EF-A6FBA89E7816}" type="slidenum">
              <a:rPr lang="bg-BG" altLang="bg-BG"/>
              <a:pPr/>
              <a:t>25</a:t>
            </a:fld>
            <a:endParaRPr lang="bg-BG" altLang="bg-BG"/>
          </a:p>
        </p:txBody>
      </p:sp>
      <p:grpSp>
        <p:nvGrpSpPr>
          <p:cNvPr id="143370" name="Group 10"/>
          <p:cNvGrpSpPr>
            <a:grpSpLocks/>
          </p:cNvGrpSpPr>
          <p:nvPr/>
        </p:nvGrpSpPr>
        <p:grpSpPr bwMode="auto">
          <a:xfrm>
            <a:off x="2005206" y="1196752"/>
            <a:ext cx="4968875" cy="4175125"/>
            <a:chOff x="657" y="981"/>
            <a:chExt cx="2096" cy="2421"/>
          </a:xfrm>
        </p:grpSpPr>
        <p:pic>
          <p:nvPicPr>
            <p:cNvPr id="143366" name="Picture 6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7" y="981"/>
              <a:ext cx="1614" cy="846"/>
            </a:xfrm>
            <a:prstGeom prst="rect">
              <a:avLst/>
            </a:prstGeom>
            <a:ln w="15875">
              <a:solidFill>
                <a:srgbClr val="C00000"/>
              </a:solidFill>
              <a:miter lim="800000"/>
              <a:headEnd/>
              <a:tailEnd/>
            </a:ln>
            <a:extLst/>
          </p:spPr>
        </p:pic>
        <p:pic>
          <p:nvPicPr>
            <p:cNvPr id="143368" name="Picture 8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55" y="1842"/>
              <a:ext cx="1098" cy="1560"/>
            </a:xfrm>
            <a:prstGeom prst="rect">
              <a:avLst/>
            </a:prstGeom>
            <a:ln w="15875">
              <a:solidFill>
                <a:srgbClr val="C00000"/>
              </a:solidFill>
              <a:miter lim="800000"/>
              <a:headEnd/>
              <a:tailEnd/>
            </a:ln>
            <a:extLst/>
          </p:spPr>
        </p:pic>
      </p:grp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2"/>
          <p:cNvSpPr>
            <a:spLocks noGrp="1" noChangeArrowheads="1"/>
          </p:cNvSpPr>
          <p:nvPr>
            <p:ph type="title"/>
          </p:nvPr>
        </p:nvSpPr>
        <p:spPr>
          <a:xfrm>
            <a:off x="1181100" y="404664"/>
            <a:ext cx="6781800" cy="582960"/>
          </a:xfrm>
        </p:spPr>
        <p:txBody>
          <a:bodyPr>
            <a:normAutofit/>
          </a:bodyPr>
          <a:lstStyle/>
          <a:p>
            <a:pPr algn="ctr"/>
            <a:r>
              <a:rPr lang="bg-BG" altLang="bg-BG" sz="3200" dirty="0">
                <a:solidFill>
                  <a:schemeClr val="accent1"/>
                </a:solidFill>
              </a:rPr>
              <a:t>Структурни ограничения </a:t>
            </a:r>
          </a:p>
        </p:txBody>
      </p:sp>
      <p:sp>
        <p:nvSpPr>
          <p:cNvPr id="144387" name="Rectangle 3"/>
          <p:cNvSpPr>
            <a:spLocks noGrp="1" noChangeArrowheads="1"/>
          </p:cNvSpPr>
          <p:nvPr>
            <p:ph idx="1"/>
          </p:nvPr>
        </p:nvSpPr>
        <p:spPr>
          <a:xfrm>
            <a:off x="539552" y="1052736"/>
            <a:ext cx="8229600" cy="4456112"/>
          </a:xfrm>
        </p:spPr>
        <p:txBody>
          <a:bodyPr>
            <a:normAutofit lnSpcReduction="10000"/>
          </a:bodyPr>
          <a:lstStyle/>
          <a:p>
            <a:pPr marL="609600" indent="-609600">
              <a:lnSpc>
                <a:spcPct val="90000"/>
              </a:lnSpc>
              <a:buFontTx/>
              <a:buAutoNum type="arabicPeriod"/>
            </a:pPr>
            <a:r>
              <a:rPr lang="bg-BG" altLang="bg-BG" sz="2800" dirty="0"/>
              <a:t>Дефиниция - ограничения върху типовете </a:t>
            </a:r>
            <a:r>
              <a:rPr lang="bg-BG" altLang="bg-BG" sz="2800" dirty="0" smtClean="0"/>
              <a:t>връзки</a:t>
            </a:r>
            <a:r>
              <a:rPr lang="en-US" altLang="bg-BG" sz="2800" dirty="0" smtClean="0"/>
              <a:t>.</a:t>
            </a:r>
            <a:r>
              <a:rPr lang="bg-BG" altLang="bg-BG" sz="2800" dirty="0" smtClean="0"/>
              <a:t>  </a:t>
            </a:r>
            <a:endParaRPr lang="bg-BG" altLang="bg-BG" sz="2800" dirty="0"/>
          </a:p>
          <a:p>
            <a:pPr marL="609600" indent="-609600">
              <a:lnSpc>
                <a:spcPct val="90000"/>
              </a:lnSpc>
              <a:buFontTx/>
              <a:buAutoNum type="arabicPeriod"/>
            </a:pPr>
            <a:r>
              <a:rPr lang="bg-BG" altLang="bg-BG" sz="2800" dirty="0"/>
              <a:t>Характеристики:</a:t>
            </a:r>
          </a:p>
          <a:p>
            <a:pPr marL="990600" lvl="1" indent="-533400">
              <a:lnSpc>
                <a:spcPct val="90000"/>
              </a:lnSpc>
              <a:buFontTx/>
              <a:buChar char="•"/>
            </a:pPr>
            <a:r>
              <a:rPr lang="bg-BG" altLang="bg-BG" sz="2400" dirty="0"/>
              <a:t>ограничават възможни комбинации на обекти в отделните състояния на типовете </a:t>
            </a:r>
            <a:r>
              <a:rPr lang="bg-BG" altLang="bg-BG" sz="2400" dirty="0" smtClean="0"/>
              <a:t>връзки</a:t>
            </a:r>
            <a:r>
              <a:rPr lang="en-US" altLang="bg-BG" sz="2400" dirty="0" smtClean="0"/>
              <a:t>;</a:t>
            </a:r>
            <a:endParaRPr lang="bg-BG" altLang="bg-BG" sz="2400" dirty="0"/>
          </a:p>
          <a:p>
            <a:pPr marL="990600" lvl="1" indent="-533400">
              <a:lnSpc>
                <a:spcPct val="90000"/>
              </a:lnSpc>
              <a:buFontTx/>
              <a:buChar char="•"/>
            </a:pPr>
            <a:r>
              <a:rPr lang="bg-BG" altLang="bg-BG" sz="2400" dirty="0"/>
              <a:t>зависят от спецификата на </a:t>
            </a:r>
            <a:r>
              <a:rPr lang="bg-BG" altLang="bg-BG" sz="2400" dirty="0" smtClean="0"/>
              <a:t>приложението</a:t>
            </a:r>
            <a:r>
              <a:rPr lang="en-US" altLang="bg-BG" sz="2400" dirty="0" smtClean="0"/>
              <a:t>.</a:t>
            </a:r>
            <a:endParaRPr lang="bg-BG" altLang="bg-BG" sz="2400" dirty="0"/>
          </a:p>
          <a:p>
            <a:pPr marL="609600" indent="-609600">
              <a:lnSpc>
                <a:spcPct val="90000"/>
              </a:lnSpc>
              <a:buFontTx/>
              <a:buAutoNum type="arabicPeriod"/>
            </a:pPr>
            <a:r>
              <a:rPr lang="bg-BG" altLang="bg-BG" sz="2800" dirty="0"/>
              <a:t>Ограниченията върху даден тип връзка се определят от моделираните ситуации в реалния </a:t>
            </a:r>
            <a:r>
              <a:rPr lang="bg-BG" altLang="bg-BG" sz="2800" dirty="0" smtClean="0"/>
              <a:t>свят</a:t>
            </a:r>
            <a:r>
              <a:rPr lang="en-US" altLang="bg-BG" sz="2800" dirty="0" smtClean="0"/>
              <a:t>.</a:t>
            </a:r>
            <a:r>
              <a:rPr lang="bg-BG" altLang="bg-BG" sz="2800" dirty="0" smtClean="0"/>
              <a:t> </a:t>
            </a:r>
            <a:endParaRPr lang="bg-BG" altLang="bg-BG" sz="2800" dirty="0"/>
          </a:p>
          <a:p>
            <a:pPr marL="609600" indent="-609600">
              <a:lnSpc>
                <a:spcPct val="90000"/>
              </a:lnSpc>
              <a:buFontTx/>
              <a:buAutoNum type="arabicPeriod"/>
            </a:pPr>
            <a:r>
              <a:rPr lang="bg-BG" altLang="bg-BG" sz="2800" dirty="0"/>
              <a:t>Ограниченията забраняват някои комбинации на участвуващите в състоянието на връзката екземпляри от отделните типове обекти.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/>
              <a:t>Юлиана Пенева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altLang="bg-BG"/>
              <a:t>CSCB405- модул 6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63EBA-D0FB-4002-AD5A-FE6A68375321}" type="slidenum">
              <a:rPr lang="bg-BG" altLang="bg-BG"/>
              <a:pPr/>
              <a:t>26</a:t>
            </a:fld>
            <a:endParaRPr lang="bg-BG" altLang="bg-BG"/>
          </a:p>
        </p:txBody>
      </p:sp>
      <p:sp>
        <p:nvSpPr>
          <p:cNvPr id="144389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bg-BG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2"/>
          <p:cNvSpPr>
            <a:spLocks noGrp="1" noChangeArrowheads="1"/>
          </p:cNvSpPr>
          <p:nvPr>
            <p:ph type="title"/>
          </p:nvPr>
        </p:nvSpPr>
        <p:spPr>
          <a:xfrm>
            <a:off x="1181100" y="404664"/>
            <a:ext cx="6781800" cy="582960"/>
          </a:xfrm>
        </p:spPr>
        <p:txBody>
          <a:bodyPr>
            <a:normAutofit/>
          </a:bodyPr>
          <a:lstStyle/>
          <a:p>
            <a:pPr algn="ctr"/>
            <a:r>
              <a:rPr lang="bg-BG" altLang="bg-BG" sz="3200" dirty="0">
                <a:solidFill>
                  <a:schemeClr val="accent1"/>
                </a:solidFill>
              </a:rPr>
              <a:t>Структурни </a:t>
            </a:r>
            <a:r>
              <a:rPr lang="bg-BG" altLang="bg-BG" sz="3200" dirty="0" smtClean="0">
                <a:solidFill>
                  <a:schemeClr val="accent1"/>
                </a:solidFill>
              </a:rPr>
              <a:t>ограничения</a:t>
            </a:r>
            <a:endParaRPr lang="bg-BG" altLang="bg-BG" sz="3200" dirty="0">
              <a:solidFill>
                <a:schemeClr val="accent1"/>
              </a:solidFill>
            </a:endParaRPr>
          </a:p>
        </p:txBody>
      </p:sp>
      <p:sp>
        <p:nvSpPr>
          <p:cNvPr id="148483" name="Rectangle 3"/>
          <p:cNvSpPr>
            <a:spLocks noGrp="1" noChangeArrowheads="1"/>
          </p:cNvSpPr>
          <p:nvPr>
            <p:ph idx="1"/>
          </p:nvPr>
        </p:nvSpPr>
        <p:spPr>
          <a:xfrm>
            <a:off x="611560" y="1196752"/>
            <a:ext cx="8229600" cy="4896544"/>
          </a:xfrm>
        </p:spPr>
        <p:txBody>
          <a:bodyPr>
            <a:normAutofit lnSpcReduction="10000"/>
          </a:bodyPr>
          <a:lstStyle/>
          <a:p>
            <a:pPr marL="609600" indent="-609600">
              <a:buFontTx/>
              <a:buNone/>
            </a:pPr>
            <a:r>
              <a:rPr lang="bg-BG" altLang="bg-BG" sz="2400" dirty="0"/>
              <a:t>Два основни типа ограничения върху връзките</a:t>
            </a:r>
            <a:r>
              <a:rPr lang="bg-BG" altLang="bg-BG" sz="2400" dirty="0" smtClean="0"/>
              <a:t>:</a:t>
            </a:r>
          </a:p>
          <a:p>
            <a:pPr marL="609600" indent="-609600">
              <a:buFontTx/>
              <a:buAutoNum type="arabicPeriod"/>
            </a:pPr>
            <a:r>
              <a:rPr lang="bg-BG" altLang="bg-BG" sz="2400" dirty="0" smtClean="0">
                <a:solidFill>
                  <a:srgbClr val="C00000"/>
                </a:solidFill>
              </a:rPr>
              <a:t>Кардинално число </a:t>
            </a:r>
            <a:r>
              <a:rPr lang="bg-BG" altLang="bg-BG" sz="2400" dirty="0" smtClean="0"/>
              <a:t>или отношение за </a:t>
            </a:r>
            <a:r>
              <a:rPr lang="bg-BG" altLang="bg-BG" sz="2400" u="sng" dirty="0" smtClean="0">
                <a:solidFill>
                  <a:srgbClr val="C00000"/>
                </a:solidFill>
              </a:rPr>
              <a:t>двоични</a:t>
            </a:r>
            <a:r>
              <a:rPr lang="bg-BG" altLang="bg-BG" sz="2400" dirty="0" smtClean="0"/>
              <a:t> връзки (</a:t>
            </a:r>
            <a:r>
              <a:rPr lang="bg-BG" altLang="bg-BG" sz="2400" dirty="0" err="1" smtClean="0"/>
              <a:t>cardinality</a:t>
            </a:r>
            <a:r>
              <a:rPr lang="bg-BG" altLang="bg-BG" sz="2400" dirty="0" smtClean="0"/>
              <a:t> </a:t>
            </a:r>
            <a:r>
              <a:rPr lang="bg-BG" altLang="bg-BG" sz="2400" dirty="0" err="1" smtClean="0"/>
              <a:t>ratio</a:t>
            </a:r>
            <a:r>
              <a:rPr lang="bg-BG" altLang="bg-BG" sz="2400" dirty="0" smtClean="0"/>
              <a:t>)</a:t>
            </a:r>
            <a:r>
              <a:rPr lang="en-US" altLang="bg-BG" sz="2400" dirty="0" smtClean="0"/>
              <a:t>.</a:t>
            </a:r>
            <a:r>
              <a:rPr lang="bg-BG" altLang="bg-BG" sz="2400" dirty="0" smtClean="0"/>
              <a:t> </a:t>
            </a:r>
          </a:p>
          <a:p>
            <a:pPr marL="990600" lvl="1" indent="-533400">
              <a:buFontTx/>
              <a:buChar char="•"/>
            </a:pPr>
            <a:r>
              <a:rPr lang="bg-BG" altLang="bg-BG" sz="2400" dirty="0" smtClean="0"/>
              <a:t>Кардиналното число задава броя на състоянията на връзката, в които даден обект може да </a:t>
            </a:r>
            <a:r>
              <a:rPr lang="bg-BG" altLang="bg-BG" sz="2400" dirty="0" err="1" smtClean="0"/>
              <a:t>участвува</a:t>
            </a:r>
            <a:r>
              <a:rPr lang="en-US" altLang="bg-BG" sz="2400" dirty="0" smtClean="0"/>
              <a:t>;</a:t>
            </a:r>
            <a:r>
              <a:rPr lang="bg-BG" altLang="bg-BG" sz="2400" dirty="0" smtClean="0"/>
              <a:t> </a:t>
            </a:r>
          </a:p>
          <a:p>
            <a:pPr marL="990600" lvl="1" indent="-533400">
              <a:buFontTx/>
              <a:buChar char="•"/>
            </a:pPr>
            <a:r>
              <a:rPr lang="bg-BG" altLang="bg-BG" sz="2400" dirty="0" smtClean="0"/>
              <a:t>Двоичните връзки могат да бъдат с кардинално отношение 1:1, 1:N и M:N</a:t>
            </a:r>
            <a:r>
              <a:rPr lang="en-US" altLang="bg-BG" sz="2400" dirty="0" smtClean="0"/>
              <a:t>.</a:t>
            </a:r>
            <a:r>
              <a:rPr lang="bg-BG" altLang="bg-BG" sz="2400" dirty="0" smtClean="0"/>
              <a:t> </a:t>
            </a:r>
          </a:p>
          <a:p>
            <a:pPr marL="609600" indent="-609600">
              <a:buFontTx/>
              <a:buAutoNum type="arabicPeriod" startAt="2"/>
            </a:pPr>
            <a:r>
              <a:rPr lang="bg-BG" altLang="bg-BG" sz="2400" dirty="0" smtClean="0">
                <a:solidFill>
                  <a:srgbClr val="C00000"/>
                </a:solidFill>
              </a:rPr>
              <a:t>Ограничение </a:t>
            </a:r>
            <a:r>
              <a:rPr lang="bg-BG" altLang="bg-BG" sz="2400" dirty="0">
                <a:solidFill>
                  <a:srgbClr val="C00000"/>
                </a:solidFill>
              </a:rPr>
              <a:t>за участие </a:t>
            </a:r>
            <a:r>
              <a:rPr lang="bg-BG" altLang="bg-BG" sz="2400" dirty="0"/>
              <a:t>върху всеки тип обект (participation constraint</a:t>
            </a:r>
            <a:r>
              <a:rPr lang="bg-BG" altLang="bg-BG" sz="2400" dirty="0" smtClean="0"/>
              <a:t>)</a:t>
            </a:r>
            <a:r>
              <a:rPr lang="en-US" altLang="bg-BG" sz="2400" dirty="0" smtClean="0"/>
              <a:t>.</a:t>
            </a:r>
            <a:endParaRPr lang="bg-BG" altLang="bg-BG" sz="2400" dirty="0"/>
          </a:p>
          <a:p>
            <a:pPr marL="990600" lvl="1" indent="-533400">
              <a:buFontTx/>
              <a:buChar char="•"/>
            </a:pPr>
            <a:r>
              <a:rPr lang="bg-BG" altLang="bg-BG" sz="2400" dirty="0"/>
              <a:t>Определя дали съществуването на един тип обект зависи от това, че е свързан с друг тип обект чрез някакъв тип връзка. </a:t>
            </a:r>
          </a:p>
          <a:p>
            <a:pPr marL="990600" lvl="1" indent="-533400">
              <a:buFontTx/>
              <a:buChar char="•"/>
            </a:pPr>
            <a:r>
              <a:rPr lang="bg-BG" altLang="bg-BG" sz="2400" dirty="0"/>
              <a:t>Бива: общо и </a:t>
            </a:r>
            <a:r>
              <a:rPr lang="bg-BG" altLang="bg-BG" sz="2400" dirty="0" smtClean="0"/>
              <a:t>частично</a:t>
            </a:r>
            <a:r>
              <a:rPr lang="en-US" altLang="bg-BG" sz="2400" dirty="0" smtClean="0"/>
              <a:t>.</a:t>
            </a:r>
            <a:endParaRPr lang="bg-BG" altLang="bg-BG" sz="2400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/>
              <a:t>Юлиана Пенева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altLang="bg-BG"/>
              <a:t>CSCB405- модул 6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273AD-5CBF-49B4-BCDF-F05C3EF4D1BD}" type="slidenum">
              <a:rPr lang="bg-BG" altLang="bg-BG"/>
              <a:pPr/>
              <a:t>27</a:t>
            </a:fld>
            <a:endParaRPr lang="bg-BG" altLang="bg-BG"/>
          </a:p>
        </p:txBody>
      </p:sp>
      <p:sp>
        <p:nvSpPr>
          <p:cNvPr id="148485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4388013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2"/>
          <p:cNvSpPr>
            <a:spLocks noGrp="1" noChangeArrowheads="1"/>
          </p:cNvSpPr>
          <p:nvPr>
            <p:ph type="title"/>
          </p:nvPr>
        </p:nvSpPr>
        <p:spPr>
          <a:xfrm>
            <a:off x="539552" y="476672"/>
            <a:ext cx="8243887" cy="580926"/>
          </a:xfrm>
        </p:spPr>
        <p:txBody>
          <a:bodyPr>
            <a:noAutofit/>
          </a:bodyPr>
          <a:lstStyle/>
          <a:p>
            <a:pPr algn="ctr"/>
            <a:r>
              <a:rPr lang="bg-BG" altLang="bg-BG" sz="3200" dirty="0">
                <a:solidFill>
                  <a:schemeClr val="accent1"/>
                </a:solidFill>
              </a:rPr>
              <a:t>Структурни </a:t>
            </a:r>
            <a:r>
              <a:rPr lang="bg-BG" altLang="bg-BG" sz="3200" dirty="0" smtClean="0">
                <a:solidFill>
                  <a:schemeClr val="accent1"/>
                </a:solidFill>
              </a:rPr>
              <a:t>ограничения</a:t>
            </a:r>
            <a:endParaRPr lang="bg-BG" altLang="bg-BG" sz="3200" dirty="0">
              <a:solidFill>
                <a:schemeClr val="accent1"/>
              </a:solidFill>
            </a:endParaRPr>
          </a:p>
        </p:txBody>
      </p:sp>
      <p:pic>
        <p:nvPicPr>
          <p:cNvPr id="149520" name="Picture 16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76375" y="1341438"/>
            <a:ext cx="6492508" cy="4103786"/>
          </a:xfrm>
          <a:noFill/>
          <a:ln w="19050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9523" name="Rectangle 19"/>
          <p:cNvSpPr>
            <a:spLocks noGrp="1" noChangeArrowheads="1"/>
          </p:cNvSpPr>
          <p:nvPr>
            <p:ph type="body" sz="half" idx="2"/>
          </p:nvPr>
        </p:nvSpPr>
        <p:spPr>
          <a:xfrm>
            <a:off x="457200" y="5300663"/>
            <a:ext cx="8229600" cy="755650"/>
          </a:xfrm>
        </p:spPr>
        <p:txBody>
          <a:bodyPr/>
          <a:lstStyle/>
          <a:p>
            <a:pPr>
              <a:lnSpc>
                <a:spcPct val="80000"/>
              </a:lnSpc>
            </a:pPr>
            <a:endParaRPr lang="bg-BG" altLang="bg-BG" sz="1400" dirty="0"/>
          </a:p>
          <a:p>
            <a:pPr algn="ctr">
              <a:lnSpc>
                <a:spcPct val="80000"/>
              </a:lnSpc>
              <a:buFontTx/>
              <a:buNone/>
            </a:pPr>
            <a:r>
              <a:rPr lang="bg-BG" altLang="bg-BG" dirty="0">
                <a:solidFill>
                  <a:schemeClr val="accent1"/>
                </a:solidFill>
              </a:rPr>
              <a:t>Връзка 1:1</a:t>
            </a:r>
          </a:p>
        </p:txBody>
      </p:sp>
      <p:sp>
        <p:nvSpPr>
          <p:cNvPr id="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/>
              <a:t>Юлиана Пенева</a:t>
            </a:r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altLang="bg-BG"/>
              <a:t>CSCB405- модул 6</a:t>
            </a:r>
          </a:p>
        </p:txBody>
      </p:sp>
      <p:sp>
        <p:nvSpPr>
          <p:cNvPr id="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14D42-7640-4075-9998-964B5C3E5A8D}" type="slidenum">
              <a:rPr lang="bg-BG" altLang="bg-BG"/>
              <a:pPr/>
              <a:t>28</a:t>
            </a:fld>
            <a:endParaRPr lang="bg-BG" altLang="bg-BG"/>
          </a:p>
        </p:txBody>
      </p:sp>
      <p:sp>
        <p:nvSpPr>
          <p:cNvPr id="149511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bg-BG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906" name="Rectangle 2"/>
          <p:cNvSpPr>
            <a:spLocks noGrp="1" noChangeArrowheads="1"/>
          </p:cNvSpPr>
          <p:nvPr>
            <p:ph type="title"/>
          </p:nvPr>
        </p:nvSpPr>
        <p:spPr>
          <a:xfrm>
            <a:off x="395536" y="476672"/>
            <a:ext cx="8243887" cy="580926"/>
          </a:xfrm>
        </p:spPr>
        <p:txBody>
          <a:bodyPr>
            <a:noAutofit/>
          </a:bodyPr>
          <a:lstStyle/>
          <a:p>
            <a:pPr algn="ctr"/>
            <a:r>
              <a:rPr lang="bg-BG" altLang="bg-BG" sz="3200" dirty="0">
                <a:solidFill>
                  <a:schemeClr val="accent1"/>
                </a:solidFill>
              </a:rPr>
              <a:t>Структурни </a:t>
            </a:r>
            <a:r>
              <a:rPr lang="bg-BG" altLang="bg-BG" sz="3200" dirty="0" smtClean="0">
                <a:solidFill>
                  <a:schemeClr val="accent1"/>
                </a:solidFill>
              </a:rPr>
              <a:t>ограничения</a:t>
            </a:r>
            <a:endParaRPr lang="bg-BG" altLang="bg-BG" sz="3200" dirty="0">
              <a:solidFill>
                <a:schemeClr val="accent1"/>
              </a:solidFill>
            </a:endParaRPr>
          </a:p>
        </p:txBody>
      </p:sp>
      <p:pic>
        <p:nvPicPr>
          <p:cNvPr id="251910" name="Picture 6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03648" y="1412776"/>
            <a:ext cx="6273424" cy="3960440"/>
          </a:xfrm>
          <a:noFill/>
          <a:ln w="15875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51909" name="Rectangle 5"/>
          <p:cNvSpPr>
            <a:spLocks noGrp="1" noChangeArrowheads="1"/>
          </p:cNvSpPr>
          <p:nvPr>
            <p:ph type="body" sz="half" idx="2"/>
          </p:nvPr>
        </p:nvSpPr>
        <p:spPr>
          <a:xfrm>
            <a:off x="539750" y="5445125"/>
            <a:ext cx="8229600" cy="677863"/>
          </a:xfrm>
        </p:spPr>
        <p:txBody>
          <a:bodyPr/>
          <a:lstStyle/>
          <a:p>
            <a:pPr algn="ctr">
              <a:buFontTx/>
              <a:buNone/>
            </a:pPr>
            <a:r>
              <a:rPr lang="bg-BG" altLang="bg-BG" sz="2800" dirty="0">
                <a:solidFill>
                  <a:schemeClr val="accent1"/>
                </a:solidFill>
              </a:rPr>
              <a:t>Връзка 1:</a:t>
            </a:r>
            <a:r>
              <a:rPr lang="en-US" altLang="bg-BG" sz="2800" dirty="0">
                <a:solidFill>
                  <a:schemeClr val="accent1"/>
                </a:solidFill>
              </a:rPr>
              <a:t>N</a:t>
            </a:r>
            <a:endParaRPr lang="bg-BG" altLang="bg-BG" sz="2800" dirty="0">
              <a:solidFill>
                <a:schemeClr val="accent1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/>
              <a:t>Юлиана Пенева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altLang="bg-BG"/>
              <a:t>CSCB405- модул 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11F112-9F36-40B1-BC02-05F800DA8A1E}" type="slidenum">
              <a:rPr lang="bg-BG" altLang="bg-BG"/>
              <a:pPr/>
              <a:t>29</a:t>
            </a:fld>
            <a:endParaRPr lang="bg-BG" altLang="bg-BG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930" name="Rectangle 2"/>
          <p:cNvSpPr>
            <a:spLocks noGrp="1" noChangeArrowheads="1"/>
          </p:cNvSpPr>
          <p:nvPr>
            <p:ph type="title"/>
          </p:nvPr>
        </p:nvSpPr>
        <p:spPr>
          <a:xfrm>
            <a:off x="467544" y="404664"/>
            <a:ext cx="8243887" cy="580926"/>
          </a:xfrm>
        </p:spPr>
        <p:txBody>
          <a:bodyPr>
            <a:normAutofit/>
          </a:bodyPr>
          <a:lstStyle/>
          <a:p>
            <a:pPr algn="ctr"/>
            <a:r>
              <a:rPr lang="bg-BG" altLang="bg-BG" sz="3200" dirty="0">
                <a:solidFill>
                  <a:schemeClr val="accent1"/>
                </a:solidFill>
              </a:rPr>
              <a:t>Структурни ограничения </a:t>
            </a:r>
          </a:p>
        </p:txBody>
      </p:sp>
      <p:pic>
        <p:nvPicPr>
          <p:cNvPr id="252934" name="Picture 6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03648" y="1088113"/>
            <a:ext cx="6681988" cy="4536504"/>
          </a:xfrm>
          <a:noFill/>
          <a:ln w="15875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52933" name="Rectangle 5"/>
          <p:cNvSpPr>
            <a:spLocks noGrp="1" noChangeArrowheads="1"/>
          </p:cNvSpPr>
          <p:nvPr>
            <p:ph type="body" sz="half" idx="2"/>
          </p:nvPr>
        </p:nvSpPr>
        <p:spPr>
          <a:xfrm>
            <a:off x="468313" y="5589588"/>
            <a:ext cx="8229600" cy="677862"/>
          </a:xfrm>
        </p:spPr>
        <p:txBody>
          <a:bodyPr/>
          <a:lstStyle/>
          <a:p>
            <a:pPr algn="ctr">
              <a:buFontTx/>
              <a:buNone/>
            </a:pPr>
            <a:r>
              <a:rPr lang="bg-BG" altLang="bg-BG" sz="2800" dirty="0">
                <a:solidFill>
                  <a:schemeClr val="accent1"/>
                </a:solidFill>
              </a:rPr>
              <a:t>Връзка </a:t>
            </a:r>
            <a:r>
              <a:rPr lang="en-US" altLang="bg-BG" sz="2800" dirty="0">
                <a:solidFill>
                  <a:schemeClr val="accent1"/>
                </a:solidFill>
              </a:rPr>
              <a:t>M:N</a:t>
            </a:r>
            <a:endParaRPr lang="bg-BG" altLang="bg-BG" sz="2800" dirty="0">
              <a:solidFill>
                <a:schemeClr val="accent1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/>
              <a:t>Юлиана Пенева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altLang="bg-BG"/>
              <a:t>CSCB405- модул 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6BEFC-2483-44B9-8EDD-3D417AA4E08F}" type="slidenum">
              <a:rPr lang="bg-BG" altLang="bg-BG"/>
              <a:pPr/>
              <a:t>30</a:t>
            </a:fld>
            <a:endParaRPr lang="bg-BG" altLang="bg-BG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930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276025"/>
            <a:ext cx="8243887" cy="580926"/>
          </a:xfrm>
        </p:spPr>
        <p:txBody>
          <a:bodyPr>
            <a:normAutofit/>
          </a:bodyPr>
          <a:lstStyle/>
          <a:p>
            <a:pPr algn="ctr"/>
            <a:r>
              <a:rPr lang="bg-BG" altLang="bg-BG" sz="3200" dirty="0">
                <a:solidFill>
                  <a:schemeClr val="accent1"/>
                </a:solidFill>
              </a:rPr>
              <a:t>Структурни ограничения </a:t>
            </a:r>
          </a:p>
        </p:txBody>
      </p:sp>
      <p:sp>
        <p:nvSpPr>
          <p:cNvPr id="252933" name="Rectangle 5"/>
          <p:cNvSpPr>
            <a:spLocks noGrp="1" noChangeArrowheads="1"/>
          </p:cNvSpPr>
          <p:nvPr>
            <p:ph type="body" sz="half" idx="2"/>
          </p:nvPr>
        </p:nvSpPr>
        <p:spPr>
          <a:xfrm>
            <a:off x="457200" y="5614244"/>
            <a:ext cx="8229600" cy="677862"/>
          </a:xfrm>
        </p:spPr>
        <p:txBody>
          <a:bodyPr>
            <a:normAutofit/>
          </a:bodyPr>
          <a:lstStyle/>
          <a:p>
            <a:pPr algn="ctr">
              <a:buFontTx/>
              <a:buNone/>
            </a:pPr>
            <a:r>
              <a:rPr lang="bg-BG" altLang="bg-BG" dirty="0" smtClean="0">
                <a:solidFill>
                  <a:srgbClr val="C00000"/>
                </a:solidFill>
              </a:rPr>
              <a:t>Примери за кардинално число</a:t>
            </a:r>
            <a:endParaRPr lang="bg-BG" altLang="bg-BG" dirty="0">
              <a:solidFill>
                <a:srgbClr val="C00000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/>
              <a:t>Юлиана Пенева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altLang="bg-BG"/>
              <a:t>CSCB405- модул 6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6BEFC-2483-44B9-8EDD-3D417AA4E08F}" type="slidenum">
              <a:rPr lang="bg-BG" altLang="bg-BG"/>
              <a:pPr/>
              <a:t>31</a:t>
            </a:fld>
            <a:endParaRPr lang="bg-BG" altLang="bg-BG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1878" y="825204"/>
            <a:ext cx="3968707" cy="1899310"/>
          </a:xfrm>
          <a:prstGeom prst="rect">
            <a:avLst/>
          </a:prstGeom>
          <a:ln w="15875">
            <a:solidFill>
              <a:srgbClr val="C00000"/>
            </a:solidFill>
          </a:ln>
        </p:spPr>
      </p:pic>
      <p:pic>
        <p:nvPicPr>
          <p:cNvPr id="10" name="Content Placeholder 9"/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322548" y="825204"/>
            <a:ext cx="4536504" cy="4958950"/>
          </a:xfrm>
          <a:prstGeom prst="rect">
            <a:avLst/>
          </a:prstGeom>
          <a:ln w="19050">
            <a:solidFill>
              <a:srgbClr val="C00000"/>
            </a:solidFill>
          </a:ln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1563" y="3172167"/>
            <a:ext cx="3949022" cy="1955942"/>
          </a:xfrm>
          <a:prstGeom prst="rect">
            <a:avLst/>
          </a:prstGeom>
          <a:ln w="15875">
            <a:solidFill>
              <a:srgbClr val="C00000"/>
            </a:solidFill>
          </a:ln>
        </p:spPr>
      </p:pic>
    </p:spTree>
    <p:extLst>
      <p:ext uri="{BB962C8B-B14F-4D97-AF65-F5344CB8AC3E}">
        <p14:creationId xmlns:p14="http://schemas.microsoft.com/office/powerpoint/2010/main" val="318862785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2"/>
          <p:cNvSpPr>
            <a:spLocks noGrp="1" noChangeArrowheads="1"/>
          </p:cNvSpPr>
          <p:nvPr>
            <p:ph type="title"/>
          </p:nvPr>
        </p:nvSpPr>
        <p:spPr>
          <a:xfrm>
            <a:off x="1043608" y="342965"/>
            <a:ext cx="6781800" cy="582960"/>
          </a:xfrm>
        </p:spPr>
        <p:txBody>
          <a:bodyPr>
            <a:normAutofit/>
          </a:bodyPr>
          <a:lstStyle/>
          <a:p>
            <a:pPr algn="ctr"/>
            <a:r>
              <a:rPr lang="bg-BG" altLang="bg-BG" sz="3200" dirty="0">
                <a:solidFill>
                  <a:schemeClr val="accent1"/>
                </a:solidFill>
              </a:rPr>
              <a:t>Структурни ограничения </a:t>
            </a:r>
          </a:p>
        </p:txBody>
      </p:sp>
      <p:sp>
        <p:nvSpPr>
          <p:cNvPr id="150538" name="Rectangle 10"/>
          <p:cNvSpPr>
            <a:spLocks noGrp="1" noChangeArrowheads="1"/>
          </p:cNvSpPr>
          <p:nvPr>
            <p:ph idx="1"/>
          </p:nvPr>
        </p:nvSpPr>
        <p:spPr>
          <a:xfrm>
            <a:off x="294308" y="448700"/>
            <a:ext cx="8280400" cy="5082785"/>
          </a:xfrm>
        </p:spPr>
        <p:txBody>
          <a:bodyPr>
            <a:normAutofit/>
          </a:bodyPr>
          <a:lstStyle/>
          <a:p>
            <a:pPr marL="609600" indent="-609600">
              <a:lnSpc>
                <a:spcPct val="80000"/>
              </a:lnSpc>
              <a:buFontTx/>
              <a:buNone/>
            </a:pPr>
            <a:r>
              <a:rPr lang="bg-BG" altLang="bg-BG" sz="2000" dirty="0">
                <a:solidFill>
                  <a:srgbClr val="C00000"/>
                </a:solidFill>
              </a:rPr>
              <a:t>Общо, тотално ограничение за участие (total, или existence dependency).</a:t>
            </a:r>
          </a:p>
          <a:p>
            <a:pPr marL="609600" indent="-609600">
              <a:lnSpc>
                <a:spcPct val="80000"/>
              </a:lnSpc>
              <a:buFontTx/>
              <a:buAutoNum type="arabicPeriod"/>
            </a:pPr>
            <a:r>
              <a:rPr lang="bg-BG" altLang="bg-BG" sz="2000" dirty="0"/>
              <a:t>Всеки представител на даден тип обект участвува в някакво състояние на определен тип връзка</a:t>
            </a:r>
          </a:p>
          <a:p>
            <a:pPr marL="609600" indent="-609600">
              <a:lnSpc>
                <a:spcPct val="80000"/>
              </a:lnSpc>
              <a:buFontTx/>
              <a:buAutoNum type="arabicPeriod"/>
            </a:pPr>
            <a:r>
              <a:rPr lang="bg-BG" altLang="bg-BG" sz="2000" dirty="0"/>
              <a:t>На диаграмите това се бележи с </a:t>
            </a:r>
            <a:r>
              <a:rPr lang="bg-BG" altLang="bg-BG" sz="2000" dirty="0">
                <a:solidFill>
                  <a:srgbClr val="C00000"/>
                </a:solidFill>
              </a:rPr>
              <a:t>двойна линия</a:t>
            </a:r>
            <a:r>
              <a:rPr lang="bg-BG" altLang="bg-BG" sz="2000" dirty="0"/>
              <a:t>. </a:t>
            </a:r>
          </a:p>
          <a:p>
            <a:pPr marL="609600" indent="-609600">
              <a:lnSpc>
                <a:spcPct val="80000"/>
              </a:lnSpc>
              <a:buFontTx/>
              <a:buNone/>
            </a:pPr>
            <a:r>
              <a:rPr lang="bg-BG" altLang="bg-BG" sz="2000" dirty="0"/>
              <a:t>Например участието на екземплярите на типа обект "СЛУЖИТЕЛ" в типа връзка "РАБОТИ-ЗА" е тотално, което представя реалната ситуация, че всеки служител е зачислен към някакъв отдел. </a:t>
            </a:r>
          </a:p>
          <a:p>
            <a:pPr marL="609600" indent="-609600">
              <a:lnSpc>
                <a:spcPct val="80000"/>
              </a:lnSpc>
              <a:buFontTx/>
              <a:buNone/>
            </a:pPr>
            <a:endParaRPr lang="bg-BG" altLang="bg-BG" sz="700" dirty="0"/>
          </a:p>
          <a:p>
            <a:pPr marL="609600" indent="-609600">
              <a:lnSpc>
                <a:spcPct val="80000"/>
              </a:lnSpc>
              <a:buFontTx/>
              <a:buNone/>
            </a:pPr>
            <a:r>
              <a:rPr lang="bg-BG" altLang="bg-BG" sz="2000" dirty="0">
                <a:solidFill>
                  <a:srgbClr val="C00000"/>
                </a:solidFill>
              </a:rPr>
              <a:t>Частично ограничение за участие (partial</a:t>
            </a:r>
            <a:r>
              <a:rPr lang="bg-BG" altLang="bg-BG" sz="2000" dirty="0" smtClean="0">
                <a:solidFill>
                  <a:srgbClr val="C00000"/>
                </a:solidFill>
              </a:rPr>
              <a:t>)</a:t>
            </a:r>
            <a:r>
              <a:rPr lang="en-US" altLang="bg-BG" sz="2000" dirty="0" smtClean="0">
                <a:solidFill>
                  <a:srgbClr val="C00000"/>
                </a:solidFill>
              </a:rPr>
              <a:t>.</a:t>
            </a:r>
            <a:endParaRPr lang="bg-BG" altLang="bg-BG" sz="2000" dirty="0">
              <a:solidFill>
                <a:srgbClr val="C00000"/>
              </a:solidFill>
            </a:endParaRPr>
          </a:p>
          <a:p>
            <a:pPr marL="609600" indent="-609600">
              <a:lnSpc>
                <a:spcPct val="80000"/>
              </a:lnSpc>
              <a:buFontTx/>
              <a:buAutoNum type="arabicPeriod"/>
            </a:pPr>
            <a:r>
              <a:rPr lang="bg-BG" altLang="bg-BG" sz="2000" dirty="0"/>
              <a:t>Само някои представители на даден тип обект участвуват в състоянията на определен тип връзка. </a:t>
            </a:r>
          </a:p>
          <a:p>
            <a:pPr marL="609600" indent="-609600">
              <a:lnSpc>
                <a:spcPct val="80000"/>
              </a:lnSpc>
              <a:buFontTx/>
              <a:buAutoNum type="arabicPeriod"/>
            </a:pPr>
            <a:r>
              <a:rPr lang="bg-BG" altLang="bg-BG" sz="2000" dirty="0"/>
              <a:t>На диаграмите това се бележи с </a:t>
            </a:r>
            <a:r>
              <a:rPr lang="bg-BG" altLang="bg-BG" sz="2000" dirty="0">
                <a:solidFill>
                  <a:srgbClr val="C00000"/>
                </a:solidFill>
              </a:rPr>
              <a:t>единична линия</a:t>
            </a:r>
            <a:r>
              <a:rPr lang="bg-BG" altLang="bg-BG" sz="2000" dirty="0"/>
              <a:t>. </a:t>
            </a:r>
          </a:p>
          <a:p>
            <a:pPr marL="609600" indent="-609600">
              <a:lnSpc>
                <a:spcPct val="80000"/>
              </a:lnSpc>
              <a:buFontTx/>
              <a:buNone/>
            </a:pPr>
            <a:r>
              <a:rPr lang="bg-BG" altLang="bg-BG" sz="2000" dirty="0"/>
              <a:t>Например участието на обекта "СЛУЖИТЕЛ" във връзката "УПРАВЛЯВА" е частично, което означава, че само някои от служителите в предприятието са и ръководители, т.е. не всички са началници. 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/>
              <a:t>Юлиана Пенева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altLang="bg-BG"/>
              <a:t>CSCB405- модул 6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81BDB-F845-41A4-B078-F8553B94CF23}" type="slidenum">
              <a:rPr lang="bg-BG" altLang="bg-BG"/>
              <a:pPr/>
              <a:t>32</a:t>
            </a:fld>
            <a:endParaRPr lang="bg-BG" altLang="bg-BG"/>
          </a:p>
        </p:txBody>
      </p:sp>
      <p:sp>
        <p:nvSpPr>
          <p:cNvPr id="150535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bg-BG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3768" y="4913034"/>
            <a:ext cx="4441601" cy="1236902"/>
          </a:xfrm>
          <a:prstGeom prst="rect">
            <a:avLst/>
          </a:prstGeom>
          <a:ln w="15875">
            <a:solidFill>
              <a:srgbClr val="C00000"/>
            </a:solidFill>
          </a:ln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882" name="Rectangle 2"/>
          <p:cNvSpPr>
            <a:spLocks noGrp="1" noChangeArrowheads="1"/>
          </p:cNvSpPr>
          <p:nvPr>
            <p:ph type="title"/>
          </p:nvPr>
        </p:nvSpPr>
        <p:spPr>
          <a:xfrm>
            <a:off x="215008" y="476672"/>
            <a:ext cx="8928992" cy="664096"/>
          </a:xfrm>
        </p:spPr>
        <p:txBody>
          <a:bodyPr>
            <a:noAutofit/>
          </a:bodyPr>
          <a:lstStyle/>
          <a:p>
            <a:pPr algn="ctr"/>
            <a:r>
              <a:rPr lang="bg-BG" altLang="bg-BG" sz="3200" dirty="0">
                <a:solidFill>
                  <a:schemeClr val="accent1"/>
                </a:solidFill>
              </a:rPr>
              <a:t>Означения при изграждането на </a:t>
            </a:r>
            <a:r>
              <a:rPr lang="en-US" altLang="bg-BG" sz="3200" dirty="0">
                <a:solidFill>
                  <a:schemeClr val="accent1"/>
                </a:solidFill>
              </a:rPr>
              <a:t>E</a:t>
            </a:r>
            <a:r>
              <a:rPr lang="bg-BG" altLang="bg-BG" sz="3200" dirty="0">
                <a:solidFill>
                  <a:schemeClr val="accent1"/>
                </a:solidFill>
              </a:rPr>
              <a:t>-</a:t>
            </a:r>
            <a:r>
              <a:rPr lang="en-US" altLang="bg-BG" sz="3200" dirty="0" smtClean="0">
                <a:solidFill>
                  <a:schemeClr val="accent1"/>
                </a:solidFill>
              </a:rPr>
              <a:t>R </a:t>
            </a:r>
            <a:r>
              <a:rPr lang="bg-BG" altLang="bg-BG" sz="3200" dirty="0" smtClean="0">
                <a:solidFill>
                  <a:schemeClr val="accent1"/>
                </a:solidFill>
              </a:rPr>
              <a:t>диаграми  </a:t>
            </a:r>
            <a:endParaRPr lang="bg-BG" altLang="bg-BG" sz="3200" dirty="0">
              <a:solidFill>
                <a:schemeClr val="accent1"/>
              </a:solidFill>
            </a:endParaRPr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/>
              <a:t>Юлиана Пенева</a:t>
            </a:r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altLang="bg-BG"/>
              <a:t>CSCB405- модул 6</a:t>
            </a:r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590E8-A97A-45C4-9FBB-2DBE81F9788E}" type="slidenum">
              <a:rPr lang="bg-BG" altLang="bg-BG"/>
              <a:pPr/>
              <a:t>33</a:t>
            </a:fld>
            <a:endParaRPr lang="bg-BG" altLang="bg-BG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4255" y="1240747"/>
            <a:ext cx="5975745" cy="4889988"/>
          </a:xfrm>
          <a:prstGeom prst="rect">
            <a:avLst/>
          </a:prstGeom>
          <a:ln w="15875">
            <a:solidFill>
              <a:srgbClr val="C00000"/>
            </a:solidFill>
          </a:ln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2"/>
          <p:cNvSpPr>
            <a:spLocks noGrp="1" noChangeArrowheads="1"/>
          </p:cNvSpPr>
          <p:nvPr>
            <p:ph type="title"/>
          </p:nvPr>
        </p:nvSpPr>
        <p:spPr>
          <a:xfrm>
            <a:off x="1181100" y="476672"/>
            <a:ext cx="6781800" cy="510952"/>
          </a:xfrm>
        </p:spPr>
        <p:txBody>
          <a:bodyPr>
            <a:normAutofit fontScale="90000"/>
          </a:bodyPr>
          <a:lstStyle/>
          <a:p>
            <a:pPr algn="ctr"/>
            <a:r>
              <a:rPr lang="bg-BG" altLang="bg-BG" sz="3200" dirty="0" smtClean="0">
                <a:solidFill>
                  <a:schemeClr val="accent1"/>
                </a:solidFill>
              </a:rPr>
              <a:t>Примери</a:t>
            </a:r>
            <a:endParaRPr lang="bg-BG" altLang="bg-BG" sz="3200" dirty="0">
              <a:solidFill>
                <a:schemeClr val="accent1"/>
              </a:solidFill>
            </a:endParaRPr>
          </a:p>
        </p:txBody>
      </p:sp>
      <p:pic>
        <p:nvPicPr>
          <p:cNvPr id="151564" name="Picture 1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31776" y="917491"/>
            <a:ext cx="6480447" cy="5213244"/>
          </a:xfrm>
          <a:noFill/>
          <a:ln w="15875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/>
              <a:t>Юлиана Пенева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altLang="bg-BG"/>
              <a:t>CSCB405- модул 6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220DC-F3D1-4A2B-A265-7A970B88FF00}" type="slidenum">
              <a:rPr lang="bg-BG" altLang="bg-BG"/>
              <a:pPr/>
              <a:t>34</a:t>
            </a:fld>
            <a:endParaRPr lang="bg-BG" altLang="bg-BG"/>
          </a:p>
        </p:txBody>
      </p:sp>
      <p:sp>
        <p:nvSpPr>
          <p:cNvPr id="151557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bg-BG"/>
          </a:p>
        </p:txBody>
      </p:sp>
      <p:sp>
        <p:nvSpPr>
          <p:cNvPr id="151559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bg-BG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2"/>
          <p:cNvSpPr>
            <a:spLocks noGrp="1" noChangeArrowheads="1"/>
          </p:cNvSpPr>
          <p:nvPr>
            <p:ph type="title"/>
          </p:nvPr>
        </p:nvSpPr>
        <p:spPr>
          <a:xfrm>
            <a:off x="1043608" y="404664"/>
            <a:ext cx="6781800" cy="510952"/>
          </a:xfrm>
        </p:spPr>
        <p:txBody>
          <a:bodyPr>
            <a:normAutofit fontScale="90000"/>
          </a:bodyPr>
          <a:lstStyle/>
          <a:p>
            <a:pPr algn="ctr"/>
            <a:r>
              <a:rPr lang="bg-BG" altLang="bg-BG" sz="3200" dirty="0" smtClean="0">
                <a:solidFill>
                  <a:schemeClr val="accent1"/>
                </a:solidFill>
              </a:rPr>
              <a:t>Примери</a:t>
            </a:r>
            <a:endParaRPr lang="bg-BG" altLang="bg-BG" sz="3200" dirty="0">
              <a:solidFill>
                <a:schemeClr val="accent1"/>
              </a:solidFill>
            </a:endParaRPr>
          </a:p>
        </p:txBody>
      </p:sp>
      <p:pic>
        <p:nvPicPr>
          <p:cNvPr id="155657" name="Picture 9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99592" y="983740"/>
            <a:ext cx="7254241" cy="4680520"/>
          </a:xfrm>
          <a:noFill/>
          <a:ln w="15875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/>
              <a:t>Юлиана Пенева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altLang="bg-BG"/>
              <a:t>CSCB405- модул 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6CBD6-E3D6-43F1-8EE0-5627EE628EDE}" type="slidenum">
              <a:rPr lang="bg-BG" altLang="bg-BG"/>
              <a:pPr/>
              <a:t>35</a:t>
            </a:fld>
            <a:endParaRPr lang="bg-BG" altLang="bg-BG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2"/>
          <p:cNvSpPr>
            <a:spLocks noGrp="1" noChangeArrowheads="1"/>
          </p:cNvSpPr>
          <p:nvPr>
            <p:ph type="title"/>
          </p:nvPr>
        </p:nvSpPr>
        <p:spPr>
          <a:xfrm>
            <a:off x="1115616" y="404664"/>
            <a:ext cx="6781800" cy="582960"/>
          </a:xfrm>
        </p:spPr>
        <p:txBody>
          <a:bodyPr>
            <a:normAutofit/>
          </a:bodyPr>
          <a:lstStyle/>
          <a:p>
            <a:pPr algn="ctr"/>
            <a:r>
              <a:rPr lang="bg-BG" altLang="bg-BG" sz="3200" dirty="0" smtClean="0">
                <a:solidFill>
                  <a:schemeClr val="accent1"/>
                </a:solidFill>
              </a:rPr>
              <a:t>Примери</a:t>
            </a:r>
            <a:endParaRPr lang="bg-BG" altLang="bg-BG" sz="3200" dirty="0">
              <a:solidFill>
                <a:schemeClr val="accent1"/>
              </a:solidFill>
            </a:endParaRPr>
          </a:p>
        </p:txBody>
      </p:sp>
      <p:pic>
        <p:nvPicPr>
          <p:cNvPr id="156681" name="Picture 9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213" y="1268760"/>
            <a:ext cx="7543800" cy="3459945"/>
          </a:xfrm>
          <a:noFill/>
          <a:ln w="15875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/>
              <a:t>Юлиана Пенева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altLang="bg-BG"/>
              <a:t>CSCB405- модул 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518A1-9E5C-4CBC-8F2C-9A47D7B7EC98}" type="slidenum">
              <a:rPr lang="bg-BG" altLang="bg-BG"/>
              <a:pPr/>
              <a:t>36</a:t>
            </a:fld>
            <a:endParaRPr lang="bg-BG" altLang="bg-BG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2"/>
          <p:cNvSpPr>
            <a:spLocks noGrp="1" noChangeArrowheads="1"/>
          </p:cNvSpPr>
          <p:nvPr>
            <p:ph type="title"/>
          </p:nvPr>
        </p:nvSpPr>
        <p:spPr>
          <a:xfrm>
            <a:off x="1115616" y="404664"/>
            <a:ext cx="6781800" cy="582960"/>
          </a:xfrm>
        </p:spPr>
        <p:txBody>
          <a:bodyPr>
            <a:normAutofit/>
          </a:bodyPr>
          <a:lstStyle/>
          <a:p>
            <a:pPr algn="ctr"/>
            <a:r>
              <a:rPr lang="bg-BG" altLang="bg-BG" sz="3200" dirty="0" smtClean="0">
                <a:solidFill>
                  <a:schemeClr val="accent1"/>
                </a:solidFill>
              </a:rPr>
              <a:t>Примери</a:t>
            </a:r>
            <a:endParaRPr lang="bg-BG" altLang="bg-BG" sz="3200" dirty="0">
              <a:solidFill>
                <a:schemeClr val="accent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/>
              <a:t>Юлиана Пенева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altLang="bg-BG"/>
              <a:t>CSCB405- модул 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518A1-9E5C-4CBC-8F2C-9A47D7B7EC98}" type="slidenum">
              <a:rPr lang="bg-BG" altLang="bg-BG"/>
              <a:pPr/>
              <a:t>37</a:t>
            </a:fld>
            <a:endParaRPr lang="bg-BG" altLang="bg-BG"/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25" y="1295724"/>
            <a:ext cx="8479581" cy="4032448"/>
          </a:xfrm>
          <a:ln w="19050">
            <a:solidFill>
              <a:srgbClr val="C00000"/>
            </a:solidFill>
          </a:ln>
        </p:spPr>
      </p:pic>
    </p:spTree>
    <p:extLst>
      <p:ext uri="{BB962C8B-B14F-4D97-AF65-F5344CB8AC3E}">
        <p14:creationId xmlns:p14="http://schemas.microsoft.com/office/powerpoint/2010/main" val="8263076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2"/>
          <p:cNvSpPr>
            <a:spLocks noGrp="1" noChangeArrowheads="1"/>
          </p:cNvSpPr>
          <p:nvPr>
            <p:ph type="title"/>
          </p:nvPr>
        </p:nvSpPr>
        <p:spPr>
          <a:xfrm>
            <a:off x="1115616" y="263832"/>
            <a:ext cx="6781800" cy="582960"/>
          </a:xfrm>
        </p:spPr>
        <p:txBody>
          <a:bodyPr>
            <a:normAutofit/>
          </a:bodyPr>
          <a:lstStyle/>
          <a:p>
            <a:pPr algn="ctr"/>
            <a:r>
              <a:rPr lang="bg-BG" altLang="bg-BG" sz="3200" dirty="0" smtClean="0">
                <a:solidFill>
                  <a:schemeClr val="accent1"/>
                </a:solidFill>
              </a:rPr>
              <a:t>Примери</a:t>
            </a:r>
            <a:endParaRPr lang="bg-BG" altLang="bg-BG" sz="3200" dirty="0">
              <a:solidFill>
                <a:schemeClr val="accent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/>
              <a:t>Юлиана Пенева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altLang="bg-BG"/>
              <a:t>CSCB405- модул 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518A1-9E5C-4CBC-8F2C-9A47D7B7EC98}" type="slidenum">
              <a:rPr lang="bg-BG" altLang="bg-BG"/>
              <a:pPr/>
              <a:t>38</a:t>
            </a:fld>
            <a:endParaRPr lang="bg-BG" altLang="bg-BG"/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06" y="1002875"/>
            <a:ext cx="9033382" cy="3998497"/>
          </a:xfrm>
          <a:ln w="15875">
            <a:solidFill>
              <a:srgbClr val="C00000"/>
            </a:solidFill>
          </a:ln>
        </p:spPr>
      </p:pic>
    </p:spTree>
    <p:extLst>
      <p:ext uri="{BB962C8B-B14F-4D97-AF65-F5344CB8AC3E}">
        <p14:creationId xmlns:p14="http://schemas.microsoft.com/office/powerpoint/2010/main" val="147089614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2"/>
          <p:cNvSpPr>
            <a:spLocks noGrp="1" noChangeArrowheads="1"/>
          </p:cNvSpPr>
          <p:nvPr>
            <p:ph type="title"/>
          </p:nvPr>
        </p:nvSpPr>
        <p:spPr>
          <a:xfrm>
            <a:off x="1115616" y="263832"/>
            <a:ext cx="6781800" cy="582960"/>
          </a:xfrm>
        </p:spPr>
        <p:txBody>
          <a:bodyPr>
            <a:normAutofit/>
          </a:bodyPr>
          <a:lstStyle/>
          <a:p>
            <a:pPr algn="ctr"/>
            <a:r>
              <a:rPr lang="bg-BG" altLang="bg-BG" sz="3200" dirty="0" smtClean="0">
                <a:solidFill>
                  <a:schemeClr val="accent1"/>
                </a:solidFill>
              </a:rPr>
              <a:t>Примери</a:t>
            </a:r>
            <a:endParaRPr lang="bg-BG" altLang="bg-BG" sz="3200" dirty="0">
              <a:solidFill>
                <a:schemeClr val="accent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/>
              <a:t>Юлиана Пенева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altLang="bg-BG"/>
              <a:t>CSCB405- модул 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518A1-9E5C-4CBC-8F2C-9A47D7B7EC98}" type="slidenum">
              <a:rPr lang="bg-BG" altLang="bg-BG"/>
              <a:pPr/>
              <a:t>39</a:t>
            </a:fld>
            <a:endParaRPr lang="bg-BG" altLang="bg-BG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9144" y="837119"/>
            <a:ext cx="6258272" cy="5336648"/>
          </a:xfrm>
          <a:ln w="19050">
            <a:solidFill>
              <a:srgbClr val="C00000"/>
            </a:solidFill>
          </a:ln>
        </p:spPr>
      </p:pic>
    </p:spTree>
    <p:extLst>
      <p:ext uri="{BB962C8B-B14F-4D97-AF65-F5344CB8AC3E}">
        <p14:creationId xmlns:p14="http://schemas.microsoft.com/office/powerpoint/2010/main" val="91405636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2"/>
          <p:cNvSpPr>
            <a:spLocks noGrp="1" noChangeArrowheads="1"/>
          </p:cNvSpPr>
          <p:nvPr>
            <p:ph type="title"/>
          </p:nvPr>
        </p:nvSpPr>
        <p:spPr>
          <a:xfrm>
            <a:off x="1115616" y="263832"/>
            <a:ext cx="6781800" cy="582960"/>
          </a:xfrm>
        </p:spPr>
        <p:txBody>
          <a:bodyPr>
            <a:normAutofit/>
          </a:bodyPr>
          <a:lstStyle/>
          <a:p>
            <a:pPr algn="ctr"/>
            <a:r>
              <a:rPr lang="bg-BG" altLang="bg-BG" sz="3200" dirty="0" smtClean="0">
                <a:solidFill>
                  <a:schemeClr val="accent1"/>
                </a:solidFill>
              </a:rPr>
              <a:t>Примери</a:t>
            </a:r>
            <a:endParaRPr lang="bg-BG" altLang="bg-BG" sz="3200" dirty="0">
              <a:solidFill>
                <a:schemeClr val="accent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/>
              <a:t>Юлиана Пенева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altLang="bg-BG"/>
              <a:t>CSCB405- модул 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518A1-9E5C-4CBC-8F2C-9A47D7B7EC98}" type="slidenum">
              <a:rPr lang="bg-BG" altLang="bg-BG"/>
              <a:pPr/>
              <a:t>40</a:t>
            </a:fld>
            <a:endParaRPr lang="bg-BG" altLang="bg-BG"/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171" y="824264"/>
            <a:ext cx="7127699" cy="5384512"/>
          </a:xfrm>
          <a:ln w="19050">
            <a:solidFill>
              <a:srgbClr val="C00000"/>
            </a:solidFill>
          </a:ln>
        </p:spPr>
      </p:pic>
    </p:spTree>
    <p:extLst>
      <p:ext uri="{BB962C8B-B14F-4D97-AF65-F5344CB8AC3E}">
        <p14:creationId xmlns:p14="http://schemas.microsoft.com/office/powerpoint/2010/main" val="286784028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2"/>
          <p:cNvSpPr>
            <a:spLocks noGrp="1" noChangeArrowheads="1"/>
          </p:cNvSpPr>
          <p:nvPr>
            <p:ph type="title"/>
          </p:nvPr>
        </p:nvSpPr>
        <p:spPr>
          <a:xfrm>
            <a:off x="1115616" y="263832"/>
            <a:ext cx="6781800" cy="582960"/>
          </a:xfrm>
        </p:spPr>
        <p:txBody>
          <a:bodyPr>
            <a:normAutofit/>
          </a:bodyPr>
          <a:lstStyle/>
          <a:p>
            <a:pPr algn="ctr"/>
            <a:r>
              <a:rPr lang="bg-BG" altLang="bg-BG" sz="3200" dirty="0" smtClean="0">
                <a:solidFill>
                  <a:schemeClr val="accent1"/>
                </a:solidFill>
              </a:rPr>
              <a:t>Примери</a:t>
            </a:r>
            <a:endParaRPr lang="bg-BG" altLang="bg-BG" sz="3200" dirty="0">
              <a:solidFill>
                <a:schemeClr val="accent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/>
              <a:t>Юлиана Пенева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altLang="bg-BG"/>
              <a:t>CSCB405- модул 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518A1-9E5C-4CBC-8F2C-9A47D7B7EC98}" type="slidenum">
              <a:rPr lang="bg-BG" altLang="bg-BG"/>
              <a:pPr/>
              <a:t>41</a:t>
            </a:fld>
            <a:endParaRPr lang="bg-BG" altLang="bg-BG"/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4120" y="1048548"/>
            <a:ext cx="6611296" cy="4958472"/>
          </a:xfrm>
        </p:spPr>
      </p:pic>
    </p:spTree>
    <p:extLst>
      <p:ext uri="{BB962C8B-B14F-4D97-AF65-F5344CB8AC3E}">
        <p14:creationId xmlns:p14="http://schemas.microsoft.com/office/powerpoint/2010/main" val="234953810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2"/>
          <p:cNvSpPr>
            <a:spLocks noGrp="1" noChangeArrowheads="1"/>
          </p:cNvSpPr>
          <p:nvPr>
            <p:ph type="title"/>
          </p:nvPr>
        </p:nvSpPr>
        <p:spPr>
          <a:xfrm>
            <a:off x="1115616" y="263832"/>
            <a:ext cx="6781800" cy="582960"/>
          </a:xfrm>
        </p:spPr>
        <p:txBody>
          <a:bodyPr>
            <a:normAutofit/>
          </a:bodyPr>
          <a:lstStyle/>
          <a:p>
            <a:pPr algn="ctr"/>
            <a:r>
              <a:rPr lang="bg-BG" altLang="bg-BG" sz="3200" dirty="0" smtClean="0">
                <a:solidFill>
                  <a:schemeClr val="accent1"/>
                </a:solidFill>
              </a:rPr>
              <a:t>Примери</a:t>
            </a:r>
            <a:endParaRPr lang="bg-BG" altLang="bg-BG" sz="3200" dirty="0">
              <a:solidFill>
                <a:schemeClr val="accent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/>
              <a:t>Юлиана Пенева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altLang="bg-BG"/>
              <a:t>CSCB405- модул 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518A1-9E5C-4CBC-8F2C-9A47D7B7EC98}" type="slidenum">
              <a:rPr lang="bg-BG" altLang="bg-BG"/>
              <a:pPr/>
              <a:t>42</a:t>
            </a:fld>
            <a:endParaRPr lang="bg-BG" altLang="bg-BG"/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999" y="846792"/>
            <a:ext cx="7958082" cy="4687416"/>
          </a:xfrm>
          <a:ln w="19050">
            <a:solidFill>
              <a:srgbClr val="C00000"/>
            </a:solidFill>
          </a:ln>
        </p:spPr>
      </p:pic>
    </p:spTree>
    <p:extLst>
      <p:ext uri="{BB962C8B-B14F-4D97-AF65-F5344CB8AC3E}">
        <p14:creationId xmlns:p14="http://schemas.microsoft.com/office/powerpoint/2010/main" val="342496035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2"/>
          <p:cNvSpPr>
            <a:spLocks noGrp="1" noChangeArrowheads="1"/>
          </p:cNvSpPr>
          <p:nvPr>
            <p:ph type="title"/>
          </p:nvPr>
        </p:nvSpPr>
        <p:spPr>
          <a:xfrm>
            <a:off x="1115616" y="263832"/>
            <a:ext cx="6781800" cy="582960"/>
          </a:xfrm>
        </p:spPr>
        <p:txBody>
          <a:bodyPr>
            <a:normAutofit/>
          </a:bodyPr>
          <a:lstStyle/>
          <a:p>
            <a:pPr algn="ctr"/>
            <a:r>
              <a:rPr lang="bg-BG" altLang="bg-BG" sz="3200" dirty="0" smtClean="0">
                <a:solidFill>
                  <a:schemeClr val="accent1"/>
                </a:solidFill>
              </a:rPr>
              <a:t>Примери</a:t>
            </a:r>
            <a:endParaRPr lang="bg-BG" altLang="bg-BG" sz="3200" dirty="0">
              <a:solidFill>
                <a:schemeClr val="accent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/>
              <a:t>Юлиана Пенева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altLang="bg-BG"/>
              <a:t>CSCB405- модул 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518A1-9E5C-4CBC-8F2C-9A47D7B7EC98}" type="slidenum">
              <a:rPr lang="bg-BG" altLang="bg-BG"/>
              <a:pPr/>
              <a:t>43</a:t>
            </a:fld>
            <a:endParaRPr lang="bg-BG" altLang="bg-BG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317" y="824451"/>
            <a:ext cx="7117099" cy="5327750"/>
          </a:xfrm>
          <a:ln w="19050">
            <a:solidFill>
              <a:srgbClr val="C00000"/>
            </a:solidFill>
          </a:ln>
        </p:spPr>
      </p:pic>
    </p:spTree>
    <p:extLst>
      <p:ext uri="{BB962C8B-B14F-4D97-AF65-F5344CB8AC3E}">
        <p14:creationId xmlns:p14="http://schemas.microsoft.com/office/powerpoint/2010/main" val="153009689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2"/>
          <p:cNvSpPr>
            <a:spLocks noGrp="1" noChangeArrowheads="1"/>
          </p:cNvSpPr>
          <p:nvPr>
            <p:ph type="title"/>
          </p:nvPr>
        </p:nvSpPr>
        <p:spPr>
          <a:xfrm>
            <a:off x="1115616" y="263832"/>
            <a:ext cx="6781800" cy="582960"/>
          </a:xfrm>
        </p:spPr>
        <p:txBody>
          <a:bodyPr>
            <a:normAutofit/>
          </a:bodyPr>
          <a:lstStyle/>
          <a:p>
            <a:pPr algn="ctr"/>
            <a:r>
              <a:rPr lang="bg-BG" altLang="bg-BG" sz="3200" dirty="0" smtClean="0">
                <a:solidFill>
                  <a:schemeClr val="accent1"/>
                </a:solidFill>
              </a:rPr>
              <a:t>Примери</a:t>
            </a:r>
            <a:endParaRPr lang="bg-BG" altLang="bg-BG" sz="3200" dirty="0">
              <a:solidFill>
                <a:schemeClr val="accent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/>
              <a:t>Юлиана Пенева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altLang="bg-BG"/>
              <a:t>CSCB405- модул 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3518A1-9E5C-4CBC-8F2C-9A47D7B7EC98}" type="slidenum">
              <a:rPr lang="bg-BG" altLang="bg-BG"/>
              <a:pPr/>
              <a:t>44</a:t>
            </a:fld>
            <a:endParaRPr lang="bg-BG" altLang="bg-BG"/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562" y="998454"/>
            <a:ext cx="7020051" cy="5040560"/>
          </a:xfrm>
          <a:ln w="19050">
            <a:solidFill>
              <a:srgbClr val="C00000"/>
            </a:solidFill>
          </a:ln>
        </p:spPr>
      </p:pic>
    </p:spTree>
    <p:extLst>
      <p:ext uri="{BB962C8B-B14F-4D97-AF65-F5344CB8AC3E}">
        <p14:creationId xmlns:p14="http://schemas.microsoft.com/office/powerpoint/2010/main" val="158086864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2"/>
          <p:cNvSpPr>
            <a:spLocks noGrp="1" noChangeArrowheads="1"/>
          </p:cNvSpPr>
          <p:nvPr>
            <p:ph type="title"/>
          </p:nvPr>
        </p:nvSpPr>
        <p:spPr>
          <a:xfrm>
            <a:off x="1187624" y="476672"/>
            <a:ext cx="6781800" cy="582960"/>
          </a:xfrm>
        </p:spPr>
        <p:txBody>
          <a:bodyPr>
            <a:normAutofit/>
          </a:bodyPr>
          <a:lstStyle/>
          <a:p>
            <a:pPr algn="ctr"/>
            <a:r>
              <a:rPr lang="bg-BG" altLang="bg-BG" sz="3200" dirty="0" smtClean="0">
                <a:solidFill>
                  <a:schemeClr val="accent1"/>
                </a:solidFill>
              </a:rPr>
              <a:t>Обобщение</a:t>
            </a:r>
            <a:endParaRPr lang="bg-BG" altLang="bg-BG" sz="3200" dirty="0">
              <a:solidFill>
                <a:schemeClr val="accent1"/>
              </a:solidFill>
            </a:endParaRPr>
          </a:p>
        </p:txBody>
      </p:sp>
      <p:sp>
        <p:nvSpPr>
          <p:cNvPr id="168963" name="Rectangle 3"/>
          <p:cNvSpPr>
            <a:spLocks noGrp="1" noChangeArrowheads="1"/>
          </p:cNvSpPr>
          <p:nvPr>
            <p:ph idx="1"/>
          </p:nvPr>
        </p:nvSpPr>
        <p:spPr>
          <a:xfrm>
            <a:off x="611560" y="980728"/>
            <a:ext cx="8229600" cy="5040312"/>
          </a:xfrm>
        </p:spPr>
        <p:txBody>
          <a:bodyPr>
            <a:normAutofit lnSpcReduction="10000"/>
          </a:bodyPr>
          <a:lstStyle/>
          <a:p>
            <a:pPr marL="609600" indent="-609600">
              <a:buFontTx/>
              <a:buAutoNum type="arabicPeriod"/>
            </a:pPr>
            <a:r>
              <a:rPr lang="bg-BG" altLang="bg-BG" sz="2400" dirty="0"/>
              <a:t>Концептуалните модели играят изключително важна роля в процеса на проектирането на бази от данни. </a:t>
            </a:r>
          </a:p>
          <a:p>
            <a:pPr marL="609600" indent="-609600">
              <a:buFontTx/>
              <a:buAutoNum type="arabicPeriod"/>
            </a:pPr>
            <a:r>
              <a:rPr lang="en-US" altLang="bg-BG" sz="2400" dirty="0"/>
              <a:t>E</a:t>
            </a:r>
            <a:r>
              <a:rPr lang="bg-BG" altLang="bg-BG" sz="2400" dirty="0"/>
              <a:t>-</a:t>
            </a:r>
            <a:r>
              <a:rPr lang="en-US" altLang="bg-BG" sz="2400" dirty="0"/>
              <a:t>R</a:t>
            </a:r>
            <a:r>
              <a:rPr lang="bg-BG" altLang="bg-BG" sz="2400" dirty="0"/>
              <a:t> моделът описва данните с помощта на типове обекти, типове връзки и атрибути. </a:t>
            </a:r>
          </a:p>
          <a:p>
            <a:pPr marL="609600" indent="-609600">
              <a:buFontTx/>
              <a:buAutoNum type="arabicPeriod"/>
            </a:pPr>
            <a:r>
              <a:rPr lang="bg-BG" altLang="bg-BG" sz="2400" dirty="0"/>
              <a:t>Типът обект може да се разглежда като изграден от група подобни обекти, притежаващи еднакви атрибути. </a:t>
            </a:r>
          </a:p>
          <a:p>
            <a:pPr marL="609600" indent="-609600">
              <a:buFontTx/>
              <a:buAutoNum type="arabicPeriod"/>
            </a:pPr>
            <a:r>
              <a:rPr lang="bg-BG" altLang="bg-BG" sz="2400" dirty="0"/>
              <a:t>Всеки тип обект представя обект или понятие, което съществува независимо в моделираната предметна област. Типът връзка отразява взаимодействие между няколко независими типа обекти. </a:t>
            </a:r>
          </a:p>
          <a:p>
            <a:pPr marL="609600" indent="-609600">
              <a:buFontTx/>
              <a:buAutoNum type="arabicPeriod"/>
            </a:pPr>
            <a:r>
              <a:rPr lang="bg-BG" altLang="bg-BG" sz="2400" dirty="0"/>
              <a:t>Ограниченията върху типовете връзки се наричат структурни и биват два вида: кардинално число и ограничение за участие.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bg-BG" altLang="bg-BG"/>
              <a:t>Юлиана Пенева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bg-BG" altLang="bg-BG"/>
              <a:t>CSCB405- модул 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C732B-9D0F-42EF-BEE5-39B13DD1CE3D}" type="slidenum">
              <a:rPr lang="bg-BG" altLang="bg-BG"/>
              <a:pPr/>
              <a:t>45</a:t>
            </a:fld>
            <a:endParaRPr lang="bg-BG" altLang="bg-BG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NewsPrint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NewsPrint">
      <a:majorFont>
        <a:latin typeface="Impact"/>
        <a:ea typeface=""/>
        <a:cs typeface=""/>
        <a:font script="Jpan" typeface="HGP創英角ｺﾞｼｯｸUB"/>
        <a:font script="Hang" typeface="HY견고딕"/>
        <a:font script="Hans" typeface="微软雅黑"/>
        <a:font script="Hant" typeface="微軟正黑體"/>
        <a:font script="Arab" typeface="Tahoma"/>
        <a:font script="Hebr" typeface="To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NewsPrint">
      <a:fillStyleLst>
        <a:solidFill>
          <a:schemeClr val="phClr"/>
        </a:solidFill>
        <a:gradFill rotWithShape="1">
          <a:gsLst>
            <a:gs pos="0">
              <a:schemeClr val="phClr">
                <a:tint val="37000"/>
                <a:hueMod val="100000"/>
                <a:satMod val="200000"/>
                <a:lumMod val="88000"/>
              </a:schemeClr>
            </a:gs>
            <a:gs pos="100000">
              <a:schemeClr val="phClr">
                <a:tint val="53000"/>
                <a:shade val="100000"/>
                <a:hueMod val="100000"/>
                <a:satMod val="350000"/>
                <a:lumMod val="79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83000"/>
                <a:shade val="100000"/>
                <a:alpha val="100000"/>
                <a:hueMod val="100000"/>
                <a:satMod val="220000"/>
                <a:lumMod val="90000"/>
              </a:schemeClr>
            </a:gs>
            <a:gs pos="76000">
              <a:schemeClr val="phClr">
                <a:shade val="100000"/>
              </a:schemeClr>
            </a:gs>
            <a:gs pos="100000">
              <a:schemeClr val="phClr">
                <a:shade val="93000"/>
                <a:alpha val="100000"/>
                <a:satMod val="100000"/>
                <a:lumMod val="93000"/>
              </a:schemeClr>
            </a:gs>
          </a:gsLst>
          <a:path path="circle">
            <a:fillToRect l="15000" t="15000" r="100000" b="100000"/>
          </a:path>
        </a:gradFill>
      </a:fillStyleLst>
      <a:lnStyleLst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12700" dir="528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2700">
            <a:bevelT w="31750" h="127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3000"/>
              </a:schemeClr>
            </a:gs>
            <a:gs pos="100000">
              <a:schemeClr val="phClr">
                <a:shade val="55000"/>
              </a:schemeClr>
            </a:gs>
          </a:gsLst>
          <a:lin ang="5400000" scaled="1"/>
        </a:gradFill>
        <a:blipFill rotWithShape="1">
          <a:blip xmlns:r="http://schemas.openxmlformats.org/officeDocument/2006/relationships" r:embed="rId1">
            <a:duotone>
              <a:schemeClr val="phClr">
                <a:shade val="20000"/>
                <a:satMod val="350000"/>
                <a:lumMod val="125000"/>
              </a:schemeClr>
              <a:schemeClr val="phClr">
                <a:tint val="90000"/>
                <a:satMod val="250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Newsprint</Template>
  <TotalTime>6741</TotalTime>
  <Words>2109</Words>
  <Application>Microsoft Office PowerPoint</Application>
  <PresentationFormat>On-screen Show (4:3)</PresentationFormat>
  <Paragraphs>317</Paragraphs>
  <Slides>45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1" baseType="lpstr">
      <vt:lpstr>Arial</vt:lpstr>
      <vt:lpstr>Arial Narrow</vt:lpstr>
      <vt:lpstr>Impact</vt:lpstr>
      <vt:lpstr>Symbol</vt:lpstr>
      <vt:lpstr>Times New Roman</vt:lpstr>
      <vt:lpstr>NewsPrint</vt:lpstr>
      <vt:lpstr>CSCB405 Бази от данни и СУБД   Модул 6: Концептуално моделиране  </vt:lpstr>
      <vt:lpstr>Съдържание </vt:lpstr>
      <vt:lpstr>Основни фази при проектиране на бази от данни</vt:lpstr>
      <vt:lpstr>Концептуално моделиране при проектиране на бази от данни</vt:lpstr>
      <vt:lpstr>Концептуално моделиране при проектиране на бази от данни</vt:lpstr>
      <vt:lpstr>Концептуално моделиране при проектиране на бази от данни</vt:lpstr>
      <vt:lpstr>Концептуално моделиране при проектиране на бази от данни</vt:lpstr>
      <vt:lpstr>Концептуално моделиране при проектиране на бази от данни</vt:lpstr>
      <vt:lpstr>Основни понятия при модела “обект-връзка”</vt:lpstr>
      <vt:lpstr>Основни понятия при модела “обект-връзка”</vt:lpstr>
      <vt:lpstr>Основни понятия при модела “обект-връзка”</vt:lpstr>
      <vt:lpstr>Основни понятия при модела “обект-връзка”</vt:lpstr>
      <vt:lpstr>Основни понятия при модела “обект-връзка”</vt:lpstr>
      <vt:lpstr>Основни понятия при модела “обект-връзка”</vt:lpstr>
      <vt:lpstr>Основни понятия при модела “обект-връзка”</vt:lpstr>
      <vt:lpstr>Основни понятия при модела “обект-връзка”</vt:lpstr>
      <vt:lpstr>Основни понятия при модела “обект-връзка”</vt:lpstr>
      <vt:lpstr>Основни понятия при модела “обект-връзка”</vt:lpstr>
      <vt:lpstr>Основни понятия при модела “обект-връзка” </vt:lpstr>
      <vt:lpstr>Основни понятия при модела “обект-връзка” </vt:lpstr>
      <vt:lpstr>Основни понятия при модела “обект-връзка” </vt:lpstr>
      <vt:lpstr>Основни понятия при модела “обект-връзка”</vt:lpstr>
      <vt:lpstr>Основни понятия при модела “обект-връзка”</vt:lpstr>
      <vt:lpstr>Основни понятия при модела “обект-връзка”</vt:lpstr>
      <vt:lpstr>Основни понятия при модела “обект-връзка”</vt:lpstr>
      <vt:lpstr>Структурни ограничения </vt:lpstr>
      <vt:lpstr>Структурни ограничения</vt:lpstr>
      <vt:lpstr>Структурни ограничения</vt:lpstr>
      <vt:lpstr>Структурни ограничения</vt:lpstr>
      <vt:lpstr>Структурни ограничения </vt:lpstr>
      <vt:lpstr>Структурни ограничения </vt:lpstr>
      <vt:lpstr>Структурни ограничения </vt:lpstr>
      <vt:lpstr>Означения при изграждането на E-R диаграми  </vt:lpstr>
      <vt:lpstr>Примери</vt:lpstr>
      <vt:lpstr>Примери</vt:lpstr>
      <vt:lpstr>Примери</vt:lpstr>
      <vt:lpstr>Примери</vt:lpstr>
      <vt:lpstr>Примери</vt:lpstr>
      <vt:lpstr>Примери</vt:lpstr>
      <vt:lpstr>Примери</vt:lpstr>
      <vt:lpstr>Примери</vt:lpstr>
      <vt:lpstr>Примери</vt:lpstr>
      <vt:lpstr>Примери</vt:lpstr>
      <vt:lpstr>Примери</vt:lpstr>
      <vt:lpstr>Обобщение</vt:lpstr>
    </vt:vector>
  </TitlesOfParts>
  <Company>NBU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INFB586 Module 1</dc:title>
  <dc:subject>Files&amp;databases</dc:subject>
  <dc:creator>July Peneva</dc:creator>
  <cp:lastModifiedBy>Windows User</cp:lastModifiedBy>
  <cp:revision>240</cp:revision>
  <dcterms:created xsi:type="dcterms:W3CDTF">2006-09-20T15:43:40Z</dcterms:created>
  <dcterms:modified xsi:type="dcterms:W3CDTF">2018-12-13T05:37:22Z</dcterms:modified>
</cp:coreProperties>
</file>