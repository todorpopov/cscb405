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7" r:id="rId3"/>
    <p:sldId id="281" r:id="rId4"/>
    <p:sldId id="312" r:id="rId5"/>
    <p:sldId id="259" r:id="rId6"/>
    <p:sldId id="313" r:id="rId7"/>
    <p:sldId id="287" r:id="rId8"/>
    <p:sldId id="288" r:id="rId9"/>
    <p:sldId id="318" r:id="rId10"/>
    <p:sldId id="321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19" r:id="rId23"/>
    <p:sldId id="300" r:id="rId24"/>
    <p:sldId id="325" r:id="rId25"/>
    <p:sldId id="301" r:id="rId26"/>
    <p:sldId id="322" r:id="rId27"/>
    <p:sldId id="323" r:id="rId28"/>
    <p:sldId id="302" r:id="rId29"/>
    <p:sldId id="303" r:id="rId30"/>
    <p:sldId id="304" r:id="rId31"/>
    <p:sldId id="305" r:id="rId32"/>
    <p:sldId id="320" r:id="rId33"/>
    <p:sldId id="306" r:id="rId34"/>
    <p:sldId id="326" r:id="rId35"/>
    <p:sldId id="310" r:id="rId36"/>
    <p:sldId id="307" r:id="rId37"/>
    <p:sldId id="308" r:id="rId38"/>
    <p:sldId id="309" r:id="rId39"/>
  </p:sldIdLst>
  <p:sldSz cx="9144000" cy="6858000" type="screen4x3"/>
  <p:notesSz cx="6858000" cy="9144000"/>
  <p:defaultTextStyle>
    <a:defPPr>
      <a:defRPr lang="bg-BG"/>
    </a:defPPr>
    <a:lvl1pPr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90" autoAdjust="0"/>
    <p:restoredTop sz="94636" autoAdjust="0"/>
  </p:normalViewPr>
  <p:slideViewPr>
    <p:cSldViewPr>
      <p:cViewPr varScale="1">
        <p:scale>
          <a:sx n="117" d="100"/>
          <a:sy n="117" d="100"/>
        </p:scale>
        <p:origin x="171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42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fld id="{FA02BA35-38D1-4100-9CAD-3DA9D5F550CB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6742662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 smtClean="0"/>
              <a:t>Click to edit Master text styles</a:t>
            </a:r>
          </a:p>
          <a:p>
            <a:pPr lvl="1"/>
            <a:r>
              <a:rPr lang="bg-BG" altLang="bg-BG" smtClean="0"/>
              <a:t>Second level</a:t>
            </a:r>
          </a:p>
          <a:p>
            <a:pPr lvl="2"/>
            <a:r>
              <a:rPr lang="bg-BG" altLang="bg-BG" smtClean="0"/>
              <a:t>Third level</a:t>
            </a:r>
          </a:p>
          <a:p>
            <a:pPr lvl="3"/>
            <a:r>
              <a:rPr lang="bg-BG" altLang="bg-BG" smtClean="0"/>
              <a:t>Fourth level</a:t>
            </a:r>
          </a:p>
          <a:p>
            <a:pPr lvl="4"/>
            <a:r>
              <a:rPr lang="bg-BG" altLang="bg-BG" smtClean="0"/>
              <a:t>Fifth level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fld id="{53796CCF-C370-4B8A-9601-9D0B33931E70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347097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8AA7-BEBA-4C44-8BE5-7CE64CD03EDE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54E65-57A1-4CEB-BF9A-AE0208A91E59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11478-203D-414C-AF4A-0DE995DB7134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75FFF-7557-4A95-B934-4E9DC1FDD68B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58A1C-9C45-48CF-826D-F93A851D00B2}" type="slidenum">
              <a:rPr lang="bg-BG" altLang="bg-BG" smtClean="0"/>
              <a:pPr/>
              <a:t>‹#›</a:t>
            </a:fld>
            <a:endParaRPr lang="bg-BG" altLang="bg-BG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1CF88-2DFB-420F-9EE5-E8E4514F8233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A62A5-C8DE-4721-8ADE-9FBBBA1D1330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CC879-0033-42BA-AADD-06593D5D3234}" type="slidenum">
              <a:rPr lang="bg-BG" altLang="bg-BG" smtClean="0"/>
              <a:pPr/>
              <a:t>‹#›</a:t>
            </a:fld>
            <a:endParaRPr lang="bg-BG" altLang="bg-BG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148E6-52D3-4635-A181-361F58AD3910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AD6C-B40D-49B1-B268-1C86184E5C17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4BE5-3EE6-482F-B476-FC9D8DBEDCFE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03663"/>
            <a:ext cx="8229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65079325-3CE8-444C-8B0C-6FF87B565408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74177023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456113"/>
          </a:xfrm>
        </p:spPr>
        <p:txBody>
          <a:bodyPr/>
          <a:lstStyle/>
          <a:p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DDAEB88-0BF7-4F3A-B47D-4E9911677C61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96564199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03663"/>
            <a:ext cx="8229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0F2965D-19A5-4927-AB58-5BB3C177DDF3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8054087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FC034E39-DF6F-48EB-9629-5F98A92788F2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8" r:id="rId12"/>
    <p:sldLayoutId id="2147483679" r:id="rId13"/>
    <p:sldLayoutId id="2147483680" r:id="rId14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hdr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emf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2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5.jpg"/><Relationship Id="rId4" Type="http://schemas.openxmlformats.org/officeDocument/2006/relationships/image" Target="../media/image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6.wmf"/><Relationship Id="rId9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8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6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584" y="764704"/>
            <a:ext cx="7543800" cy="2028056"/>
          </a:xfrm>
        </p:spPr>
        <p:txBody>
          <a:bodyPr/>
          <a:lstStyle/>
          <a:p>
            <a:r>
              <a:rPr lang="en-US" altLang="bg-BG" sz="3200" dirty="0">
                <a:solidFill>
                  <a:srgbClr val="FF0000"/>
                </a:solidFill>
              </a:rPr>
              <a:t>CSCB405 </a:t>
            </a:r>
            <a:r>
              <a:rPr lang="bg-BG" altLang="bg-BG" sz="3200" dirty="0">
                <a:solidFill>
                  <a:srgbClr val="FF0000"/>
                </a:solidFill>
              </a:rPr>
              <a:t>Бази от данни и СУБД</a:t>
            </a:r>
            <a:br>
              <a:rPr lang="bg-BG" altLang="bg-BG" sz="3200" dirty="0">
                <a:solidFill>
                  <a:srgbClr val="FF0000"/>
                </a:solidFill>
              </a:rPr>
            </a:br>
            <a:r>
              <a:rPr lang="bg-BG" altLang="bg-BG" sz="3200" dirty="0"/>
              <a:t/>
            </a:r>
            <a:br>
              <a:rPr lang="bg-BG" altLang="bg-BG" sz="3200" dirty="0"/>
            </a:br>
            <a:r>
              <a:rPr lang="bg-BG" altLang="bg-BG" sz="3200" dirty="0"/>
              <a:t> Модул </a:t>
            </a:r>
            <a:r>
              <a:rPr lang="en-US" altLang="bg-BG" sz="3200" dirty="0"/>
              <a:t>3</a:t>
            </a:r>
            <a:r>
              <a:rPr lang="bg-BG" altLang="bg-BG" sz="3200" dirty="0"/>
              <a:t>: Релационен </a:t>
            </a:r>
            <a:r>
              <a:rPr lang="bg-BG" altLang="bg-BG" sz="3200" dirty="0" smtClean="0"/>
              <a:t>модел - част 2</a:t>
            </a:r>
            <a:r>
              <a:rPr lang="bg-BG" altLang="bg-BG" sz="3200" dirty="0"/>
              <a:t/>
            </a:r>
            <a:br>
              <a:rPr lang="bg-BG" altLang="bg-BG" sz="3200" dirty="0"/>
            </a:br>
            <a:endParaRPr lang="bg-BG" altLang="bg-BG" sz="32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688" y="3933056"/>
            <a:ext cx="5777880" cy="136889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bg-BG" altLang="bg-BG" dirty="0"/>
              <a:t>Юлиана Пенева</a:t>
            </a:r>
          </a:p>
          <a:p>
            <a:pPr>
              <a:lnSpc>
                <a:spcPct val="90000"/>
              </a:lnSpc>
            </a:pPr>
            <a:r>
              <a:rPr lang="bg-BG" altLang="bg-BG" dirty="0"/>
              <a:t>Департамент “Информатика”</a:t>
            </a:r>
          </a:p>
          <a:p>
            <a:pPr>
              <a:lnSpc>
                <a:spcPct val="90000"/>
              </a:lnSpc>
            </a:pPr>
            <a:r>
              <a:rPr lang="en-US" altLang="bg-BG" dirty="0"/>
              <a:t>july_peneva@abv.bg</a:t>
            </a:r>
            <a:endParaRPr lang="bg-BG" altLang="bg-B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3861048"/>
            <a:ext cx="2124075" cy="215265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333375"/>
            <a:ext cx="8243888" cy="725488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b="1" dirty="0">
                <a:solidFill>
                  <a:schemeClr val="accent1"/>
                </a:solidFill>
              </a:rPr>
              <a:t>Съдържание</a:t>
            </a:r>
            <a:r>
              <a:rPr lang="bg-BG" altLang="bg-BG" sz="3200" dirty="0"/>
              <a:t>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268760"/>
            <a:ext cx="8424936" cy="4104233"/>
          </a:xfrm>
        </p:spPr>
        <p:txBody>
          <a:bodyPr/>
          <a:lstStyle/>
          <a:p>
            <a:pPr marL="990600" lvl="1" indent="-533400">
              <a:buFontTx/>
              <a:buAutoNum type="arabicPeriod"/>
            </a:pPr>
            <a:r>
              <a:rPr lang="bg-BG" altLang="bg-BG" sz="2400" dirty="0" smtClean="0">
                <a:solidFill>
                  <a:schemeClr val="tx1"/>
                </a:solidFill>
              </a:rPr>
              <a:t>Релационни </a:t>
            </a:r>
            <a:r>
              <a:rPr lang="bg-BG" altLang="bg-BG" sz="2400" dirty="0">
                <a:solidFill>
                  <a:schemeClr val="tx1"/>
                </a:solidFill>
              </a:rPr>
              <a:t>операции</a:t>
            </a:r>
            <a:r>
              <a:rPr lang="bg-BG" altLang="bg-BG" sz="2400" dirty="0" smtClean="0">
                <a:solidFill>
                  <a:schemeClr val="tx1"/>
                </a:solidFill>
              </a:rPr>
              <a:t>.</a:t>
            </a:r>
          </a:p>
          <a:p>
            <a:pPr marL="990600" lvl="1" indent="-533400">
              <a:buFontTx/>
              <a:buAutoNum type="arabicPeriod"/>
            </a:pPr>
            <a:r>
              <a:rPr lang="bg-BG" altLang="bg-BG" sz="2400" dirty="0" smtClean="0">
                <a:solidFill>
                  <a:schemeClr val="tx1"/>
                </a:solidFill>
              </a:rPr>
              <a:t>Релационна алгебра.</a:t>
            </a:r>
            <a:endParaRPr lang="bg-BG" altLang="bg-BG" sz="2400" dirty="0">
              <a:solidFill>
                <a:schemeClr val="tx1"/>
              </a:solidFill>
            </a:endParaRPr>
          </a:p>
          <a:p>
            <a:pPr marL="990600" lvl="1" indent="-533400">
              <a:buFontTx/>
              <a:buAutoNum type="arabicPeriod"/>
            </a:pPr>
            <a:r>
              <a:rPr lang="bg-BG" altLang="bg-BG" sz="2400" dirty="0">
                <a:solidFill>
                  <a:schemeClr val="tx1"/>
                </a:solidFill>
              </a:rPr>
              <a:t>Кога СУБД е наистина релационна?</a:t>
            </a:r>
          </a:p>
          <a:p>
            <a:pPr marL="990600" lvl="1" indent="-533400">
              <a:buFontTx/>
              <a:buNone/>
            </a:pPr>
            <a:endParaRPr lang="bg-BG" altLang="bg-BG" sz="2400" dirty="0">
              <a:solidFill>
                <a:schemeClr val="tx1"/>
              </a:solidFill>
            </a:endParaRPr>
          </a:p>
          <a:p>
            <a:pPr marL="990600" lvl="1" indent="-533400">
              <a:buFontTx/>
              <a:buNone/>
            </a:pPr>
            <a:r>
              <a:rPr lang="bg-BG" altLang="bg-BG" sz="2400" dirty="0">
                <a:solidFill>
                  <a:schemeClr val="tx1"/>
                </a:solidFill>
              </a:rPr>
              <a:t>Трябва да са усвоени:</a:t>
            </a:r>
          </a:p>
          <a:p>
            <a:pPr marL="990600" lvl="1" indent="-533400">
              <a:buFontTx/>
              <a:buNone/>
            </a:pPr>
            <a:r>
              <a:rPr lang="bg-BG" altLang="bg-BG" sz="2400" dirty="0">
                <a:solidFill>
                  <a:srgbClr val="C00000"/>
                </a:solidFill>
              </a:rPr>
              <a:t>Модул 1: </a:t>
            </a:r>
            <a:r>
              <a:rPr lang="bg-BG" altLang="bg-BG" sz="2400" dirty="0">
                <a:solidFill>
                  <a:schemeClr val="tx1"/>
                </a:solidFill>
              </a:rPr>
              <a:t>Организиране на данни и информация. Файлове и бази от данни</a:t>
            </a:r>
          </a:p>
          <a:p>
            <a:pPr marL="990600" lvl="1" indent="-533400">
              <a:buFontTx/>
              <a:buNone/>
            </a:pPr>
            <a:r>
              <a:rPr lang="bg-BG" altLang="bg-BG" sz="2400" dirty="0">
                <a:solidFill>
                  <a:srgbClr val="C00000"/>
                </a:solidFill>
              </a:rPr>
              <a:t>Модул 2: </a:t>
            </a:r>
            <a:r>
              <a:rPr lang="bg-BG" altLang="bg-BG" sz="2400" dirty="0">
                <a:solidFill>
                  <a:schemeClr val="tx1"/>
                </a:solidFill>
              </a:rPr>
              <a:t>Моделиране на данните. Архитектура на СУБД.</a:t>
            </a:r>
          </a:p>
          <a:p>
            <a:pPr marL="990600" lvl="1" indent="-533400">
              <a:buFontTx/>
              <a:buNone/>
            </a:pPr>
            <a:endParaRPr lang="bg-BG" altLang="bg-BG" sz="24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6FD44-778E-4C82-AF8A-EC3F9BC0005E}" type="slidenum">
              <a:rPr lang="bg-BG" altLang="bg-BG"/>
              <a:pPr/>
              <a:t>2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476672"/>
            <a:ext cx="8243887" cy="1012949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Преговор - основни понятия на релационния </a:t>
            </a:r>
            <a:r>
              <a:rPr lang="bg-BG" altLang="bg-BG" sz="3200" dirty="0">
                <a:solidFill>
                  <a:schemeClr val="accent1"/>
                </a:solidFill>
              </a:rPr>
              <a:t>модел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412776"/>
            <a:ext cx="8229600" cy="331236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bg-BG" altLang="bg-BG" dirty="0">
                <a:solidFill>
                  <a:schemeClr val="tx1"/>
                </a:solidFill>
              </a:rPr>
              <a:t>Създаден от Код </a:t>
            </a:r>
            <a:r>
              <a:rPr lang="bg-BG" altLang="bg-BG" dirty="0" smtClean="0">
                <a:solidFill>
                  <a:schemeClr val="tx1"/>
                </a:solidFill>
              </a:rPr>
              <a:t>(</a:t>
            </a:r>
            <a:r>
              <a:rPr lang="en-US" altLang="bg-BG" dirty="0" smtClean="0">
                <a:solidFill>
                  <a:schemeClr val="tx1"/>
                </a:solidFill>
              </a:rPr>
              <a:t>IBM Research </a:t>
            </a:r>
            <a:r>
              <a:rPr lang="bg-BG" altLang="bg-BG" dirty="0" smtClean="0">
                <a:solidFill>
                  <a:schemeClr val="tx1"/>
                </a:solidFill>
              </a:rPr>
              <a:t>)1970 </a:t>
            </a:r>
            <a:r>
              <a:rPr lang="bg-BG" altLang="bg-BG" dirty="0">
                <a:solidFill>
                  <a:schemeClr val="tx1"/>
                </a:solidFill>
              </a:rPr>
              <a:t>г</a:t>
            </a:r>
            <a:r>
              <a:rPr lang="bg-BG" altLang="bg-BG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bg-BG" altLang="bg-BG" dirty="0" smtClean="0">
                <a:solidFill>
                  <a:schemeClr val="tx1"/>
                </a:solidFill>
              </a:rPr>
              <a:t>Основна идея:</a:t>
            </a:r>
            <a:endParaRPr lang="bg-BG" altLang="bg-BG" dirty="0">
              <a:solidFill>
                <a:schemeClr val="tx1"/>
              </a:solidFill>
            </a:endParaRPr>
          </a:p>
          <a:p>
            <a:pPr lvl="1"/>
            <a:r>
              <a:rPr lang="bg-BG" altLang="bg-BG" sz="2000" dirty="0" smtClean="0"/>
              <a:t>релация </a:t>
            </a:r>
            <a:r>
              <a:rPr lang="bg-BG" altLang="bg-BG" sz="2000" dirty="0"/>
              <a:t>(</a:t>
            </a:r>
            <a:r>
              <a:rPr lang="bg-BG" altLang="bg-BG" sz="2000" dirty="0" smtClean="0"/>
              <a:t>таблица) </a:t>
            </a:r>
            <a:r>
              <a:rPr lang="bg-BG" altLang="bg-BG" sz="2000" dirty="0"/>
              <a:t>- </a:t>
            </a:r>
            <a:r>
              <a:rPr lang="bg-BG" altLang="bg-BG" sz="2000" dirty="0" smtClean="0"/>
              <a:t>главна </a:t>
            </a:r>
            <a:r>
              <a:rPr lang="bg-BG" altLang="bg-BG" sz="2000" dirty="0"/>
              <a:t>структура за моделиране на </a:t>
            </a:r>
            <a:r>
              <a:rPr lang="bg-BG" altLang="bg-BG" sz="2000" dirty="0" smtClean="0"/>
              <a:t>данните;</a:t>
            </a:r>
            <a:endParaRPr lang="bg-BG" altLang="bg-BG" sz="2000" dirty="0"/>
          </a:p>
          <a:p>
            <a:pPr lvl="1"/>
            <a:r>
              <a:rPr lang="bg-BG" altLang="bg-BG" sz="2000" dirty="0" smtClean="0"/>
              <a:t>релация </a:t>
            </a:r>
            <a:r>
              <a:rPr lang="bg-BG" altLang="bg-BG" sz="2000" dirty="0"/>
              <a:t>- математическо понятие, което използува теорията на множествата и предикатна логика от първи ред;</a:t>
            </a:r>
          </a:p>
          <a:p>
            <a:pPr lvl="1"/>
            <a:r>
              <a:rPr lang="bg-BG" altLang="bg-BG" sz="2000" dirty="0"/>
              <a:t>базата от данни се представя като множество от </a:t>
            </a:r>
            <a:r>
              <a:rPr lang="bg-BG" altLang="bg-BG" sz="2000" dirty="0" smtClean="0"/>
              <a:t>релации.</a:t>
            </a:r>
            <a:endParaRPr lang="bg-BG" altLang="bg-BG" sz="26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10E3-E371-4B75-97A4-2D4CC0DBFF2B}" type="slidenum">
              <a:rPr lang="bg-BG" altLang="bg-BG"/>
              <a:pPr/>
              <a:t>3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683568" y="404664"/>
            <a:ext cx="8243887" cy="936104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Преговор </a:t>
            </a:r>
            <a:r>
              <a:rPr lang="bg-BG" altLang="bg-BG" sz="3200" dirty="0">
                <a:solidFill>
                  <a:schemeClr val="accent1"/>
                </a:solidFill>
              </a:rPr>
              <a:t>- основни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 понятия на </a:t>
            </a:r>
            <a:r>
              <a:rPr lang="bg-BG" altLang="bg-BG" sz="3200" dirty="0">
                <a:solidFill>
                  <a:schemeClr val="accent1"/>
                </a:solidFill>
              </a:rPr>
              <a:t>релационния модел</a:t>
            </a:r>
          </a:p>
        </p:txBody>
      </p:sp>
      <p:pic>
        <p:nvPicPr>
          <p:cNvPr id="184327" name="Picture 7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916832"/>
            <a:ext cx="8229600" cy="2151063"/>
          </a:xfrm>
          <a:noFill/>
          <a:ln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4326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323528" y="4077072"/>
            <a:ext cx="8229600" cy="720080"/>
          </a:xfrm>
        </p:spPr>
        <p:txBody>
          <a:bodyPr/>
          <a:lstStyle/>
          <a:p>
            <a:pPr algn="ctr"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Пример</a:t>
            </a:r>
            <a:endParaRPr lang="bg-BG" altLang="bg-BG" sz="2800" dirty="0">
              <a:solidFill>
                <a:srgbClr val="C00000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C57EC-658D-445F-9365-31BD1763B809}" type="slidenum">
              <a:rPr lang="bg-BG" altLang="bg-BG"/>
              <a:pPr/>
              <a:t>4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8243887" cy="1012503"/>
          </a:xfrm>
        </p:spPr>
        <p:txBody>
          <a:bodyPr>
            <a:normAutofit fontScale="90000"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Преговор -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основни </a:t>
            </a:r>
            <a:r>
              <a:rPr lang="bg-BG" altLang="bg-BG" sz="3200" dirty="0">
                <a:solidFill>
                  <a:schemeClr val="accent1"/>
                </a:solidFill>
              </a:rPr>
              <a:t>понятия на релационния модел </a:t>
            </a:r>
          </a:p>
        </p:txBody>
      </p:sp>
      <p:graphicFrame>
        <p:nvGraphicFramePr>
          <p:cNvPr id="54308" name="Group 36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68468008"/>
              </p:ext>
            </p:extLst>
          </p:nvPr>
        </p:nvGraphicFramePr>
        <p:xfrm>
          <a:off x="539552" y="2060848"/>
          <a:ext cx="8229600" cy="266452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05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bg-BG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Неформална терминология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bg-BG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Релационна терминология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175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bg-BG" altLang="bg-BG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Таблица или файл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bg-BG" altLang="bg-BG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Ред или запис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bg-BG" altLang="bg-BG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Име или колона на запис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bg-BG" altLang="bg-BG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bg-BG" altLang="bg-BG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Релация или отношение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bg-BG" altLang="bg-BG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Кортеж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bg-BG" altLang="bg-BG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Атрибут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bg-BG" altLang="bg-BG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68C3A-52E3-4838-AB8A-AC3CCACAD05B}" type="slidenum">
              <a:rPr lang="bg-BG" altLang="bg-BG"/>
              <a:pPr/>
              <a:t>5</a:t>
            </a:fld>
            <a:endParaRPr lang="bg-BG" altLang="bg-BG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600201"/>
            <a:ext cx="8424936" cy="2980927"/>
          </a:xfrm>
        </p:spPr>
        <p:txBody>
          <a:bodyPr/>
          <a:lstStyle/>
          <a:p>
            <a:pPr marL="609600" indent="-609600">
              <a:spcBef>
                <a:spcPct val="0"/>
              </a:spcBef>
              <a:buFontTx/>
              <a:buAutoNum type="arabicPeriod" startAt="3"/>
            </a:pPr>
            <a:endParaRPr lang="bg-BG" altLang="bg-BG" sz="2800" dirty="0"/>
          </a:p>
          <a:p>
            <a:pPr marL="609600" indent="-609600">
              <a:buFontTx/>
              <a:buNone/>
            </a:pPr>
            <a:endParaRPr lang="bg-BG" altLang="bg-BG" sz="2800" dirty="0"/>
          </a:p>
          <a:p>
            <a:pPr marL="609600" indent="-609600">
              <a:buFontTx/>
              <a:buAutoNum type="arabicPeriod"/>
            </a:pPr>
            <a:endParaRPr lang="bg-BG" altLang="bg-BG" sz="2800" dirty="0"/>
          </a:p>
          <a:p>
            <a:pPr marL="609600" indent="-609600">
              <a:buFontTx/>
              <a:buAutoNum type="arabicPeriod"/>
            </a:pPr>
            <a:endParaRPr lang="bg-BG" altLang="bg-BG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8243887" cy="652462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Преговор - р</a:t>
            </a:r>
            <a:r>
              <a:rPr lang="bg-BG" altLang="bg-BG" sz="3200" dirty="0" smtClean="0">
                <a:solidFill>
                  <a:schemeClr val="accent1"/>
                </a:solidFill>
              </a:rPr>
              <a:t>елационни </a:t>
            </a:r>
            <a:r>
              <a:rPr lang="bg-BG" altLang="bg-BG" sz="3200" dirty="0">
                <a:solidFill>
                  <a:schemeClr val="accent1"/>
                </a:solidFill>
              </a:rPr>
              <a:t>ограничения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980729"/>
            <a:ext cx="8229600" cy="4752528"/>
          </a:xfrm>
        </p:spPr>
        <p:txBody>
          <a:bodyPr>
            <a:normAutofit/>
          </a:bodyPr>
          <a:lstStyle/>
          <a:p>
            <a:pPr marL="533400" indent="-533400">
              <a:lnSpc>
                <a:spcPct val="80000"/>
              </a:lnSpc>
              <a:spcBef>
                <a:spcPts val="600"/>
              </a:spcBef>
              <a:buFont typeface="Arial" charset="0"/>
              <a:buAutoNum type="arabicPeriod"/>
            </a:pPr>
            <a:r>
              <a:rPr lang="bg-BG" altLang="bg-BG" dirty="0"/>
              <a:t>Ограниченията са условия, които са в сила каквито и данни да съдържа отношението (валидни са за всяко състояние).</a:t>
            </a:r>
            <a:endParaRPr lang="en-US" altLang="bg-BG" dirty="0"/>
          </a:p>
          <a:p>
            <a:pPr marL="533400" indent="-533400">
              <a:lnSpc>
                <a:spcPct val="80000"/>
              </a:lnSpc>
              <a:spcBef>
                <a:spcPts val="600"/>
              </a:spcBef>
              <a:buFont typeface="Arial" charset="0"/>
              <a:buAutoNum type="arabicPeriod"/>
            </a:pPr>
            <a:endParaRPr lang="bg-BG" altLang="bg-BG" dirty="0" smtClean="0"/>
          </a:p>
          <a:p>
            <a:pPr marL="533400" indent="-533400">
              <a:lnSpc>
                <a:spcPct val="80000"/>
              </a:lnSpc>
              <a:spcBef>
                <a:spcPts val="600"/>
              </a:spcBef>
              <a:buFont typeface="Arial" charset="0"/>
              <a:buAutoNum type="arabicPeriod"/>
            </a:pPr>
            <a:r>
              <a:rPr lang="bg-BG" altLang="bg-BG" dirty="0" smtClean="0"/>
              <a:t>На </a:t>
            </a:r>
            <a:r>
              <a:rPr lang="bg-BG" altLang="bg-BG" dirty="0"/>
              <a:t>релационния модел са присъщи </a:t>
            </a:r>
            <a:r>
              <a:rPr lang="bg-BG" altLang="bg-BG" dirty="0">
                <a:solidFill>
                  <a:srgbClr val="C00000"/>
                </a:solidFill>
              </a:rPr>
              <a:t>(вградени в него)</a:t>
            </a:r>
            <a:r>
              <a:rPr lang="bg-BG" altLang="bg-BG" dirty="0"/>
              <a:t> няколко основни типа ограничения:</a:t>
            </a:r>
            <a:endParaRPr lang="en-US" altLang="bg-BG" dirty="0"/>
          </a:p>
          <a:p>
            <a:pPr marL="1257300" lvl="2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о</a:t>
            </a:r>
            <a:r>
              <a:rPr lang="bg-BG" altLang="bg-BG" sz="2400" dirty="0" smtClean="0"/>
              <a:t>граничения </a:t>
            </a:r>
            <a:r>
              <a:rPr lang="bg-BG" altLang="bg-BG" sz="2400" dirty="0"/>
              <a:t>върху ключа (</a:t>
            </a:r>
            <a:r>
              <a:rPr lang="en-US" altLang="bg-BG" sz="2400" dirty="0"/>
              <a:t>key constraints</a:t>
            </a:r>
            <a:r>
              <a:rPr lang="en-US" altLang="bg-BG" sz="2400" dirty="0" smtClean="0"/>
              <a:t>)</a:t>
            </a:r>
            <a:r>
              <a:rPr lang="bg-BG" altLang="bg-BG" sz="2400" dirty="0" smtClean="0"/>
              <a:t>;</a:t>
            </a:r>
            <a:endParaRPr lang="en-US" altLang="bg-BG" sz="2400" dirty="0"/>
          </a:p>
          <a:p>
            <a:pPr marL="1257300" lvl="2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о</a:t>
            </a:r>
            <a:r>
              <a:rPr lang="bg-BG" altLang="bg-BG" sz="2400" dirty="0" smtClean="0"/>
              <a:t>граничения </a:t>
            </a:r>
            <a:r>
              <a:rPr lang="bg-BG" altLang="bg-BG" sz="2400" dirty="0"/>
              <a:t>за цялостност на обекта (</a:t>
            </a:r>
            <a:r>
              <a:rPr lang="en-US" altLang="bg-BG" sz="2400" dirty="0"/>
              <a:t>entity integrity constraints</a:t>
            </a:r>
            <a:r>
              <a:rPr lang="bg-BG" altLang="bg-BG" sz="2400" dirty="0" smtClean="0"/>
              <a:t>);</a:t>
            </a:r>
            <a:endParaRPr lang="en-US" altLang="bg-BG" sz="2400" dirty="0"/>
          </a:p>
          <a:p>
            <a:pPr marL="1257300" lvl="2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о</a:t>
            </a:r>
            <a:r>
              <a:rPr lang="bg-BG" altLang="bg-BG" sz="2400" dirty="0" smtClean="0"/>
              <a:t>граничения </a:t>
            </a:r>
            <a:r>
              <a:rPr lang="bg-BG" altLang="bg-BG" sz="2400" dirty="0"/>
              <a:t>за цялостност на връзките (</a:t>
            </a:r>
            <a:r>
              <a:rPr lang="en-US" altLang="bg-BG" sz="2400" dirty="0"/>
              <a:t>Referential integrity constraints</a:t>
            </a:r>
            <a:r>
              <a:rPr lang="bg-BG" altLang="bg-BG" sz="2400" dirty="0" smtClean="0"/>
              <a:t>);</a:t>
            </a:r>
            <a:endParaRPr lang="bg-BG" altLang="bg-BG" sz="2400" dirty="0"/>
          </a:p>
          <a:p>
            <a:pPr marL="1257300" lvl="2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о</a:t>
            </a:r>
            <a:r>
              <a:rPr lang="bg-BG" altLang="bg-BG" sz="2400" dirty="0" smtClean="0"/>
              <a:t>граничения </a:t>
            </a:r>
            <a:r>
              <a:rPr lang="bg-BG" altLang="bg-BG" sz="2400" dirty="0"/>
              <a:t>върху домейните.</a:t>
            </a:r>
            <a:endParaRPr lang="en-US" altLang="bg-BG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2232-D018-4CEA-AB67-0A505DE4B58E}" type="slidenum">
              <a:rPr lang="bg-BG" altLang="bg-BG"/>
              <a:pPr/>
              <a:t>6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243887" cy="581025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Релационни ограничения</a:t>
            </a:r>
          </a:p>
        </p:txBody>
      </p:sp>
      <p:sp>
        <p:nvSpPr>
          <p:cNvPr id="141320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468313" y="5517232"/>
            <a:ext cx="8229600" cy="648618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90000"/>
              </a:lnSpc>
              <a:buFontTx/>
              <a:buNone/>
            </a:pPr>
            <a:endParaRPr lang="bg-BG" altLang="bg-BG" sz="2400" dirty="0"/>
          </a:p>
          <a:p>
            <a:pPr algn="ctr">
              <a:lnSpc>
                <a:spcPct val="90000"/>
              </a:lnSpc>
              <a:buFontTx/>
              <a:buNone/>
            </a:pPr>
            <a:r>
              <a:rPr lang="bg-BG" altLang="bg-BG" sz="3100" dirty="0">
                <a:solidFill>
                  <a:srgbClr val="C00000"/>
                </a:solidFill>
              </a:rPr>
              <a:t>Пример: база от данни “Предприятие”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4C0F-FC35-4037-B464-1A281C3893D5}" type="slidenum">
              <a:rPr lang="bg-BG" altLang="bg-BG"/>
              <a:pPr/>
              <a:t>7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59632" y="914400"/>
            <a:ext cx="6768752" cy="4817399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2656"/>
            <a:ext cx="8243887" cy="581744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операции - преговор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052736"/>
            <a:ext cx="8229600" cy="4859338"/>
          </a:xfrm>
        </p:spPr>
        <p:txBody>
          <a:bodyPr>
            <a:normAutofit/>
          </a:bodyPr>
          <a:lstStyle/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Операции за обновяване на </a:t>
            </a:r>
            <a:r>
              <a:rPr lang="bg-BG" altLang="bg-BG" sz="2800" dirty="0" smtClean="0"/>
              <a:t>базата.</a:t>
            </a:r>
            <a:endParaRPr lang="bg-BG" altLang="bg-BG" sz="28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Операции за извличане на </a:t>
            </a:r>
            <a:r>
              <a:rPr lang="bg-BG" altLang="bg-BG" sz="2800" dirty="0" smtClean="0"/>
              <a:t>данни.</a:t>
            </a:r>
            <a:endParaRPr lang="bg-BG" altLang="bg-BG" sz="2800" dirty="0"/>
          </a:p>
          <a:p>
            <a:pPr marL="990600" lvl="1" indent="-533400">
              <a:lnSpc>
                <a:spcPct val="90000"/>
              </a:lnSpc>
              <a:buFontTx/>
              <a:buChar char="•"/>
            </a:pPr>
            <a:r>
              <a:rPr lang="bg-BG" altLang="bg-BG" sz="2400" dirty="0"/>
              <a:t>р</a:t>
            </a:r>
            <a:r>
              <a:rPr lang="bg-BG" altLang="bg-BG" sz="2400" dirty="0" smtClean="0"/>
              <a:t>елационна алгебра;</a:t>
            </a:r>
            <a:endParaRPr lang="bg-BG" altLang="bg-BG" sz="2400" dirty="0"/>
          </a:p>
          <a:p>
            <a:pPr marL="990600" lvl="1" indent="-533400">
              <a:lnSpc>
                <a:spcPct val="90000"/>
              </a:lnSpc>
              <a:buFontTx/>
              <a:buChar char="•"/>
            </a:pPr>
            <a:r>
              <a:rPr lang="bg-BG" altLang="bg-BG" sz="2400" dirty="0"/>
              <a:t>р</a:t>
            </a:r>
            <a:r>
              <a:rPr lang="bg-BG" altLang="bg-BG" sz="2400" dirty="0" smtClean="0"/>
              <a:t>елационно смятане.</a:t>
            </a:r>
            <a:endParaRPr lang="bg-BG" altLang="bg-BG" sz="2400" dirty="0"/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bg-BG" altLang="bg-BG" sz="2800" dirty="0"/>
              <a:t>Трудни за използване</a:t>
            </a:r>
            <a:r>
              <a:rPr lang="bg-BG" altLang="bg-BG" sz="2800" dirty="0" smtClean="0"/>
              <a:t>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bg-BG" altLang="bg-BG" sz="900" dirty="0" smtClean="0"/>
              <a:t>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bg-BG" altLang="bg-BG" sz="2800" dirty="0" smtClean="0"/>
              <a:t>Затова </a:t>
            </a:r>
            <a:r>
              <a:rPr lang="bg-BG" altLang="bg-BG" sz="2800" dirty="0"/>
              <a:t>се разработват</a:t>
            </a:r>
            <a:r>
              <a:rPr lang="bg-BG" altLang="bg-BG" sz="2800" dirty="0" smtClean="0"/>
              <a:t>:</a:t>
            </a:r>
            <a:endParaRPr lang="bg-BG" altLang="bg-BG" sz="28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Езици, ориентирани към трансформация  - </a:t>
            </a:r>
            <a:r>
              <a:rPr lang="en-US" altLang="bg-BG" sz="2800" dirty="0" smtClean="0"/>
              <a:t>SQL</a:t>
            </a:r>
            <a:r>
              <a:rPr lang="bg-BG" altLang="bg-BG" sz="2800" dirty="0" smtClean="0"/>
              <a:t>.</a:t>
            </a:r>
            <a:endParaRPr lang="bg-BG" altLang="bg-BG" sz="28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Графични езици – </a:t>
            </a:r>
            <a:r>
              <a:rPr lang="en-US" altLang="bg-BG" sz="2800" dirty="0" smtClean="0"/>
              <a:t>QBE</a:t>
            </a:r>
            <a:r>
              <a:rPr lang="bg-BG" altLang="bg-BG" sz="2800" dirty="0" smtClean="0"/>
              <a:t>.</a:t>
            </a:r>
            <a:endParaRPr lang="bg-BG" altLang="bg-BG" sz="28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bg-BG" altLang="bg-BG" sz="800" dirty="0"/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bg-BG" altLang="bg-BG" sz="2800" dirty="0"/>
              <a:t>Релационната алгебра определя възможните операции над базата.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C9759-93D5-4FBC-B9A3-B62E04CABB5B}" type="slidenum">
              <a:rPr lang="bg-BG" altLang="bg-BG"/>
              <a:pPr/>
              <a:t>8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664"/>
            <a:ext cx="8243887" cy="508149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026488"/>
            <a:ext cx="8229600" cy="4859338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</a:pPr>
            <a:r>
              <a:rPr lang="bg-BG" altLang="bg-BG" sz="2400" dirty="0"/>
              <a:t>Предоставя основното множество от операции за релационния модел. </a:t>
            </a:r>
            <a:endParaRPr lang="bg-BG" altLang="bg-BG" sz="2400" dirty="0" smtClean="0"/>
          </a:p>
          <a:p>
            <a:pPr marL="457200" indent="-4572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</a:pPr>
            <a:r>
              <a:rPr lang="bg-BG" altLang="bg-BG" sz="2400" dirty="0" smtClean="0"/>
              <a:t>Операциите </a:t>
            </a:r>
            <a:r>
              <a:rPr lang="bg-BG" altLang="bg-BG" sz="2400" dirty="0"/>
              <a:t>на релационната алгебра се използват при намирането на оптимална стратегия за изпълнение на </a:t>
            </a:r>
            <a:r>
              <a:rPr lang="en-US" altLang="bg-BG" sz="2400" dirty="0"/>
              <a:t>SQL</a:t>
            </a:r>
            <a:r>
              <a:rPr lang="bg-BG" altLang="bg-BG" sz="2400" dirty="0"/>
              <a:t> </a:t>
            </a:r>
            <a:r>
              <a:rPr lang="bg-BG" altLang="bg-BG" sz="2400" dirty="0" smtClean="0"/>
              <a:t>заявки </a:t>
            </a:r>
            <a:r>
              <a:rPr lang="bg-BG" altLang="bg-BG" sz="2400" dirty="0"/>
              <a:t>към базата. 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</a:pPr>
            <a:r>
              <a:rPr lang="bg-BG" altLang="bg-BG" sz="2400" dirty="0"/>
              <a:t>Вход на операция от релационната алгебра са </a:t>
            </a:r>
            <a:r>
              <a:rPr lang="bg-BG" altLang="bg-BG" sz="2400" dirty="0" smtClean="0"/>
              <a:t>едно </a:t>
            </a:r>
            <a:r>
              <a:rPr lang="bg-BG" altLang="bg-BG" sz="2400" dirty="0"/>
              <a:t>или няколко </a:t>
            </a:r>
            <a:r>
              <a:rPr lang="bg-BG" altLang="bg-BG" sz="2400" dirty="0" smtClean="0"/>
              <a:t>отношения.</a:t>
            </a:r>
            <a:r>
              <a:rPr lang="en-US" altLang="bg-BG" sz="2400" dirty="0" smtClean="0"/>
              <a:t> </a:t>
            </a:r>
            <a:r>
              <a:rPr lang="bg-BG" altLang="bg-BG" sz="2400" dirty="0" smtClean="0"/>
              <a:t> </a:t>
            </a:r>
            <a:endParaRPr lang="bg-BG" altLang="bg-BG" sz="2400" dirty="0"/>
          </a:p>
          <a:p>
            <a:pPr marL="457200" indent="-4572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</a:pPr>
            <a:r>
              <a:rPr lang="bg-BG" altLang="bg-BG" sz="2400" dirty="0"/>
              <a:t>Операциите се използват за </a:t>
            </a:r>
            <a:r>
              <a:rPr lang="bg-BG" altLang="bg-BG" sz="2400" dirty="0">
                <a:solidFill>
                  <a:srgbClr val="C00000"/>
                </a:solidFill>
              </a:rPr>
              <a:t>извличане</a:t>
            </a:r>
            <a:r>
              <a:rPr lang="bg-BG" altLang="bg-BG" sz="2400" dirty="0"/>
              <a:t> на </a:t>
            </a:r>
            <a:r>
              <a:rPr lang="bg-BG" altLang="bg-BG" sz="2400" dirty="0" smtClean="0"/>
              <a:t>данни (формулиране на </a:t>
            </a:r>
            <a:r>
              <a:rPr lang="bg-BG" altLang="bg-BG" sz="2400" dirty="0" smtClean="0">
                <a:solidFill>
                  <a:srgbClr val="C00000"/>
                </a:solidFill>
              </a:rPr>
              <a:t>заявки</a:t>
            </a:r>
            <a:r>
              <a:rPr lang="bg-BG" altLang="bg-BG" sz="2400" dirty="0" smtClean="0"/>
              <a:t> към базата).</a:t>
            </a:r>
            <a:endParaRPr lang="bg-BG" altLang="bg-BG" sz="2400" dirty="0"/>
          </a:p>
          <a:p>
            <a:pPr marL="457200" indent="-4572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</a:pPr>
            <a:r>
              <a:rPr lang="bg-BG" altLang="bg-BG" sz="2400" dirty="0"/>
              <a:t>Резултатът от всяка операция е ново </a:t>
            </a:r>
            <a:r>
              <a:rPr lang="bg-BG" altLang="bg-BG" sz="2400" dirty="0">
                <a:solidFill>
                  <a:srgbClr val="C00000"/>
                </a:solidFill>
              </a:rPr>
              <a:t>отношение</a:t>
            </a:r>
            <a:r>
              <a:rPr lang="bg-BG" altLang="bg-BG" sz="2400" dirty="0"/>
              <a:t> -  казва се, че алгебрата е “</a:t>
            </a:r>
            <a:r>
              <a:rPr lang="bg-BG" altLang="bg-BG" sz="2400" dirty="0">
                <a:solidFill>
                  <a:srgbClr val="C00000"/>
                </a:solidFill>
              </a:rPr>
              <a:t>затворена</a:t>
            </a:r>
            <a:r>
              <a:rPr lang="bg-BG" altLang="bg-BG" sz="2400" dirty="0" smtClean="0"/>
              <a:t>”, </a:t>
            </a:r>
            <a:r>
              <a:rPr lang="bg-BG" altLang="bg-BG" sz="2400" dirty="0"/>
              <a:t>т.е. всички обекти</a:t>
            </a:r>
            <a:r>
              <a:rPr lang="bg-BG" altLang="bg-BG" sz="2400" dirty="0" smtClean="0"/>
              <a:t>, получени </a:t>
            </a:r>
            <a:r>
              <a:rPr lang="bg-BG" altLang="bg-BG" sz="2400" dirty="0"/>
              <a:t>в резултат от някоя операция са отношения. 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</a:pPr>
            <a:r>
              <a:rPr lang="bg-BG" altLang="bg-BG" sz="2400" dirty="0"/>
              <a:t>За изпълнението на една заявка са необходими няколко операции – съвкупността от операции образуват израз на релационната алгебра</a:t>
            </a:r>
            <a:r>
              <a:rPr lang="bg-BG" altLang="bg-BG" dirty="0"/>
              <a:t>. </a:t>
            </a:r>
            <a:endParaRPr lang="bg-BG" altLang="bg-BG" dirty="0" smtClean="0"/>
          </a:p>
          <a:p>
            <a:pPr marL="457200" indent="-4572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</a:pPr>
            <a:r>
              <a:rPr lang="bg-BG" altLang="bg-BG" dirty="0" smtClean="0"/>
              <a:t>Представлява </a:t>
            </a:r>
            <a:r>
              <a:rPr lang="bg-BG" altLang="bg-BG" dirty="0"/>
              <a:t>процедурен език.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</a:pPr>
            <a:endParaRPr lang="bg-BG" altLang="bg-BG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EFE2A-12F2-447A-ADD8-56A4D8518B7E}" type="slidenum">
              <a:rPr lang="bg-BG" altLang="bg-BG"/>
              <a:pPr/>
              <a:t>9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664"/>
            <a:ext cx="8243887" cy="508149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EFE2A-12F2-447A-ADD8-56A4D8518B7E}" type="slidenum">
              <a:rPr lang="bg-BG" altLang="bg-BG"/>
              <a:pPr/>
              <a:t>10</a:t>
            </a:fld>
            <a:endParaRPr lang="bg-BG" altLang="bg-BG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999" y="1068896"/>
            <a:ext cx="7731323" cy="4341034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6911029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43887" cy="58072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  <a:r>
              <a:rPr lang="bg-BG" altLang="bg-BG" sz="3200" dirty="0"/>
              <a:t> 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908720"/>
            <a:ext cx="8496944" cy="50038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bg-BG" altLang="bg-BG" sz="2400" dirty="0"/>
              <a:t>Код предлага осем операции, разделени на две групи</a:t>
            </a:r>
            <a:r>
              <a:rPr lang="bg-BG" altLang="bg-BG" sz="2400" dirty="0" smtClean="0"/>
              <a:t>:</a:t>
            </a:r>
          </a:p>
          <a:p>
            <a:pPr>
              <a:lnSpc>
                <a:spcPct val="80000"/>
              </a:lnSpc>
              <a:buFontTx/>
              <a:buNone/>
            </a:pPr>
            <a:endParaRPr lang="bg-BG" altLang="bg-BG" sz="800" dirty="0"/>
          </a:p>
          <a:p>
            <a:pPr>
              <a:lnSpc>
                <a:spcPct val="80000"/>
              </a:lnSpc>
              <a:buFontTx/>
              <a:buNone/>
            </a:pPr>
            <a:r>
              <a:rPr lang="bg-BG" altLang="bg-BG" sz="2400" dirty="0">
                <a:solidFill>
                  <a:srgbClr val="C00000"/>
                </a:solidFill>
              </a:rPr>
              <a:t>1.Множествени операции:</a:t>
            </a:r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обединение (union) – бележи се с </a:t>
            </a:r>
            <a:r>
              <a:rPr lang="bg-BG" altLang="bg-BG" sz="2400" dirty="0">
                <a:sym typeface="Symbol" pitchFamily="18" charset="2"/>
              </a:rPr>
              <a:t></a:t>
            </a:r>
            <a:r>
              <a:rPr lang="bg-BG" altLang="bg-BG" sz="2400" dirty="0"/>
              <a:t>;</a:t>
            </a:r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сечение (intersection) – бележи се с </a:t>
            </a:r>
            <a:r>
              <a:rPr lang="bg-BG" altLang="bg-BG" sz="2400" dirty="0">
                <a:sym typeface="Symbol" pitchFamily="18" charset="2"/>
              </a:rPr>
              <a:t></a:t>
            </a:r>
            <a:r>
              <a:rPr lang="bg-BG" altLang="bg-BG" sz="2400" dirty="0"/>
              <a:t> </a:t>
            </a:r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разлика (difference) – бележи се с </a:t>
            </a:r>
            <a:r>
              <a:rPr lang="bg-BG" altLang="bg-BG" sz="2400" dirty="0">
                <a:sym typeface="Symbol" pitchFamily="18" charset="2"/>
              </a:rPr>
              <a:t></a:t>
            </a:r>
            <a:endParaRPr lang="bg-BG" altLang="bg-BG" sz="2400" dirty="0"/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декартово произведение (Cartesian product) – бележи се с Х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bg-BG" altLang="bg-BG" sz="2400" dirty="0"/>
              <a:t>Приложими - всяко отношение е множество от кортежи. </a:t>
            </a:r>
            <a:endParaRPr lang="bg-BG" altLang="bg-BG" sz="2400" dirty="0" smtClean="0"/>
          </a:p>
          <a:p>
            <a:pPr>
              <a:lnSpc>
                <a:spcPct val="80000"/>
              </a:lnSpc>
              <a:buFontTx/>
              <a:buNone/>
            </a:pPr>
            <a:endParaRPr lang="bg-BG" altLang="bg-BG" sz="2400" dirty="0">
              <a:solidFill>
                <a:srgbClr val="C0000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bg-BG" altLang="bg-BG" sz="2400" dirty="0">
                <a:solidFill>
                  <a:srgbClr val="C00000"/>
                </a:solidFill>
              </a:rPr>
              <a:t>2.Релационни операции:</a:t>
            </a:r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селекция (select) – бележи се с </a:t>
            </a:r>
            <a:r>
              <a:rPr lang="bg-BG" altLang="bg-BG" sz="2400" dirty="0">
                <a:sym typeface="Symbol" pitchFamily="18" charset="2"/>
              </a:rPr>
              <a:t></a:t>
            </a:r>
            <a:endParaRPr lang="bg-BG" altLang="bg-BG" sz="2400" dirty="0"/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проекция (project) -  бележи се с </a:t>
            </a:r>
            <a:r>
              <a:rPr lang="bg-BG" altLang="bg-BG" sz="2400" dirty="0">
                <a:sym typeface="Symbol" pitchFamily="18" charset="2"/>
              </a:rPr>
              <a:t></a:t>
            </a:r>
            <a:endParaRPr lang="bg-BG" altLang="bg-BG" sz="2400" dirty="0"/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съединение (join) – бележи се с </a:t>
            </a:r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деление (division) – бележи се с </a:t>
            </a:r>
            <a:r>
              <a:rPr lang="bg-BG" altLang="bg-BG" sz="2400" dirty="0">
                <a:sym typeface="Symbol" pitchFamily="18" charset="2"/>
              </a:rPr>
              <a:t></a:t>
            </a:r>
            <a:endParaRPr lang="bg-BG" altLang="bg-BG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bg-BG" altLang="bg-BG" sz="2400" dirty="0">
                <a:solidFill>
                  <a:srgbClr val="C00000"/>
                </a:solidFill>
              </a:rPr>
              <a:t>Разработени </a:t>
            </a:r>
            <a:r>
              <a:rPr lang="bg-BG" altLang="bg-BG" sz="2400" dirty="0" smtClean="0">
                <a:solidFill>
                  <a:srgbClr val="C00000"/>
                </a:solidFill>
              </a:rPr>
              <a:t>са специално </a:t>
            </a:r>
            <a:r>
              <a:rPr lang="bg-BG" altLang="bg-BG" sz="2400" dirty="0">
                <a:solidFill>
                  <a:srgbClr val="C00000"/>
                </a:solidFill>
              </a:rPr>
              <a:t>за релационните бази от данни</a:t>
            </a:r>
            <a:r>
              <a:rPr lang="bg-BG" altLang="bg-BG" sz="2400" dirty="0" smtClean="0">
                <a:solidFill>
                  <a:srgbClr val="C00000"/>
                </a:solidFill>
              </a:rPr>
              <a:t>.</a:t>
            </a:r>
            <a:endParaRPr lang="bg-BG" altLang="bg-BG" sz="2400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DBEE-A29C-4FEC-91A9-A1B30BD348CB}" type="slidenum">
              <a:rPr lang="bg-BG" altLang="bg-BG"/>
              <a:pPr/>
              <a:t>11</a:t>
            </a:fld>
            <a:endParaRPr lang="bg-BG" altLang="bg-BG"/>
          </a:p>
        </p:txBody>
      </p:sp>
      <p:pic>
        <p:nvPicPr>
          <p:cNvPr id="176130" name="Picture 2"/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174" y="4819650"/>
            <a:ext cx="231775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404664"/>
            <a:ext cx="8243887" cy="508719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986542"/>
            <a:ext cx="8229600" cy="417065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bg-BG" altLang="bg-BG" sz="2800" u="sng" dirty="0">
                <a:solidFill>
                  <a:srgbClr val="C00000"/>
                </a:solidFill>
              </a:rPr>
              <a:t>Операция селекция </a:t>
            </a:r>
            <a:r>
              <a:rPr lang="bg-BG" altLang="bg-BG" sz="2800" u="sng" dirty="0" smtClean="0">
                <a:solidFill>
                  <a:srgbClr val="C00000"/>
                </a:solidFill>
                <a:sym typeface="Symbol" pitchFamily="18" charset="2"/>
              </a:rPr>
              <a:t></a:t>
            </a:r>
            <a:endParaRPr lang="en-US" altLang="bg-BG" sz="2800" u="sng" dirty="0" smtClean="0">
              <a:solidFill>
                <a:srgbClr val="C00000"/>
              </a:solidFill>
              <a:sym typeface="Symbol" pitchFamily="18" charset="2"/>
            </a:endParaRPr>
          </a:p>
          <a:p>
            <a:pPr algn="ctr">
              <a:lnSpc>
                <a:spcPct val="90000"/>
              </a:lnSpc>
              <a:buFontTx/>
              <a:buNone/>
            </a:pPr>
            <a:endParaRPr lang="bg-BG" altLang="bg-BG" sz="800" dirty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r>
              <a:rPr lang="bg-BG" altLang="bg-BG" sz="2400" dirty="0"/>
              <a:t>Служи за избор на подмножество от кортежи в дадена релация, които удовлетворяват предварително зададено </a:t>
            </a:r>
            <a:r>
              <a:rPr lang="bg-BG" altLang="bg-BG" sz="2400" u="sng" dirty="0">
                <a:solidFill>
                  <a:srgbClr val="C00000"/>
                </a:solidFill>
              </a:rPr>
              <a:t>условие</a:t>
            </a:r>
            <a:r>
              <a:rPr lang="bg-BG" altLang="bg-BG" sz="2400" dirty="0">
                <a:solidFill>
                  <a:srgbClr val="C00000"/>
                </a:solidFill>
              </a:rPr>
              <a:t> (критерий) за търсене</a:t>
            </a:r>
            <a:r>
              <a:rPr lang="bg-BG" altLang="bg-BG" sz="2400" dirty="0"/>
              <a:t>. </a:t>
            </a:r>
          </a:p>
          <a:p>
            <a:pPr>
              <a:lnSpc>
                <a:spcPct val="90000"/>
              </a:lnSpc>
            </a:pPr>
            <a:r>
              <a:rPr lang="bg-BG" altLang="bg-BG" sz="2400" dirty="0"/>
              <a:t>Действието на селекцията представлява по същество, </a:t>
            </a:r>
            <a:r>
              <a:rPr lang="bg-BG" altLang="bg-BG" sz="2400" dirty="0">
                <a:solidFill>
                  <a:srgbClr val="C00000"/>
                </a:solidFill>
              </a:rPr>
              <a:t>филтриране на кортежите </a:t>
            </a:r>
            <a:r>
              <a:rPr lang="bg-BG" altLang="bg-BG" sz="2400" dirty="0"/>
              <a:t>и извеждане само на онези от тях, които удовлетворяват зададеното условие.</a:t>
            </a:r>
          </a:p>
          <a:p>
            <a:pPr>
              <a:lnSpc>
                <a:spcPct val="90000"/>
              </a:lnSpc>
            </a:pPr>
            <a:r>
              <a:rPr lang="bg-BG" altLang="bg-BG" sz="2400" dirty="0"/>
              <a:t>Общ вид на операцията: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bg-BG" altLang="bg-BG" sz="2400" dirty="0"/>
              <a:t> 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B5549-066A-49C8-8113-1A6D53AC9621}" type="slidenum">
              <a:rPr lang="bg-BG" altLang="bg-BG"/>
              <a:pPr/>
              <a:t>12</a:t>
            </a:fld>
            <a:endParaRPr lang="bg-BG" altLang="bg-BG"/>
          </a:p>
        </p:txBody>
      </p:sp>
      <p:sp>
        <p:nvSpPr>
          <p:cNvPr id="14438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44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684756"/>
              </p:ext>
            </p:extLst>
          </p:nvPr>
        </p:nvGraphicFramePr>
        <p:xfrm>
          <a:off x="1662391" y="4581128"/>
          <a:ext cx="5819217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42" name="Equation" r:id="rId3" imgW="3073400" imgH="304800" progId="Equation.3">
                  <p:embed/>
                </p:oleObj>
              </mc:Choice>
              <mc:Fallback>
                <p:oleObj name="Equation" r:id="rId3" imgW="3073400" imgH="304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391" y="4581128"/>
                        <a:ext cx="5819217" cy="57606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2656"/>
            <a:ext cx="8243887" cy="58015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4744"/>
            <a:ext cx="8229600" cy="3994795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Tx/>
              <a:buNone/>
            </a:pPr>
            <a:r>
              <a:rPr lang="bg-BG" altLang="bg-BG" sz="2400" dirty="0"/>
              <a:t>Видове условия за избор:</a:t>
            </a: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Просто условие:</a:t>
            </a:r>
          </a:p>
          <a:p>
            <a:pPr marL="533400" indent="-533400" algn="ctr">
              <a:lnSpc>
                <a:spcPct val="90000"/>
              </a:lnSpc>
              <a:buFontTx/>
              <a:buNone/>
            </a:pPr>
            <a:r>
              <a:rPr lang="bg-BG" altLang="bg-BG" sz="2400" dirty="0"/>
              <a:t>&lt;име на атрибут&gt; &lt;операция за сравнение&gt; &lt;константа&gt;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bg-BG" altLang="bg-BG" sz="2400" dirty="0" smtClean="0"/>
              <a:t>където </a:t>
            </a:r>
            <a:r>
              <a:rPr lang="bg-BG" altLang="bg-BG" sz="2400" dirty="0"/>
              <a:t>операцията за сравнение принадлежи на множеството: 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endParaRPr lang="bg-BG" altLang="bg-BG" sz="2400" dirty="0"/>
          </a:p>
          <a:p>
            <a:pPr marL="457200" indent="-457200">
              <a:lnSpc>
                <a:spcPct val="90000"/>
              </a:lnSpc>
              <a:buFont typeface="+mj-lt"/>
              <a:buAutoNum type="arabicPeriod" startAt="2"/>
            </a:pPr>
            <a:r>
              <a:rPr lang="bg-BG" altLang="bg-BG" sz="2400" dirty="0" smtClean="0"/>
              <a:t>Условие </a:t>
            </a:r>
            <a:r>
              <a:rPr lang="bg-BG" altLang="bg-BG" sz="2400" dirty="0"/>
              <a:t>за избор от общ вид: отделните булеви изрази могат да бъдат свързани с and, or, not. 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5B51-B6A5-490C-9BCB-22D6FD8351B9}" type="slidenum">
              <a:rPr lang="bg-BG" altLang="bg-BG"/>
              <a:pPr/>
              <a:t>13</a:t>
            </a:fld>
            <a:endParaRPr lang="bg-BG" altLang="bg-BG"/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48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885053"/>
              </p:ext>
            </p:extLst>
          </p:nvPr>
        </p:nvGraphicFramePr>
        <p:xfrm>
          <a:off x="3131840" y="3140968"/>
          <a:ext cx="25209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38" name="Equation" r:id="rId3" imgW="1193800" imgH="215900" progId="Equation.3">
                  <p:embed/>
                </p:oleObj>
              </mc:Choice>
              <mc:Fallback>
                <p:oleObj name="Equation" r:id="rId3" imgW="11938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3140968"/>
                        <a:ext cx="252095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404664"/>
            <a:ext cx="8243887" cy="582191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08869" y="1081087"/>
            <a:ext cx="8229600" cy="2151063"/>
          </a:xfrm>
        </p:spPr>
        <p:txBody>
          <a:bodyPr/>
          <a:lstStyle/>
          <a:p>
            <a:pPr>
              <a:buFontTx/>
              <a:buNone/>
            </a:pPr>
            <a:r>
              <a:rPr lang="bg-BG" altLang="bg-BG" sz="2400" dirty="0"/>
              <a:t>Пример </a:t>
            </a:r>
            <a:r>
              <a:rPr lang="bg-BG" altLang="bg-BG" sz="2400" dirty="0" smtClean="0"/>
              <a:t>1</a:t>
            </a:r>
            <a:r>
              <a:rPr lang="en-US" altLang="bg-BG" dirty="0"/>
              <a:t>:</a:t>
            </a:r>
            <a:r>
              <a:rPr lang="bg-BG" altLang="bg-BG" sz="2400" dirty="0" smtClean="0"/>
              <a:t> </a:t>
            </a:r>
            <a:r>
              <a:rPr lang="bg-BG" altLang="bg-BG" sz="2400" dirty="0"/>
              <a:t>Да се изведе информация за служителите, които работят в отдел с номер 4.</a:t>
            </a:r>
          </a:p>
          <a:p>
            <a:pPr>
              <a:buFontTx/>
              <a:buNone/>
            </a:pPr>
            <a:endParaRPr lang="bg-BG" altLang="bg-BG" sz="2400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082-8FE9-4CB1-826F-5630C9686892}" type="slidenum">
              <a:rPr lang="bg-BG" altLang="bg-BG"/>
              <a:pPr/>
              <a:t>14</a:t>
            </a:fld>
            <a:endParaRPr lang="bg-BG" altLang="bg-BG"/>
          </a:p>
        </p:txBody>
      </p:sp>
      <p:sp>
        <p:nvSpPr>
          <p:cNvPr id="1495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49510" name="Object 6"/>
          <p:cNvGraphicFramePr>
            <a:graphicFrameLocks noChangeAspect="1"/>
          </p:cNvGraphicFramePr>
          <p:nvPr/>
        </p:nvGraphicFramePr>
        <p:xfrm>
          <a:off x="1908175" y="2565400"/>
          <a:ext cx="3887788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66" name="Equation" r:id="rId3" imgW="1612900" imgH="279400" progId="Equation.3">
                  <p:embed/>
                </p:oleObj>
              </mc:Choice>
              <mc:Fallback>
                <p:oleObj name="Equation" r:id="rId3" imgW="16129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565400"/>
                        <a:ext cx="3887788" cy="66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26470" y="3645024"/>
            <a:ext cx="8256266" cy="178878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243888" cy="581025"/>
          </a:xfrm>
        </p:spPr>
        <p:txBody>
          <a:bodyPr/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365927" y="1055687"/>
            <a:ext cx="8229600" cy="2151063"/>
          </a:xfrm>
        </p:spPr>
        <p:txBody>
          <a:bodyPr/>
          <a:lstStyle/>
          <a:p>
            <a:pPr marL="533400" indent="-533400">
              <a:buFontTx/>
              <a:buNone/>
            </a:pPr>
            <a:r>
              <a:rPr lang="bg-BG" altLang="bg-BG" sz="2400" dirty="0"/>
              <a:t>Пример </a:t>
            </a:r>
            <a:r>
              <a:rPr lang="bg-BG" altLang="bg-BG" sz="2400" dirty="0" smtClean="0"/>
              <a:t>2</a:t>
            </a:r>
            <a:r>
              <a:rPr lang="en-US" altLang="bg-BG" dirty="0"/>
              <a:t>:</a:t>
            </a:r>
            <a:r>
              <a:rPr lang="bg-BG" altLang="bg-BG" sz="2400" dirty="0" smtClean="0"/>
              <a:t> </a:t>
            </a:r>
            <a:r>
              <a:rPr lang="bg-BG" altLang="bg-BG" sz="2400" dirty="0"/>
              <a:t>Да се изведат кортежите за всички служители, които работят в отдел номер 4 и печелят над 250</a:t>
            </a:r>
            <a:r>
              <a:rPr lang="bg-BG" altLang="bg-BG" sz="2800" dirty="0"/>
              <a:t>.</a:t>
            </a:r>
          </a:p>
          <a:p>
            <a:pPr marL="533400" indent="-533400">
              <a:buFontTx/>
              <a:buNone/>
            </a:pPr>
            <a:endParaRPr lang="bg-BG" altLang="bg-BG" sz="2800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8F62-097A-462B-8E71-41D831AE211E}" type="slidenum">
              <a:rPr lang="bg-BG" altLang="bg-BG"/>
              <a:pPr/>
              <a:t>15</a:t>
            </a:fld>
            <a:endParaRPr lang="bg-BG" altLang="bg-BG"/>
          </a:p>
        </p:txBody>
      </p:sp>
      <p:sp>
        <p:nvSpPr>
          <p:cNvPr id="15053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505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374677"/>
              </p:ext>
            </p:extLst>
          </p:nvPr>
        </p:nvGraphicFramePr>
        <p:xfrm>
          <a:off x="1489075" y="2638425"/>
          <a:ext cx="523081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90" name="Уравнение" r:id="rId3" imgW="2793960" imgH="304560" progId="Equation.3">
                  <p:embed/>
                </p:oleObj>
              </mc:Choice>
              <mc:Fallback>
                <p:oleObj name="Уравнение" r:id="rId3" imgW="2793960" imgH="3045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2638425"/>
                        <a:ext cx="5230813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Content Placeholder 11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09309298"/>
              </p:ext>
            </p:extLst>
          </p:nvPr>
        </p:nvGraphicFramePr>
        <p:xfrm>
          <a:off x="1115616" y="3573016"/>
          <a:ext cx="6696743" cy="1008112"/>
        </p:xfrm>
        <a:graphic>
          <a:graphicData uri="http://schemas.openxmlformats.org/drawingml/2006/table">
            <a:tbl>
              <a:tblPr/>
              <a:tblGrid>
                <a:gridCol w="731414">
                  <a:extLst>
                    <a:ext uri="{9D8B030D-6E8A-4147-A177-3AD203B41FA5}">
                      <a16:colId xmlns:a16="http://schemas.microsoft.com/office/drawing/2014/main" val="3980487648"/>
                    </a:ext>
                  </a:extLst>
                </a:gridCol>
                <a:gridCol w="881752">
                  <a:extLst>
                    <a:ext uri="{9D8B030D-6E8A-4147-A177-3AD203B41FA5}">
                      <a16:colId xmlns:a16="http://schemas.microsoft.com/office/drawing/2014/main" val="3233909012"/>
                    </a:ext>
                  </a:extLst>
                </a:gridCol>
                <a:gridCol w="1108099">
                  <a:extLst>
                    <a:ext uri="{9D8B030D-6E8A-4147-A177-3AD203B41FA5}">
                      <a16:colId xmlns:a16="http://schemas.microsoft.com/office/drawing/2014/main" val="3927988759"/>
                    </a:ext>
                  </a:extLst>
                </a:gridCol>
                <a:gridCol w="275337">
                  <a:extLst>
                    <a:ext uri="{9D8B030D-6E8A-4147-A177-3AD203B41FA5}">
                      <a16:colId xmlns:a16="http://schemas.microsoft.com/office/drawing/2014/main" val="771740793"/>
                    </a:ext>
                  </a:extLst>
                </a:gridCol>
                <a:gridCol w="1874987">
                  <a:extLst>
                    <a:ext uri="{9D8B030D-6E8A-4147-A177-3AD203B41FA5}">
                      <a16:colId xmlns:a16="http://schemas.microsoft.com/office/drawing/2014/main" val="3497332239"/>
                    </a:ext>
                  </a:extLst>
                </a:gridCol>
                <a:gridCol w="217059">
                  <a:extLst>
                    <a:ext uri="{9D8B030D-6E8A-4147-A177-3AD203B41FA5}">
                      <a16:colId xmlns:a16="http://schemas.microsoft.com/office/drawing/2014/main" val="235077082"/>
                    </a:ext>
                  </a:extLst>
                </a:gridCol>
                <a:gridCol w="1108099">
                  <a:extLst>
                    <a:ext uri="{9D8B030D-6E8A-4147-A177-3AD203B41FA5}">
                      <a16:colId xmlns:a16="http://schemas.microsoft.com/office/drawing/2014/main" val="815937070"/>
                    </a:ext>
                  </a:extLst>
                </a:gridCol>
                <a:gridCol w="499996">
                  <a:extLst>
                    <a:ext uri="{9D8B030D-6E8A-4147-A177-3AD203B41FA5}">
                      <a16:colId xmlns:a16="http://schemas.microsoft.com/office/drawing/2014/main" val="3977147098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Петър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Петров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6011085342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ул.Парчевич N23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4610226861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0266554"/>
                  </a:ext>
                </a:extLst>
              </a:tr>
              <a:tr h="6720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Христо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Георгиев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4610226861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ж.к.Красно село,бл.7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4610226861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21531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332656"/>
            <a:ext cx="8243887" cy="582191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>
          <a:xfrm>
            <a:off x="450056" y="801305"/>
            <a:ext cx="8229600" cy="5251388"/>
          </a:xfrm>
        </p:spPr>
        <p:txBody>
          <a:bodyPr/>
          <a:lstStyle/>
          <a:p>
            <a:pPr marL="457200" indent="-457200" algn="ctr">
              <a:lnSpc>
                <a:spcPct val="90000"/>
              </a:lnSpc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Характеристики на операцията SELECT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Операцията е </a:t>
            </a:r>
            <a:r>
              <a:rPr lang="bg-BG" altLang="bg-BG" sz="2400" dirty="0" smtClean="0"/>
              <a:t>унарна, </a:t>
            </a:r>
            <a:r>
              <a:rPr lang="bg-BG" altLang="bg-BG" sz="2400" dirty="0"/>
              <a:t>т.е. приложима е върху всеки кортеж на единствена релация. С нея не могат да се избират кортежи от няколко различни отношения. 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Степента на резултатното отношение е равна на степента на изходното отношение R, броя на кортежите му е по-малък или равен на тези от R.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Операцията е комутативна.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endParaRPr lang="bg-BG" altLang="bg-BG" sz="2400" dirty="0"/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Последователност от селекции се комбинира в единствена.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bg-BG" altLang="bg-BG" sz="2400" dirty="0"/>
              <a:t> 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F1C9-938A-413D-87A2-B4CED30E814A}" type="slidenum">
              <a:rPr lang="bg-BG" altLang="bg-BG"/>
              <a:pPr/>
              <a:t>16</a:t>
            </a:fld>
            <a:endParaRPr lang="bg-BG" altLang="bg-BG"/>
          </a:p>
        </p:txBody>
      </p:sp>
      <p:sp>
        <p:nvSpPr>
          <p:cNvPr id="15155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51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693054"/>
              </p:ext>
            </p:extLst>
          </p:nvPr>
        </p:nvGraphicFramePr>
        <p:xfrm>
          <a:off x="1187624" y="4077072"/>
          <a:ext cx="590391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66" name="Equation" r:id="rId3" imgW="3314700" imgH="241300" progId="Equation.3">
                  <p:embed/>
                </p:oleObj>
              </mc:Choice>
              <mc:Fallback>
                <p:oleObj name="Equation" r:id="rId3" imgW="33147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4077072"/>
                        <a:ext cx="5903912" cy="423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51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450041"/>
              </p:ext>
            </p:extLst>
          </p:nvPr>
        </p:nvGraphicFramePr>
        <p:xfrm>
          <a:off x="1763688" y="5085184"/>
          <a:ext cx="56896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67" name="Equation" r:id="rId5" imgW="2692400" imgH="482600" progId="Equation.3">
                  <p:embed/>
                </p:oleObj>
              </mc:Choice>
              <mc:Fallback>
                <p:oleObj name="Equation" r:id="rId5" imgW="26924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5085184"/>
                        <a:ext cx="568960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04664"/>
            <a:ext cx="8243887" cy="508149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836713"/>
            <a:ext cx="8229600" cy="3528392"/>
          </a:xfrm>
        </p:spPr>
        <p:txBody>
          <a:bodyPr/>
          <a:lstStyle/>
          <a:p>
            <a:pPr algn="ctr">
              <a:buFontTx/>
              <a:buNone/>
            </a:pPr>
            <a:r>
              <a:rPr lang="bg-BG" altLang="bg-BG" sz="2800" u="sng" dirty="0">
                <a:solidFill>
                  <a:srgbClr val="C00000"/>
                </a:solidFill>
              </a:rPr>
              <a:t>Операция проекция </a:t>
            </a:r>
            <a:r>
              <a:rPr lang="bg-BG" altLang="bg-BG" sz="2800" u="sng" dirty="0">
                <a:solidFill>
                  <a:srgbClr val="C00000"/>
                </a:solidFill>
                <a:sym typeface="Symbol" pitchFamily="18" charset="2"/>
              </a:rPr>
              <a:t></a:t>
            </a:r>
            <a:r>
              <a:rPr lang="bg-BG" altLang="bg-BG" sz="2800" dirty="0">
                <a:solidFill>
                  <a:srgbClr val="C00000"/>
                </a:solidFill>
              </a:rPr>
              <a:t> </a:t>
            </a:r>
          </a:p>
          <a:p>
            <a:pPr algn="ctr">
              <a:buFontTx/>
              <a:buNone/>
            </a:pPr>
            <a:endParaRPr lang="bg-BG" altLang="bg-BG" sz="18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altLang="bg-BG" sz="2800" dirty="0">
                <a:sym typeface="Symbol" pitchFamily="18" charset="2"/>
              </a:rPr>
              <a:t>Служи за избор на определени колони от дадено </a:t>
            </a:r>
            <a:r>
              <a:rPr lang="bg-BG" altLang="bg-BG" sz="2800" dirty="0" smtClean="0">
                <a:sym typeface="Symbol" pitchFamily="18" charset="2"/>
              </a:rPr>
              <a:t>отношение</a:t>
            </a:r>
            <a:r>
              <a:rPr lang="en-US" altLang="bg-BG" sz="2800" dirty="0">
                <a:sym typeface="Symbol" pitchFamily="18" charset="2"/>
              </a:rPr>
              <a:t>.</a:t>
            </a:r>
            <a:r>
              <a:rPr lang="bg-BG" altLang="bg-BG" sz="2800" dirty="0" smtClean="0">
                <a:sym typeface="Symbol" pitchFamily="18" charset="2"/>
              </a:rPr>
              <a:t> </a:t>
            </a:r>
            <a:endParaRPr lang="bg-BG" altLang="bg-BG" sz="2800" dirty="0">
              <a:sym typeface="Symbol" pitchFamily="18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altLang="bg-BG" sz="2800" dirty="0">
                <a:sym typeface="Symbol" pitchFamily="18" charset="2"/>
              </a:rPr>
              <a:t>Общ вид на операцията:</a:t>
            </a:r>
          </a:p>
          <a:p>
            <a:pPr algn="ctr">
              <a:buFontTx/>
              <a:buNone/>
            </a:pPr>
            <a:r>
              <a:rPr lang="bg-BG" altLang="bg-BG" sz="3600" i="1" dirty="0">
                <a:sym typeface="Symbol" pitchFamily="18" charset="2"/>
              </a:rPr>
              <a:t></a:t>
            </a:r>
            <a:r>
              <a:rPr lang="bg-BG" altLang="bg-BG" sz="2800" baseline="-25000" dirty="0">
                <a:sym typeface="Symbol" pitchFamily="18" charset="2"/>
              </a:rPr>
              <a:t>&lt;</a:t>
            </a:r>
            <a:r>
              <a:rPr lang="bg-BG" altLang="bg-BG" sz="2800" i="1" baseline="-25000" dirty="0">
                <a:sym typeface="Symbol" pitchFamily="18" charset="2"/>
              </a:rPr>
              <a:t>списък от атрибути&gt;</a:t>
            </a:r>
            <a:r>
              <a:rPr lang="bg-BG" altLang="bg-BG" sz="2800" i="1" dirty="0">
                <a:sym typeface="Symbol" pitchFamily="18" charset="2"/>
              </a:rPr>
              <a:t>(&lt;име на релация&gt;)</a:t>
            </a:r>
            <a:endParaRPr lang="bg-BG" altLang="bg-BG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71E66-6CF3-4F67-9166-CB80D141C887}" type="slidenum">
              <a:rPr lang="bg-BG" altLang="bg-BG"/>
              <a:pPr/>
              <a:t>17</a:t>
            </a:fld>
            <a:endParaRPr lang="bg-BG" altLang="bg-BG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04664"/>
            <a:ext cx="8243888" cy="653182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1196752"/>
            <a:ext cx="8229600" cy="1468438"/>
          </a:xfrm>
        </p:spPr>
        <p:txBody>
          <a:bodyPr/>
          <a:lstStyle/>
          <a:p>
            <a:pPr>
              <a:buFontTx/>
              <a:buNone/>
            </a:pPr>
            <a:r>
              <a:rPr lang="bg-BG" altLang="bg-BG" sz="2400" dirty="0" smtClean="0"/>
              <a:t>Пример</a:t>
            </a:r>
            <a:r>
              <a:rPr lang="en-US" altLang="bg-BG" sz="2400" dirty="0" smtClean="0"/>
              <a:t> 3:</a:t>
            </a:r>
            <a:r>
              <a:rPr lang="bg-BG" altLang="bg-BG" sz="2400" dirty="0" smtClean="0"/>
              <a:t> </a:t>
            </a:r>
            <a:r>
              <a:rPr lang="bg-BG" altLang="bg-BG" sz="2400" dirty="0"/>
              <a:t>Да се изведе списък на служителите и </a:t>
            </a:r>
            <a:r>
              <a:rPr lang="bg-BG" altLang="bg-BG" sz="2400"/>
              <a:t>заплатите </a:t>
            </a:r>
            <a:r>
              <a:rPr lang="bg-BG" altLang="bg-BG" sz="2400" smtClean="0"/>
              <a:t>им</a:t>
            </a:r>
            <a:r>
              <a:rPr lang="bg-BG" altLang="bg-BG" dirty="0"/>
              <a:t>.</a:t>
            </a:r>
            <a:r>
              <a:rPr lang="bg-BG" altLang="bg-BG" sz="2400" smtClean="0"/>
              <a:t> </a:t>
            </a:r>
            <a:endParaRPr lang="bg-BG" altLang="bg-BG" sz="2400" dirty="0"/>
          </a:p>
          <a:p>
            <a:pPr algn="ctr">
              <a:buFontTx/>
              <a:buNone/>
            </a:pPr>
            <a:r>
              <a:rPr lang="bg-BG" altLang="bg-BG" sz="2400" i="1" dirty="0">
                <a:sym typeface="Symbol" pitchFamily="18" charset="2"/>
              </a:rPr>
              <a:t> </a:t>
            </a:r>
            <a:r>
              <a:rPr lang="en-US" altLang="bg-BG" sz="2400" i="1" baseline="-25000" dirty="0" err="1"/>
              <a:t>fname</a:t>
            </a:r>
            <a:r>
              <a:rPr lang="en-US" altLang="bg-BG" sz="2400" i="1" baseline="-25000" dirty="0"/>
              <a:t> </a:t>
            </a:r>
            <a:r>
              <a:rPr lang="bg-BG" altLang="bg-BG" sz="2400" i="1" baseline="-25000" dirty="0"/>
              <a:t>,</a:t>
            </a:r>
            <a:r>
              <a:rPr lang="en-US" altLang="bg-BG" sz="2400" i="1" baseline="-25000" dirty="0"/>
              <a:t> l</a:t>
            </a:r>
            <a:r>
              <a:rPr lang="bg-BG" altLang="bg-BG" sz="2400" i="1" baseline="-25000" dirty="0"/>
              <a:t>name,</a:t>
            </a:r>
            <a:r>
              <a:rPr lang="en-US" altLang="bg-BG" sz="2400" i="1" dirty="0"/>
              <a:t> </a:t>
            </a:r>
            <a:r>
              <a:rPr lang="bg-BG" altLang="bg-BG" sz="2400" i="1" baseline="-25000" dirty="0"/>
              <a:t>salary</a:t>
            </a:r>
            <a:r>
              <a:rPr lang="bg-BG" altLang="bg-BG" sz="2400" i="1" dirty="0"/>
              <a:t>(EMPLOYEE)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9BD9-D8CB-4406-A6C8-E6E76661C98A}" type="slidenum">
              <a:rPr lang="bg-BG" altLang="bg-BG"/>
              <a:pPr/>
              <a:t>18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59632" y="2996952"/>
            <a:ext cx="8039904" cy="278620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332656"/>
            <a:ext cx="8243887" cy="581174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052513"/>
            <a:ext cx="8229600" cy="4745037"/>
          </a:xfrm>
        </p:spPr>
        <p:txBody>
          <a:bodyPr>
            <a:normAutofit lnSpcReduction="10000"/>
          </a:bodyPr>
          <a:lstStyle/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Характеристики на операцията проекция</a:t>
            </a:r>
          </a:p>
          <a:p>
            <a:pPr marL="609600" indent="-609600" algn="ctr">
              <a:lnSpc>
                <a:spcPct val="90000"/>
              </a:lnSpc>
              <a:buFontTx/>
              <a:buNone/>
            </a:pPr>
            <a:endParaRPr lang="bg-BG" altLang="bg-BG" sz="1000" dirty="0">
              <a:solidFill>
                <a:schemeClr val="accent2"/>
              </a:solidFill>
            </a:endParaRP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Елиминират се дублираните кортежи, за да се получи валидно отношение. </a:t>
            </a:r>
          </a:p>
          <a:p>
            <a:pPr marL="990600" lvl="1" indent="-533400">
              <a:lnSpc>
                <a:spcPct val="90000"/>
              </a:lnSpc>
              <a:buFontTx/>
              <a:buNone/>
            </a:pPr>
            <a:r>
              <a:rPr lang="bg-BG" altLang="bg-BG" sz="2400" dirty="0"/>
              <a:t>Например при изпълнението на заявката:</a:t>
            </a:r>
          </a:p>
          <a:p>
            <a:pPr marL="990600" lvl="1" indent="-533400" algn="ctr">
              <a:lnSpc>
                <a:spcPct val="90000"/>
              </a:lnSpc>
              <a:buFontTx/>
              <a:buNone/>
            </a:pPr>
            <a:r>
              <a:rPr lang="bg-BG" altLang="bg-BG" sz="2400" i="1" dirty="0">
                <a:latin typeface="Symbol" pitchFamily="18" charset="2"/>
              </a:rPr>
              <a:t>p</a:t>
            </a:r>
            <a:r>
              <a:rPr lang="bg-BG" altLang="bg-BG" sz="2400" i="1" baseline="-25000" dirty="0"/>
              <a:t>sex</a:t>
            </a:r>
            <a:r>
              <a:rPr lang="bg-BG" altLang="bg-BG" sz="2400" i="1" dirty="0"/>
              <a:t>(EMPLOYEE)</a:t>
            </a:r>
            <a:r>
              <a:rPr lang="bg-BG" altLang="bg-BG" sz="2400" dirty="0"/>
              <a:t> </a:t>
            </a:r>
            <a:endParaRPr lang="en-US" altLang="bg-BG" sz="2400" dirty="0" smtClean="0"/>
          </a:p>
          <a:p>
            <a:pPr marL="990600" lvl="1" indent="-533400">
              <a:lnSpc>
                <a:spcPct val="90000"/>
              </a:lnSpc>
              <a:buFontTx/>
              <a:buNone/>
            </a:pPr>
            <a:r>
              <a:rPr lang="bg-BG" altLang="bg-BG" sz="2400" dirty="0" smtClean="0"/>
              <a:t>се </a:t>
            </a:r>
            <a:r>
              <a:rPr lang="bg-BG" altLang="bg-BG" sz="2400" dirty="0"/>
              <a:t>премахват всички идентични </a:t>
            </a:r>
            <a:r>
              <a:rPr lang="bg-BG" altLang="bg-BG" sz="2400" dirty="0" smtClean="0"/>
              <a:t>кортежи</a:t>
            </a:r>
            <a:r>
              <a:rPr lang="en-US" altLang="bg-BG" sz="2400" dirty="0" smtClean="0"/>
              <a:t>.</a:t>
            </a:r>
            <a:r>
              <a:rPr lang="bg-BG" altLang="bg-BG" sz="2400" dirty="0" smtClean="0"/>
              <a:t> </a:t>
            </a:r>
            <a:endParaRPr lang="bg-BG" altLang="bg-BG" sz="2400" dirty="0"/>
          </a:p>
          <a:p>
            <a:pPr marL="990600" lvl="1" indent="-533400">
              <a:lnSpc>
                <a:spcPct val="90000"/>
              </a:lnSpc>
              <a:buFontTx/>
              <a:buNone/>
            </a:pPr>
            <a:endParaRPr lang="bg-BG" altLang="bg-BG" sz="2400" i="1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Броят на кортежите в резултата е по-малък или равен на броя на кортежите в изходното отношение, като равенство се постига при указан ключ в списъка.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bg-BG" altLang="bg-BG" sz="2400" dirty="0"/>
          </a:p>
          <a:p>
            <a:pPr marL="609600" indent="-609600">
              <a:lnSpc>
                <a:spcPct val="90000"/>
              </a:lnSpc>
              <a:buFontTx/>
              <a:buAutoNum type="arabicPeriod" startAt="3"/>
            </a:pPr>
            <a:r>
              <a:rPr lang="bg-BG" altLang="bg-BG" sz="2400" dirty="0"/>
              <a:t>Операцията е унарна и не е комутативна.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3A126-5A40-40EE-BDD2-35ED0E689545}" type="slidenum">
              <a:rPr lang="bg-BG" altLang="bg-BG"/>
              <a:pPr/>
              <a:t>19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2656"/>
            <a:ext cx="8243887" cy="58015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>
          <a:xfrm>
            <a:off x="800100" y="908720"/>
            <a:ext cx="7543800" cy="3886200"/>
          </a:xfrm>
        </p:spPr>
        <p:txBody>
          <a:bodyPr/>
          <a:lstStyle/>
          <a:p>
            <a:r>
              <a:rPr lang="bg-BG" altLang="bg-BG" sz="2400" dirty="0"/>
              <a:t>Обикновено операциите селекция и проекция образуват израз в релационната алгебра и се прилагат заедно. </a:t>
            </a:r>
          </a:p>
          <a:p>
            <a:pPr>
              <a:buFontTx/>
              <a:buNone/>
            </a:pPr>
            <a:endParaRPr lang="bg-BG" altLang="bg-BG" sz="2400" dirty="0"/>
          </a:p>
          <a:p>
            <a:pPr>
              <a:buFontTx/>
              <a:buNone/>
            </a:pPr>
            <a:r>
              <a:rPr lang="bg-BG" altLang="bg-BG" sz="2400" dirty="0"/>
              <a:t>Например:</a:t>
            </a:r>
          </a:p>
          <a:p>
            <a:pPr>
              <a:buFontTx/>
              <a:buNone/>
            </a:pPr>
            <a:r>
              <a:rPr lang="bg-BG" altLang="bg-BG" i="1" dirty="0">
                <a:latin typeface="Symbol" pitchFamily="18" charset="2"/>
              </a:rPr>
              <a:t>     p </a:t>
            </a:r>
            <a:r>
              <a:rPr lang="bg-BG" altLang="bg-BG" i="1" baseline="-25000" dirty="0" smtClean="0"/>
              <a:t>lname,fname,salary</a:t>
            </a:r>
            <a:endParaRPr lang="bg-BG" altLang="bg-BG" sz="2400" baseline="-25000" dirty="0" smtClean="0"/>
          </a:p>
          <a:p>
            <a:endParaRPr lang="bg-BG" altLang="bg-BG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7879C-D122-4B94-8D00-8EFF24374210}" type="slidenum">
              <a:rPr lang="bg-BG" altLang="bg-BG"/>
              <a:pPr/>
              <a:t>20</a:t>
            </a:fld>
            <a:endParaRPr lang="bg-BG" altLang="bg-BG"/>
          </a:p>
        </p:txBody>
      </p:sp>
      <p:sp>
        <p:nvSpPr>
          <p:cNvPr id="15872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58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654827"/>
              </p:ext>
            </p:extLst>
          </p:nvPr>
        </p:nvGraphicFramePr>
        <p:xfrm>
          <a:off x="3203848" y="3284984"/>
          <a:ext cx="34575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78" name="Equation" r:id="rId3" imgW="1612900" imgH="279400" progId="Equation.3">
                  <p:embed/>
                </p:oleObj>
              </mc:Choice>
              <mc:Fallback>
                <p:oleObj name="Equation" r:id="rId3" imgW="1612900" imgH="279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3284984"/>
                        <a:ext cx="3457575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932" y="4149080"/>
            <a:ext cx="2741219" cy="1958014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664"/>
            <a:ext cx="8243887" cy="508149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836713"/>
            <a:ext cx="8229600" cy="4896544"/>
          </a:xfrm>
        </p:spPr>
        <p:txBody>
          <a:bodyPr/>
          <a:lstStyle/>
          <a:p>
            <a:pPr algn="ctr">
              <a:buFontTx/>
              <a:buNone/>
            </a:pPr>
            <a:r>
              <a:rPr lang="bg-BG" altLang="bg-BG" sz="2800" u="sng" dirty="0">
                <a:solidFill>
                  <a:srgbClr val="C00000"/>
                </a:solidFill>
              </a:rPr>
              <a:t>Операция съединение </a:t>
            </a:r>
            <a:endParaRPr lang="bg-BG" altLang="bg-BG" sz="2800" u="sng" dirty="0">
              <a:solidFill>
                <a:srgbClr val="C00000"/>
              </a:solidFill>
              <a:sym typeface="Math3Mono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altLang="bg-BG" sz="2800" dirty="0">
                <a:sym typeface="Math3Mono" pitchFamily="2" charset="2"/>
              </a:rPr>
              <a:t>Комбинира свързани помежду си кортежи от две отношения в един </a:t>
            </a:r>
            <a:r>
              <a:rPr lang="bg-BG" altLang="bg-BG" sz="2800" dirty="0" smtClean="0">
                <a:sym typeface="Math3Mono" pitchFamily="2" charset="2"/>
              </a:rPr>
              <a:t>кортеж.</a:t>
            </a:r>
            <a:endParaRPr lang="bg-BG" altLang="bg-BG" sz="2800" dirty="0">
              <a:sym typeface="Math3Mono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altLang="bg-BG" sz="2800" dirty="0">
                <a:sym typeface="Math3Mono" pitchFamily="2" charset="2"/>
              </a:rPr>
              <a:t>Позволява обработката на връзки между отделните </a:t>
            </a:r>
            <a:r>
              <a:rPr lang="bg-BG" altLang="bg-BG" sz="2800" dirty="0" smtClean="0">
                <a:sym typeface="Math3Mono" pitchFamily="2" charset="2"/>
              </a:rPr>
              <a:t>отношения. </a:t>
            </a:r>
            <a:endParaRPr lang="bg-BG" altLang="bg-BG" sz="2800" dirty="0">
              <a:sym typeface="Math3Mono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altLang="bg-BG" sz="2800" dirty="0">
                <a:sym typeface="Math3Mono" pitchFamily="2" charset="2"/>
              </a:rPr>
              <a:t>Общ вид на операцията:нека                     </a:t>
            </a:r>
            <a:r>
              <a:rPr lang="bg-BG" altLang="bg-BG" sz="2800" dirty="0" smtClean="0">
                <a:sym typeface="Math3Mono" pitchFamily="2" charset="2"/>
              </a:rPr>
              <a:t>    и                      </a:t>
            </a:r>
          </a:p>
          <a:p>
            <a:pPr marL="0" indent="0">
              <a:buNone/>
            </a:pPr>
            <a:r>
              <a:rPr lang="bg-BG" altLang="bg-BG" sz="2800" dirty="0" smtClean="0">
                <a:sym typeface="Math3Mono" pitchFamily="2" charset="2"/>
              </a:rPr>
              <a:t>                             са </a:t>
            </a:r>
            <a:r>
              <a:rPr lang="bg-BG" altLang="bg-BG" sz="2800" dirty="0">
                <a:sym typeface="Math3Mono" pitchFamily="2" charset="2"/>
              </a:rPr>
              <a:t>релационни схеми</a:t>
            </a:r>
          </a:p>
          <a:p>
            <a:pPr algn="ctr">
              <a:buFontTx/>
              <a:buNone/>
            </a:pPr>
            <a:r>
              <a:rPr lang="bg-BG" altLang="bg-BG" sz="2400" i="1" dirty="0">
                <a:solidFill>
                  <a:schemeClr val="tx1"/>
                </a:solidFill>
                <a:sym typeface="Math3Mono" pitchFamily="2" charset="2"/>
              </a:rPr>
              <a:t>R </a:t>
            </a:r>
            <a:r>
              <a:rPr lang="bg-BG" altLang="bg-BG" sz="2400" i="1" dirty="0" smtClean="0">
                <a:solidFill>
                  <a:schemeClr val="tx1"/>
                </a:solidFill>
                <a:sym typeface="Math3Mono" pitchFamily="2" charset="2"/>
              </a:rPr>
              <a:t>     </a:t>
            </a:r>
            <a:r>
              <a:rPr lang="bg-BG" altLang="bg-BG" sz="2400" i="1" baseline="-25000" dirty="0" smtClean="0">
                <a:solidFill>
                  <a:schemeClr val="tx1"/>
                </a:solidFill>
                <a:sym typeface="Math3Mono" pitchFamily="2" charset="2"/>
              </a:rPr>
              <a:t>&lt;</a:t>
            </a:r>
            <a:r>
              <a:rPr lang="bg-BG" altLang="bg-BG" sz="2400" i="1" baseline="-25000" dirty="0">
                <a:solidFill>
                  <a:schemeClr val="tx1"/>
                </a:solidFill>
                <a:sym typeface="Math3Mono" pitchFamily="2" charset="2"/>
              </a:rPr>
              <a:t>условие за</a:t>
            </a:r>
            <a:r>
              <a:rPr lang="bg-BG" altLang="bg-BG" sz="2400" i="1" dirty="0">
                <a:solidFill>
                  <a:schemeClr val="tx1"/>
                </a:solidFill>
                <a:sym typeface="Math3Mono" pitchFamily="2" charset="2"/>
              </a:rPr>
              <a:t> </a:t>
            </a:r>
            <a:r>
              <a:rPr lang="bg-BG" altLang="bg-BG" sz="2400" i="1" baseline="-25000" dirty="0">
                <a:solidFill>
                  <a:schemeClr val="tx1"/>
                </a:solidFill>
                <a:sym typeface="Math3Mono" pitchFamily="2" charset="2"/>
              </a:rPr>
              <a:t>съединение</a:t>
            </a:r>
            <a:r>
              <a:rPr lang="bg-BG" altLang="bg-BG" sz="2400" i="1" baseline="-25000" dirty="0" smtClean="0">
                <a:solidFill>
                  <a:schemeClr val="tx1"/>
                </a:solidFill>
                <a:sym typeface="Math3Mono" pitchFamily="2" charset="2"/>
              </a:rPr>
              <a:t>&gt; </a:t>
            </a:r>
            <a:r>
              <a:rPr lang="bg-BG" altLang="bg-BG" sz="2400" i="1" dirty="0" smtClean="0">
                <a:solidFill>
                  <a:schemeClr val="tx1"/>
                </a:solidFill>
                <a:sym typeface="Math3Mono" pitchFamily="2" charset="2"/>
              </a:rPr>
              <a:t>S</a:t>
            </a:r>
            <a:r>
              <a:rPr lang="bg-BG" altLang="bg-BG" sz="2400" dirty="0" smtClean="0">
                <a:solidFill>
                  <a:schemeClr val="tx1"/>
                </a:solidFill>
                <a:sym typeface="Math3Mono" pitchFamily="2" charset="2"/>
              </a:rPr>
              <a:t> </a:t>
            </a:r>
            <a:endParaRPr lang="bg-BG" altLang="bg-BG" sz="2400" dirty="0">
              <a:solidFill>
                <a:schemeClr val="tx1"/>
              </a:solidFill>
              <a:sym typeface="Math3Mono" pitchFamily="2" charset="2"/>
            </a:endParaRPr>
          </a:p>
          <a:p>
            <a:pPr lvl="1">
              <a:buFontTx/>
              <a:buNone/>
            </a:pPr>
            <a:r>
              <a:rPr lang="bg-BG" altLang="bg-BG" dirty="0">
                <a:solidFill>
                  <a:schemeClr val="tx1"/>
                </a:solidFill>
                <a:sym typeface="Math3Mono" pitchFamily="2" charset="2"/>
              </a:rPr>
              <a:t>Резултат   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B6F89-82B3-44DE-BE62-7F30F0746772}" type="slidenum">
              <a:rPr lang="bg-BG" altLang="bg-BG"/>
              <a:pPr/>
              <a:t>21</a:t>
            </a:fld>
            <a:endParaRPr lang="bg-BG" altLang="bg-BG"/>
          </a:p>
        </p:txBody>
      </p:sp>
      <p:sp>
        <p:nvSpPr>
          <p:cNvPr id="15974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597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946548"/>
              </p:ext>
            </p:extLst>
          </p:nvPr>
        </p:nvGraphicFramePr>
        <p:xfrm>
          <a:off x="5436096" y="3645024"/>
          <a:ext cx="19431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21" name="Equation" r:id="rId3" imgW="1002865" imgH="228501" progId="Equation.3">
                  <p:embed/>
                </p:oleObj>
              </mc:Choice>
              <mc:Fallback>
                <p:oleObj name="Equation" r:id="rId3" imgW="1002865" imgH="2285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3645024"/>
                        <a:ext cx="1943100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597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85764"/>
              </p:ext>
            </p:extLst>
          </p:nvPr>
        </p:nvGraphicFramePr>
        <p:xfrm>
          <a:off x="1043608" y="4149080"/>
          <a:ext cx="18002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22" name="Equation" r:id="rId5" imgW="1016000" imgH="228600" progId="Equation.3">
                  <p:embed/>
                </p:oleObj>
              </mc:Choice>
              <mc:Fallback>
                <p:oleObj name="Equation" r:id="rId5" imgW="10160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149080"/>
                        <a:ext cx="1800225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597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82663"/>
              </p:ext>
            </p:extLst>
          </p:nvPr>
        </p:nvGraphicFramePr>
        <p:xfrm>
          <a:off x="1907704" y="5013176"/>
          <a:ext cx="32131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23" name="Equation" r:id="rId7" imgW="1612900" imgH="228600" progId="Equation.3">
                  <p:embed/>
                </p:oleObj>
              </mc:Choice>
              <mc:Fallback>
                <p:oleObj name="Equation" r:id="rId7" imgW="16129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5013176"/>
                        <a:ext cx="3213100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9847" name="Picture 103"/>
          <p:cNvPicPr>
            <a:picLocks noChangeAspect="1" noChangeArrowheads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599" y="1344862"/>
            <a:ext cx="323839" cy="263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848" name="Picture 10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691245"/>
            <a:ext cx="231775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664"/>
            <a:ext cx="8243887" cy="508149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980728"/>
            <a:ext cx="8229600" cy="5013449"/>
          </a:xfrm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bg-BG" altLang="bg-BG" sz="2800" u="sng" dirty="0">
                <a:solidFill>
                  <a:srgbClr val="C00000"/>
                </a:solidFill>
              </a:rPr>
              <a:t>Операция съединение </a:t>
            </a:r>
            <a:r>
              <a:rPr lang="bg-BG" altLang="bg-BG" sz="2800" u="sng" dirty="0" smtClean="0">
                <a:solidFill>
                  <a:srgbClr val="C00000"/>
                </a:solidFill>
              </a:rPr>
              <a:t>     - пример</a:t>
            </a:r>
            <a:endParaRPr lang="bg-BG" altLang="bg-BG" sz="2800" u="sng" dirty="0" smtClean="0">
              <a:solidFill>
                <a:srgbClr val="C00000"/>
              </a:solidFill>
              <a:sym typeface="Math3Mono" pitchFamily="2" charset="2"/>
            </a:endParaRPr>
          </a:p>
          <a:p>
            <a:pPr marL="0" indent="0">
              <a:buNone/>
            </a:pPr>
            <a:r>
              <a:rPr lang="ru-RU" altLang="bg-BG" dirty="0" smtClean="0">
                <a:solidFill>
                  <a:schemeClr val="tx1"/>
                </a:solidFill>
                <a:sym typeface="Math3Mono" pitchFamily="2" charset="2"/>
              </a:rPr>
              <a:t>Пример 4:  Да </a:t>
            </a:r>
            <a:r>
              <a:rPr lang="ru-RU" altLang="bg-BG" dirty="0">
                <a:solidFill>
                  <a:schemeClr val="tx1"/>
                </a:solidFill>
                <a:sym typeface="Math3Mono" pitchFamily="2" charset="2"/>
              </a:rPr>
              <a:t>се изведе списък на служителите и имената на отделите, в които работят.</a:t>
            </a:r>
          </a:p>
          <a:p>
            <a:r>
              <a:rPr lang="ru-RU" altLang="bg-BG" dirty="0">
                <a:solidFill>
                  <a:schemeClr val="tx1"/>
                </a:solidFill>
                <a:sym typeface="Math3Mono" pitchFamily="2" charset="2"/>
              </a:rPr>
              <a:t>з</a:t>
            </a:r>
            <a:r>
              <a:rPr lang="ru-RU" altLang="bg-BG" dirty="0" smtClean="0">
                <a:solidFill>
                  <a:schemeClr val="tx1"/>
                </a:solidFill>
                <a:sym typeface="Math3Mono" pitchFamily="2" charset="2"/>
              </a:rPr>
              <a:t>а </a:t>
            </a:r>
            <a:r>
              <a:rPr lang="ru-RU" altLang="bg-BG" dirty="0">
                <a:solidFill>
                  <a:schemeClr val="tx1"/>
                </a:solidFill>
                <a:sym typeface="Math3Mono" pitchFamily="2" charset="2"/>
              </a:rPr>
              <a:t>да се изпълни тази заявка е необходимо да се комбинира всеки кортеж от отношението DEPARTMENT с всеки кортеж на отношението EMPLOYEE, за които DNO = DNUMBER. </a:t>
            </a:r>
            <a:endParaRPr lang="ru-RU" altLang="bg-BG" dirty="0" smtClean="0">
              <a:solidFill>
                <a:schemeClr val="tx1"/>
              </a:solidFill>
              <a:sym typeface="Math3Mono" pitchFamily="2" charset="2"/>
            </a:endParaRPr>
          </a:p>
          <a:p>
            <a:r>
              <a:rPr lang="ru-RU" altLang="bg-BG" dirty="0">
                <a:solidFill>
                  <a:schemeClr val="tx1"/>
                </a:solidFill>
                <a:sym typeface="Math3Mono" pitchFamily="2" charset="2"/>
              </a:rPr>
              <a:t>з</a:t>
            </a:r>
            <a:r>
              <a:rPr lang="ru-RU" altLang="bg-BG" dirty="0" smtClean="0">
                <a:solidFill>
                  <a:schemeClr val="tx1"/>
                </a:solidFill>
                <a:sym typeface="Math3Mono" pitchFamily="2" charset="2"/>
              </a:rPr>
              <a:t>а </a:t>
            </a:r>
            <a:r>
              <a:rPr lang="ru-RU" altLang="bg-BG" dirty="0">
                <a:solidFill>
                  <a:schemeClr val="tx1"/>
                </a:solidFill>
                <a:sym typeface="Math3Mono" pitchFamily="2" charset="2"/>
              </a:rPr>
              <a:t>целта се изпълнява операцията "съединение" (бележи се с  </a:t>
            </a:r>
            <a:r>
              <a:rPr lang="ru-RU" altLang="bg-BG" dirty="0" smtClean="0">
                <a:solidFill>
                  <a:schemeClr val="tx1"/>
                </a:solidFill>
                <a:sym typeface="Math3Mono" pitchFamily="2" charset="2"/>
              </a:rPr>
              <a:t>  ), </a:t>
            </a:r>
            <a:r>
              <a:rPr lang="ru-RU" altLang="bg-BG" dirty="0">
                <a:solidFill>
                  <a:schemeClr val="tx1"/>
                </a:solidFill>
                <a:sym typeface="Math3Mono" pitchFamily="2" charset="2"/>
              </a:rPr>
              <a:t>последвана от операцията "проекция", за да останат в резултата само необходимите атрибути</a:t>
            </a:r>
            <a:r>
              <a:rPr lang="ru-RU" altLang="bg-BG" dirty="0" smtClean="0">
                <a:solidFill>
                  <a:schemeClr val="tx1"/>
                </a:solidFill>
                <a:sym typeface="Math3Mono" pitchFamily="2" charset="2"/>
              </a:rPr>
              <a:t>.</a:t>
            </a:r>
          </a:p>
          <a:p>
            <a:endParaRPr lang="ru-RU" altLang="bg-BG" dirty="0">
              <a:solidFill>
                <a:schemeClr val="tx1"/>
              </a:solidFill>
              <a:sym typeface="Math3Mono" pitchFamily="2" charset="2"/>
            </a:endParaRPr>
          </a:p>
          <a:p>
            <a:pPr marL="594360" lvl="2" indent="0">
              <a:buNone/>
            </a:pPr>
            <a:endParaRPr lang="bg-BG" altLang="bg-BG" dirty="0" smtClean="0">
              <a:solidFill>
                <a:schemeClr val="tx1"/>
              </a:solidFill>
              <a:sym typeface="Math3Mono" pitchFamily="2" charset="2"/>
            </a:endParaRP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B6F89-82B3-44DE-BE62-7F30F0746772}" type="slidenum">
              <a:rPr lang="bg-BG" altLang="bg-BG"/>
              <a:pPr/>
              <a:t>22</a:t>
            </a:fld>
            <a:endParaRPr lang="bg-BG" altLang="bg-BG"/>
          </a:p>
        </p:txBody>
      </p:sp>
      <p:sp>
        <p:nvSpPr>
          <p:cNvPr id="15974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5975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5975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pic>
        <p:nvPicPr>
          <p:cNvPr id="159847" name="Picture 103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655" y="1257104"/>
            <a:ext cx="231775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848" name="Picture 1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15" y="4433528"/>
            <a:ext cx="231775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5193964"/>
            <a:ext cx="7546727" cy="77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892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04664"/>
            <a:ext cx="8243887" cy="508595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graphicFrame>
        <p:nvGraphicFramePr>
          <p:cNvPr id="160776" name="Object 8"/>
          <p:cNvGraphicFramePr>
            <a:graphicFrameLocks noGrp="1" noChangeAspect="1"/>
          </p:cNvGraphicFramePr>
          <p:nvPr>
            <p:ph idx="1"/>
          </p:nvPr>
        </p:nvGraphicFramePr>
        <p:xfrm>
          <a:off x="3203575" y="4221163"/>
          <a:ext cx="21590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82" name="Equation" r:id="rId3" imgW="1193800" imgH="215900" progId="Equation.3">
                  <p:embed/>
                </p:oleObj>
              </mc:Choice>
              <mc:Fallback>
                <p:oleObj name="Equation" r:id="rId3" imgW="1193800" imgH="215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221163"/>
                        <a:ext cx="21590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0F79-0FA8-4337-953C-68BA9A6DD48F}" type="slidenum">
              <a:rPr lang="bg-BG" altLang="bg-BG"/>
              <a:pPr/>
              <a:t>23</a:t>
            </a:fld>
            <a:endParaRPr lang="bg-BG" altLang="bg-BG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764704"/>
            <a:ext cx="8229600" cy="4967287"/>
          </a:xfrm>
        </p:spPr>
        <p:txBody>
          <a:bodyPr>
            <a:normAutofit/>
          </a:bodyPr>
          <a:lstStyle/>
          <a:p>
            <a:pPr marL="609600" lvl="0" indent="-609600" algn="ctr">
              <a:lnSpc>
                <a:spcPct val="90000"/>
              </a:lnSpc>
              <a:buClr>
                <a:srgbClr val="AD0101"/>
              </a:buClr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Характеристики на операцията </a:t>
            </a:r>
            <a:r>
              <a:rPr lang="bg-BG" altLang="bg-BG" sz="2800" dirty="0" smtClean="0">
                <a:solidFill>
                  <a:srgbClr val="C00000"/>
                </a:solidFill>
              </a:rPr>
              <a:t>съединение</a:t>
            </a:r>
            <a:endParaRPr lang="bg-BG" altLang="bg-BG" sz="2800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altLang="bg-BG" sz="2800" dirty="0" smtClean="0"/>
              <a:t>Условието </a:t>
            </a:r>
            <a:r>
              <a:rPr lang="bg-BG" altLang="bg-BG" sz="2800" dirty="0"/>
              <a:t>за съединение се дефинира върху атрибути от двете </a:t>
            </a:r>
            <a:r>
              <a:rPr lang="bg-BG" altLang="bg-BG" sz="2800" dirty="0" smtClean="0"/>
              <a:t>отношения. </a:t>
            </a:r>
            <a:endParaRPr lang="bg-BG" altLang="bg-BG" sz="2800" dirty="0"/>
          </a:p>
          <a:p>
            <a:pPr marL="514350" indent="-514350">
              <a:buFont typeface="+mj-lt"/>
              <a:buAutoNum type="arabicPeriod"/>
            </a:pPr>
            <a:r>
              <a:rPr lang="bg-BG" altLang="bg-BG" sz="2800" dirty="0"/>
              <a:t>Общ вид: </a:t>
            </a:r>
          </a:p>
          <a:p>
            <a:pPr algn="ctr">
              <a:buFontTx/>
              <a:buNone/>
            </a:pPr>
            <a:r>
              <a:rPr lang="bg-BG" altLang="bg-BG" sz="2400" i="1" dirty="0"/>
              <a:t>&lt;условие1&gt;AND&lt;условие2&gt;AND.....AND&lt;условие N&gt;</a:t>
            </a:r>
            <a:r>
              <a:rPr lang="bg-BG" altLang="bg-BG" dirty="0"/>
              <a:t> 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bg-BG" altLang="bg-BG" sz="2800" dirty="0"/>
              <a:t>Елементарните условия са от вида: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bg-BG" altLang="bg-BG" sz="2800" dirty="0"/>
              <a:t>Видове съединение:</a:t>
            </a:r>
          </a:p>
          <a:p>
            <a:pPr lvl="2"/>
            <a:r>
              <a:rPr lang="bg-BG" altLang="bg-BG" dirty="0">
                <a:sym typeface="Symbol" pitchFamily="18" charset="2"/>
              </a:rPr>
              <a:t></a:t>
            </a:r>
            <a:r>
              <a:rPr lang="bg-BG" altLang="bg-BG" dirty="0"/>
              <a:t>- </a:t>
            </a:r>
            <a:r>
              <a:rPr lang="bg-BG" altLang="bg-BG" dirty="0" smtClean="0"/>
              <a:t>съединение </a:t>
            </a:r>
            <a:r>
              <a:rPr lang="en-US" altLang="bg-BG" dirty="0" smtClean="0"/>
              <a:t>- </a:t>
            </a:r>
            <a:endParaRPr lang="bg-BG" altLang="bg-BG" dirty="0"/>
          </a:p>
          <a:p>
            <a:pPr lvl="2"/>
            <a:r>
              <a:rPr lang="bg-BG" altLang="bg-BG" dirty="0"/>
              <a:t>съединение по еквивалентност </a:t>
            </a:r>
            <a:r>
              <a:rPr lang="en-US" altLang="bg-BG" dirty="0" smtClean="0"/>
              <a:t>=</a:t>
            </a:r>
            <a:r>
              <a:rPr lang="bg-BG" altLang="bg-BG" dirty="0" smtClean="0"/>
              <a:t>;</a:t>
            </a:r>
            <a:endParaRPr lang="bg-BG" altLang="bg-BG" dirty="0"/>
          </a:p>
          <a:p>
            <a:pPr lvl="2"/>
            <a:r>
              <a:rPr lang="bg-BG" altLang="bg-BG" dirty="0"/>
              <a:t>естествено съединение - </a:t>
            </a:r>
            <a:r>
              <a:rPr lang="en-US" altLang="bg-BG" dirty="0" smtClean="0"/>
              <a:t>*</a:t>
            </a:r>
            <a:r>
              <a:rPr lang="bg-BG" altLang="bg-BG" dirty="0"/>
              <a:t>;</a:t>
            </a:r>
          </a:p>
          <a:p>
            <a:pPr lvl="2"/>
            <a:r>
              <a:rPr lang="bg-BG" altLang="bg-BG" dirty="0"/>
              <a:t>ляво и дясно </a:t>
            </a:r>
            <a:r>
              <a:rPr lang="bg-BG" altLang="bg-BG" dirty="0" smtClean="0"/>
              <a:t>съединение.</a:t>
            </a:r>
            <a:endParaRPr lang="bg-BG" altLang="bg-BG" dirty="0"/>
          </a:p>
        </p:txBody>
      </p:sp>
      <p:sp>
        <p:nvSpPr>
          <p:cNvPr id="16077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607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452077"/>
              </p:ext>
            </p:extLst>
          </p:nvPr>
        </p:nvGraphicFramePr>
        <p:xfrm>
          <a:off x="6444208" y="3356992"/>
          <a:ext cx="122555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83" name="Equation" r:id="rId5" imgW="444500" imgH="241300" progId="Equation.3">
                  <p:embed/>
                </p:oleObj>
              </mc:Choice>
              <mc:Fallback>
                <p:oleObj name="Equation" r:id="rId5" imgW="4445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3356992"/>
                        <a:ext cx="1225550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2656"/>
            <a:ext cx="8243887" cy="58015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836713"/>
            <a:ext cx="8229600" cy="720079"/>
          </a:xfrm>
        </p:spPr>
        <p:txBody>
          <a:bodyPr>
            <a:normAutofit fontScale="55000" lnSpcReduction="20000"/>
          </a:bodyPr>
          <a:lstStyle/>
          <a:p>
            <a:pPr marL="609600" indent="-609600" algn="ctr">
              <a:buFontTx/>
              <a:buNone/>
            </a:pPr>
            <a:endParaRPr lang="bg-BG" altLang="bg-BG" sz="2800" dirty="0" smtClean="0">
              <a:solidFill>
                <a:srgbClr val="C00000"/>
              </a:solidFill>
            </a:endParaRPr>
          </a:p>
          <a:p>
            <a:pPr marL="609600" indent="-609600" algn="ctr">
              <a:buFontTx/>
              <a:buNone/>
            </a:pPr>
            <a:r>
              <a:rPr lang="bg-BG" altLang="bg-BG" sz="5100" dirty="0" smtClean="0">
                <a:solidFill>
                  <a:srgbClr val="C00000"/>
                </a:solidFill>
              </a:rPr>
              <a:t>Видове съединение</a:t>
            </a:r>
            <a:endParaRPr lang="en-US" altLang="bg-BG" sz="5100" dirty="0" smtClean="0">
              <a:solidFill>
                <a:srgbClr val="C00000"/>
              </a:solidFill>
            </a:endParaRPr>
          </a:p>
          <a:p>
            <a:pPr marL="609600" indent="-609600" algn="ctr">
              <a:buFontTx/>
              <a:buNone/>
            </a:pPr>
            <a:endParaRPr lang="bg-BG" altLang="bg-BG" sz="8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 startAt="5"/>
            </a:pPr>
            <a:endParaRPr lang="bg-BG" altLang="bg-BG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71F97-0722-4E04-B696-972EC9298D16}" type="slidenum">
              <a:rPr lang="bg-BG" altLang="bg-BG"/>
              <a:pPr/>
              <a:t>24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560627"/>
            <a:ext cx="4896544" cy="457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790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2656"/>
            <a:ext cx="8243887" cy="58015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idx="1"/>
          </p:nvPr>
        </p:nvSpPr>
        <p:spPr>
          <a:xfrm>
            <a:off x="172329" y="1068896"/>
            <a:ext cx="8229600" cy="847935"/>
          </a:xfrm>
        </p:spPr>
        <p:txBody>
          <a:bodyPr>
            <a:normAutofit/>
          </a:bodyPr>
          <a:lstStyle/>
          <a:p>
            <a:pPr marL="609600" indent="-609600" algn="ctr"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Пример за ляво съединение</a:t>
            </a:r>
            <a:endParaRPr lang="en-US" altLang="bg-BG" sz="2800" dirty="0" smtClean="0">
              <a:solidFill>
                <a:srgbClr val="C00000"/>
              </a:solidFill>
            </a:endParaRPr>
          </a:p>
          <a:p>
            <a:pPr marL="609600" indent="-609600" algn="ctr">
              <a:buFontTx/>
              <a:buNone/>
            </a:pPr>
            <a:endParaRPr lang="bg-BG" altLang="bg-BG" sz="8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 startAt="5"/>
            </a:pPr>
            <a:endParaRPr lang="bg-BG" altLang="bg-BG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71F97-0722-4E04-B696-972EC9298D16}" type="slidenum">
              <a:rPr lang="bg-BG" altLang="bg-BG"/>
              <a:pPr/>
              <a:t>25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03" y="1772816"/>
            <a:ext cx="7706326" cy="331236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2656"/>
            <a:ext cx="8243887" cy="58015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836713"/>
            <a:ext cx="8229600" cy="720079"/>
          </a:xfrm>
        </p:spPr>
        <p:txBody>
          <a:bodyPr>
            <a:normAutofit fontScale="55000" lnSpcReduction="20000"/>
          </a:bodyPr>
          <a:lstStyle/>
          <a:p>
            <a:pPr marL="609600" indent="-609600" algn="ctr">
              <a:buFontTx/>
              <a:buNone/>
            </a:pPr>
            <a:endParaRPr lang="bg-BG" altLang="bg-BG" sz="2800" dirty="0" smtClean="0">
              <a:solidFill>
                <a:srgbClr val="C00000"/>
              </a:solidFill>
            </a:endParaRPr>
          </a:p>
          <a:p>
            <a:pPr marL="609600" indent="-609600" algn="ctr">
              <a:buFontTx/>
              <a:buNone/>
            </a:pPr>
            <a:r>
              <a:rPr lang="bg-BG" altLang="bg-BG" sz="5100" dirty="0" smtClean="0">
                <a:solidFill>
                  <a:srgbClr val="C00000"/>
                </a:solidFill>
              </a:rPr>
              <a:t>Пример за дясно съединение</a:t>
            </a:r>
            <a:endParaRPr lang="en-US" altLang="bg-BG" sz="5100" dirty="0" smtClean="0">
              <a:solidFill>
                <a:srgbClr val="C00000"/>
              </a:solidFill>
            </a:endParaRPr>
          </a:p>
          <a:p>
            <a:pPr marL="609600" indent="-609600" algn="ctr">
              <a:buFontTx/>
              <a:buNone/>
            </a:pPr>
            <a:endParaRPr lang="bg-BG" altLang="bg-BG" sz="8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 startAt="5"/>
            </a:pPr>
            <a:endParaRPr lang="bg-BG" altLang="bg-BG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71F97-0722-4E04-B696-972EC9298D16}" type="slidenum">
              <a:rPr lang="bg-BG" altLang="bg-BG"/>
              <a:pPr/>
              <a:t>26</a:t>
            </a:fld>
            <a:endParaRPr lang="bg-BG" altLang="bg-BG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506" y="1416870"/>
            <a:ext cx="5724501" cy="474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7135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2656"/>
            <a:ext cx="8243887" cy="58015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836712"/>
            <a:ext cx="8229600" cy="4896543"/>
          </a:xfrm>
        </p:spPr>
        <p:txBody>
          <a:bodyPr>
            <a:normAutofit lnSpcReduction="10000"/>
          </a:bodyPr>
          <a:lstStyle/>
          <a:p>
            <a:pPr marL="609600" indent="-609600" algn="ctr"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Характеристики на операцията съединение</a:t>
            </a:r>
            <a:endParaRPr lang="en-US" altLang="bg-BG" sz="2800" dirty="0" smtClean="0">
              <a:solidFill>
                <a:srgbClr val="C00000"/>
              </a:solidFill>
            </a:endParaRPr>
          </a:p>
          <a:p>
            <a:pPr marL="609600" indent="-609600" algn="ctr">
              <a:buFontTx/>
              <a:buNone/>
            </a:pPr>
            <a:endParaRPr lang="bg-BG" altLang="bg-BG" sz="8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bg-BG" altLang="bg-BG" sz="2800" dirty="0"/>
              <a:t>Операцията е бинарна и комутативна.</a:t>
            </a:r>
            <a:endParaRPr lang="en-US" altLang="bg-BG" sz="2800" dirty="0"/>
          </a:p>
          <a:p>
            <a:pPr marL="228600" indent="-228600">
              <a:buFont typeface="+mj-lt"/>
              <a:buAutoNum type="arabicPeriod" startAt="5"/>
            </a:pPr>
            <a:endParaRPr lang="bg-BG" altLang="bg-BG" sz="900" dirty="0"/>
          </a:p>
          <a:p>
            <a:pPr marL="514350" indent="-514350">
              <a:buFont typeface="+mj-lt"/>
              <a:buAutoNum type="arabicPeriod" startAt="5"/>
            </a:pPr>
            <a:r>
              <a:rPr lang="bg-BG" altLang="bg-BG" sz="2800" dirty="0"/>
              <a:t>В общия случай, ако </a:t>
            </a:r>
            <a:r>
              <a:rPr lang="bg-BG" altLang="bg-BG" sz="2800" i="1" dirty="0"/>
              <a:t>R</a:t>
            </a:r>
            <a:r>
              <a:rPr lang="bg-BG" altLang="bg-BG" sz="2800" dirty="0"/>
              <a:t> има </a:t>
            </a:r>
            <a:r>
              <a:rPr lang="bg-BG" altLang="bg-BG" sz="2800" i="1" dirty="0"/>
              <a:t>n</a:t>
            </a:r>
            <a:r>
              <a:rPr lang="bg-BG" altLang="bg-BG" sz="2800" i="1" baseline="-25000" dirty="0"/>
              <a:t>R</a:t>
            </a:r>
            <a:r>
              <a:rPr lang="bg-BG" altLang="bg-BG" sz="2800" dirty="0"/>
              <a:t> кортежа, а </a:t>
            </a:r>
            <a:r>
              <a:rPr lang="bg-BG" altLang="bg-BG" sz="2800" i="1" dirty="0"/>
              <a:t>S</a:t>
            </a:r>
            <a:r>
              <a:rPr lang="bg-BG" altLang="bg-BG" sz="2800" dirty="0"/>
              <a:t> - </a:t>
            </a:r>
            <a:r>
              <a:rPr lang="bg-BG" altLang="bg-BG" sz="2800" i="1" dirty="0"/>
              <a:t>n</a:t>
            </a:r>
            <a:r>
              <a:rPr lang="bg-BG" altLang="bg-BG" sz="2800" i="1" baseline="-25000" dirty="0"/>
              <a:t>S</a:t>
            </a:r>
            <a:r>
              <a:rPr lang="bg-BG" altLang="bg-BG" sz="2800" i="1" dirty="0"/>
              <a:t>,</a:t>
            </a:r>
            <a:r>
              <a:rPr lang="bg-BG" altLang="bg-BG" sz="2800" dirty="0"/>
              <a:t> то резултатното отношение ще има между нула и </a:t>
            </a:r>
            <a:r>
              <a:rPr lang="bg-BG" altLang="bg-BG" sz="2800" i="1" dirty="0"/>
              <a:t>n</a:t>
            </a:r>
            <a:r>
              <a:rPr lang="bg-BG" altLang="bg-BG" sz="2800" i="1" baseline="-25000" dirty="0"/>
              <a:t>R</a:t>
            </a:r>
            <a:r>
              <a:rPr lang="bg-BG" altLang="bg-BG" sz="2800" i="1" dirty="0"/>
              <a:t>*n</a:t>
            </a:r>
            <a:r>
              <a:rPr lang="bg-BG" altLang="bg-BG" sz="2800" i="1" baseline="-25000" dirty="0"/>
              <a:t>S</a:t>
            </a:r>
            <a:r>
              <a:rPr lang="bg-BG" altLang="bg-BG" sz="2800" dirty="0"/>
              <a:t> реда. </a:t>
            </a:r>
            <a:endParaRPr lang="en-US" altLang="bg-BG" sz="2800" dirty="0"/>
          </a:p>
          <a:p>
            <a:pPr marL="228600" indent="-228600">
              <a:buFont typeface="+mj-lt"/>
              <a:buAutoNum type="arabicPeriod" startAt="5"/>
            </a:pPr>
            <a:endParaRPr lang="en-US" altLang="bg-BG" sz="900" dirty="0"/>
          </a:p>
          <a:p>
            <a:pPr marL="514350" indent="-514350">
              <a:buFont typeface="+mj-lt"/>
              <a:buAutoNum type="arabicPeriod" startAt="5"/>
            </a:pPr>
            <a:r>
              <a:rPr lang="bg-BG" altLang="bg-BG" sz="2800" dirty="0"/>
              <a:t>Ако не се укаже условие за съединение, всички възможни комбинации на кортежи се записват в резултата и съединението става еквивалентно на операцията </a:t>
            </a:r>
            <a:r>
              <a:rPr lang="bg-BG" altLang="bg-BG" sz="2800" dirty="0">
                <a:solidFill>
                  <a:srgbClr val="C00000"/>
                </a:solidFill>
              </a:rPr>
              <a:t>декартово произведение</a:t>
            </a:r>
            <a:r>
              <a:rPr lang="bg-BG" altLang="bg-BG" sz="2800" dirty="0"/>
              <a:t> между две релации.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71F97-0722-4E04-B696-972EC9298D16}" type="slidenum">
              <a:rPr lang="bg-BG" altLang="bg-BG"/>
              <a:pPr/>
              <a:t>27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6750768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664"/>
            <a:ext cx="8243887" cy="581174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052736"/>
            <a:ext cx="8229600" cy="4464273"/>
          </a:xfrm>
        </p:spPr>
        <p:txBody>
          <a:bodyPr>
            <a:normAutofit lnSpcReduction="10000"/>
          </a:bodyPr>
          <a:lstStyle/>
          <a:p>
            <a:pPr algn="ctr"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Множествени операции</a:t>
            </a:r>
          </a:p>
          <a:p>
            <a:pPr algn="ctr">
              <a:buFontTx/>
              <a:buNone/>
            </a:pPr>
            <a:endParaRPr lang="en-US" altLang="bg-BG" sz="12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altLang="bg-BG" sz="2800" dirty="0"/>
              <a:t>За сливане на елементи от две множества се прилагат операциите: сечение </a:t>
            </a:r>
            <a:r>
              <a:rPr lang="bg-BG" altLang="bg-BG" sz="2800" dirty="0" smtClean="0">
                <a:latin typeface="Symbol" pitchFamily="18" charset="2"/>
              </a:rPr>
              <a:t>Ç </a:t>
            </a:r>
            <a:r>
              <a:rPr lang="bg-BG" altLang="bg-BG" sz="2800" dirty="0" smtClean="0"/>
              <a:t>, </a:t>
            </a:r>
            <a:r>
              <a:rPr lang="bg-BG" altLang="bg-BG" sz="2800" dirty="0"/>
              <a:t>обединение </a:t>
            </a:r>
            <a:r>
              <a:rPr lang="bg-BG" altLang="bg-BG" sz="2800" dirty="0">
                <a:latin typeface="Symbol" pitchFamily="18" charset="2"/>
              </a:rPr>
              <a:t>È</a:t>
            </a:r>
            <a:r>
              <a:rPr lang="bg-BG" altLang="bg-BG" sz="2800" dirty="0"/>
              <a:t> </a:t>
            </a:r>
            <a:r>
              <a:rPr lang="bg-BG" altLang="bg-BG" sz="2800" dirty="0" smtClean="0"/>
              <a:t> и </a:t>
            </a:r>
            <a:r>
              <a:rPr lang="bg-BG" altLang="bg-BG" sz="2800" dirty="0"/>
              <a:t>разлика </a:t>
            </a:r>
            <a:r>
              <a:rPr lang="bg-BG" altLang="bg-BG" sz="2800" dirty="0" smtClean="0">
                <a:latin typeface="Symbol" pitchFamily="18" charset="2"/>
                <a:sym typeface="Symbol" pitchFamily="18" charset="2"/>
              </a:rPr>
              <a:t>.</a:t>
            </a:r>
            <a:endParaRPr lang="en-US" altLang="bg-BG" sz="2800" dirty="0"/>
          </a:p>
          <a:p>
            <a:pPr marL="514350" indent="-514350">
              <a:buFont typeface="+mj-lt"/>
              <a:buAutoNum type="arabicPeriod"/>
            </a:pPr>
            <a:r>
              <a:rPr lang="bg-BG" altLang="bg-BG" sz="2800" dirty="0"/>
              <a:t>Двете изходни отношения трябва да са </a:t>
            </a:r>
            <a:r>
              <a:rPr lang="bg-BG" altLang="bg-BG" sz="2800" dirty="0">
                <a:solidFill>
                  <a:srgbClr val="C00000"/>
                </a:solidFill>
              </a:rPr>
              <a:t>съвместими по обединение </a:t>
            </a:r>
            <a:r>
              <a:rPr lang="bg-BG" altLang="bg-BG" sz="2800" dirty="0"/>
              <a:t>(</a:t>
            </a:r>
            <a:r>
              <a:rPr lang="en-US" altLang="bg-BG" sz="2800" dirty="0"/>
              <a:t>union compatible</a:t>
            </a:r>
            <a:r>
              <a:rPr lang="bg-BG" altLang="bg-BG" sz="2800" dirty="0" smtClean="0"/>
              <a:t>), </a:t>
            </a:r>
            <a:r>
              <a:rPr lang="bg-BG" altLang="bg-BG" sz="2800" dirty="0"/>
              <a:t>т.е. </a:t>
            </a:r>
          </a:p>
          <a:p>
            <a:pPr lvl="2">
              <a:buFont typeface="Wingdings" pitchFamily="2" charset="2"/>
              <a:buChar char="Ø"/>
            </a:pPr>
            <a:r>
              <a:rPr lang="bg-BG" altLang="bg-BG" sz="2400" dirty="0"/>
              <a:t>да имат еднакъв брой </a:t>
            </a:r>
            <a:r>
              <a:rPr lang="bg-BG" altLang="bg-BG" sz="2400" dirty="0" smtClean="0"/>
              <a:t>атрибути;</a:t>
            </a:r>
            <a:endParaRPr lang="bg-BG" altLang="bg-BG" sz="2400" dirty="0"/>
          </a:p>
          <a:p>
            <a:pPr lvl="2">
              <a:buFont typeface="Wingdings" pitchFamily="2" charset="2"/>
              <a:buChar char="Ø"/>
            </a:pPr>
            <a:r>
              <a:rPr lang="bg-BG" altLang="bg-BG" sz="2400" dirty="0"/>
              <a:t>съответните атрибути да приемат стойности от един и същ </a:t>
            </a:r>
            <a:r>
              <a:rPr lang="bg-BG" altLang="bg-BG" sz="2400" dirty="0" smtClean="0"/>
              <a:t>домейн.</a:t>
            </a:r>
            <a:endParaRPr lang="bg-BG" altLang="bg-BG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E59AE-FF91-4EB6-AA29-42382CE0E465}" type="slidenum">
              <a:rPr lang="bg-BG" altLang="bg-BG"/>
              <a:pPr/>
              <a:t>28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60647"/>
            <a:ext cx="8243888" cy="58072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6998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836613"/>
            <a:ext cx="8229600" cy="1871662"/>
          </a:xfrm>
        </p:spPr>
        <p:txBody>
          <a:bodyPr/>
          <a:lstStyle/>
          <a:p>
            <a:pPr algn="ctr"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Примери на сечение и обединение</a:t>
            </a:r>
          </a:p>
          <a:p>
            <a:pPr>
              <a:buFontTx/>
              <a:buNone/>
            </a:pPr>
            <a:r>
              <a:rPr lang="bg-BG" altLang="bg-BG" sz="2400" dirty="0"/>
              <a:t>Дадени са отношенията </a:t>
            </a:r>
            <a:r>
              <a:rPr lang="en-US" altLang="bg-BG" sz="2400" dirty="0"/>
              <a:t>STUDENT </a:t>
            </a:r>
            <a:r>
              <a:rPr lang="bg-BG" altLang="bg-BG" sz="2400" dirty="0"/>
              <a:t>и </a:t>
            </a:r>
            <a:r>
              <a:rPr lang="en-US" altLang="bg-BG" sz="2400" dirty="0"/>
              <a:t>INSTRUCTOR</a:t>
            </a:r>
            <a:r>
              <a:rPr lang="bg-BG" altLang="bg-BG" sz="2400" dirty="0"/>
              <a:t> – </a:t>
            </a:r>
            <a:r>
              <a:rPr lang="bg-BG" altLang="bg-BG" sz="2400" dirty="0" smtClean="0"/>
              <a:t>вж.(а</a:t>
            </a:r>
            <a:r>
              <a:rPr lang="bg-BG" altLang="bg-BG" sz="2400" dirty="0"/>
              <a:t>)</a:t>
            </a:r>
          </a:p>
          <a:p>
            <a:r>
              <a:rPr lang="bg-BG" altLang="bg-BG" sz="2400" dirty="0"/>
              <a:t>STUDENT </a:t>
            </a:r>
            <a:r>
              <a:rPr lang="bg-BG" altLang="bg-BG" sz="2400" i="1" dirty="0">
                <a:latin typeface="Symbol" panose="05050102010706020507" pitchFamily="18" charset="2"/>
              </a:rPr>
              <a:t>È</a:t>
            </a:r>
            <a:r>
              <a:rPr lang="bg-BG" altLang="bg-BG" sz="2400" dirty="0"/>
              <a:t> </a:t>
            </a:r>
            <a:r>
              <a:rPr lang="bg-BG" altLang="bg-BG" sz="2400" dirty="0" smtClean="0"/>
              <a:t>INSTRUCTOR – вж.(</a:t>
            </a:r>
            <a:r>
              <a:rPr lang="en-US" altLang="bg-BG" sz="2400" dirty="0"/>
              <a:t>b</a:t>
            </a:r>
            <a:r>
              <a:rPr lang="bg-BG" altLang="bg-BG" sz="2400" dirty="0"/>
              <a:t>)</a:t>
            </a:r>
          </a:p>
          <a:p>
            <a:r>
              <a:rPr lang="bg-BG" altLang="bg-BG" sz="2400" dirty="0"/>
              <a:t>STUDENT </a:t>
            </a:r>
            <a:r>
              <a:rPr lang="bg-BG" altLang="bg-BG" sz="2400" i="1" dirty="0"/>
              <a:t> </a:t>
            </a:r>
            <a:r>
              <a:rPr lang="bg-BG" altLang="bg-BG" sz="2400" i="1" dirty="0">
                <a:latin typeface="Symbol" pitchFamily="18" charset="2"/>
              </a:rPr>
              <a:t>Ç</a:t>
            </a:r>
            <a:r>
              <a:rPr lang="bg-BG" altLang="bg-BG" sz="2400" dirty="0"/>
              <a:t> INSTRUCTOR </a:t>
            </a:r>
            <a:r>
              <a:rPr lang="bg-BG" altLang="bg-BG" sz="2400" dirty="0" smtClean="0"/>
              <a:t>– вж.(</a:t>
            </a:r>
            <a:r>
              <a:rPr lang="en-US" altLang="bg-BG" sz="2400" dirty="0"/>
              <a:t>c</a:t>
            </a:r>
            <a:r>
              <a:rPr lang="bg-BG" altLang="bg-BG" sz="2400" dirty="0"/>
              <a:t>)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55276-EA18-412B-8883-AC9AEF71A1E0}" type="slidenum">
              <a:rPr lang="bg-BG" altLang="bg-BG"/>
              <a:pPr/>
              <a:t>29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195736" y="2708275"/>
            <a:ext cx="4824536" cy="341455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404664"/>
            <a:ext cx="8243887" cy="507702"/>
          </a:xfrm>
        </p:spPr>
        <p:txBody>
          <a:bodyPr>
            <a:normAutofit fontScale="90000"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973791"/>
            <a:ext cx="8229600" cy="4248472"/>
          </a:xfrm>
        </p:spPr>
        <p:txBody>
          <a:bodyPr/>
          <a:lstStyle/>
          <a:p>
            <a:pPr algn="ctr"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Декартово произведение</a:t>
            </a:r>
          </a:p>
          <a:p>
            <a:pPr marL="514350" indent="-514350">
              <a:buFont typeface="+mj-lt"/>
              <a:buAutoNum type="arabicPeriod"/>
            </a:pPr>
            <a:r>
              <a:rPr lang="bg-BG" altLang="bg-BG" sz="2800" dirty="0"/>
              <a:t>Не се изисква отношенията да бъдат съвместими по обединение. </a:t>
            </a:r>
          </a:p>
          <a:p>
            <a:pPr marL="514350" indent="-514350">
              <a:buFont typeface="+mj-lt"/>
              <a:buAutoNum type="arabicPeriod"/>
            </a:pPr>
            <a:r>
              <a:rPr lang="bg-BG" altLang="bg-BG" sz="2800" dirty="0"/>
              <a:t>Операцията комбинира кортежи от две релации</a:t>
            </a:r>
          </a:p>
          <a:p>
            <a:pPr>
              <a:buFontTx/>
              <a:buNone/>
            </a:pPr>
            <a:r>
              <a:rPr lang="bg-BG" altLang="bg-BG" sz="2800" dirty="0"/>
              <a:t> </a:t>
            </a:r>
            <a:r>
              <a:rPr lang="bg-BG" altLang="bg-BG" sz="2800" dirty="0" smtClean="0"/>
              <a:t>                                 и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bg-BG" altLang="bg-BG" sz="2800" dirty="0" smtClean="0"/>
              <a:t>Резултатът е ново отношение с релационна схема </a:t>
            </a:r>
            <a:r>
              <a:rPr lang="bg-BG" altLang="bg-BG" sz="2800" i="1" dirty="0" smtClean="0"/>
              <a:t>Q</a:t>
            </a:r>
            <a:r>
              <a:rPr lang="bg-BG" altLang="bg-BG" sz="2800" dirty="0" smtClean="0"/>
              <a:t>, която е изградена от m+n атрибути.</a:t>
            </a:r>
          </a:p>
          <a:p>
            <a:pPr marL="514350" indent="-514350">
              <a:buFont typeface="+mj-lt"/>
              <a:buAutoNum type="arabicPeriod" startAt="3"/>
            </a:pPr>
            <a:endParaRPr lang="bg-BG" altLang="bg-BG" sz="280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CDD2-7B87-4E5F-A663-2E7B0742A1F0}" type="slidenum">
              <a:rPr lang="bg-BG" altLang="bg-BG"/>
              <a:pPr/>
              <a:t>30</a:t>
            </a:fld>
            <a:endParaRPr lang="bg-BG" altLang="bg-BG"/>
          </a:p>
        </p:txBody>
      </p:sp>
      <p:sp>
        <p:nvSpPr>
          <p:cNvPr id="17101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71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18361"/>
              </p:ext>
            </p:extLst>
          </p:nvPr>
        </p:nvGraphicFramePr>
        <p:xfrm>
          <a:off x="1115616" y="3140968"/>
          <a:ext cx="216058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74" name="Equation" r:id="rId3" imgW="1002865" imgH="228501" progId="Equation.3">
                  <p:embed/>
                </p:oleObj>
              </mc:Choice>
              <mc:Fallback>
                <p:oleObj name="Equation" r:id="rId3" imgW="1002865" imgH="2285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140968"/>
                        <a:ext cx="2160588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710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742734"/>
              </p:ext>
            </p:extLst>
          </p:nvPr>
        </p:nvGraphicFramePr>
        <p:xfrm>
          <a:off x="3635896" y="3140968"/>
          <a:ext cx="223202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75" name="Equation" r:id="rId5" imgW="1016000" imgH="228600" progId="Equation.3">
                  <p:embed/>
                </p:oleObj>
              </mc:Choice>
              <mc:Fallback>
                <p:oleObj name="Equation" r:id="rId5" imgW="10160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3140968"/>
                        <a:ext cx="2232025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710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274575"/>
              </p:ext>
            </p:extLst>
          </p:nvPr>
        </p:nvGraphicFramePr>
        <p:xfrm>
          <a:off x="2492042" y="4627544"/>
          <a:ext cx="33845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76" name="Equation" r:id="rId7" imgW="1612900" imgH="228600" progId="Equation.3">
                  <p:embed/>
                </p:oleObj>
              </mc:Choice>
              <mc:Fallback>
                <p:oleObj name="Equation" r:id="rId7" imgW="16129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042" y="4627544"/>
                        <a:ext cx="338455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76672"/>
            <a:ext cx="8243887" cy="581174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Операции на релационната алгебра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6790-8C4D-4C1C-AE89-8C16CBF40A55}" type="slidenum">
              <a:rPr lang="bg-BG" altLang="bg-BG"/>
              <a:pPr/>
              <a:t>31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151" y="1236425"/>
            <a:ext cx="7916656" cy="447001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04664"/>
            <a:ext cx="8243887" cy="581174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Операции на релационната </a:t>
            </a:r>
            <a:r>
              <a:rPr lang="bg-BG" altLang="bg-BG" sz="3200" dirty="0">
                <a:solidFill>
                  <a:schemeClr val="accent1"/>
                </a:solidFill>
              </a:rPr>
              <a:t>алгебра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6376" y="5805264"/>
            <a:ext cx="762000" cy="365125"/>
          </a:xfrm>
        </p:spPr>
        <p:txBody>
          <a:bodyPr/>
          <a:lstStyle/>
          <a:p>
            <a:fld id="{2C006790-8C4D-4C1C-AE89-8C16CBF40A55}" type="slidenum">
              <a:rPr lang="bg-BG" altLang="bg-BG"/>
              <a:pPr/>
              <a:t>32</a:t>
            </a:fld>
            <a:endParaRPr lang="bg-BG" altLang="bg-BG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5150" y="1164208"/>
            <a:ext cx="7224162" cy="479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5266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2656"/>
            <a:ext cx="8243887" cy="580157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Релационна алгебра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980728"/>
            <a:ext cx="8229600" cy="3167956"/>
          </a:xfrm>
        </p:spPr>
        <p:txBody>
          <a:bodyPr/>
          <a:lstStyle/>
          <a:p>
            <a:pPr marL="609600" indent="-609600" algn="ctr"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Допълнителни релационни операции</a:t>
            </a:r>
          </a:p>
          <a:p>
            <a:pPr marL="609600" indent="-609600" algn="ctr">
              <a:buFontTx/>
              <a:buNone/>
            </a:pPr>
            <a:endParaRPr lang="bg-BG" altLang="bg-BG" sz="800" dirty="0">
              <a:solidFill>
                <a:schemeClr val="accent2"/>
              </a:solidFill>
            </a:endParaRPr>
          </a:p>
          <a:p>
            <a:pPr marL="609600" indent="-609600">
              <a:buFontTx/>
              <a:buAutoNum type="arabicPeriod"/>
            </a:pPr>
            <a:r>
              <a:rPr lang="bg-BG" altLang="bg-BG" sz="2800" dirty="0"/>
              <a:t>Агрегатни функции - </a:t>
            </a:r>
            <a:r>
              <a:rPr lang="bg-BG" altLang="bg-BG" sz="2400" dirty="0"/>
              <a:t>SUM, MAXIMUM, MINIMUM, AVERAGE, </a:t>
            </a:r>
            <a:r>
              <a:rPr lang="bg-BG" altLang="bg-BG" sz="2400" dirty="0" smtClean="0"/>
              <a:t>COUNT. </a:t>
            </a:r>
            <a:endParaRPr lang="bg-BG" altLang="bg-BG" sz="2400" dirty="0"/>
          </a:p>
          <a:p>
            <a:pPr marL="609600" indent="-609600">
              <a:buFontTx/>
              <a:buAutoNum type="arabicPeriod"/>
            </a:pPr>
            <a:r>
              <a:rPr lang="bg-BG" altLang="bg-BG" sz="2800" dirty="0" smtClean="0"/>
              <a:t>Групиране.</a:t>
            </a:r>
            <a:endParaRPr lang="bg-BG" altLang="bg-BG" sz="2800" dirty="0"/>
          </a:p>
          <a:p>
            <a:pPr marL="609600" indent="-609600">
              <a:buFontTx/>
              <a:buAutoNum type="arabicPeriod"/>
            </a:pPr>
            <a:r>
              <a:rPr lang="bg-BG" altLang="bg-BG" sz="2800" dirty="0"/>
              <a:t>Рекурсивна </a:t>
            </a:r>
            <a:r>
              <a:rPr lang="bg-BG" altLang="bg-BG" sz="2800" dirty="0" smtClean="0"/>
              <a:t>обвивка.</a:t>
            </a:r>
            <a:endParaRPr lang="bg-BG" altLang="bg-BG" sz="2800" dirty="0"/>
          </a:p>
          <a:p>
            <a:pPr marL="0" indent="0">
              <a:buNone/>
            </a:pPr>
            <a:r>
              <a:rPr lang="bg-BG" altLang="bg-BG" sz="2800" dirty="0" smtClean="0"/>
              <a:t>Ще бъдат илюстрирани с езика</a:t>
            </a:r>
            <a:r>
              <a:rPr lang="en-US" altLang="bg-BG" sz="2800" dirty="0" smtClean="0"/>
              <a:t> SQL.</a:t>
            </a:r>
            <a:endParaRPr lang="bg-BG" altLang="bg-BG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7F4D4-AEC9-4335-A944-20DEBA08255D}" type="slidenum">
              <a:rPr lang="bg-BG" altLang="bg-BG"/>
              <a:pPr/>
              <a:t>33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47663"/>
            <a:ext cx="8243887" cy="1412776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rgbClr val="C00000"/>
                </a:solidFill>
              </a:rPr>
              <a:t>Правила на Код за релационни бази</a:t>
            </a:r>
            <a:br>
              <a:rPr lang="bg-BG" altLang="bg-BG" sz="3200" dirty="0">
                <a:solidFill>
                  <a:srgbClr val="C00000"/>
                </a:solidFill>
              </a:rPr>
            </a:b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980728"/>
            <a:ext cx="8229600" cy="3167956"/>
          </a:xfrm>
        </p:spPr>
        <p:txBody>
          <a:bodyPr/>
          <a:lstStyle/>
          <a:p>
            <a:pPr marL="609600" indent="-609600" algn="ctr">
              <a:buFontTx/>
              <a:buNone/>
            </a:pPr>
            <a:endParaRPr lang="bg-BG" altLang="bg-BG" sz="800" dirty="0">
              <a:solidFill>
                <a:schemeClr val="accent2"/>
              </a:solidFill>
            </a:endParaRPr>
          </a:p>
          <a:p>
            <a:pPr marL="609600" indent="-609600">
              <a:buFontTx/>
              <a:buAutoNum type="arabicPeriod"/>
            </a:pPr>
            <a:endParaRPr lang="bg-BG" altLang="bg-BG" sz="2800" dirty="0" smtClean="0"/>
          </a:p>
          <a:p>
            <a:pPr marL="0" indent="0">
              <a:buNone/>
            </a:pPr>
            <a:endParaRPr lang="bg-BG" altLang="bg-BG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7F4D4-AEC9-4335-A944-20DEBA08255D}" type="slidenum">
              <a:rPr lang="bg-BG" altLang="bg-BG"/>
              <a:pPr/>
              <a:t>34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01" y="1459197"/>
            <a:ext cx="7217686" cy="309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005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04664"/>
            <a:ext cx="8243887" cy="581744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Кога СУБД е наистина релационна?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49307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bg-BG" altLang="bg-BG" sz="2400" i="1" dirty="0">
                <a:solidFill>
                  <a:srgbClr val="C00000"/>
                </a:solidFill>
              </a:rPr>
              <a:t>Основно правило: </a:t>
            </a:r>
            <a:r>
              <a:rPr lang="bg-BG" altLang="bg-BG" sz="2400" dirty="0"/>
              <a:t>Всяка релационна СУБД трябва да може да управлява базите от данни посредством възможностите на релационния модел.</a:t>
            </a:r>
          </a:p>
          <a:p>
            <a:pPr>
              <a:lnSpc>
                <a:spcPct val="90000"/>
              </a:lnSpc>
              <a:buFontTx/>
              <a:buNone/>
            </a:pPr>
            <a:endParaRPr lang="bg-BG" altLang="bg-BG" sz="800" i="1" dirty="0"/>
          </a:p>
          <a:p>
            <a:pPr>
              <a:lnSpc>
                <a:spcPct val="90000"/>
              </a:lnSpc>
              <a:buFontTx/>
              <a:buNone/>
            </a:pPr>
            <a:r>
              <a:rPr lang="bg-BG" altLang="bg-BG" sz="2400" i="1" dirty="0">
                <a:solidFill>
                  <a:srgbClr val="C00000"/>
                </a:solidFill>
              </a:rPr>
              <a:t>Правило 1:</a:t>
            </a:r>
            <a:r>
              <a:rPr lang="bg-BG" altLang="bg-BG" sz="2400" i="1" dirty="0"/>
              <a:t> Представяне на информацията.</a:t>
            </a:r>
            <a:endParaRPr lang="bg-BG" altLang="bg-BG" sz="2400" dirty="0"/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Цялата информация в релационната база от данни се представя на логическо ниво и по единствен начин – чрез стойности в таблици.</a:t>
            </a:r>
            <a:endParaRPr lang="bg-BG" altLang="bg-BG" sz="2000" i="1" dirty="0"/>
          </a:p>
          <a:p>
            <a:pPr>
              <a:lnSpc>
                <a:spcPct val="90000"/>
              </a:lnSpc>
              <a:buFontTx/>
              <a:buNone/>
            </a:pPr>
            <a:r>
              <a:rPr lang="bg-BG" altLang="bg-BG" sz="2400" i="1" dirty="0">
                <a:solidFill>
                  <a:srgbClr val="C00000"/>
                </a:solidFill>
              </a:rPr>
              <a:t>Правило 2:</a:t>
            </a:r>
            <a:r>
              <a:rPr lang="bg-BG" altLang="bg-BG" sz="2400" i="1" dirty="0"/>
              <a:t> Гарантиран достъп.</a:t>
            </a:r>
            <a:endParaRPr lang="bg-BG" altLang="bg-BG" sz="2400" dirty="0"/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Всяка атомарна стойност в релационната база е логически достижима чрез името на таблицата, стойността на главния ключ и името на колоната.</a:t>
            </a:r>
            <a:endParaRPr lang="bg-BG" altLang="bg-BG" sz="2000" i="1" dirty="0"/>
          </a:p>
          <a:p>
            <a:pPr>
              <a:lnSpc>
                <a:spcPct val="90000"/>
              </a:lnSpc>
              <a:buFontTx/>
              <a:buNone/>
            </a:pPr>
            <a:r>
              <a:rPr lang="bg-BG" altLang="bg-BG" sz="2400" i="1" dirty="0">
                <a:solidFill>
                  <a:srgbClr val="C00000"/>
                </a:solidFill>
              </a:rPr>
              <a:t>Правило 3:</a:t>
            </a:r>
            <a:r>
              <a:rPr lang="bg-BG" altLang="bg-BG" sz="2400" i="1" dirty="0"/>
              <a:t> Системно третиране на стойностите </a:t>
            </a:r>
            <a:r>
              <a:rPr lang="en-US" altLang="bg-BG" sz="2400" i="1" dirty="0"/>
              <a:t>null</a:t>
            </a:r>
            <a:r>
              <a:rPr lang="bg-BG" altLang="bg-BG" sz="2400" dirty="0"/>
              <a:t>.</a:t>
            </a:r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Стойностите </a:t>
            </a:r>
            <a:r>
              <a:rPr lang="en-US" altLang="bg-BG" sz="2000" i="1" dirty="0"/>
              <a:t>null</a:t>
            </a:r>
            <a:r>
              <a:rPr lang="bg-BG" altLang="bg-BG" sz="2000" dirty="0"/>
              <a:t> се поддържат от СУБД по системен път, независимо от типовете на данни.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08CC-29A3-45CA-995C-6BC3B04953B0}" type="slidenum">
              <a:rPr lang="bg-BG" altLang="bg-BG"/>
              <a:pPr/>
              <a:t>35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664"/>
            <a:ext cx="8243887" cy="509736"/>
          </a:xfrm>
        </p:spPr>
        <p:txBody>
          <a:bodyPr>
            <a:noAutofit/>
          </a:bodyPr>
          <a:lstStyle/>
          <a:p>
            <a:pPr marL="685800" indent="-685800" algn="ctr"/>
            <a:r>
              <a:rPr lang="bg-BG" altLang="bg-BG" sz="3200" dirty="0">
                <a:solidFill>
                  <a:schemeClr val="accent1"/>
                </a:solidFill>
              </a:rPr>
              <a:t>Кога СУБД е наистина релационна?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908720"/>
            <a:ext cx="8229600" cy="4824759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bg-BG" altLang="bg-BG" sz="2400" i="1" dirty="0">
                <a:solidFill>
                  <a:srgbClr val="C00000"/>
                </a:solidFill>
              </a:rPr>
              <a:t>Правило 4:</a:t>
            </a:r>
            <a:r>
              <a:rPr lang="bg-BG" altLang="bg-BG" sz="2400" i="1" dirty="0"/>
              <a:t> Динамичен интерактивен каталог.</a:t>
            </a:r>
            <a:endParaRPr lang="bg-BG" altLang="bg-BG" sz="2400" dirty="0"/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Описанието на данните се представя на логическо ниво по същия начин както и самите данни.</a:t>
            </a:r>
            <a:endParaRPr lang="bg-BG" altLang="bg-BG" sz="2000" i="1" dirty="0"/>
          </a:p>
          <a:p>
            <a:pPr>
              <a:lnSpc>
                <a:spcPct val="90000"/>
              </a:lnSpc>
              <a:buFontTx/>
              <a:buNone/>
            </a:pPr>
            <a:r>
              <a:rPr lang="bg-BG" altLang="bg-BG" sz="2400" i="1" dirty="0">
                <a:solidFill>
                  <a:srgbClr val="C00000"/>
                </a:solidFill>
              </a:rPr>
              <a:t>Правило 5: </a:t>
            </a:r>
            <a:r>
              <a:rPr lang="bg-BG" altLang="bg-BG" sz="2400" i="1" dirty="0"/>
              <a:t>Сложен език за заявки.</a:t>
            </a:r>
            <a:endParaRPr lang="bg-BG" altLang="bg-BG" sz="2400" dirty="0"/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СУБД трябва да предоставя поне един език, с който да се изразяват:</a:t>
            </a:r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дефинирането на данните;</a:t>
            </a:r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дефинирането на потребителските представи;</a:t>
            </a:r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обработката на данните;</a:t>
            </a:r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ограниченията за цялостност;</a:t>
            </a:r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правата за достъп;</a:t>
            </a:r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границите на транзакциите.</a:t>
            </a:r>
            <a:endParaRPr lang="bg-BG" altLang="bg-BG" sz="2000" i="1" dirty="0"/>
          </a:p>
          <a:p>
            <a:pPr>
              <a:lnSpc>
                <a:spcPct val="90000"/>
              </a:lnSpc>
              <a:buFontTx/>
              <a:buNone/>
            </a:pPr>
            <a:r>
              <a:rPr lang="bg-BG" altLang="bg-BG" sz="2400" i="1" dirty="0">
                <a:solidFill>
                  <a:schemeClr val="accent1">
                    <a:lumMod val="75000"/>
                  </a:schemeClr>
                </a:solidFill>
              </a:rPr>
              <a:t>Правило 6:</a:t>
            </a:r>
            <a:r>
              <a:rPr lang="bg-BG" altLang="bg-BG" sz="2400" i="1" dirty="0"/>
              <a:t> Обновяване на потребителските представи.</a:t>
            </a:r>
            <a:endParaRPr lang="bg-BG" altLang="bg-BG" sz="2400" dirty="0"/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Потребителските представи се обновяват от системата.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6C4E-CD94-4A8C-A3DE-482156C1B4E6}" type="slidenum">
              <a:rPr lang="bg-BG" altLang="bg-BG"/>
              <a:pPr/>
              <a:t>36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2656"/>
            <a:ext cx="8243887" cy="580157"/>
          </a:xfrm>
        </p:spPr>
        <p:txBody>
          <a:bodyPr>
            <a:normAutofit/>
          </a:bodyPr>
          <a:lstStyle/>
          <a:p>
            <a:pPr marL="685800" indent="-685800" algn="ctr"/>
            <a:r>
              <a:rPr lang="bg-BG" altLang="bg-BG" sz="3200" dirty="0">
                <a:solidFill>
                  <a:schemeClr val="accent1"/>
                </a:solidFill>
              </a:rPr>
              <a:t>Кога СУБД е наистина релационна?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908720"/>
            <a:ext cx="8229600" cy="4896197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Tx/>
              <a:buNone/>
            </a:pPr>
            <a:r>
              <a:rPr lang="bg-BG" altLang="bg-BG" i="1" dirty="0">
                <a:solidFill>
                  <a:srgbClr val="C00000"/>
                </a:solidFill>
              </a:rPr>
              <a:t>Правило 7:</a:t>
            </a:r>
            <a:r>
              <a:rPr lang="bg-BG" altLang="bg-BG" sz="2800" i="1" dirty="0"/>
              <a:t> </a:t>
            </a:r>
            <a:r>
              <a:rPr lang="bg-BG" altLang="bg-BG" i="1" dirty="0"/>
              <a:t>Обновяване на данните на високо ниво.</a:t>
            </a:r>
            <a:endParaRPr lang="bg-BG" altLang="bg-BG" dirty="0"/>
          </a:p>
          <a:p>
            <a:pPr marL="914400" lvl="1" indent="-457200">
              <a:lnSpc>
                <a:spcPct val="90000"/>
              </a:lnSpc>
            </a:pPr>
            <a:r>
              <a:rPr lang="bg-BG" altLang="bg-BG" sz="2400" dirty="0"/>
              <a:t>Обновяването на данните трябва да може да се извършва на ниво таблица.</a:t>
            </a:r>
            <a:endParaRPr lang="bg-BG" altLang="bg-BG" sz="2400" i="1" dirty="0"/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bg-BG" altLang="bg-BG" i="1" dirty="0">
                <a:solidFill>
                  <a:srgbClr val="C00000"/>
                </a:solidFill>
              </a:rPr>
              <a:t>Правило 8:</a:t>
            </a:r>
            <a:r>
              <a:rPr lang="bg-BG" altLang="bg-BG" i="1" dirty="0"/>
              <a:t> Физическа независимост на данните.</a:t>
            </a:r>
            <a:endParaRPr lang="bg-BG" altLang="bg-BG" dirty="0"/>
          </a:p>
          <a:p>
            <a:pPr marL="914400" lvl="1" indent="-457200">
              <a:lnSpc>
                <a:spcPct val="90000"/>
              </a:lnSpc>
            </a:pPr>
            <a:r>
              <a:rPr lang="bg-BG" altLang="bg-BG" sz="2400" dirty="0"/>
              <a:t>При промяна на методите за достъп или представянето в паметта приложните програми не се променят логически.</a:t>
            </a:r>
            <a:endParaRPr lang="bg-BG" altLang="bg-BG" sz="2400" i="1" dirty="0"/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bg-BG" altLang="bg-BG" i="1" dirty="0">
                <a:solidFill>
                  <a:srgbClr val="C00000"/>
                </a:solidFill>
              </a:rPr>
              <a:t>Правило 9: </a:t>
            </a:r>
            <a:r>
              <a:rPr lang="bg-BG" altLang="bg-BG" i="1" dirty="0"/>
              <a:t>Логическа независимост на данните.</a:t>
            </a:r>
            <a:endParaRPr lang="bg-BG" altLang="bg-BG" dirty="0"/>
          </a:p>
          <a:p>
            <a:pPr marL="914400" lvl="1" indent="-457200">
              <a:lnSpc>
                <a:spcPct val="90000"/>
              </a:lnSpc>
            </a:pPr>
            <a:r>
              <a:rPr lang="bg-BG" altLang="bg-BG" sz="2400" dirty="0"/>
              <a:t>При промяна в таблиците, наложена от разработването на нови приложения, старите приложения не се променят логически.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0A520-BC17-45A0-BEAD-3E44D307A50B}" type="slidenum">
              <a:rPr lang="bg-BG" altLang="bg-BG"/>
              <a:pPr/>
              <a:t>37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04664"/>
            <a:ext cx="8243887" cy="581744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Кога СУБД е наистина релационна?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idx="1"/>
          </p:nvPr>
        </p:nvSpPr>
        <p:spPr>
          <a:xfrm>
            <a:off x="23377" y="930910"/>
            <a:ext cx="9036496" cy="4600575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bg-BG" altLang="bg-BG" sz="2600" i="1" dirty="0">
                <a:solidFill>
                  <a:srgbClr val="C00000"/>
                </a:solidFill>
              </a:rPr>
              <a:t>Правило 10: </a:t>
            </a:r>
            <a:r>
              <a:rPr lang="bg-BG" altLang="bg-BG" sz="2600" i="1" dirty="0"/>
              <a:t>Независимост на ограниченията за цялостност</a:t>
            </a:r>
            <a:r>
              <a:rPr lang="bg-BG" altLang="bg-BG" sz="2600" dirty="0"/>
              <a:t>.</a:t>
            </a:r>
          </a:p>
          <a:p>
            <a:pPr lvl="1"/>
            <a:r>
              <a:rPr lang="bg-BG" altLang="bg-BG" sz="2400" dirty="0"/>
              <a:t>Ограниченията за цялостност се задават с езика за заявки и се съхраняват в каталога, а не в приложните програми.</a:t>
            </a:r>
            <a:endParaRPr lang="bg-BG" altLang="bg-BG" sz="2400" i="1" dirty="0"/>
          </a:p>
          <a:p>
            <a:pPr>
              <a:buFontTx/>
              <a:buNone/>
            </a:pPr>
            <a:r>
              <a:rPr lang="bg-BG" altLang="bg-BG" i="1" dirty="0">
                <a:solidFill>
                  <a:srgbClr val="C00000"/>
                </a:solidFill>
              </a:rPr>
              <a:t>Правило 11: </a:t>
            </a:r>
            <a:r>
              <a:rPr lang="bg-BG" altLang="bg-BG" i="1" dirty="0"/>
              <a:t>Независимост на разпределението.</a:t>
            </a:r>
            <a:endParaRPr lang="bg-BG" altLang="bg-BG" dirty="0"/>
          </a:p>
          <a:p>
            <a:pPr lvl="1"/>
            <a:r>
              <a:rPr lang="bg-BG" altLang="bg-BG" sz="2400" dirty="0"/>
              <a:t>Приложната програма, която се обръща към дадена СУБД трябва да работи и при разпределение на базата по възлите на мрежа.</a:t>
            </a:r>
            <a:endParaRPr lang="bg-BG" altLang="bg-BG" sz="2400" i="1" dirty="0"/>
          </a:p>
          <a:p>
            <a:pPr>
              <a:buFontTx/>
              <a:buNone/>
            </a:pPr>
            <a:r>
              <a:rPr lang="bg-BG" altLang="bg-BG" sz="2400" i="1" dirty="0">
                <a:solidFill>
                  <a:srgbClr val="C00000"/>
                </a:solidFill>
              </a:rPr>
              <a:t>Правило 12: </a:t>
            </a:r>
            <a:r>
              <a:rPr lang="bg-BG" altLang="bg-BG" sz="2400" i="1" dirty="0"/>
              <a:t>Защита от подривна дейност.</a:t>
            </a:r>
            <a:endParaRPr lang="bg-BG" altLang="bg-BG" sz="2400" dirty="0"/>
          </a:p>
          <a:p>
            <a:pPr lvl="1"/>
            <a:r>
              <a:rPr lang="bg-BG" altLang="bg-BG" sz="2400" dirty="0"/>
              <a:t>Достъпът до базата се контролира изцяло от СУБД и нейната цялостност не може да бъде нарушена без знанието на администратора или потребителя.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3-2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AD6D-A3DC-49FE-B216-70F0B80D083F}" type="slidenum">
              <a:rPr lang="bg-BG" altLang="bg-BG"/>
              <a:pPr/>
              <a:t>38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19150</TotalTime>
  <Words>1921</Words>
  <Application>Microsoft Office PowerPoint</Application>
  <PresentationFormat>On-screen Show (4:3)</PresentationFormat>
  <Paragraphs>362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Arial</vt:lpstr>
      <vt:lpstr>Arial Narrow</vt:lpstr>
      <vt:lpstr>Calibri</vt:lpstr>
      <vt:lpstr>Impact</vt:lpstr>
      <vt:lpstr>Math3Mono</vt:lpstr>
      <vt:lpstr>Symbol</vt:lpstr>
      <vt:lpstr>Times New Roman</vt:lpstr>
      <vt:lpstr>Wingdings</vt:lpstr>
      <vt:lpstr>NewsPrint</vt:lpstr>
      <vt:lpstr>Equation</vt:lpstr>
      <vt:lpstr>Уравнение</vt:lpstr>
      <vt:lpstr>CSCB405 Бази от данни и СУБД   Модул 3: Релационен модел - част 2 </vt:lpstr>
      <vt:lpstr>Съдържание </vt:lpstr>
      <vt:lpstr>Преговор - основни понятия на релационния модел</vt:lpstr>
      <vt:lpstr>Преговор - основни  понятия на релационния модел</vt:lpstr>
      <vt:lpstr>Преговор - основни понятия на релационния модел </vt:lpstr>
      <vt:lpstr>Преговор - релационни ограничения</vt:lpstr>
      <vt:lpstr>Релационни ограничения</vt:lpstr>
      <vt:lpstr>Релационни операции - преговор</vt:lpstr>
      <vt:lpstr>Релационна алгебра</vt:lpstr>
      <vt:lpstr>Релационна алгебра</vt:lpstr>
      <vt:lpstr>Релационна алгебра 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Релационна алгебра</vt:lpstr>
      <vt:lpstr>Операции на релационната алгебра</vt:lpstr>
      <vt:lpstr>Операции на релационната алгебра</vt:lpstr>
      <vt:lpstr>Релационна алгебра</vt:lpstr>
      <vt:lpstr>Правила на Код за релационни бази </vt:lpstr>
      <vt:lpstr>Кога СУБД е наистина релационна?</vt:lpstr>
      <vt:lpstr>Кога СУБД е наистина релационна?</vt:lpstr>
      <vt:lpstr>Кога СУБД е наистина релационна?</vt:lpstr>
      <vt:lpstr>Кога СУБД е наистина релационна?</vt:lpstr>
    </vt:vector>
  </TitlesOfParts>
  <Company>NBU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INFB586 Module 1</dc:title>
  <dc:subject>Files&amp;databases</dc:subject>
  <dc:creator>July Peneva</dc:creator>
  <cp:lastModifiedBy>Windows User</cp:lastModifiedBy>
  <cp:revision>155</cp:revision>
  <dcterms:created xsi:type="dcterms:W3CDTF">2006-09-20T15:43:40Z</dcterms:created>
  <dcterms:modified xsi:type="dcterms:W3CDTF">2018-11-03T14:38:29Z</dcterms:modified>
</cp:coreProperties>
</file>