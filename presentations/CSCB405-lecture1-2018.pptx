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5" r:id="rId1"/>
  </p:sldMasterIdLst>
  <p:notesMasterIdLst>
    <p:notesMasterId r:id="rId29"/>
  </p:notesMasterIdLst>
  <p:sldIdLst>
    <p:sldId id="256" r:id="rId2"/>
    <p:sldId id="257" r:id="rId3"/>
    <p:sldId id="258" r:id="rId4"/>
    <p:sldId id="282" r:id="rId5"/>
    <p:sldId id="283" r:id="rId6"/>
    <p:sldId id="284" r:id="rId7"/>
    <p:sldId id="259" r:id="rId8"/>
    <p:sldId id="285" r:id="rId9"/>
    <p:sldId id="260" r:id="rId10"/>
    <p:sldId id="263" r:id="rId11"/>
    <p:sldId id="280" r:id="rId12"/>
    <p:sldId id="264" r:id="rId13"/>
    <p:sldId id="266" r:id="rId14"/>
    <p:sldId id="268" r:id="rId15"/>
    <p:sldId id="267" r:id="rId16"/>
    <p:sldId id="265" r:id="rId17"/>
    <p:sldId id="269" r:id="rId18"/>
    <p:sldId id="289" r:id="rId19"/>
    <p:sldId id="270" r:id="rId20"/>
    <p:sldId id="288" r:id="rId21"/>
    <p:sldId id="281" r:id="rId22"/>
    <p:sldId id="274" r:id="rId23"/>
    <p:sldId id="271" r:id="rId24"/>
    <p:sldId id="273" r:id="rId25"/>
    <p:sldId id="272" r:id="rId26"/>
    <p:sldId id="275" r:id="rId27"/>
    <p:sldId id="276" r:id="rId28"/>
  </p:sldIdLst>
  <p:sldSz cx="9144000" cy="6858000" type="screen4x3"/>
  <p:notesSz cx="6858000" cy="9144000"/>
  <p:defaultTextStyle>
    <a:defPPr>
      <a:defRPr lang="bg-BG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36" autoAdjust="0"/>
  </p:normalViewPr>
  <p:slideViewPr>
    <p:cSldViewPr>
      <p:cViewPr varScale="1">
        <p:scale>
          <a:sx n="117" d="100"/>
          <a:sy n="117" d="100"/>
        </p:scale>
        <p:origin x="70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noProof="0" smtClean="0"/>
              <a:t>Click to edit Master text styles</a:t>
            </a:r>
          </a:p>
          <a:p>
            <a:pPr lvl="1"/>
            <a:r>
              <a:rPr lang="bg-BG" altLang="bg-BG" noProof="0" smtClean="0"/>
              <a:t>Second level</a:t>
            </a:r>
          </a:p>
          <a:p>
            <a:pPr lvl="2"/>
            <a:r>
              <a:rPr lang="bg-BG" altLang="bg-BG" noProof="0" smtClean="0"/>
              <a:t>Third level</a:t>
            </a:r>
          </a:p>
          <a:p>
            <a:pPr lvl="3"/>
            <a:r>
              <a:rPr lang="bg-BG" altLang="bg-BG" noProof="0" smtClean="0"/>
              <a:t>Fourth level</a:t>
            </a:r>
          </a:p>
          <a:p>
            <a:pPr lvl="4"/>
            <a:r>
              <a:rPr lang="bg-BG" altLang="bg-BG" noProof="0" smtClean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C3DD2EA-A917-4241-9386-E48C9E194543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206663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643865E-9106-447E-812D-8A8B456532E9}" type="slidenum">
              <a:rPr lang="bg-BG" altLang="bg-BG" smtClean="0"/>
              <a:pPr/>
              <a:t>26</a:t>
            </a:fld>
            <a:endParaRPr lang="bg-BG" altLang="bg-BG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bg-BG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7875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7875" y="6172200"/>
            <a:ext cx="7543800" cy="26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EB109E-9294-4A53-B2C4-A822777932BD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1600607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8D1699-DB77-4467-BD8C-C87FF1A9AC92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32379559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7875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7875" y="6172200"/>
            <a:ext cx="7543800" cy="26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CF357-B067-448C-9BD8-E6ADE20EBD26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0552860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CF869-A55D-48E1-B42A-7E4252C21EC3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56950475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58825" y="1249363"/>
            <a:ext cx="36576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645025" y="1249363"/>
            <a:ext cx="36576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01BF5-380A-4137-8EE3-AAB27152C3E4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54687257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9FB70-3C36-40A9-95FD-1BAE247BF671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83112027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CF47E-C15C-4636-81B0-B1CB369435FA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85752276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1677194" y="2515394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EEA6B-DA85-43FB-BA3C-7AA3828A2771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03269763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73E34-243E-4E40-ABE2-2CB9EF08C6F3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68566776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419E9-FD38-4AC0-ABC9-A088DFA09F1D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8689519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6E43-4FBE-4D91-B065-B482E197F04B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47456477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90D75-3D70-4803-B7BA-EFAB09F3C2A5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1755845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762000" y="4572000"/>
            <a:ext cx="6781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 smtClean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62000" y="685800"/>
            <a:ext cx="7543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 smtClean="0"/>
              <a:t>Click to edit Master text styles</a:t>
            </a:r>
          </a:p>
          <a:p>
            <a:pPr lvl="1"/>
            <a:r>
              <a:rPr lang="en-US" altLang="bg-BG" smtClean="0"/>
              <a:t>Second level</a:t>
            </a:r>
          </a:p>
          <a:p>
            <a:pPr lvl="2"/>
            <a:r>
              <a:rPr lang="en-US" altLang="bg-BG" smtClean="0"/>
              <a:t>Third level</a:t>
            </a:r>
          </a:p>
          <a:p>
            <a:pPr lvl="3"/>
            <a:r>
              <a:rPr lang="en-US" altLang="bg-BG" smtClean="0"/>
              <a:t>Fourth level</a:t>
            </a:r>
          </a:p>
          <a:p>
            <a:pPr lvl="4"/>
            <a:r>
              <a:rPr lang="en-US" altLang="bg-BG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0" y="6208713"/>
            <a:ext cx="4873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8013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CF6D415-6F12-4C91-9643-A506A5845EF7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875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875" y="6172200"/>
            <a:ext cx="7543800" cy="26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84" r:id="rId2"/>
    <p:sldLayoutId id="2147483892" r:id="rId3"/>
    <p:sldLayoutId id="2147483885" r:id="rId4"/>
    <p:sldLayoutId id="2147483893" r:id="rId5"/>
    <p:sldLayoutId id="2147483886" r:id="rId6"/>
    <p:sldLayoutId id="2147483887" r:id="rId7"/>
    <p:sldLayoutId id="2147483894" r:id="rId8"/>
    <p:sldLayoutId id="2147483888" r:id="rId9"/>
    <p:sldLayoutId id="2147483889" r:id="rId10"/>
    <p:sldLayoutId id="2147483890" r:id="rId11"/>
    <p:sldLayoutId id="2147483895" r:id="rId12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3725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3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765175"/>
            <a:ext cx="7705725" cy="2376488"/>
          </a:xfrm>
        </p:spPr>
        <p:txBody>
          <a:bodyPr rtlCol="0">
            <a:normAutofit fontScale="90000"/>
          </a:bodyPr>
          <a:lstStyle/>
          <a:p>
            <a:pPr marL="630238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3000" dirty="0" smtClean="0">
                <a:solidFill>
                  <a:srgbClr val="C00000"/>
                </a:solidFill>
              </a:rPr>
              <a:t>CSCB405 </a:t>
            </a:r>
            <a:r>
              <a:rPr lang="bg-BG" altLang="bg-BG" sz="3000" dirty="0" smtClean="0">
                <a:solidFill>
                  <a:srgbClr val="C00000"/>
                </a:solidFill>
              </a:rPr>
              <a:t>Бази от данни и СУБД</a:t>
            </a:r>
            <a:br>
              <a:rPr lang="bg-BG" altLang="bg-BG" sz="3000" dirty="0" smtClean="0">
                <a:solidFill>
                  <a:srgbClr val="C00000"/>
                </a:solidFill>
              </a:rPr>
            </a:br>
            <a:r>
              <a:rPr lang="bg-BG" altLang="bg-BG" sz="3000" dirty="0">
                <a:solidFill>
                  <a:srgbClr val="FF0000"/>
                </a:solidFill>
              </a:rPr>
              <a:t/>
            </a:r>
            <a:br>
              <a:rPr lang="bg-BG" altLang="bg-BG" sz="3000" dirty="0">
                <a:solidFill>
                  <a:srgbClr val="FF0000"/>
                </a:solidFill>
              </a:rPr>
            </a:br>
            <a:r>
              <a:rPr lang="bg-BG" altLang="bg-BG" sz="3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bg-BG" altLang="bg-BG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Модул 1: Организиране на данни и информация. Файлове и бази от данни. </a:t>
            </a:r>
            <a:br>
              <a:rPr lang="bg-BG" altLang="bg-BG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bg-BG" altLang="bg-BG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573463"/>
            <a:ext cx="5637212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bg-BG" altLang="bg-BG" sz="2400" dirty="0" smtClean="0"/>
              <a:t>Юлиана Пенева</a:t>
            </a:r>
          </a:p>
          <a:p>
            <a:pPr eaLnBrk="1" hangingPunct="1">
              <a:lnSpc>
                <a:spcPct val="90000"/>
              </a:lnSpc>
            </a:pPr>
            <a:r>
              <a:rPr lang="bg-BG" altLang="bg-BG" sz="2400" dirty="0" smtClean="0"/>
              <a:t>Департамент “Информатика”</a:t>
            </a:r>
          </a:p>
          <a:p>
            <a:pPr eaLnBrk="1" hangingPunct="1">
              <a:lnSpc>
                <a:spcPct val="90000"/>
              </a:lnSpc>
            </a:pPr>
            <a:r>
              <a:rPr lang="en-US" altLang="bg-BG" sz="2400" dirty="0" smtClean="0"/>
              <a:t>july_peneva@abv.bg</a:t>
            </a:r>
            <a:endParaRPr lang="bg-BG" altLang="bg-BG" sz="24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93700"/>
            <a:ext cx="8243887" cy="725487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Съдържание</a:t>
            </a:r>
            <a:r>
              <a:rPr lang="bg-BG" altLang="bg-BG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6975"/>
            <a:ext cx="8229600" cy="4240213"/>
          </a:xfrm>
        </p:spPr>
        <p:txBody>
          <a:bodyPr/>
          <a:lstStyle/>
          <a:p>
            <a:pPr marL="990600" lvl="1" indent="-533400" eaLnBrk="1" hangingPunct="1">
              <a:buFontTx/>
              <a:buAutoNum type="arabicPeriod"/>
            </a:pPr>
            <a:r>
              <a:rPr lang="bg-BG" altLang="bg-BG" sz="2400" dirty="0" smtClean="0"/>
              <a:t>Подходи за управление на данните.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bg-BG" altLang="bg-BG" sz="2400" dirty="0" smtClean="0"/>
              <a:t>Традиционен подход.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bg-BG" altLang="bg-BG" sz="2400" dirty="0" smtClean="0"/>
              <a:t>Подход “бази от данни”.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bg-BG" altLang="bg-BG" sz="2400" dirty="0" smtClean="0"/>
              <a:t>Потребители на базите от данни.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bg-BG" altLang="bg-BG" sz="2400" dirty="0" smtClean="0"/>
              <a:t>Кратка историческа справка.</a:t>
            </a:r>
          </a:p>
          <a:p>
            <a:pPr marL="990600" lvl="1" indent="-533400" eaLnBrk="1" hangingPunct="1">
              <a:buFontTx/>
              <a:buNone/>
            </a:pPr>
            <a:endParaRPr lang="bg-BG" altLang="bg-BG" dirty="0" smtClean="0"/>
          </a:p>
          <a:p>
            <a:pPr marL="990600" lvl="1" indent="-533400" algn="just" eaLnBrk="1" hangingPunct="1">
              <a:buFontTx/>
              <a:buNone/>
            </a:pPr>
            <a:r>
              <a:rPr lang="bg-BG" altLang="bg-BG" sz="2400" dirty="0" smtClean="0"/>
              <a:t>Това е първият модул по бази от данни. </a:t>
            </a:r>
          </a:p>
          <a:p>
            <a:pPr marL="990600" lvl="1" indent="-533400" algn="just" eaLnBrk="1" hangingPunct="1">
              <a:buFontTx/>
              <a:buNone/>
            </a:pPr>
            <a:r>
              <a:rPr lang="bg-BG" altLang="bg-BG" sz="2400" dirty="0" smtClean="0"/>
              <a:t>Не е необходима допълнителна подготовка.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E83E6833-F69F-4738-9AF6-D2077B30D96E}" type="slidenum">
              <a:rPr lang="bg-BG" altLang="bg-BG"/>
              <a:pPr>
                <a:defRPr/>
              </a:pPr>
              <a:t>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0050"/>
            <a:ext cx="8243888" cy="792163"/>
          </a:xfrm>
        </p:spPr>
        <p:txBody>
          <a:bodyPr rtlCol="0"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bg-BG" altLang="bg-BG" sz="3600" dirty="0" smtClean="0">
                <a:solidFill>
                  <a:schemeClr val="accent1"/>
                </a:solidFill>
              </a:rPr>
              <a:t>Подходи </a:t>
            </a:r>
            <a:r>
              <a:rPr lang="bg-BG" altLang="bg-BG" sz="3600" dirty="0">
                <a:solidFill>
                  <a:schemeClr val="accent1"/>
                </a:solidFill>
              </a:rPr>
              <a:t>за управление на данните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1521" y="1124744"/>
            <a:ext cx="8424936" cy="3096344"/>
          </a:xfrm>
        </p:spPr>
        <p:txBody>
          <a:bodyPr/>
          <a:lstStyle/>
          <a:p>
            <a:pPr marL="609600" indent="-609600" algn="ctr" eaLnBrk="1" hangingPunct="1">
              <a:spcBef>
                <a:spcPct val="0"/>
              </a:spcBef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Основни понятия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dirty="0" smtClean="0"/>
              <a:t>Управление на данните</a:t>
            </a:r>
            <a:r>
              <a:rPr lang="en-US" altLang="bg-BG" dirty="0" smtClean="0"/>
              <a:t> </a:t>
            </a:r>
            <a:r>
              <a:rPr lang="bg-BG" altLang="bg-BG" dirty="0" smtClean="0"/>
              <a:t>- прилага </a:t>
            </a:r>
            <a:r>
              <a:rPr lang="bg-BG" altLang="bg-BG" dirty="0" smtClean="0">
                <a:solidFill>
                  <a:srgbClr val="C00000"/>
                </a:solidFill>
              </a:rPr>
              <a:t>информационните технологии</a:t>
            </a:r>
            <a:r>
              <a:rPr lang="bg-BG" altLang="bg-BG" dirty="0" smtClean="0"/>
              <a:t>, за да преобразува огромните масиви с данни в смислена информация, която да подпомага вземането на бизнес решения.</a:t>
            </a:r>
          </a:p>
          <a:p>
            <a:pPr marL="609600" indent="-609600" eaLnBrk="1" hangingPunct="1">
              <a:buFontTx/>
              <a:buAutoNum type="arabicPeriod"/>
            </a:pPr>
            <a:endParaRPr lang="bg-BG" altLang="bg-BG" sz="2800" dirty="0" smtClean="0"/>
          </a:p>
          <a:p>
            <a:pPr marL="609600" indent="-609600" eaLnBrk="1" hangingPunct="1">
              <a:buFontTx/>
              <a:buNone/>
            </a:pPr>
            <a:endParaRPr lang="bg-BG" altLang="bg-BG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07ACEE49-6762-4D2E-B788-D5345BE62C27}" type="slidenum">
              <a:rPr lang="bg-BG" altLang="bg-BG"/>
              <a:pPr>
                <a:defRPr/>
              </a:pPr>
              <a:t>3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398" y="3683565"/>
            <a:ext cx="2779872" cy="16315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270" y="3683565"/>
            <a:ext cx="3268003" cy="163157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0051"/>
            <a:ext cx="8243888" cy="712788"/>
          </a:xfrm>
        </p:spPr>
        <p:txBody>
          <a:bodyPr rtlCol="0"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bg-BG" altLang="bg-BG" sz="3600" dirty="0" smtClean="0">
                <a:solidFill>
                  <a:schemeClr val="accent1"/>
                </a:solidFill>
              </a:rPr>
              <a:t>Подходи </a:t>
            </a:r>
            <a:r>
              <a:rPr lang="bg-BG" altLang="bg-BG" sz="3600" dirty="0">
                <a:solidFill>
                  <a:schemeClr val="accent1"/>
                </a:solidFill>
              </a:rPr>
              <a:t>за управление на данните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268413"/>
            <a:ext cx="8229600" cy="2520627"/>
          </a:xfrm>
        </p:spPr>
        <p:txBody>
          <a:bodyPr/>
          <a:lstStyle/>
          <a:p>
            <a:pPr marL="609600" indent="-609600" algn="ctr" eaLnBrk="1" hangingPunct="1">
              <a:spcBef>
                <a:spcPct val="0"/>
              </a:spcBef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Основни понятия</a:t>
            </a:r>
          </a:p>
          <a:p>
            <a:pPr marL="609600" indent="-609600" eaLnBrk="1" hangingPunct="1">
              <a:buFont typeface="+mj-lt"/>
              <a:buAutoNum type="arabicPeriod" startAt="2"/>
            </a:pPr>
            <a:r>
              <a:rPr lang="bg-BG" altLang="bg-BG" dirty="0" smtClean="0"/>
              <a:t>Данни </a:t>
            </a:r>
            <a:r>
              <a:rPr lang="bg-BG" altLang="bg-BG" dirty="0" smtClean="0">
                <a:latin typeface="Symbol" pitchFamily="18" charset="2"/>
                <a:sym typeface="Symbol" pitchFamily="18" charset="2"/>
              </a:rPr>
              <a:t> </a:t>
            </a:r>
            <a:r>
              <a:rPr lang="bg-BG" altLang="bg-BG" dirty="0" smtClean="0"/>
              <a:t>Информация</a:t>
            </a:r>
          </a:p>
          <a:p>
            <a:pPr lvl="1" eaLnBrk="1" hangingPunct="1"/>
            <a:r>
              <a:rPr lang="bg-BG" altLang="bg-BG" sz="2400" dirty="0" smtClean="0"/>
              <a:t>Данни - регистрирани факти за събития, процеси, операции….. -"сурови" факти, суровина за обработка.</a:t>
            </a:r>
            <a:endParaRPr lang="en-US" altLang="bg-BG" sz="2400" dirty="0" smtClean="0"/>
          </a:p>
          <a:p>
            <a:pPr lvl="1" eaLnBrk="1" hangingPunct="1"/>
            <a:r>
              <a:rPr lang="bg-BG" altLang="bg-BG" sz="2400" dirty="0" smtClean="0"/>
              <a:t>Информация - резултат от </a:t>
            </a:r>
            <a:r>
              <a:rPr lang="bg-BG" altLang="bg-BG" sz="2400" dirty="0" smtClean="0">
                <a:solidFill>
                  <a:srgbClr val="C00000"/>
                </a:solidFill>
              </a:rPr>
              <a:t>обработването</a:t>
            </a:r>
            <a:r>
              <a:rPr lang="bg-BG" altLang="bg-BG" sz="2400" dirty="0" smtClean="0"/>
              <a:t> на данните. </a:t>
            </a:r>
          </a:p>
          <a:p>
            <a:pPr marL="0" indent="0" eaLnBrk="1" hangingPunct="1">
              <a:buNone/>
            </a:pPr>
            <a:endParaRPr lang="bg-BG" altLang="bg-BG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07ACEE49-6762-4D2E-B788-D5345BE62C27}" type="slidenum">
              <a:rPr lang="bg-BG" altLang="bg-BG"/>
              <a:pPr>
                <a:defRPr/>
              </a:pPr>
              <a:t>4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102" y="3532512"/>
            <a:ext cx="3746057" cy="18778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04" y="3370531"/>
            <a:ext cx="3096344" cy="250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650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336229"/>
            <a:ext cx="4023709" cy="4810161"/>
          </a:xfrm>
          <a:prstGeom prst="rect">
            <a:avLst/>
          </a:prstGeom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45686" y="260648"/>
            <a:ext cx="8243888" cy="787549"/>
          </a:xfrm>
        </p:spPr>
        <p:txBody>
          <a:bodyPr rtlCol="0"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bg-BG" altLang="bg-BG" sz="3600" dirty="0" smtClean="0">
                <a:solidFill>
                  <a:schemeClr val="accent1"/>
                </a:solidFill>
              </a:rPr>
              <a:t>Подходи </a:t>
            </a:r>
            <a:r>
              <a:rPr lang="bg-BG" altLang="bg-BG" sz="3600" dirty="0">
                <a:solidFill>
                  <a:schemeClr val="accent1"/>
                </a:solidFill>
              </a:rPr>
              <a:t>за управление на данните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72298" y="620688"/>
            <a:ext cx="8229600" cy="5005002"/>
          </a:xfrm>
        </p:spPr>
        <p:txBody>
          <a:bodyPr/>
          <a:lstStyle/>
          <a:p>
            <a:pPr marL="609600" indent="-609600" algn="ctr" eaLnBrk="1" hangingPunct="1">
              <a:spcBef>
                <a:spcPct val="0"/>
              </a:spcBef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Основни </a:t>
            </a:r>
            <a:r>
              <a:rPr lang="bg-BG" altLang="bg-BG" sz="2800" dirty="0" smtClean="0">
                <a:solidFill>
                  <a:srgbClr val="C00000"/>
                </a:solidFill>
              </a:rPr>
              <a:t>понятия</a:t>
            </a:r>
            <a:endParaRPr lang="en-US" altLang="bg-BG" sz="2800" dirty="0" smtClean="0"/>
          </a:p>
          <a:p>
            <a:pPr marL="609600" indent="-609600" eaLnBrk="1" hangingPunct="1">
              <a:buFont typeface="+mj-lt"/>
              <a:buAutoNum type="arabicPeriod" startAt="3"/>
            </a:pPr>
            <a:r>
              <a:rPr lang="bg-BG" altLang="bg-BG" sz="2800" dirty="0" smtClean="0"/>
              <a:t>Йерархия </a:t>
            </a:r>
            <a:r>
              <a:rPr lang="bg-BG" altLang="bg-BG" sz="2800" dirty="0" smtClean="0"/>
              <a:t>на данните:</a:t>
            </a:r>
          </a:p>
          <a:p>
            <a:pPr marL="1371600" lvl="2" indent="-457200" eaLnBrk="1" hangingPunct="1">
              <a:buFontTx/>
              <a:buNone/>
            </a:pPr>
            <a:r>
              <a:rPr lang="bg-BG" altLang="bg-BG" dirty="0" smtClean="0"/>
              <a:t> </a:t>
            </a:r>
            <a:r>
              <a:rPr lang="bg-BG" altLang="bg-BG" sz="2800" dirty="0" smtClean="0"/>
              <a:t>символ</a:t>
            </a:r>
            <a:endParaRPr lang="en-US" altLang="bg-BG" sz="2800" dirty="0" smtClean="0"/>
          </a:p>
          <a:p>
            <a:pPr marL="1371600" lvl="2" indent="-457200" eaLnBrk="1" hangingPunct="1">
              <a:buFontTx/>
              <a:buNone/>
            </a:pPr>
            <a:r>
              <a:rPr lang="bg-BG" altLang="bg-BG" sz="2800" dirty="0" smtClean="0"/>
              <a:t> поле </a:t>
            </a:r>
            <a:endParaRPr lang="en-US" altLang="bg-BG" sz="2800" dirty="0">
              <a:sym typeface="Wingdings" charset="2"/>
            </a:endParaRPr>
          </a:p>
          <a:p>
            <a:pPr marL="1371600" lvl="2" indent="-457200" eaLnBrk="1" hangingPunct="1">
              <a:buFontTx/>
              <a:buNone/>
            </a:pPr>
            <a:r>
              <a:rPr lang="bg-BG" altLang="bg-BG" sz="2800" dirty="0" smtClean="0"/>
              <a:t> </a:t>
            </a:r>
            <a:r>
              <a:rPr lang="bg-BG" altLang="bg-BG" sz="2800" dirty="0" smtClean="0"/>
              <a:t>запис </a:t>
            </a:r>
            <a:endParaRPr lang="en-US" altLang="bg-BG" sz="2800" dirty="0">
              <a:sym typeface="Wingdings" charset="2"/>
            </a:endParaRPr>
          </a:p>
          <a:p>
            <a:pPr marL="1371600" lvl="2" indent="-457200" eaLnBrk="1" hangingPunct="1">
              <a:buFontTx/>
              <a:buNone/>
            </a:pPr>
            <a:r>
              <a:rPr lang="en-US" altLang="bg-BG" sz="2800" dirty="0" smtClean="0"/>
              <a:t> </a:t>
            </a:r>
            <a:r>
              <a:rPr lang="bg-BG" altLang="bg-BG" sz="2800" dirty="0" smtClean="0"/>
              <a:t>файл</a:t>
            </a:r>
            <a:endParaRPr lang="bg-BG" altLang="bg-BG" sz="2800" dirty="0" smtClean="0"/>
          </a:p>
          <a:p>
            <a:pPr marL="609600" indent="-609600" eaLnBrk="1" hangingPunct="1">
              <a:buFontTx/>
              <a:buAutoNum type="arabicPeriod" startAt="3"/>
            </a:pPr>
            <a:endParaRPr lang="en-US" altLang="bg-BG" sz="2800" dirty="0" smtClean="0"/>
          </a:p>
          <a:p>
            <a:pPr marL="609600" indent="-609600" eaLnBrk="1" hangingPunct="1">
              <a:buFontTx/>
              <a:buNone/>
            </a:pPr>
            <a:endParaRPr lang="bg-BG" altLang="bg-BG" sz="2800" dirty="0" smtClean="0"/>
          </a:p>
          <a:p>
            <a:pPr marL="609600" indent="-609600" eaLnBrk="1" hangingPunct="1">
              <a:buFontTx/>
              <a:buNone/>
            </a:pPr>
            <a:endParaRPr lang="bg-BG" altLang="bg-B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07ACEE49-6762-4D2E-B788-D5345BE62C27}" type="slidenum">
              <a:rPr lang="bg-BG" altLang="bg-BG"/>
              <a:pPr>
                <a:defRPr/>
              </a:pPr>
              <a:t>5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3049158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8243888" cy="715541"/>
          </a:xfrm>
        </p:spPr>
        <p:txBody>
          <a:bodyPr rtlCol="0"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bg-BG" altLang="bg-BG" sz="3600" dirty="0" smtClean="0">
                <a:solidFill>
                  <a:schemeClr val="accent1"/>
                </a:solidFill>
              </a:rPr>
              <a:t>Подходи </a:t>
            </a:r>
            <a:r>
              <a:rPr lang="bg-BG" altLang="bg-BG" sz="3600" dirty="0">
                <a:solidFill>
                  <a:schemeClr val="accent1"/>
                </a:solidFill>
              </a:rPr>
              <a:t>за управление на данните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268413"/>
            <a:ext cx="8229600" cy="2160587"/>
          </a:xfrm>
        </p:spPr>
        <p:txBody>
          <a:bodyPr/>
          <a:lstStyle/>
          <a:p>
            <a:pPr marL="609600" indent="-609600" algn="ctr" eaLnBrk="1" hangingPunct="1">
              <a:spcBef>
                <a:spcPct val="0"/>
              </a:spcBef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Основни </a:t>
            </a:r>
            <a:r>
              <a:rPr lang="bg-BG" altLang="bg-BG" sz="2800" dirty="0" smtClean="0">
                <a:solidFill>
                  <a:srgbClr val="C00000"/>
                </a:solidFill>
              </a:rPr>
              <a:t>понятия</a:t>
            </a:r>
            <a:endParaRPr lang="en-US" altLang="bg-BG" sz="2800" dirty="0" smtClean="0"/>
          </a:p>
          <a:p>
            <a:pPr marL="609600" indent="-609600" eaLnBrk="1" hangingPunct="1">
              <a:buFont typeface="+mj-lt"/>
              <a:buAutoNum type="arabicPeriod" startAt="4"/>
            </a:pPr>
            <a:r>
              <a:rPr lang="bg-BG" altLang="bg-BG" dirty="0" smtClean="0"/>
              <a:t>База </a:t>
            </a:r>
            <a:r>
              <a:rPr lang="bg-BG" altLang="bg-BG" dirty="0" smtClean="0"/>
              <a:t>от данни - множество от свързани помежду си данни, групирани за нуждите на даден потребител </a:t>
            </a:r>
          </a:p>
          <a:p>
            <a:pPr marL="609600" indent="-609600" eaLnBrk="1" hangingPunct="1">
              <a:buFontTx/>
              <a:buNone/>
            </a:pPr>
            <a:endParaRPr lang="bg-BG" altLang="bg-BG" sz="2800" dirty="0" smtClean="0"/>
          </a:p>
          <a:p>
            <a:pPr marL="609600" indent="-609600" eaLnBrk="1" hangingPunct="1">
              <a:buFontTx/>
              <a:buNone/>
            </a:pPr>
            <a:endParaRPr lang="bg-BG" altLang="bg-B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07ACEE49-6762-4D2E-B788-D5345BE62C27}" type="slidenum">
              <a:rPr lang="bg-BG" altLang="bg-BG"/>
              <a:pPr>
                <a:defRPr/>
              </a:pPr>
              <a:t>6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207" y="2852936"/>
            <a:ext cx="4078577" cy="27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723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02033"/>
            <a:ext cx="8243888" cy="868363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bg-BG" altLang="bg-BG" sz="3600" dirty="0">
                <a:solidFill>
                  <a:schemeClr val="accent1"/>
                </a:solidFill>
              </a:rPr>
              <a:t>Подходи за управление на данните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441612" y="1172221"/>
            <a:ext cx="7921625" cy="3527425"/>
          </a:xfrm>
        </p:spPr>
        <p:txBody>
          <a:bodyPr rtlCol="0">
            <a:normAutofit/>
          </a:bodyPr>
          <a:lstStyle/>
          <a:p>
            <a:pPr marL="609600" indent="-60960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bg-BG" altLang="bg-BG" sz="2800" dirty="0">
                <a:solidFill>
                  <a:srgbClr val="C00000"/>
                </a:solidFill>
              </a:rPr>
              <a:t>Свойства на понятието “база от данни”</a:t>
            </a:r>
          </a:p>
          <a:p>
            <a:pPr marL="609600" indent="-60960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bg-BG" altLang="bg-BG" sz="900" dirty="0">
              <a:solidFill>
                <a:schemeClr val="accent2"/>
              </a:solidFill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Устойчиви/интегрирани </a:t>
            </a:r>
            <a:r>
              <a:rPr lang="bg-BG" altLang="bg-BG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данни</a:t>
            </a:r>
            <a:r>
              <a:rPr lang="en-US" altLang="bg-BG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bg-BG" altLang="bg-BG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Предметна област – обекти, атрибути и </a:t>
            </a:r>
            <a:r>
              <a:rPr lang="bg-BG" altLang="bg-BG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връзки</a:t>
            </a:r>
            <a:r>
              <a:rPr lang="en-US" altLang="bg-BG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bg-BG" altLang="bg-BG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Базите се проектират с определена </a:t>
            </a:r>
            <a:r>
              <a:rPr lang="bg-BG" altLang="bg-BG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цел</a:t>
            </a:r>
            <a:r>
              <a:rPr lang="en-US" altLang="bg-BG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bg-BG" altLang="bg-BG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C943C046-4CDB-47EE-9C79-C691F415564B}" type="slidenum">
              <a:rPr lang="bg-BG" altLang="bg-BG"/>
              <a:pPr>
                <a:defRPr/>
              </a:pPr>
              <a:t>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02033"/>
            <a:ext cx="8243888" cy="868363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bg-BG" altLang="bg-BG" sz="3600" dirty="0">
                <a:solidFill>
                  <a:schemeClr val="accent1"/>
                </a:solidFill>
              </a:rPr>
              <a:t>Подходи за управление на данните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441612" y="1172221"/>
            <a:ext cx="7921625" cy="3527425"/>
          </a:xfrm>
        </p:spPr>
        <p:txBody>
          <a:bodyPr rtlCol="0">
            <a:normAutofit/>
          </a:bodyPr>
          <a:lstStyle/>
          <a:p>
            <a:pPr marL="609600" indent="-60960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bg-BG" altLang="bg-BG" sz="900" dirty="0">
              <a:solidFill>
                <a:schemeClr val="accent2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C943C046-4CDB-47EE-9C79-C691F415564B}" type="slidenum">
              <a:rPr lang="bg-BG" altLang="bg-BG"/>
              <a:pPr>
                <a:defRPr/>
              </a:pPr>
              <a:t>8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18" y="1248184"/>
            <a:ext cx="7754741" cy="436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201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8243888" cy="882650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Подходи за управление на данните</a:t>
            </a:r>
          </a:p>
        </p:txBody>
      </p:sp>
      <p:pic>
        <p:nvPicPr>
          <p:cNvPr id="11267" name="Picture 4" descr="fy1-01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9788" y="1600200"/>
            <a:ext cx="3851275" cy="2981325"/>
          </a:xfrm>
        </p:spPr>
      </p:pic>
      <p:sp>
        <p:nvSpPr>
          <p:cNvPr id="60422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 rtlCol="0">
            <a:normAutofit/>
          </a:bodyPr>
          <a:lstStyle/>
          <a:p>
            <a:pPr marL="274320" indent="-18288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bg-BG" altLang="bg-BG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bg-BG" altLang="bg-BG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bg-BG" altLang="bg-BG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bg-BG" altLang="bg-BG" sz="2800" dirty="0">
                <a:solidFill>
                  <a:srgbClr val="C00000"/>
                </a:solidFill>
              </a:rPr>
              <a:t>Пример 1 База от данни за банка </a:t>
            </a:r>
          </a:p>
          <a:p>
            <a:pPr marL="274320" indent="-18288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bg-BG" altLang="bg-BG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623FAF-16E6-4822-BF1A-EBDBC70FCDB5}" type="slidenum">
              <a:rPr lang="bg-BG" altLang="bg-BG"/>
              <a:pPr>
                <a:defRPr/>
              </a:pPr>
              <a:t>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8243887" cy="868363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Подходи за управление на данните</a:t>
            </a:r>
          </a:p>
        </p:txBody>
      </p:sp>
      <p:pic>
        <p:nvPicPr>
          <p:cNvPr id="12291" name="Picture 6" descr="fy1-0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7306" y="1484784"/>
            <a:ext cx="7272808" cy="3523026"/>
          </a:xfrm>
        </p:spPr>
      </p:pic>
      <p:sp>
        <p:nvSpPr>
          <p:cNvPr id="1126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697279"/>
            <a:ext cx="8229600" cy="1187153"/>
          </a:xfrm>
        </p:spPr>
        <p:txBody>
          <a:bodyPr rtlCol="0">
            <a:normAutofit fontScale="85000" lnSpcReduction="20000"/>
          </a:bodyPr>
          <a:lstStyle/>
          <a:p>
            <a:pPr marL="274320" indent="-274320" algn="ctr" eaLnBrk="1" fontAlgn="auto" hangingPunct="1">
              <a:spcAft>
                <a:spcPts val="0"/>
              </a:spcAft>
              <a:buFontTx/>
              <a:buNone/>
              <a:defRPr/>
            </a:pPr>
            <a:endParaRPr lang="bg-BG" altLang="bg-BG" sz="2800" dirty="0" smtClean="0"/>
          </a:p>
          <a:p>
            <a:pPr marL="274320" indent="-274320" algn="ctr" eaLnBrk="1" fontAlgn="auto" hangingPunct="1">
              <a:spcAft>
                <a:spcPts val="0"/>
              </a:spcAft>
              <a:buFontTx/>
              <a:buNone/>
              <a:defRPr/>
            </a:pPr>
            <a:endParaRPr lang="bg-BG" altLang="bg-BG" sz="2800" dirty="0" smtClean="0"/>
          </a:p>
          <a:p>
            <a:pPr marL="274320" indent="-274320" algn="ctr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bg-BG" altLang="bg-BG" sz="2800" dirty="0" smtClean="0">
                <a:solidFill>
                  <a:srgbClr val="C00000"/>
                </a:solidFill>
              </a:rPr>
              <a:t>Пример 2 База от данни за доставчици и проекти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endParaRPr lang="bg-BG" altLang="bg-BG" sz="28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  <a:endParaRPr lang="bg-BG" alt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4BBC73-35D7-4521-9254-70E17AF45585}" type="slidenum">
              <a:rPr lang="bg-BG" altLang="bg-BG"/>
              <a:pPr>
                <a:defRPr/>
              </a:pPr>
              <a:t>10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4025" y="463550"/>
            <a:ext cx="8243888" cy="865188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Подходи </a:t>
            </a:r>
            <a:r>
              <a:rPr lang="bg-BG" altLang="bg-BG" sz="3200" dirty="0">
                <a:solidFill>
                  <a:schemeClr val="accent1"/>
                </a:solidFill>
              </a:rPr>
              <a:t>за управление на данните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8229600" cy="230505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Два основни подхода за управление на данните</a:t>
            </a:r>
          </a:p>
          <a:p>
            <a:pPr marL="609600" indent="-609600" eaLnBrk="1" hangingPunct="1">
              <a:buFontTx/>
              <a:buNone/>
            </a:pPr>
            <a:endParaRPr lang="bg-BG" altLang="bg-BG" sz="800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Традиционен (файлово-базиран) подход</a:t>
            </a:r>
            <a:r>
              <a:rPr lang="en-US" altLang="bg-BG" sz="2800" dirty="0" smtClean="0"/>
              <a:t>.</a:t>
            </a:r>
            <a:endParaRPr lang="bg-BG" altLang="bg-BG" sz="2800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Подход “бази от данни”</a:t>
            </a:r>
            <a:r>
              <a:rPr lang="en-US" altLang="bg-BG" sz="2800" dirty="0" smtClean="0"/>
              <a:t>.</a:t>
            </a:r>
            <a:endParaRPr lang="bg-BG" altLang="bg-BG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E68EC57C-D372-4B7D-9073-7445E3880232}" type="slidenum">
              <a:rPr lang="bg-BG" altLang="bg-BG"/>
              <a:pPr>
                <a:defRPr/>
              </a:pPr>
              <a:t>11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243887" cy="868363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Традиционен подход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115680"/>
            <a:ext cx="8229600" cy="3744912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bg-BG" altLang="bg-BG" sz="2800" i="1" dirty="0" smtClean="0">
                <a:solidFill>
                  <a:srgbClr val="C00000"/>
                </a:solidFill>
              </a:rPr>
              <a:t>Файлово- базирана система </a:t>
            </a:r>
            <a:r>
              <a:rPr lang="bg-BG" altLang="bg-BG" sz="2800" i="1" dirty="0" smtClean="0"/>
              <a:t>- </a:t>
            </a:r>
            <a:r>
              <a:rPr lang="bg-BG" altLang="bg-BG" sz="2800" dirty="0" smtClean="0"/>
              <a:t>множество от приложни програми, които доставят определени услуги на крайния потребител, например създаването на отчет</a:t>
            </a:r>
            <a:r>
              <a:rPr lang="en-US" altLang="bg-BG" sz="2800" dirty="0" smtClean="0"/>
              <a:t>.</a:t>
            </a:r>
            <a:endParaRPr lang="bg-BG" altLang="bg-BG" sz="2800" dirty="0" smtClean="0"/>
          </a:p>
          <a:p>
            <a:pPr marL="609600" indent="-609600" eaLnBrk="1" hangingPunct="1">
              <a:buFontTx/>
              <a:buNone/>
            </a:pPr>
            <a:r>
              <a:rPr lang="bg-BG" altLang="bg-BG" sz="2800" dirty="0" smtClean="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Първи опит за автоматизиране на определени бизнес дейности.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98AFD5CE-96CA-4CA5-BD71-B6617E44AEDD}" type="slidenum">
              <a:rPr lang="bg-BG" altLang="bg-BG"/>
              <a:pPr>
                <a:defRPr/>
              </a:pPr>
              <a:t>12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243887" cy="796925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Традиционен подход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125538"/>
            <a:ext cx="8229600" cy="4103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bg-BG" altLang="bg-BG" sz="2800" b="1" i="1" dirty="0" smtClean="0">
                <a:solidFill>
                  <a:srgbClr val="C00000"/>
                </a:solidFill>
              </a:rPr>
              <a:t>Характеристики:</a:t>
            </a:r>
          </a:p>
          <a:p>
            <a:pPr eaLnBrk="1" hangingPunct="1"/>
            <a:r>
              <a:rPr lang="bg-BG" altLang="bg-BG" sz="2800" dirty="0" smtClean="0"/>
              <a:t>за всяко приложение се създават и съхраняват отделни файлове</a:t>
            </a:r>
            <a:r>
              <a:rPr lang="en-US" altLang="bg-BG" sz="2800" dirty="0" smtClean="0"/>
              <a:t>;</a:t>
            </a:r>
            <a:r>
              <a:rPr lang="bg-BG" altLang="bg-BG" sz="2800" dirty="0" smtClean="0"/>
              <a:t> </a:t>
            </a:r>
          </a:p>
          <a:p>
            <a:pPr eaLnBrk="1" hangingPunct="1"/>
            <a:r>
              <a:rPr lang="bg-BG" altLang="bg-BG" sz="2800" dirty="0" smtClean="0"/>
              <a:t>всеки потребител организира информацията в собствени файлове и написва свои програми за обработка</a:t>
            </a:r>
            <a:r>
              <a:rPr lang="en-US" altLang="bg-BG" sz="2800" dirty="0" smtClean="0"/>
              <a:t>;</a:t>
            </a:r>
            <a:endParaRPr lang="bg-BG" altLang="bg-BG" sz="2800" dirty="0" smtClean="0"/>
          </a:p>
          <a:p>
            <a:pPr eaLnBrk="1" hangingPunct="1"/>
            <a:r>
              <a:rPr lang="bg-BG" altLang="bg-BG" sz="2800" dirty="0" smtClean="0"/>
              <a:t>дефиницията на данните представлява част от приложната програма</a:t>
            </a:r>
            <a:r>
              <a:rPr lang="en-US" altLang="bg-BG" sz="2800" dirty="0" smtClean="0"/>
              <a:t>.</a:t>
            </a:r>
            <a:r>
              <a:rPr lang="bg-BG" altLang="bg-BG" sz="2800" dirty="0" smtClean="0"/>
              <a:t> </a:t>
            </a:r>
          </a:p>
          <a:p>
            <a:pPr eaLnBrk="1" hangingPunct="1">
              <a:buFontTx/>
              <a:buNone/>
            </a:pPr>
            <a:endParaRPr lang="bg-BG" altLang="bg-BG" sz="28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9E256E14-998E-4916-8250-EB89AFB49D21}" type="slidenum">
              <a:rPr lang="bg-BG" altLang="bg-BG"/>
              <a:pPr>
                <a:defRPr/>
              </a:pPr>
              <a:t>13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92BCAD-AF31-4F7B-A9D3-B986C7551EC6}" type="slidenum">
              <a:rPr lang="bg-BG" altLang="bg-BG"/>
              <a:pPr>
                <a:defRPr/>
              </a:pPr>
              <a:t>14</a:t>
            </a:fld>
            <a:endParaRPr lang="bg-BG" altLang="bg-BG"/>
          </a:p>
        </p:txBody>
      </p:sp>
      <p:sp>
        <p:nvSpPr>
          <p:cNvPr id="7885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33375"/>
            <a:ext cx="8243888" cy="725488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bg-BG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</a:t>
            </a:r>
            <a:r>
              <a:rPr lang="bg-BG" altLang="bg-BG" sz="3200" dirty="0" smtClean="0">
                <a:solidFill>
                  <a:schemeClr val="accent1"/>
                </a:solidFill>
              </a:rPr>
              <a:t>Традиционен </a:t>
            </a:r>
            <a:r>
              <a:rPr lang="bg-BG" altLang="bg-BG" sz="3200" dirty="0">
                <a:solidFill>
                  <a:schemeClr val="accent1"/>
                </a:solidFill>
              </a:rPr>
              <a:t>подход</a:t>
            </a:r>
          </a:p>
        </p:txBody>
      </p:sp>
      <p:pic>
        <p:nvPicPr>
          <p:cNvPr id="15366" name="Picture 4"/>
          <p:cNvPicPr>
            <a:picLocks noGrp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268413"/>
            <a:ext cx="6840538" cy="43926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7" name="Rectangle 9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903663"/>
            <a:ext cx="8229600" cy="215265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bg-BG" altLang="bg-BG" sz="2800" smtClean="0"/>
          </a:p>
          <a:p>
            <a:pPr eaLnBrk="1" hangingPunct="1">
              <a:buFontTx/>
              <a:buNone/>
            </a:pPr>
            <a:endParaRPr lang="bg-BG" altLang="bg-BG" sz="2800" smtClean="0"/>
          </a:p>
          <a:p>
            <a:pPr eaLnBrk="1" hangingPunct="1">
              <a:buFontTx/>
              <a:buNone/>
            </a:pPr>
            <a:endParaRPr lang="bg-BG" altLang="bg-BG" sz="2800" smtClean="0"/>
          </a:p>
          <a:p>
            <a:pPr eaLnBrk="1" hangingPunct="1">
              <a:buFontTx/>
              <a:buNone/>
            </a:pPr>
            <a:endParaRPr lang="bg-BG" altLang="bg-BG" sz="280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/>
      <p:bldP spid="1536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260350"/>
            <a:ext cx="6511925" cy="1143000"/>
          </a:xfrm>
        </p:spPr>
        <p:txBody>
          <a:bodyPr rtlCol="0">
            <a:normAutofit fontScale="90000"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4000" dirty="0">
                <a:solidFill>
                  <a:schemeClr val="accent1"/>
                </a:solidFill>
              </a:rPr>
              <a:t>Традиционен подход</a:t>
            </a:r>
            <a:br>
              <a:rPr lang="bg-BG" altLang="bg-BG" sz="4000" dirty="0">
                <a:solidFill>
                  <a:schemeClr val="accent1"/>
                </a:solidFill>
              </a:rPr>
            </a:br>
            <a:endParaRPr lang="bg-BG" altLang="bg-BG" sz="3600" dirty="0">
              <a:solidFill>
                <a:schemeClr val="accent1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981075"/>
            <a:ext cx="7416800" cy="23764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bg-BG" altLang="bg-BG" sz="2800" b="1" i="1" smtClean="0">
                <a:solidFill>
                  <a:srgbClr val="C00000"/>
                </a:solidFill>
              </a:rPr>
              <a:t>Преимущества:</a:t>
            </a:r>
          </a:p>
          <a:p>
            <a:pPr eaLnBrk="1" hangingPunct="1">
              <a:buFontTx/>
              <a:buNone/>
            </a:pPr>
            <a:endParaRPr lang="bg-BG" altLang="bg-BG" sz="1100" smtClean="0"/>
          </a:p>
          <a:p>
            <a:pPr eaLnBrk="1" hangingPunct="1"/>
            <a:r>
              <a:rPr lang="bg-BG" altLang="bg-BG" sz="2800" smtClean="0"/>
              <a:t>лесно прилагане без особени допълнителни средства</a:t>
            </a:r>
            <a:r>
              <a:rPr lang="en-US" altLang="bg-BG" sz="2800" smtClean="0"/>
              <a:t>.</a:t>
            </a:r>
            <a:endParaRPr lang="bg-BG" altLang="bg-BG" sz="2800" b="1" i="1" smtClean="0"/>
          </a:p>
          <a:p>
            <a:pPr eaLnBrk="1" hangingPunct="1"/>
            <a:endParaRPr lang="bg-BG" altLang="bg-BG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BD2B3FE0-490E-4D7C-83FE-CC817FE4DB88}" type="slidenum">
              <a:rPr lang="bg-BG" altLang="bg-BG"/>
              <a:pPr>
                <a:defRPr/>
              </a:pPr>
              <a:t>15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8243887" cy="796925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Традиционен подход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258888" y="1412875"/>
            <a:ext cx="6994525" cy="36734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bg-BG" altLang="bg-BG" sz="2800" b="1" i="1" dirty="0" smtClean="0">
                <a:solidFill>
                  <a:srgbClr val="C00000"/>
                </a:solidFill>
              </a:rPr>
              <a:t>Недостатъци:</a:t>
            </a:r>
          </a:p>
          <a:p>
            <a:pPr eaLnBrk="1" hangingPunct="1"/>
            <a:r>
              <a:rPr lang="bg-BG" altLang="bg-BG" sz="2800" dirty="0" smtClean="0"/>
              <a:t>Излишество при съхраняване на данните</a:t>
            </a:r>
            <a:r>
              <a:rPr lang="en-US" altLang="bg-BG" sz="2800" dirty="0" smtClean="0"/>
              <a:t>;</a:t>
            </a:r>
            <a:endParaRPr lang="bg-BG" altLang="bg-BG" sz="2800" dirty="0" smtClean="0"/>
          </a:p>
          <a:p>
            <a:pPr eaLnBrk="1" hangingPunct="1"/>
            <a:r>
              <a:rPr lang="bg-BG" altLang="bg-BG" sz="2800" dirty="0" smtClean="0"/>
              <a:t>Нарушаване на цялостността</a:t>
            </a:r>
            <a:r>
              <a:rPr lang="en-US" altLang="bg-BG" sz="2800" dirty="0" smtClean="0"/>
              <a:t>;</a:t>
            </a:r>
            <a:endParaRPr lang="bg-BG" altLang="bg-BG" sz="2800" dirty="0" smtClean="0"/>
          </a:p>
          <a:p>
            <a:pPr eaLnBrk="1" hangingPunct="1"/>
            <a:r>
              <a:rPr lang="bg-BG" altLang="bg-BG" sz="2800" dirty="0" smtClean="0"/>
              <a:t>Зависимост между данни и програми</a:t>
            </a:r>
            <a:r>
              <a:rPr lang="en-US" altLang="bg-BG" sz="2800" dirty="0" smtClean="0"/>
              <a:t>;</a:t>
            </a:r>
            <a:endParaRPr lang="bg-BG" altLang="bg-BG" sz="2800" dirty="0" smtClean="0"/>
          </a:p>
          <a:p>
            <a:pPr eaLnBrk="1" hangingPunct="1"/>
            <a:r>
              <a:rPr lang="bg-BG" altLang="bg-BG" sz="2800" dirty="0" smtClean="0"/>
              <a:t>Работа с фиксирани заявки</a:t>
            </a:r>
            <a:r>
              <a:rPr lang="en-US" altLang="bg-BG" sz="2800" dirty="0" smtClean="0"/>
              <a:t>;</a:t>
            </a:r>
            <a:endParaRPr lang="bg-BG" altLang="bg-BG" sz="2800" dirty="0" smtClean="0"/>
          </a:p>
          <a:p>
            <a:pPr eaLnBrk="1" hangingPunct="1"/>
            <a:r>
              <a:rPr lang="bg-BG" altLang="bg-BG" sz="2800" dirty="0" smtClean="0"/>
              <a:t>Несъвместими файлови формати</a:t>
            </a:r>
            <a:r>
              <a:rPr lang="bg-BG" altLang="bg-BG" sz="2800" dirty="0"/>
              <a:t>.</a:t>
            </a:r>
            <a:endParaRPr lang="bg-BG" altLang="bg-BG" sz="2800" dirty="0" smtClean="0"/>
          </a:p>
          <a:p>
            <a:pPr eaLnBrk="1" hangingPunct="1">
              <a:buFontTx/>
              <a:buNone/>
            </a:pPr>
            <a:endParaRPr lang="bg-BG" altLang="bg-BG" b="1" i="1" dirty="0" smtClean="0"/>
          </a:p>
          <a:p>
            <a:pPr eaLnBrk="1" hangingPunct="1">
              <a:buFontTx/>
              <a:buNone/>
            </a:pPr>
            <a:endParaRPr lang="bg-BG" altLang="bg-B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E53BE5E2-9F5B-4D33-82AF-ABC13B52C26F}" type="slidenum">
              <a:rPr lang="bg-BG" altLang="bg-BG"/>
              <a:pPr>
                <a:defRPr/>
              </a:pPr>
              <a:t>16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8243888" cy="868362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Подход “бази от данни”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093228"/>
            <a:ext cx="8229600" cy="4679726"/>
          </a:xfrm>
        </p:spPr>
        <p:txBody>
          <a:bodyPr/>
          <a:lstStyle/>
          <a:p>
            <a:pPr eaLnBrk="1" hangingPunct="1"/>
            <a:r>
              <a:rPr lang="bg-BG" altLang="bg-BG" dirty="0" smtClean="0"/>
              <a:t>данните, свързани с дейността на дадено предприятие се съхраняват на </a:t>
            </a:r>
            <a:r>
              <a:rPr lang="bg-BG" altLang="bg-BG" u="sng" dirty="0" smtClean="0">
                <a:solidFill>
                  <a:srgbClr val="C00000"/>
                </a:solidFill>
              </a:rPr>
              <a:t>едно място</a:t>
            </a:r>
            <a:r>
              <a:rPr lang="bg-BG" altLang="bg-BG" dirty="0" smtClean="0">
                <a:solidFill>
                  <a:srgbClr val="C00000"/>
                </a:solidFill>
              </a:rPr>
              <a:t> </a:t>
            </a:r>
            <a:r>
              <a:rPr lang="bg-BG" altLang="bg-BG" dirty="0" smtClean="0"/>
              <a:t>и се използуват от всички разработени приложения</a:t>
            </a:r>
            <a:r>
              <a:rPr lang="en-US" altLang="bg-BG" dirty="0" smtClean="0"/>
              <a:t>;</a:t>
            </a:r>
            <a:r>
              <a:rPr lang="bg-BG" altLang="bg-BG" dirty="0" smtClean="0"/>
              <a:t> </a:t>
            </a:r>
          </a:p>
          <a:p>
            <a:pPr eaLnBrk="1" hangingPunct="1"/>
            <a:r>
              <a:rPr lang="bg-BG" altLang="bg-BG" dirty="0" smtClean="0"/>
              <a:t>управлението им се осъществява чрез </a:t>
            </a:r>
            <a:r>
              <a:rPr lang="bg-BG" altLang="bg-BG" dirty="0" smtClean="0">
                <a:solidFill>
                  <a:srgbClr val="C00000"/>
                </a:solidFill>
              </a:rPr>
              <a:t>софтуер</a:t>
            </a:r>
            <a:r>
              <a:rPr lang="bg-BG" altLang="bg-BG" dirty="0" smtClean="0"/>
              <a:t> – </a:t>
            </a:r>
            <a:r>
              <a:rPr lang="bg-BG" altLang="bg-BG" dirty="0" smtClean="0">
                <a:solidFill>
                  <a:schemeClr val="tx1"/>
                </a:solidFill>
              </a:rPr>
              <a:t>С</a:t>
            </a:r>
            <a:r>
              <a:rPr lang="bg-BG" altLang="bg-BG" dirty="0" smtClean="0"/>
              <a:t>истема за Управление на Бази от Данни (СУБД)</a:t>
            </a:r>
            <a:r>
              <a:rPr lang="en-US" altLang="bg-BG" dirty="0" smtClean="0"/>
              <a:t>;</a:t>
            </a:r>
            <a:endParaRPr lang="bg-BG" altLang="bg-BG" dirty="0" smtClean="0"/>
          </a:p>
          <a:p>
            <a:pPr eaLnBrk="1" hangingPunct="1"/>
            <a:r>
              <a:rPr lang="bg-BG" altLang="bg-BG" dirty="0" smtClean="0"/>
              <a:t>СУБД - съвкупност от програми, които позволяват на потребителя да </a:t>
            </a:r>
            <a:r>
              <a:rPr lang="bg-BG" altLang="bg-BG" u="sng" dirty="0" smtClean="0">
                <a:solidFill>
                  <a:srgbClr val="C00000"/>
                </a:solidFill>
              </a:rPr>
              <a:t>създава,</a:t>
            </a:r>
            <a:r>
              <a:rPr lang="bg-BG" altLang="bg-BG" dirty="0" smtClean="0">
                <a:solidFill>
                  <a:srgbClr val="C00000"/>
                </a:solidFill>
              </a:rPr>
              <a:t> </a:t>
            </a:r>
            <a:r>
              <a:rPr lang="bg-BG" altLang="bg-BG" u="sng" dirty="0" smtClean="0">
                <a:solidFill>
                  <a:srgbClr val="C00000"/>
                </a:solidFill>
              </a:rPr>
              <a:t>обработва</a:t>
            </a:r>
            <a:r>
              <a:rPr lang="bg-BG" altLang="bg-BG" dirty="0" smtClean="0">
                <a:solidFill>
                  <a:srgbClr val="C00000"/>
                </a:solidFill>
              </a:rPr>
              <a:t> , </a:t>
            </a:r>
            <a:r>
              <a:rPr lang="bg-BG" altLang="bg-BG" u="sng" dirty="0" smtClean="0">
                <a:solidFill>
                  <a:srgbClr val="C00000"/>
                </a:solidFill>
              </a:rPr>
              <a:t>поддържа </a:t>
            </a:r>
            <a:r>
              <a:rPr lang="bg-BG" altLang="bg-BG" dirty="0" smtClean="0">
                <a:solidFill>
                  <a:srgbClr val="C00000"/>
                </a:solidFill>
              </a:rPr>
              <a:t>и </a:t>
            </a:r>
            <a:r>
              <a:rPr lang="bg-BG" altLang="bg-BG" u="sng" dirty="0" smtClean="0">
                <a:solidFill>
                  <a:srgbClr val="C00000"/>
                </a:solidFill>
              </a:rPr>
              <a:t>управлява</a:t>
            </a:r>
            <a:r>
              <a:rPr lang="bg-BG" altLang="bg-BG" dirty="0" smtClean="0">
                <a:solidFill>
                  <a:srgbClr val="C00000"/>
                </a:solidFill>
              </a:rPr>
              <a:t> </a:t>
            </a:r>
            <a:r>
              <a:rPr lang="bg-BG" altLang="bg-BG" u="sng" dirty="0" smtClean="0">
                <a:solidFill>
                  <a:srgbClr val="C00000"/>
                </a:solidFill>
              </a:rPr>
              <a:t>достъпа</a:t>
            </a:r>
            <a:r>
              <a:rPr lang="bg-BG" altLang="bg-BG" dirty="0" smtClean="0">
                <a:solidFill>
                  <a:srgbClr val="C00000"/>
                </a:solidFill>
              </a:rPr>
              <a:t> </a:t>
            </a:r>
            <a:r>
              <a:rPr lang="bg-BG" altLang="bg-BG" dirty="0" smtClean="0"/>
              <a:t>до бази от данни, свързани с различни приложения</a:t>
            </a:r>
            <a:r>
              <a:rPr lang="en-US" altLang="bg-BG" dirty="0" smtClean="0"/>
              <a:t>.</a:t>
            </a:r>
            <a:r>
              <a:rPr lang="bg-BG" altLang="bg-BG" dirty="0" smtClean="0"/>
              <a:t> </a:t>
            </a:r>
          </a:p>
          <a:p>
            <a:pPr eaLnBrk="1" hangingPunct="1"/>
            <a:r>
              <a:rPr lang="bg-BG" altLang="bg-BG" dirty="0"/>
              <a:t>п</a:t>
            </a:r>
            <a:r>
              <a:rPr lang="bg-BG" altLang="bg-BG" dirty="0" smtClean="0"/>
              <a:t>риложение от тип „база от данни“ – </a:t>
            </a:r>
            <a:r>
              <a:rPr lang="bg-BG" altLang="bg-BG" dirty="0" smtClean="0">
                <a:solidFill>
                  <a:srgbClr val="C00000"/>
                </a:solidFill>
              </a:rPr>
              <a:t>програма</a:t>
            </a:r>
            <a:r>
              <a:rPr lang="bg-BG" altLang="bg-BG" dirty="0" smtClean="0"/>
              <a:t>, която взаимодейства с базата чрез заявки към СУБД</a:t>
            </a:r>
            <a:r>
              <a:rPr lang="bg-BG" altLang="bg-BG" dirty="0" smtClean="0"/>
              <a:t>.</a:t>
            </a:r>
            <a:endParaRPr lang="bg-BG" altLang="bg-B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0B224E22-64D5-4F09-B395-61F09D76EB42}" type="slidenum">
              <a:rPr lang="bg-BG" altLang="bg-BG"/>
              <a:pPr>
                <a:defRPr/>
              </a:pPr>
              <a:t>17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57E585-F231-4B61-84E4-D1D2E6E5AD87}" type="slidenum">
              <a:rPr lang="bg-BG" altLang="bg-BG"/>
              <a:pPr>
                <a:defRPr/>
              </a:pPr>
              <a:t>18</a:t>
            </a:fld>
            <a:endParaRPr lang="bg-BG" altLang="bg-BG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60350"/>
            <a:ext cx="8243887" cy="796925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bg-BG" altLang="bg-BG" sz="3200" dirty="0">
                <a:solidFill>
                  <a:schemeClr val="accent1"/>
                </a:solidFill>
              </a:rPr>
              <a:t>Подход “бази от данни”</a:t>
            </a:r>
          </a:p>
        </p:txBody>
      </p:sp>
      <p:sp>
        <p:nvSpPr>
          <p:cNvPr id="19462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79912" y="1480344"/>
            <a:ext cx="4700423" cy="2623562"/>
          </a:xfrm>
        </p:spPr>
        <p:txBody>
          <a:bodyPr/>
          <a:lstStyle/>
          <a:p>
            <a:pPr eaLnBrk="1" hangingPunct="1">
              <a:buFontTx/>
              <a:buNone/>
            </a:pPr>
            <a:endParaRPr lang="bg-BG" altLang="bg-BG" sz="2800" dirty="0" smtClean="0"/>
          </a:p>
          <a:p>
            <a:pPr eaLnBrk="1" hangingPunct="1">
              <a:buFontTx/>
              <a:buNone/>
            </a:pPr>
            <a:endParaRPr lang="bg-BG" altLang="bg-BG" sz="2800" dirty="0" smtClean="0"/>
          </a:p>
          <a:p>
            <a:pPr eaLnBrk="1" hangingPunct="1">
              <a:buFontTx/>
              <a:buNone/>
            </a:pPr>
            <a:endParaRPr lang="bg-BG" altLang="bg-BG" sz="2800" dirty="0" smtClean="0"/>
          </a:p>
          <a:p>
            <a:pPr algn="ctr" eaLnBrk="1" hangingPunct="1">
              <a:buFontTx/>
              <a:buNone/>
            </a:pPr>
            <a:endParaRPr lang="bg-BG" altLang="bg-BG" sz="28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1653783"/>
            <a:ext cx="4700423" cy="26276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1739" y="1363477"/>
            <a:ext cx="312214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  <a:latin typeface="+mn-lt"/>
              </a:rPr>
              <a:t>СУБД представлява съвкупност от програми, които позволяват на потребителя да създава и обработва бази от данни, свързани с различни приложения. </a:t>
            </a:r>
            <a:endParaRPr lang="bg-BG" sz="24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5843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1946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57E585-F231-4B61-84E4-D1D2E6E5AD87}" type="slidenum">
              <a:rPr lang="bg-BG" altLang="bg-BG"/>
              <a:pPr>
                <a:defRPr/>
              </a:pPr>
              <a:t>19</a:t>
            </a:fld>
            <a:endParaRPr lang="bg-BG" altLang="bg-BG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60350"/>
            <a:ext cx="8243887" cy="796925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bg-BG" altLang="bg-BG" sz="3200" dirty="0">
                <a:solidFill>
                  <a:schemeClr val="accent1"/>
                </a:solidFill>
              </a:rPr>
              <a:t>Подход “бази от данни”</a:t>
            </a:r>
          </a:p>
        </p:txBody>
      </p:sp>
      <p:sp>
        <p:nvSpPr>
          <p:cNvPr id="19462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903663"/>
            <a:ext cx="8229600" cy="215265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bg-BG" altLang="bg-BG" sz="2800" smtClean="0"/>
          </a:p>
          <a:p>
            <a:pPr eaLnBrk="1" hangingPunct="1">
              <a:buFontTx/>
              <a:buNone/>
            </a:pPr>
            <a:endParaRPr lang="bg-BG" altLang="bg-BG" sz="2800" smtClean="0"/>
          </a:p>
          <a:p>
            <a:pPr eaLnBrk="1" hangingPunct="1">
              <a:buFontTx/>
              <a:buNone/>
            </a:pPr>
            <a:endParaRPr lang="bg-BG" altLang="bg-BG" sz="2800" smtClean="0"/>
          </a:p>
          <a:p>
            <a:pPr algn="ctr" eaLnBrk="1" hangingPunct="1">
              <a:buFontTx/>
              <a:buNone/>
            </a:pPr>
            <a:endParaRPr lang="bg-BG" altLang="bg-BG" sz="2800" smtClean="0"/>
          </a:p>
        </p:txBody>
      </p:sp>
      <p:pic>
        <p:nvPicPr>
          <p:cNvPr id="19463" name="Picture 6"/>
          <p:cNvPicPr>
            <a:picLocks noGrp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813" y="1125538"/>
            <a:ext cx="6553200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1946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57E585-F231-4B61-84E4-D1D2E6E5AD87}" type="slidenum">
              <a:rPr lang="bg-BG" altLang="bg-BG"/>
              <a:pPr>
                <a:defRPr/>
              </a:pPr>
              <a:t>20</a:t>
            </a:fld>
            <a:endParaRPr lang="bg-BG" altLang="bg-BG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60350"/>
            <a:ext cx="8243887" cy="796925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bg-BG" altLang="bg-BG" sz="3200" dirty="0">
                <a:solidFill>
                  <a:schemeClr val="accent1"/>
                </a:solidFill>
              </a:rPr>
              <a:t>Подход “бази от данни”</a:t>
            </a:r>
          </a:p>
        </p:txBody>
      </p:sp>
      <p:sp>
        <p:nvSpPr>
          <p:cNvPr id="19462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903663"/>
            <a:ext cx="8229600" cy="215265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bg-BG" altLang="bg-BG" sz="2800" smtClean="0"/>
          </a:p>
          <a:p>
            <a:pPr eaLnBrk="1" hangingPunct="1">
              <a:buFontTx/>
              <a:buNone/>
            </a:pPr>
            <a:endParaRPr lang="bg-BG" altLang="bg-BG" sz="2800" smtClean="0"/>
          </a:p>
          <a:p>
            <a:pPr eaLnBrk="1" hangingPunct="1">
              <a:buFontTx/>
              <a:buNone/>
            </a:pPr>
            <a:endParaRPr lang="bg-BG" altLang="bg-BG" sz="2800" smtClean="0"/>
          </a:p>
          <a:p>
            <a:pPr algn="ctr" eaLnBrk="1" hangingPunct="1">
              <a:buFontTx/>
              <a:buNone/>
            </a:pPr>
            <a:endParaRPr lang="bg-BG" altLang="bg-BG" sz="280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497" y="1648161"/>
            <a:ext cx="4699805" cy="34489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1560" y="1510973"/>
            <a:ext cx="30958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  <a:latin typeface="+mn-lt"/>
              </a:rPr>
              <a:t>Съществуват стотици различни продукти: </a:t>
            </a:r>
          </a:p>
          <a:p>
            <a:pPr marL="800100" lvl="1" indent="-342900"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bg-BG" sz="2400" dirty="0">
                <a:solidFill>
                  <a:schemeClr val="tx2"/>
                </a:solidFill>
                <a:latin typeface="+mn-lt"/>
              </a:rPr>
              <a:t>търговски;</a:t>
            </a:r>
          </a:p>
          <a:p>
            <a:pPr marL="800100" lvl="1" indent="-342900"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bg-BG" sz="2400" dirty="0">
                <a:solidFill>
                  <a:schemeClr val="tx2"/>
                </a:solidFill>
                <a:latin typeface="+mn-lt"/>
              </a:rPr>
              <a:t>с отворен код.</a:t>
            </a:r>
            <a:endParaRPr lang="bg-BG" sz="24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45961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1946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476672"/>
            <a:ext cx="8243888" cy="940371"/>
          </a:xfrm>
        </p:spPr>
        <p:txBody>
          <a:bodyPr rtlCol="0">
            <a:normAutofit fontScale="90000"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bg-BG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bg-BG" altLang="bg-BG" sz="3600" dirty="0" smtClean="0">
                <a:solidFill>
                  <a:schemeClr val="accent1"/>
                </a:solidFill>
              </a:rPr>
              <a:t>Примери на приложения от тип „база от данни“</a:t>
            </a:r>
            <a:endParaRPr lang="bg-BG" altLang="bg-BG" sz="3600" dirty="0">
              <a:solidFill>
                <a:schemeClr val="accent1"/>
              </a:solidFill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17043"/>
            <a:ext cx="7921625" cy="4316213"/>
          </a:xfrm>
        </p:spPr>
        <p:txBody>
          <a:bodyPr rtlCol="0">
            <a:normAutofit lnSpcReduction="10000"/>
          </a:bodyPr>
          <a:lstStyle/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/>
              <a:t>Регистриране на покупки от супермаркет или с кредитна карта.</a:t>
            </a:r>
            <a:endParaRPr lang="en-US" altLang="bg-BG" sz="2800" dirty="0"/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/>
              <a:t>Резервация на ........</a:t>
            </a:r>
            <a:endParaRPr lang="en-US" altLang="bg-BG" sz="2800" dirty="0"/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/>
              <a:t>Библиотека</a:t>
            </a:r>
            <a:r>
              <a:rPr lang="en-US" altLang="bg-BG" sz="2800" dirty="0" smtClean="0"/>
              <a:t> </a:t>
            </a:r>
            <a:endParaRPr lang="en-US" altLang="bg-BG" sz="2800" dirty="0"/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/>
              <a:t>Застрахователни полици</a:t>
            </a:r>
            <a:r>
              <a:rPr lang="en-US" altLang="bg-BG" sz="2800" dirty="0" smtClean="0"/>
              <a:t> </a:t>
            </a:r>
            <a:endParaRPr lang="en-US" altLang="bg-BG" sz="2800" dirty="0"/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/>
              <a:t>Отдаване под наем на....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/>
              <a:t>Университет</a:t>
            </a:r>
            <a:r>
              <a:rPr lang="en-US" altLang="bg-BG" sz="2800" dirty="0" smtClean="0"/>
              <a:t> </a:t>
            </a:r>
            <a:endParaRPr lang="bg-BG" altLang="bg-BG" sz="2800" dirty="0" smtClean="0"/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/>
              <a:t>Болница</a:t>
            </a: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bg-BG" altLang="bg-BG" sz="2800" dirty="0" smtClean="0">
                <a:solidFill>
                  <a:schemeClr val="tx1"/>
                </a:solidFill>
              </a:rPr>
              <a:t>.....................................................</a:t>
            </a: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+mj-lt"/>
              <a:buAutoNum type="arabicPeriod"/>
              <a:defRPr/>
            </a:pPr>
            <a:endParaRPr lang="en-US" altLang="bg-BG" sz="28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C943C046-4CDB-47EE-9C79-C691F415564B}" type="slidenum">
              <a:rPr lang="bg-BG" altLang="bg-BG"/>
              <a:pPr>
                <a:defRPr/>
              </a:pPr>
              <a:t>21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5138338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4B6BE-0AEE-4815-BCBF-092086FA897C}" type="slidenum">
              <a:rPr lang="bg-BG" altLang="bg-BG"/>
              <a:pPr>
                <a:defRPr/>
              </a:pPr>
              <a:t>22</a:t>
            </a:fld>
            <a:endParaRPr lang="bg-BG" altLang="bg-BG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188913"/>
            <a:ext cx="8243887" cy="796925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Подход “бази от данни”</a:t>
            </a:r>
          </a:p>
        </p:txBody>
      </p:sp>
      <p:pic>
        <p:nvPicPr>
          <p:cNvPr id="20486" name="Picture 6" descr="fy1-0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052513"/>
            <a:ext cx="7345363" cy="462915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8243887" cy="725487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Подход “бази от данни”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1331913" y="1268413"/>
            <a:ext cx="7067550" cy="4714875"/>
          </a:xfrm>
        </p:spPr>
        <p:txBody>
          <a:bodyPr rtlCol="0">
            <a:normAutofit/>
          </a:bodyPr>
          <a:lstStyle/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bg-BG" altLang="bg-BG" sz="2800" b="1" i="1" dirty="0">
                <a:solidFill>
                  <a:srgbClr val="C00000"/>
                </a:solidFill>
              </a:rPr>
              <a:t>Характеристики:</a:t>
            </a: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контрол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излишеството</a:t>
            </a:r>
            <a:r>
              <a:rPr lang="en-US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en-US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аталог</a:t>
            </a:r>
            <a:r>
              <a:rPr lang="en-US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моделиране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данните</a:t>
            </a:r>
            <a:r>
              <a:rPr lang="en-US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ограничения за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цялостност</a:t>
            </a:r>
            <a:r>
              <a:rPr lang="en-US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независимост между данни и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програми</a:t>
            </a:r>
            <a:r>
              <a:rPr lang="en-US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потребителски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представи</a:t>
            </a:r>
            <a:r>
              <a:rPr lang="en-US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споделяне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данните</a:t>
            </a:r>
            <a:r>
              <a:rPr lang="en-US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управление на правата за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достъп;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възстановяване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данните;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интерфейси за потребители с различни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умения;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18288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налагане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стандарти.</a:t>
            </a:r>
            <a:endParaRPr lang="bg-BG" altLang="bg-BG" sz="28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9AB55768-8CE4-4CAD-A402-8B67E7DA8285}" type="slidenum">
              <a:rPr lang="bg-BG" altLang="bg-BG"/>
              <a:pPr>
                <a:defRPr/>
              </a:pPr>
              <a:t>23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76250"/>
            <a:ext cx="6513512" cy="1081088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rgbClr val="C00000"/>
                </a:solidFill>
              </a:rPr>
              <a:t>Подход “бази от данни”</a:t>
            </a:r>
            <a:br>
              <a:rPr lang="bg-BG" altLang="bg-BG" sz="3200" dirty="0">
                <a:solidFill>
                  <a:srgbClr val="C00000"/>
                </a:solidFill>
              </a:rPr>
            </a:br>
            <a:endParaRPr lang="bg-BG" altLang="bg-BG" sz="3200" dirty="0">
              <a:solidFill>
                <a:srgbClr val="C00000"/>
              </a:solidFill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1258888" y="1268413"/>
            <a:ext cx="6400800" cy="4464050"/>
          </a:xfrm>
        </p:spPr>
        <p:txBody>
          <a:bodyPr rtlCol="0">
            <a:noAutofit/>
          </a:bodyPr>
          <a:lstStyle/>
          <a:p>
            <a:pPr marL="609600" indent="-60960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bg-BG" altLang="bg-BG" b="1" i="1" dirty="0">
                <a:solidFill>
                  <a:srgbClr val="C00000"/>
                </a:solidFill>
              </a:rPr>
              <a:t>Преимущества:</a:t>
            </a: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споделяне данните между много потребители с минимално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излишество;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обработване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транзакции;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управление на едновременния достъп от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СУБД;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поддържане на ограничения за цялостност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данните;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защита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базата;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bg-BG" altLang="bg-B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независимост на </a:t>
            </a:r>
            <a:r>
              <a:rPr lang="bg-BG" altLang="bg-B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данните.</a:t>
            </a:r>
            <a:endParaRPr lang="bg-BG" altLang="bg-B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3C6CDDCD-2E58-4EF2-86D3-3B45B43DA625}" type="slidenum">
              <a:rPr lang="bg-BG" altLang="bg-BG"/>
              <a:pPr>
                <a:defRPr/>
              </a:pPr>
              <a:t>24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0245" y="260648"/>
            <a:ext cx="8243887" cy="725487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Подход “бази от данни”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08050"/>
            <a:ext cx="8229600" cy="51847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bg-BG" altLang="bg-BG" b="1" i="1" dirty="0" smtClean="0">
                <a:solidFill>
                  <a:srgbClr val="C00000"/>
                </a:solidFill>
              </a:rPr>
              <a:t>Недостатъци: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bg-BG" altLang="bg-BG" dirty="0" smtClean="0"/>
              <a:t>допълнителни инвестиции поради относително високите цени на софтуера и вероятно закупуване на допълнителен хардуер;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bg-BG" altLang="bg-BG" dirty="0" smtClean="0"/>
              <a:t>създаване на проекти с лошо качество, поради неразбиране на основните  функции на СУБД;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bg-BG" altLang="bg-BG" dirty="0" smtClean="0"/>
              <a:t>моделът на данните налага </a:t>
            </a:r>
            <a:r>
              <a:rPr lang="bg-BG" altLang="bg-BG" dirty="0" err="1" smtClean="0"/>
              <a:t>използуването</a:t>
            </a:r>
            <a:r>
              <a:rPr lang="bg-BG" altLang="bg-BG" dirty="0" smtClean="0"/>
              <a:t> на точно определени структури за тяхното представяне;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bg-BG" altLang="bg-BG" dirty="0" smtClean="0"/>
              <a:t>конвертирането на съществуващи приложения може да се окаже скъпо за организацията;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bg-BG" altLang="bg-BG" dirty="0" smtClean="0"/>
              <a:t>изпълнение на системни функции като: защита, паралелен достъп до данните, проверка на ограничения за цялостност и др.</a:t>
            </a:r>
            <a:r>
              <a:rPr lang="bg-BG" altLang="bg-BG" dirty="0" smtClean="0">
                <a:sym typeface="Wingdings" charset="2"/>
              </a:rPr>
              <a:t></a:t>
            </a:r>
            <a:r>
              <a:rPr lang="bg-BG" altLang="bg-BG" dirty="0" smtClean="0"/>
              <a:t> възможно е  забавяне на обработките.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940A34C5-17F4-45F5-A197-C61A645CD250}" type="slidenum">
              <a:rPr lang="bg-BG" altLang="bg-BG"/>
              <a:pPr>
                <a:defRPr/>
              </a:pPr>
              <a:t>25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73856"/>
            <a:ext cx="8243888" cy="725488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Потребители на бази от данни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2060848"/>
            <a:ext cx="3888432" cy="3024187"/>
          </a:xfrm>
        </p:spPr>
        <p:txBody>
          <a:bodyPr/>
          <a:lstStyle/>
          <a:p>
            <a:pPr eaLnBrk="1" hangingPunct="1"/>
            <a:r>
              <a:rPr lang="bg-BG" altLang="bg-BG" dirty="0" smtClean="0"/>
              <a:t>Администратори</a:t>
            </a:r>
          </a:p>
          <a:p>
            <a:pPr eaLnBrk="1" hangingPunct="1"/>
            <a:r>
              <a:rPr lang="bg-BG" altLang="bg-BG" dirty="0" smtClean="0"/>
              <a:t>Проектанти</a:t>
            </a:r>
          </a:p>
          <a:p>
            <a:pPr eaLnBrk="1" hangingPunct="1"/>
            <a:r>
              <a:rPr lang="bg-BG" altLang="bg-BG" dirty="0" smtClean="0"/>
              <a:t>Системни аналитици</a:t>
            </a:r>
          </a:p>
          <a:p>
            <a:pPr eaLnBrk="1" hangingPunct="1"/>
            <a:r>
              <a:rPr lang="bg-BG" altLang="bg-BG" dirty="0" smtClean="0"/>
              <a:t>Приложни програмисти </a:t>
            </a:r>
          </a:p>
          <a:p>
            <a:pPr eaLnBrk="1" hangingPunct="1"/>
            <a:r>
              <a:rPr lang="bg-BG" altLang="bg-BG" dirty="0" smtClean="0"/>
              <a:t>Крайни потребители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/>
              <a:t>CSCB405 - </a:t>
            </a:r>
            <a:r>
              <a:rPr lang="bg-BG" altLang="bg-BG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41380D15-AAD8-4835-B1A4-B706F28E612A}" type="slidenum">
              <a:rPr lang="bg-BG" altLang="bg-BG"/>
              <a:pPr>
                <a:defRPr/>
              </a:pPr>
              <a:t>26</a:t>
            </a:fld>
            <a:endParaRPr lang="bg-BG" altLang="bg-BG"/>
          </a:p>
        </p:txBody>
      </p:sp>
      <p:sp>
        <p:nvSpPr>
          <p:cNvPr id="2" name="Rectangle 1"/>
          <p:cNvSpPr/>
          <p:nvPr/>
        </p:nvSpPr>
        <p:spPr>
          <a:xfrm>
            <a:off x="251520" y="119080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  <a:latin typeface="+mn-lt"/>
              </a:rPr>
              <a:t>Хората, които работят с бази от данни, имат различни умения, знания и </a:t>
            </a:r>
            <a:r>
              <a:rPr lang="bg-BG" sz="2400" dirty="0" smtClean="0">
                <a:solidFill>
                  <a:schemeClr val="tx2"/>
                </a:solidFill>
                <a:latin typeface="+mn-lt"/>
              </a:rPr>
              <a:t>изисквания</a:t>
            </a:r>
            <a:r>
              <a:rPr lang="en-US" sz="2400" dirty="0" smtClean="0">
                <a:solidFill>
                  <a:schemeClr val="tx2"/>
                </a:solidFill>
                <a:latin typeface="+mn-lt"/>
              </a:rPr>
              <a:t>:</a:t>
            </a:r>
            <a:endParaRPr lang="en-US" sz="240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40768"/>
            <a:ext cx="4032448" cy="403244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118609"/>
            <a:ext cx="8243887" cy="836613"/>
          </a:xfrm>
        </p:spPr>
        <p:txBody>
          <a:bodyPr rtlCol="0">
            <a:normAutofit/>
          </a:bodyPr>
          <a:lstStyle/>
          <a:p>
            <a:pPr marL="320040" indent="-32004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базите от данни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955222"/>
            <a:ext cx="7704138" cy="4752975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Първо поколение </a:t>
            </a:r>
            <a:r>
              <a:rPr lang="bg-BG" altLang="bg-BG" dirty="0" smtClean="0"/>
              <a:t>(</a:t>
            </a:r>
            <a:r>
              <a:rPr lang="bg-BG" altLang="bg-BG" sz="2800" dirty="0" smtClean="0">
                <a:solidFill>
                  <a:srgbClr val="C00000"/>
                </a:solidFill>
              </a:rPr>
              <a:t>ранни приложения</a:t>
            </a:r>
            <a:r>
              <a:rPr lang="bg-BG" altLang="bg-BG" dirty="0" smtClean="0">
                <a:solidFill>
                  <a:srgbClr val="C00000"/>
                </a:solidFill>
              </a:rPr>
              <a:t> </a:t>
            </a:r>
            <a:r>
              <a:rPr lang="bg-BG" altLang="bg-BG" dirty="0" smtClean="0"/>
              <a:t>– </a:t>
            </a:r>
            <a:r>
              <a:rPr lang="bg-BG" altLang="bg-BG" sz="2800" dirty="0" smtClean="0"/>
              <a:t>от средата на 60-те години до</a:t>
            </a:r>
            <a:r>
              <a:rPr lang="bg-BG" altLang="bg-BG" dirty="0" smtClean="0"/>
              <a:t> </a:t>
            </a:r>
            <a:r>
              <a:rPr lang="bg-BG" altLang="bg-BG" sz="2800" dirty="0" smtClean="0"/>
              <a:t>края на 70-те</a:t>
            </a:r>
            <a:r>
              <a:rPr lang="bg-BG" altLang="bg-BG" dirty="0" smtClean="0"/>
              <a:t>)</a:t>
            </a:r>
          </a:p>
          <a:p>
            <a:pPr marL="1371600" lvl="2" indent="-457200" eaLnBrk="1" hangingPunct="1"/>
            <a:r>
              <a:rPr lang="bg-BG" altLang="bg-BG" sz="2400" dirty="0" smtClean="0"/>
              <a:t>йерархични</a:t>
            </a:r>
            <a:r>
              <a:rPr lang="en-US" altLang="bg-BG" sz="2400" dirty="0" smtClean="0"/>
              <a:t> – в</a:t>
            </a:r>
            <a:r>
              <a:rPr lang="bg-BG" altLang="bg-BG" sz="2400" dirty="0" smtClean="0"/>
              <a:t>се още се </a:t>
            </a:r>
            <a:r>
              <a:rPr lang="bg-BG" altLang="bg-BG" sz="2400" dirty="0" smtClean="0"/>
              <a:t>използват</a:t>
            </a:r>
            <a:r>
              <a:rPr lang="en-US" altLang="bg-BG" sz="2400" dirty="0" smtClean="0"/>
              <a:t>;</a:t>
            </a:r>
            <a:endParaRPr lang="bg-BG" altLang="bg-BG" sz="2400" dirty="0" smtClean="0"/>
          </a:p>
          <a:p>
            <a:pPr marL="1371600" lvl="2" indent="-457200" eaLnBrk="1" hangingPunct="1"/>
            <a:r>
              <a:rPr lang="bg-BG" altLang="bg-BG" sz="2400" dirty="0"/>
              <a:t>м</a:t>
            </a:r>
            <a:r>
              <a:rPr lang="bg-BG" altLang="bg-BG" sz="2400" dirty="0" smtClean="0"/>
              <a:t>режови</a:t>
            </a:r>
            <a:r>
              <a:rPr lang="en-US" altLang="bg-BG" sz="2400" dirty="0" smtClean="0"/>
              <a:t>.</a:t>
            </a:r>
            <a:endParaRPr lang="bg-BG" altLang="bg-BG" sz="2400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Второ поколение</a:t>
            </a:r>
          </a:p>
          <a:p>
            <a:pPr marL="1371600" lvl="2" indent="-457200" eaLnBrk="1" hangingPunct="1"/>
            <a:r>
              <a:rPr lang="bg-BG" altLang="bg-BG" sz="2400" dirty="0" smtClean="0"/>
              <a:t>Релационни- доминират пазара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Трето поколение</a:t>
            </a:r>
          </a:p>
          <a:p>
            <a:pPr marL="1371600" lvl="2" indent="-457200" eaLnBrk="1" hangingPunct="1"/>
            <a:r>
              <a:rPr lang="bg-BG" altLang="bg-BG" sz="2400" dirty="0" smtClean="0"/>
              <a:t>обектно – ориентирани- употребата им не е </a:t>
            </a:r>
            <a:r>
              <a:rPr lang="bg-BG" altLang="bg-BG" sz="2400" dirty="0" smtClean="0"/>
              <a:t>голяма;</a:t>
            </a:r>
            <a:endParaRPr lang="bg-BG" altLang="bg-BG" sz="2400" dirty="0" smtClean="0"/>
          </a:p>
          <a:p>
            <a:pPr marL="1371600" lvl="2" indent="-457200" eaLnBrk="1" hangingPunct="1"/>
            <a:r>
              <a:rPr lang="bg-BG" altLang="bg-BG" sz="2400" dirty="0" smtClean="0"/>
              <a:t>обектно </a:t>
            </a:r>
            <a:r>
              <a:rPr lang="bg-BG" altLang="bg-BG" sz="2400" dirty="0" smtClean="0"/>
              <a:t>– релационни.</a:t>
            </a:r>
            <a:endParaRPr lang="bg-BG" altLang="bg-BG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bg-BG" dirty="0"/>
              <a:t>CSCB405 - </a:t>
            </a:r>
            <a:r>
              <a:rPr lang="bg-BG" altLang="bg-BG" dirty="0"/>
              <a:t>модул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fld id="{89B85657-A8E1-4F99-9245-A3B1B5A2D94B}" type="slidenum">
              <a:rPr lang="bg-BG" altLang="bg-BG"/>
              <a:pPr>
                <a:defRPr/>
              </a:pPr>
              <a:t>27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4613</TotalTime>
  <Words>1024</Words>
  <Application>Microsoft Office PowerPoint</Application>
  <PresentationFormat>On-screen Show (4:3)</PresentationFormat>
  <Paragraphs>228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Impact</vt:lpstr>
      <vt:lpstr>Symbol</vt:lpstr>
      <vt:lpstr>Times New Roman</vt:lpstr>
      <vt:lpstr>Wingdings</vt:lpstr>
      <vt:lpstr>NewsPrint</vt:lpstr>
      <vt:lpstr>CSCB405 Бази от данни и СУБД   Модул 1: Организиране на данни и информация. Файлове и бази от данни.  </vt:lpstr>
      <vt:lpstr>Съдържание </vt:lpstr>
      <vt:lpstr> Подходи за управление на данните</vt:lpstr>
      <vt:lpstr> Подходи за управление на данните</vt:lpstr>
      <vt:lpstr> Подходи за управление на данните</vt:lpstr>
      <vt:lpstr> Подходи за управление на данните</vt:lpstr>
      <vt:lpstr>   Подходи за управление на данните</vt:lpstr>
      <vt:lpstr>   Подходи за управление на данните</vt:lpstr>
      <vt:lpstr>Подходи за управление на данните</vt:lpstr>
      <vt:lpstr>Подходи за управление на данните</vt:lpstr>
      <vt:lpstr>     Подходи за управление на данните</vt:lpstr>
      <vt:lpstr>Традиционен подход</vt:lpstr>
      <vt:lpstr>Традиционен подход</vt:lpstr>
      <vt:lpstr>            Традиционен подход</vt:lpstr>
      <vt:lpstr>Традиционен подход </vt:lpstr>
      <vt:lpstr>Традиционен подход</vt:lpstr>
      <vt:lpstr>Подход “бази от данни”</vt:lpstr>
      <vt:lpstr>      Подход “бази от данни”</vt:lpstr>
      <vt:lpstr>      Подход “бази от данни”</vt:lpstr>
      <vt:lpstr>      Подход “бази от данни”</vt:lpstr>
      <vt:lpstr>   Примери на приложения от тип „база от данни“</vt:lpstr>
      <vt:lpstr>Подход “бази от данни”</vt:lpstr>
      <vt:lpstr>Подход “бази от данни”</vt:lpstr>
      <vt:lpstr>Подход “бази от данни” </vt:lpstr>
      <vt:lpstr>Подход “бази от данни”</vt:lpstr>
      <vt:lpstr>Потребители на бази от данни</vt:lpstr>
      <vt:lpstr>История на базите от данни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INFB586 Module 1</dc:title>
  <dc:subject>Files&amp;databases</dc:subject>
  <dc:creator>July Peneva</dc:creator>
  <cp:lastModifiedBy>Windows User</cp:lastModifiedBy>
  <cp:revision>58</cp:revision>
  <dcterms:created xsi:type="dcterms:W3CDTF">2006-09-20T15:43:40Z</dcterms:created>
  <dcterms:modified xsi:type="dcterms:W3CDTF">2018-10-02T02:56:17Z</dcterms:modified>
</cp:coreProperties>
</file>