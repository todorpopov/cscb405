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0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1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260" r:id="rId6"/>
    <p:sldId id="263" r:id="rId7"/>
    <p:sldId id="312" r:id="rId8"/>
    <p:sldId id="313" r:id="rId9"/>
    <p:sldId id="264" r:id="rId10"/>
    <p:sldId id="317" r:id="rId11"/>
    <p:sldId id="357" r:id="rId12"/>
    <p:sldId id="318" r:id="rId13"/>
    <p:sldId id="282" r:id="rId14"/>
    <p:sldId id="315" r:id="rId15"/>
    <p:sldId id="283" r:id="rId16"/>
    <p:sldId id="314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359" r:id="rId27"/>
    <p:sldId id="348" r:id="rId28"/>
    <p:sldId id="349" r:id="rId29"/>
    <p:sldId id="293" r:id="rId30"/>
    <p:sldId id="347" r:id="rId31"/>
    <p:sldId id="294" r:id="rId32"/>
    <p:sldId id="295" r:id="rId33"/>
    <p:sldId id="360" r:id="rId34"/>
    <p:sldId id="296" r:id="rId35"/>
    <p:sldId id="297" r:id="rId36"/>
    <p:sldId id="361" r:id="rId37"/>
    <p:sldId id="299" r:id="rId38"/>
    <p:sldId id="300" r:id="rId39"/>
    <p:sldId id="358" r:id="rId40"/>
    <p:sldId id="301" r:id="rId41"/>
    <p:sldId id="302" r:id="rId42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8" autoAdjust="0"/>
    <p:restoredTop sz="94636" autoAdjust="0"/>
  </p:normalViewPr>
  <p:slideViewPr>
    <p:cSldViewPr>
      <p:cViewPr varScale="1">
        <p:scale>
          <a:sx n="106" d="100"/>
          <a:sy n="106" d="100"/>
        </p:scale>
        <p:origin x="108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36DCBDE-FC80-48F7-A51E-E04026137BC2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562498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noProof="0" smtClean="0"/>
              <a:t>Click to edit Master text styles</a:t>
            </a:r>
          </a:p>
          <a:p>
            <a:pPr lvl="1"/>
            <a:r>
              <a:rPr lang="bg-BG" altLang="bg-BG" noProof="0" smtClean="0"/>
              <a:t>Second level</a:t>
            </a:r>
          </a:p>
          <a:p>
            <a:pPr lvl="2"/>
            <a:r>
              <a:rPr lang="bg-BG" altLang="bg-BG" noProof="0" smtClean="0"/>
              <a:t>Third level</a:t>
            </a:r>
          </a:p>
          <a:p>
            <a:pPr lvl="3"/>
            <a:r>
              <a:rPr lang="bg-BG" altLang="bg-BG" noProof="0" smtClean="0"/>
              <a:t>Fourth level</a:t>
            </a:r>
          </a:p>
          <a:p>
            <a:pPr lvl="4"/>
            <a:r>
              <a:rPr lang="bg-BG" altLang="bg-BG" noProof="0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BC0BEA0B-8BFD-487B-B302-5B62273DBB91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852554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A5640-D0F0-4A1D-A055-27FDA534DCF3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E86B5A-A900-4C61-AC75-62C81890C158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6EBF32-BFF0-4168-B238-5764CC84CC1D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2CD85-9DDF-472C-A0D9-13B5339CAB96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60EED4-32DA-4D0A-85E5-F3FC532A5E8E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C673E-9655-43B0-A669-8D2C9ABD9177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92DF5-F1C9-4D08-AFA7-B557CC1FC365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0A3A8-E307-43C2-9F61-7C7E75274BDC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B1BABC-9DD1-49D9-88AC-4A558D35E06F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A6962A-0E8F-4F47-8759-26C7178EFFA1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BED168-F15E-495A-BF0A-948AA3FC4A31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7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CSCB405- модул5</a:t>
            </a:r>
          </a:p>
        </p:txBody>
      </p:sp>
      <p:sp>
        <p:nvSpPr>
          <p:cNvPr id="8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865C5-6B8B-4788-A689-1D47C8EB7119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96715045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CSCB405- модул5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E6190-F8FE-4C39-A598-40BFC916EC22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0658575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7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CSCB405- модул5</a:t>
            </a:r>
          </a:p>
        </p:txBody>
      </p:sp>
      <p:sp>
        <p:nvSpPr>
          <p:cNvPr id="8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311C0-5B65-4A55-9AD2-2D24785311F2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47195079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Юлиана Пенева</a:t>
            </a:r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bg-BG" altLang="bg-BG"/>
              <a:t>CSCB405- модул5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13CE1-8122-46BF-BBE6-7FEE0C41CFB7}" type="slidenum">
              <a:rPr lang="bg-BG" altLang="bg-BG"/>
              <a:pPr>
                <a:defRPr/>
              </a:pPr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05270185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>
              <a:defRPr/>
            </a:pPr>
            <a:r>
              <a:rPr lang="bg-BG" altLang="bg-BG" smtClean="0"/>
              <a:t>CSCB405- модул5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F3B66F93-45C5-44E7-B088-BE78FFCDC2C0}" type="slidenum">
              <a:rPr lang="bg-BG" altLang="bg-BG" smtClean="0"/>
              <a:pPr>
                <a:defRPr/>
              </a:pPr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692696"/>
            <a:ext cx="7543800" cy="1656184"/>
          </a:xfrm>
        </p:spPr>
        <p:txBody>
          <a:bodyPr/>
          <a:lstStyle/>
          <a:p>
            <a:pPr>
              <a:defRPr/>
            </a:pPr>
            <a:r>
              <a:rPr lang="en-US" altLang="bg-BG" sz="2700" dirty="0">
                <a:solidFill>
                  <a:srgbClr val="FF0000"/>
                </a:solidFill>
              </a:rPr>
              <a:t>CSCB405 </a:t>
            </a:r>
            <a:r>
              <a:rPr lang="bg-BG" altLang="bg-BG" sz="2700" dirty="0">
                <a:solidFill>
                  <a:srgbClr val="FF0000"/>
                </a:solidFill>
              </a:rPr>
              <a:t>Бази от данни и СУБД</a:t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>
                <a:solidFill>
                  <a:srgbClr val="FF0000"/>
                </a:solidFill>
              </a:rPr>
              <a:t/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 smtClean="0">
                <a:solidFill>
                  <a:schemeClr val="tx1"/>
                </a:solidFill>
              </a:rPr>
              <a:t>Модул </a:t>
            </a:r>
            <a:r>
              <a:rPr lang="en-US" altLang="bg-BG" sz="2700" dirty="0" smtClean="0">
                <a:solidFill>
                  <a:schemeClr val="tx1"/>
                </a:solidFill>
              </a:rPr>
              <a:t>5</a:t>
            </a:r>
            <a:r>
              <a:rPr lang="bg-BG" altLang="bg-BG" sz="2700" dirty="0" smtClean="0">
                <a:solidFill>
                  <a:schemeClr val="tx1"/>
                </a:solidFill>
              </a:rPr>
              <a:t>: Нормализация на данните</a:t>
            </a:r>
            <a:r>
              <a:rPr lang="en-US" altLang="bg-BG" sz="2700" dirty="0" smtClean="0">
                <a:solidFill>
                  <a:schemeClr val="tx1"/>
                </a:solidFill>
              </a:rPr>
              <a:t>    </a:t>
            </a:r>
            <a:endParaRPr lang="bg-BG" altLang="bg-BG" sz="2700" dirty="0" smtClean="0">
              <a:solidFill>
                <a:schemeClr val="tx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3356992"/>
            <a:ext cx="6858000" cy="1224136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bg-BG" altLang="bg-BG" sz="2400" dirty="0" smtClean="0"/>
              <a:t>Юлиана Пенева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bg-BG" altLang="bg-BG" sz="2400" dirty="0" smtClean="0"/>
              <a:t>Департамент “Информатика”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bg-BG" sz="2400" dirty="0" smtClean="0"/>
              <a:t>july_peneva@abv.bg</a:t>
            </a:r>
            <a:endParaRPr lang="bg-BG" altLang="bg-BG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616" y="4221088"/>
            <a:ext cx="4248472" cy="2389766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08719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bg-BG" altLang="bg-BG" sz="3600" b="1" dirty="0" smtClean="0">
                <a:solidFill>
                  <a:schemeClr val="accent1"/>
                </a:solidFill>
              </a:rPr>
              <a:t>Съдържание</a:t>
            </a:r>
            <a:r>
              <a:rPr lang="bg-BG" altLang="bg-BG" dirty="0" smtClean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052737"/>
            <a:ext cx="8229600" cy="4320479"/>
          </a:xfrm>
        </p:spPr>
        <p:txBody>
          <a:bodyPr/>
          <a:lstStyle/>
          <a:p>
            <a:pPr marL="990600" lvl="1" indent="-533400" eaLnBrk="1" hangingPunct="1">
              <a:buFontTx/>
              <a:buAutoNum type="arabicPeriod"/>
            </a:pPr>
            <a:r>
              <a:rPr lang="bg-BG" altLang="bg-BG" dirty="0" smtClean="0"/>
              <a:t>Евристични правила при проектиране на релационни бази от данни.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dirty="0" smtClean="0"/>
              <a:t>Функционални зависимости.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dirty="0" smtClean="0"/>
              <a:t>Процесът “нормализация”.</a:t>
            </a:r>
            <a:endParaRPr lang="en-US" altLang="bg-BG" dirty="0" smtClean="0"/>
          </a:p>
          <a:p>
            <a:pPr marL="990600" lvl="1" indent="-533400" eaLnBrk="1" hangingPunct="1">
              <a:buFontTx/>
              <a:buAutoNum type="arabicPeriod"/>
            </a:pPr>
            <a:r>
              <a:rPr lang="bg-BG" altLang="bg-BG" dirty="0" smtClean="0"/>
              <a:t>Нормални форми,използващи главен ключ.</a:t>
            </a:r>
          </a:p>
          <a:p>
            <a:pPr marL="1371600" lvl="2" indent="-457200" eaLnBrk="1" hangingPunct="1"/>
            <a:r>
              <a:rPr lang="bg-BG" altLang="bg-BG" dirty="0" smtClean="0"/>
              <a:t>Първа нормална форма</a:t>
            </a:r>
            <a:r>
              <a:rPr lang="en-US" altLang="bg-BG" dirty="0" smtClean="0"/>
              <a:t>.</a:t>
            </a:r>
            <a:endParaRPr lang="bg-BG" altLang="bg-BG" dirty="0" smtClean="0"/>
          </a:p>
          <a:p>
            <a:pPr marL="1371600" lvl="2" indent="-457200" eaLnBrk="1" hangingPunct="1"/>
            <a:r>
              <a:rPr lang="bg-BG" altLang="bg-BG" dirty="0" smtClean="0"/>
              <a:t>Втора нормална форма.</a:t>
            </a:r>
          </a:p>
          <a:p>
            <a:pPr marL="1371600" lvl="2" indent="-457200" eaLnBrk="1" hangingPunct="1"/>
            <a:r>
              <a:rPr lang="bg-BG" altLang="bg-BG" dirty="0" smtClean="0"/>
              <a:t>Трета нормална форма.</a:t>
            </a:r>
          </a:p>
          <a:p>
            <a:pPr marL="990600" lvl="1" indent="-533400" eaLnBrk="1" hangingPunct="1">
              <a:buFontTx/>
              <a:buNone/>
            </a:pPr>
            <a:endParaRPr lang="bg-BG" altLang="bg-BG" sz="800" dirty="0" smtClean="0"/>
          </a:p>
          <a:p>
            <a:pPr marL="990600" lvl="1" indent="-533400" eaLnBrk="1" hangingPunct="1">
              <a:buFontTx/>
              <a:buNone/>
            </a:pPr>
            <a:r>
              <a:rPr lang="bg-BG" altLang="bg-BG" dirty="0" smtClean="0"/>
              <a:t>Трябва да е усвоен Модул 3: Релационен модел</a:t>
            </a:r>
          </a:p>
        </p:txBody>
      </p:sp>
      <p:sp>
        <p:nvSpPr>
          <p:cNvPr id="409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40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B9EDA305-09F3-4AE7-BDEB-34FAC51C7B76}" type="slidenum">
              <a:rPr lang="bg-BG" altLang="bg-BG" sz="1400"/>
              <a:pPr eaLnBrk="1" hangingPunct="1"/>
              <a:t>2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892448"/>
          </a:xfrm>
        </p:spPr>
        <p:txBody>
          <a:bodyPr>
            <a:noAutofit/>
          </a:bodyPr>
          <a:lstStyle/>
          <a:p>
            <a:pPr marL="838200" indent="-8382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5126" name="Rectangle 5"/>
          <p:cNvSpPr>
            <a:spLocks noGrp="1" noChangeArrowheads="1"/>
          </p:cNvSpPr>
          <p:nvPr>
            <p:ph idx="1"/>
          </p:nvPr>
        </p:nvSpPr>
        <p:spPr>
          <a:xfrm>
            <a:off x="481831" y="1336098"/>
            <a:ext cx="8229600" cy="4456113"/>
          </a:xfrm>
        </p:spPr>
        <p:txBody>
          <a:bodyPr>
            <a:normAutofit lnSpcReduction="10000"/>
          </a:bodyPr>
          <a:lstStyle/>
          <a:p>
            <a:pPr marL="609600" indent="-609600" algn="ctr" eaLnBrk="1" hangingPunct="1">
              <a:lnSpc>
                <a:spcPct val="80000"/>
              </a:lnSpc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Релационен модел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Единствената и основна структура - отношението.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Релационната схема - множество от имена на атрибути,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Схема на базата от данни - съвкупност от релационни схеми. </a:t>
            </a:r>
          </a:p>
          <a:p>
            <a:pPr marL="609600" indent="-609600" algn="ctr" eaLnBrk="1" hangingPunct="1">
              <a:lnSpc>
                <a:spcPct val="80000"/>
              </a:lnSpc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Въпроси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Как се групират атрибутите в отделните схеми?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Дали има разлика в отделните групирания на атрибутите при формирането на отношенията?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800" dirty="0" smtClean="0"/>
              <a:t>Защо едно групиране е по-добро от друго? </a:t>
            </a:r>
          </a:p>
        </p:txBody>
      </p:sp>
      <p:sp>
        <p:nvSpPr>
          <p:cNvPr id="512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75EFC619-23DF-4FDB-9992-0E7936C6C95A}" type="slidenum">
              <a:rPr lang="bg-BG" altLang="bg-BG" sz="1400"/>
              <a:pPr eaLnBrk="1" hangingPunct="1"/>
              <a:t>3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940073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12776"/>
            <a:ext cx="8229600" cy="4643537"/>
          </a:xfrm>
        </p:spPr>
        <p:txBody>
          <a:bodyPr/>
          <a:lstStyle/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bg-BG" altLang="bg-BG" dirty="0" smtClean="0">
                <a:solidFill>
                  <a:srgbClr val="C00000"/>
                </a:solidFill>
              </a:rPr>
              <a:t>Задача</a:t>
            </a:r>
          </a:p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endParaRPr lang="bg-BG" altLang="bg-BG" sz="900" dirty="0" smtClean="0"/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Търси се мярка за качеството на проекта на дадена база от данни.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Под проект на релационна база от данни се разбира групирането на атрибутите в </a:t>
            </a:r>
            <a:r>
              <a:rPr lang="bg-BG" altLang="bg-BG" sz="2400" dirty="0" smtClean="0">
                <a:solidFill>
                  <a:srgbClr val="C00000"/>
                </a:solidFill>
              </a:rPr>
              <a:t>“добри”(?) </a:t>
            </a:r>
            <a:r>
              <a:rPr lang="bg-BG" altLang="bg-BG" sz="2400" dirty="0" smtClean="0"/>
              <a:t>схеми, които притежават определени свойства.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Качеството на релационните схеми бива на две нива – логическо и физическо.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bg-BG" altLang="bg-BG" sz="1000" dirty="0" smtClean="0"/>
          </a:p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2400" dirty="0" smtClean="0"/>
              <a:t>Въпрос</a:t>
            </a:r>
          </a:p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endParaRPr lang="bg-BG" altLang="bg-BG" sz="1000" dirty="0" smtClean="0"/>
          </a:p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2400" dirty="0" smtClean="0">
                <a:solidFill>
                  <a:srgbClr val="C00000"/>
                </a:solidFill>
              </a:rPr>
              <a:t>Какви са критериите за  проектирането на“добри” отношения (базови таблици)?</a:t>
            </a:r>
          </a:p>
        </p:txBody>
      </p:sp>
      <p:sp>
        <p:nvSpPr>
          <p:cNvPr id="614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479CC902-03CA-4C74-A3BE-54AB796A0BBD}" type="slidenum">
              <a:rPr lang="bg-BG" altLang="bg-BG" sz="1400"/>
              <a:pPr eaLnBrk="1" hangingPunct="1"/>
              <a:t>4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76672"/>
            <a:ext cx="8243887" cy="940073"/>
          </a:xfrm>
        </p:spPr>
        <p:txBody>
          <a:bodyPr>
            <a:normAutofit fontScale="90000"/>
          </a:bodyPr>
          <a:lstStyle/>
          <a:p>
            <a:pPr marL="685800" indent="-685800" algn="ctr" eaLnBrk="1" hangingPunct="1">
              <a:defRPr/>
            </a:pPr>
            <a:r>
              <a:rPr lang="bg-BG" altLang="bg-BG" sz="36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  <a:endParaRPr lang="bg-BG" altLang="bg-BG" dirty="0" smtClean="0">
              <a:solidFill>
                <a:schemeClr val="accent1"/>
              </a:solidFill>
            </a:endParaRPr>
          </a:p>
        </p:txBody>
      </p:sp>
      <p:sp>
        <p:nvSpPr>
          <p:cNvPr id="7174" name="Rectangle 16"/>
          <p:cNvSpPr>
            <a:spLocks noGrp="1" noChangeArrowheads="1"/>
          </p:cNvSpPr>
          <p:nvPr>
            <p:ph idx="1"/>
          </p:nvPr>
        </p:nvSpPr>
        <p:spPr>
          <a:xfrm>
            <a:off x="800100" y="1412776"/>
            <a:ext cx="7543800" cy="3886200"/>
          </a:xfrm>
        </p:spPr>
        <p:txBody>
          <a:bodyPr>
            <a:normAutofit/>
          </a:bodyPr>
          <a:lstStyle/>
          <a:p>
            <a:pPr marL="609600" indent="-609600" algn="ctr" eaLnBrk="1" hangingPunct="1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Неформални мерки на качеството при проектиране на релационни схеми</a:t>
            </a:r>
          </a:p>
          <a:p>
            <a:pPr marL="609600" indent="-609600" algn="ctr" eaLnBrk="1" hangingPunct="1">
              <a:buFontTx/>
              <a:buNone/>
            </a:pPr>
            <a:endParaRPr lang="bg-BG" altLang="bg-BG" sz="8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Семантика на атрибутите в отношението.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Излишество в данните и аномалии при обновяване.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Нулеви стойности в кортежите.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Фалшиви кортежи.</a:t>
            </a:r>
          </a:p>
        </p:txBody>
      </p:sp>
      <p:sp>
        <p:nvSpPr>
          <p:cNvPr id="717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7E71FA6D-509C-470B-8D9C-37AA8DD0307D}" type="slidenum">
              <a:rPr lang="bg-BG" altLang="bg-BG" sz="1400"/>
              <a:pPr eaLnBrk="1" hangingPunct="1"/>
              <a:t>5</a:t>
            </a:fld>
            <a:endParaRPr lang="bg-BG" altLang="bg-BG" sz="1400"/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717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7177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0521"/>
            <a:ext cx="8243888" cy="940247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04285" y="1531385"/>
            <a:ext cx="2894868" cy="4338745"/>
          </a:xfrm>
          <a:prstGeom prst="rect">
            <a:avLst/>
          </a:prstGeom>
        </p:spPr>
      </p:pic>
      <p:sp>
        <p:nvSpPr>
          <p:cNvPr id="8200" name="Rectangle 4"/>
          <p:cNvSpPr>
            <a:spLocks noGrp="1" noChangeArrowheads="1"/>
          </p:cNvSpPr>
          <p:nvPr>
            <p:ph type="body" sz="half" idx="3"/>
          </p:nvPr>
        </p:nvSpPr>
        <p:spPr>
          <a:xfrm>
            <a:off x="673224" y="5733256"/>
            <a:ext cx="8229600" cy="604838"/>
          </a:xfrm>
        </p:spPr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bg-BG" altLang="bg-BG" sz="2000" dirty="0" smtClean="0">
                <a:solidFill>
                  <a:srgbClr val="C00000"/>
                </a:solidFill>
              </a:rPr>
              <a:t>Семантика на атрибутите в отношението</a:t>
            </a:r>
            <a:endParaRPr lang="bg-BG" altLang="bg-BG" sz="2400" dirty="0" smtClean="0">
              <a:solidFill>
                <a:srgbClr val="C00000"/>
              </a:solidFill>
            </a:endParaRPr>
          </a:p>
        </p:txBody>
      </p:sp>
      <p:sp>
        <p:nvSpPr>
          <p:cNvPr id="8194" name="Date Placeholder 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8195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819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4746CDE0-18DC-4251-BF48-FAE907F4F268}" type="slidenum">
              <a:rPr lang="bg-BG" altLang="bg-BG" sz="1400"/>
              <a:pPr eaLnBrk="1" hangingPunct="1"/>
              <a:t>6</a:t>
            </a:fld>
            <a:endParaRPr lang="bg-BG" altLang="bg-BG" sz="1400"/>
          </a:p>
        </p:txBody>
      </p:sp>
      <p:sp>
        <p:nvSpPr>
          <p:cNvPr id="82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820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820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820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820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820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pic>
        <p:nvPicPr>
          <p:cNvPr id="8207" name="Picture 35" descr="a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196752"/>
            <a:ext cx="35433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76672"/>
            <a:ext cx="7488832" cy="943000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9222" name="Rectangle 7"/>
          <p:cNvSpPr>
            <a:spLocks noGrp="1" noChangeArrowheads="1"/>
          </p:cNvSpPr>
          <p:nvPr>
            <p:ph idx="1"/>
          </p:nvPr>
        </p:nvSpPr>
        <p:spPr>
          <a:xfrm>
            <a:off x="899592" y="1628800"/>
            <a:ext cx="7543800" cy="3886200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>
              <a:buFontTx/>
              <a:buNone/>
            </a:pPr>
            <a:r>
              <a:rPr lang="bg-BG" altLang="bg-BG" sz="2800" i="1" dirty="0" smtClean="0">
                <a:solidFill>
                  <a:srgbClr val="C00000"/>
                </a:solidFill>
              </a:rPr>
              <a:t>ПРАВИЛО1</a:t>
            </a:r>
            <a:r>
              <a:rPr lang="bg-BG" altLang="bg-BG" sz="2800" i="1" dirty="0" smtClean="0"/>
              <a:t>:Проектирайте релационната схема, така че семантиката й да се обяснява лесно. </a:t>
            </a:r>
            <a:endParaRPr lang="en-US" altLang="bg-BG" sz="2800" i="1" dirty="0" smtClean="0"/>
          </a:p>
          <a:p>
            <a:pPr marL="609600" indent="-609600" eaLnBrk="1" hangingPunct="1">
              <a:buFontTx/>
              <a:buNone/>
            </a:pPr>
            <a:r>
              <a:rPr lang="bg-BG" altLang="bg-BG" sz="2800" dirty="0" smtClean="0"/>
              <a:t>Това </a:t>
            </a:r>
            <a:r>
              <a:rPr lang="bg-BG" altLang="bg-BG" sz="2800" dirty="0" smtClean="0"/>
              <a:t>значи:</a:t>
            </a:r>
            <a:endParaRPr lang="bg-BG" altLang="bg-BG" sz="28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Моделиране на обекти и връзки в различни отношения.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Представяне на единствен тип обект или връзка в едно отношение.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Използуване на мнемонични (подсещащи) имена на атрибути и релационни схеми</a:t>
            </a:r>
            <a:r>
              <a:rPr lang="bg-BG" altLang="bg-BG" dirty="0" smtClean="0"/>
              <a:t>.</a:t>
            </a:r>
          </a:p>
        </p:txBody>
      </p:sp>
      <p:sp>
        <p:nvSpPr>
          <p:cNvPr id="921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777FCF8-3092-49AF-AEE3-ABCF89FC4552}" type="slidenum">
              <a:rPr lang="bg-BG" altLang="bg-BG" sz="1400"/>
              <a:pPr eaLnBrk="1" hangingPunct="1"/>
              <a:t>7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940519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3568" y="5157192"/>
            <a:ext cx="8229600" cy="6048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bg-BG" altLang="bg-BG" sz="2400" dirty="0" smtClean="0">
                <a:solidFill>
                  <a:srgbClr val="C00000"/>
                </a:solidFill>
              </a:rPr>
              <a:t>Излишество в данните и аномалии при обновяване</a:t>
            </a:r>
          </a:p>
        </p:txBody>
      </p:sp>
      <p:sp>
        <p:nvSpPr>
          <p:cNvPr id="10242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024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02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83B3E54-B242-446A-B881-8736E095F6F7}" type="slidenum">
              <a:rPr lang="bg-BG" altLang="bg-BG" sz="1400"/>
              <a:pPr eaLnBrk="1" hangingPunct="1"/>
              <a:t>8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23497" y="1573274"/>
            <a:ext cx="6197108" cy="365695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404664"/>
            <a:ext cx="8243887" cy="1012974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/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1271" name="Rectangle 9"/>
          <p:cNvSpPr>
            <a:spLocks noGrp="1" noChangeArrowheads="1"/>
          </p:cNvSpPr>
          <p:nvPr>
            <p:ph type="body" sz="half" idx="3"/>
          </p:nvPr>
        </p:nvSpPr>
        <p:spPr>
          <a:xfrm>
            <a:off x="442913" y="4765119"/>
            <a:ext cx="8229600" cy="1365615"/>
          </a:xfrm>
        </p:spPr>
        <p:txBody>
          <a:bodyPr>
            <a:normAutofit fontScale="85000" lnSpcReduction="20000"/>
          </a:bodyPr>
          <a:lstStyle/>
          <a:p>
            <a:pPr marL="457200" indent="-457200" eaLnBrk="1" hangingPunct="1">
              <a:lnSpc>
                <a:spcPct val="80000"/>
              </a:lnSpc>
              <a:buFontTx/>
              <a:buNone/>
            </a:pPr>
            <a:endParaRPr lang="bg-BG" altLang="bg-BG" sz="1400" dirty="0" smtClean="0"/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bg-BG" altLang="bg-BG" sz="2400" dirty="0" smtClean="0"/>
              <a:t>Да сравним: EMP и </a:t>
            </a:r>
            <a:r>
              <a:rPr lang="bg-BG" altLang="bg-BG" sz="2400" dirty="0" smtClean="0"/>
              <a:t>EMP_DEPT</a:t>
            </a:r>
          </a:p>
          <a:p>
            <a:pPr marL="457200" indent="-457200" algn="ctr" eaLnBrk="1" hangingPunct="1">
              <a:lnSpc>
                <a:spcPct val="80000"/>
              </a:lnSpc>
              <a:buFontTx/>
              <a:buNone/>
            </a:pPr>
            <a:endParaRPr lang="bg-BG" altLang="bg-BG" sz="1100" dirty="0" smtClean="0"/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Във EMP_DEPT има </a:t>
            </a:r>
            <a:r>
              <a:rPr lang="bg-BG" altLang="bg-BG" sz="2400" dirty="0" smtClean="0">
                <a:solidFill>
                  <a:srgbClr val="C00000"/>
                </a:solidFill>
              </a:rPr>
              <a:t>излишество</a:t>
            </a:r>
            <a:r>
              <a:rPr lang="bg-BG" altLang="bg-BG" sz="2400" dirty="0" smtClean="0">
                <a:solidFill>
                  <a:srgbClr val="FF0066"/>
                </a:solidFill>
              </a:rPr>
              <a:t> </a:t>
            </a:r>
            <a:r>
              <a:rPr lang="bg-BG" altLang="bg-BG" sz="2400" dirty="0" smtClean="0"/>
              <a:t>на данните и смесване на атрибути, принадлежащи на два различни обекта . </a:t>
            </a:r>
          </a:p>
          <a:p>
            <a:pPr marL="457200" indent="-4572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Появяват се  т.нар. </a:t>
            </a:r>
            <a:r>
              <a:rPr lang="bg-BG" altLang="bg-BG" sz="2400" i="1" dirty="0" smtClean="0">
                <a:solidFill>
                  <a:srgbClr val="C00000"/>
                </a:solidFill>
              </a:rPr>
              <a:t>аномалии при обновяване</a:t>
            </a:r>
            <a:r>
              <a:rPr lang="bg-BG" altLang="bg-BG" sz="2400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1266" name="Date Placeholder 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126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 dirty="0"/>
              <a:t>CSCB405- модул5</a:t>
            </a:r>
          </a:p>
        </p:txBody>
      </p:sp>
      <p:sp>
        <p:nvSpPr>
          <p:cNvPr id="1126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04BF8302-C027-4746-BAFE-615F2A69AC7D}" type="slidenum">
              <a:rPr lang="bg-BG" altLang="bg-BG" sz="1400"/>
              <a:pPr eaLnBrk="1" hangingPunct="1"/>
              <a:t>9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3507834" y="1628800"/>
            <a:ext cx="5491148" cy="324036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013187" y="1600200"/>
            <a:ext cx="2180837" cy="326896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76672"/>
            <a:ext cx="8243887" cy="953666"/>
          </a:xfrm>
        </p:spPr>
        <p:txBody>
          <a:bodyPr>
            <a:noAutofit/>
          </a:bodyPr>
          <a:lstStyle/>
          <a:p>
            <a:pPr marL="685800" indent="-685800"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484784"/>
            <a:ext cx="7543800" cy="3886200"/>
          </a:xfrm>
        </p:spPr>
        <p:txBody>
          <a:bodyPr>
            <a:normAutofit fontScale="92500" lnSpcReduction="20000"/>
          </a:bodyPr>
          <a:lstStyle/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3000" dirty="0" smtClean="0">
                <a:solidFill>
                  <a:srgbClr val="C00000"/>
                </a:solidFill>
              </a:rPr>
              <a:t>Аномалии при обновяване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800" dirty="0" smtClean="0"/>
              <a:t>Свързани са с трите основни операции: въвеждане, изтриване и модифициране.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800" dirty="0" smtClean="0"/>
              <a:t>Видове: 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Аномалии при въвеждане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Аномалии при изтриване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Аномалии при модификации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bg-BG" altLang="bg-BG" sz="2400" i="1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bg-BG" altLang="bg-BG" sz="2800" i="1" dirty="0" smtClean="0">
                <a:solidFill>
                  <a:srgbClr val="C00000"/>
                </a:solidFill>
              </a:rPr>
              <a:t>ПРАВИЛО 2</a:t>
            </a:r>
            <a:r>
              <a:rPr lang="bg-BG" altLang="bg-BG" sz="2800" i="1" dirty="0" smtClean="0"/>
              <a:t>: проектирайте схемата на отношението така, че да няма аномалии при обновяване.</a:t>
            </a:r>
            <a:endParaRPr lang="bg-BG" altLang="bg-BG" sz="2800" dirty="0" smtClean="0"/>
          </a:p>
        </p:txBody>
      </p:sp>
      <p:sp>
        <p:nvSpPr>
          <p:cNvPr id="1229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3973465-3060-4DD6-9C2A-F9FDE9AC2BE9}" type="slidenum">
              <a:rPr lang="bg-BG" altLang="bg-BG" sz="1400"/>
              <a:pPr eaLnBrk="1" hangingPunct="1"/>
              <a:t>10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940519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714875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bg-BG" altLang="bg-BG" sz="2400" dirty="0" smtClean="0"/>
              <a:t>Разглеждаме отношението</a:t>
            </a:r>
            <a:r>
              <a:rPr lang="en-US" altLang="bg-BG" sz="2400" dirty="0" smtClean="0"/>
              <a:t>: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bg-BG" sz="2400" dirty="0" smtClean="0">
                <a:solidFill>
                  <a:srgbClr val="C00000"/>
                </a:solidFill>
              </a:rPr>
              <a:t>EMP_PROJ (</a:t>
            </a:r>
            <a:r>
              <a:rPr lang="en-US" altLang="bg-BG" sz="2400" dirty="0" err="1" smtClean="0">
                <a:solidFill>
                  <a:srgbClr val="C00000"/>
                </a:solidFill>
              </a:rPr>
              <a:t>Ssn</a:t>
            </a:r>
            <a:r>
              <a:rPr lang="en-US" altLang="bg-BG" sz="2400" dirty="0" smtClean="0">
                <a:solidFill>
                  <a:srgbClr val="C00000"/>
                </a:solidFill>
              </a:rPr>
              <a:t>, </a:t>
            </a:r>
            <a:r>
              <a:rPr lang="en-US" altLang="bg-BG" sz="2400" dirty="0" err="1" smtClean="0">
                <a:solidFill>
                  <a:srgbClr val="C00000"/>
                </a:solidFill>
              </a:rPr>
              <a:t>Pnumber</a:t>
            </a:r>
            <a:r>
              <a:rPr lang="en-US" altLang="bg-BG" sz="2400" dirty="0" smtClean="0">
                <a:solidFill>
                  <a:srgbClr val="C00000"/>
                </a:solidFill>
              </a:rPr>
              <a:t>, </a:t>
            </a:r>
            <a:r>
              <a:rPr lang="en-US" altLang="bg-BG" dirty="0">
                <a:solidFill>
                  <a:srgbClr val="C00000"/>
                </a:solidFill>
              </a:rPr>
              <a:t>H</a:t>
            </a:r>
            <a:r>
              <a:rPr lang="en-US" altLang="bg-BG" sz="2400" dirty="0" smtClean="0">
                <a:solidFill>
                  <a:srgbClr val="C00000"/>
                </a:solidFill>
              </a:rPr>
              <a:t>ours, </a:t>
            </a:r>
            <a:r>
              <a:rPr lang="en-US" altLang="bg-BG" sz="2400" dirty="0" err="1" smtClean="0">
                <a:solidFill>
                  <a:srgbClr val="C00000"/>
                </a:solidFill>
              </a:rPr>
              <a:t>Ename</a:t>
            </a:r>
            <a:r>
              <a:rPr lang="en-US" altLang="bg-BG" sz="2400" dirty="0" smtClean="0">
                <a:solidFill>
                  <a:srgbClr val="C00000"/>
                </a:solidFill>
              </a:rPr>
              <a:t>, </a:t>
            </a:r>
            <a:r>
              <a:rPr lang="en-US" altLang="bg-BG" sz="2400" dirty="0" err="1" smtClean="0">
                <a:solidFill>
                  <a:srgbClr val="C00000"/>
                </a:solidFill>
              </a:rPr>
              <a:t>Pname</a:t>
            </a:r>
            <a:r>
              <a:rPr lang="en-US" altLang="bg-BG" sz="2400" dirty="0" smtClean="0">
                <a:solidFill>
                  <a:srgbClr val="C00000"/>
                </a:solidFill>
              </a:rPr>
              <a:t>, </a:t>
            </a:r>
            <a:r>
              <a:rPr lang="en-US" altLang="bg-BG" sz="2400" dirty="0" err="1" smtClean="0">
                <a:solidFill>
                  <a:srgbClr val="C00000"/>
                </a:solidFill>
              </a:rPr>
              <a:t>Plocation</a:t>
            </a:r>
            <a:r>
              <a:rPr lang="en-US" altLang="bg-BG" sz="2400" dirty="0" smtClean="0">
                <a:solidFill>
                  <a:srgbClr val="C00000"/>
                </a:solidFill>
              </a:rPr>
              <a:t>)</a:t>
            </a:r>
            <a:endParaRPr lang="bg-BG" altLang="bg-BG" sz="2400" dirty="0" smtClean="0">
              <a:solidFill>
                <a:srgbClr val="C0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>
                <a:solidFill>
                  <a:schemeClr val="accent1">
                    <a:lumMod val="75000"/>
                  </a:schemeClr>
                </a:solidFill>
              </a:rPr>
              <a:t>Пример за аномалия при въвеждане.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bg-BG" altLang="bg-BG" sz="2000" dirty="0" smtClean="0"/>
              <a:t>не могат да се въведат данни за проект, ако няма поне един служител, който да работи по него и обратното.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>
                <a:solidFill>
                  <a:schemeClr val="accent1">
                    <a:lumMod val="75000"/>
                  </a:schemeClr>
                </a:solidFill>
              </a:rPr>
              <a:t>Пример за аномалия при изтриване.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bg-BG" altLang="bg-BG" sz="2000" dirty="0" smtClean="0"/>
              <a:t>с изтриването на данните за един проект се изтриват и данните на всички служители, които са работили по него;</a:t>
            </a:r>
            <a:r>
              <a:rPr lang="en-US" altLang="bg-BG" sz="2000" dirty="0" smtClean="0"/>
              <a:t> </a:t>
            </a:r>
            <a:endParaRPr lang="bg-BG" altLang="bg-BG" sz="2000" dirty="0" smtClean="0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bg-BG" altLang="bg-BG" sz="2000" dirty="0" smtClean="0"/>
              <a:t>аналогично, изтриването на данните за единствен служител, работещ по даден проект води до изтриване на данните и за проекта.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>
                <a:solidFill>
                  <a:schemeClr val="accent1">
                    <a:lumMod val="75000"/>
                  </a:schemeClr>
                </a:solidFill>
              </a:rPr>
              <a:t>Пример за аномалия при модификация на данните.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bg-BG" altLang="bg-BG" sz="2000" dirty="0" smtClean="0"/>
              <a:t>промяната на името на даден проект води до обновяване на данните за всички служители (например 20), които работят по него.</a:t>
            </a:r>
          </a:p>
        </p:txBody>
      </p:sp>
      <p:sp>
        <p:nvSpPr>
          <p:cNvPr id="1331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CB82DBC-A021-4FA8-B0B0-ED5CF36EE480}" type="slidenum">
              <a:rPr lang="bg-BG" altLang="bg-BG" sz="1400"/>
              <a:pPr eaLnBrk="1" hangingPunct="1"/>
              <a:t>11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476672"/>
            <a:ext cx="7266384" cy="1015008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700808"/>
            <a:ext cx="7543800" cy="3886200"/>
          </a:xfrm>
        </p:spPr>
        <p:txBody>
          <a:bodyPr>
            <a:normAutofit fontScale="92500"/>
          </a:bodyPr>
          <a:lstStyle/>
          <a:p>
            <a:pPr marL="533400" indent="-533400" algn="ctr" eaLnBrk="1" hangingPunct="1">
              <a:buFontTx/>
              <a:buNone/>
            </a:pPr>
            <a:r>
              <a:rPr lang="bg-BG" altLang="bg-BG" sz="3000" dirty="0" smtClean="0">
                <a:solidFill>
                  <a:srgbClr val="C00000"/>
                </a:solidFill>
              </a:rPr>
              <a:t>Нулеви стойности в кортежите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800" dirty="0" smtClean="0"/>
              <a:t>Ако голяма част от атрибутите не се отнасят до всички кортежи, те автоматично се запълват от СУБД със специалната стойност </a:t>
            </a:r>
            <a:r>
              <a:rPr lang="en-US" altLang="bg-BG" sz="2800" dirty="0" smtClean="0"/>
              <a:t>Null</a:t>
            </a:r>
            <a:r>
              <a:rPr lang="bg-BG" altLang="bg-BG" sz="2800" dirty="0" smtClean="0"/>
              <a:t>.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800" dirty="0" smtClean="0"/>
              <a:t>Създават се  проблеми при изпълнение на операцията "съединение" и при прилагането на агрегатни функции.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800" dirty="0" smtClean="0"/>
              <a:t>Освен това се заема много място в паметта???</a:t>
            </a:r>
            <a:r>
              <a:rPr lang="bg-BG" altLang="bg-BG" dirty="0" smtClean="0"/>
              <a:t> </a:t>
            </a:r>
          </a:p>
          <a:p>
            <a:pPr marL="533400" indent="-533400" algn="ctr" eaLnBrk="1" hangingPunct="1">
              <a:buFontTx/>
              <a:buNone/>
            </a:pPr>
            <a:endParaRPr lang="bg-BG" altLang="bg-BG" dirty="0" smtClean="0"/>
          </a:p>
        </p:txBody>
      </p:sp>
      <p:sp>
        <p:nvSpPr>
          <p:cNvPr id="1433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D10779D9-97BE-4260-92CF-56EFA5A185AB}" type="slidenum">
              <a:rPr lang="bg-BG" altLang="bg-BG" sz="1400"/>
              <a:pPr eaLnBrk="1" hangingPunct="1"/>
              <a:t>12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4"/>
          <p:cNvSpPr>
            <a:spLocks noGrp="1" noChangeArrowheads="1"/>
          </p:cNvSpPr>
          <p:nvPr>
            <p:ph type="title"/>
          </p:nvPr>
        </p:nvSpPr>
        <p:spPr>
          <a:xfrm>
            <a:off x="827584" y="404664"/>
            <a:ext cx="7338392" cy="1015008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bg-BG" altLang="bg-BG" sz="36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5366" name="Rectangle 5"/>
          <p:cNvSpPr>
            <a:spLocks noGrp="1" noChangeArrowheads="1"/>
          </p:cNvSpPr>
          <p:nvPr>
            <p:ph idx="1"/>
          </p:nvPr>
        </p:nvSpPr>
        <p:spPr>
          <a:xfrm>
            <a:off x="539552" y="1391811"/>
            <a:ext cx="8229600" cy="4643437"/>
          </a:xfrm>
        </p:spPr>
        <p:txBody>
          <a:bodyPr/>
          <a:lstStyle/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Нулеви стойности в кортежите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</a:pPr>
            <a:r>
              <a:rPr lang="bg-BG" altLang="bg-BG" dirty="0" smtClean="0"/>
              <a:t>По-сериозен проблем е различното тълкуване на стойностите </a:t>
            </a:r>
            <a:r>
              <a:rPr lang="en-US" altLang="bg-BG" dirty="0" smtClean="0"/>
              <a:t>Null </a:t>
            </a:r>
            <a:r>
              <a:rPr lang="bg-BG" altLang="bg-BG" dirty="0" smtClean="0"/>
              <a:t>в дадена релация: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bg-BG" altLang="bg-BG" sz="2400" dirty="0" smtClean="0"/>
              <a:t>атрибутът е неприложим за конкретния кортеж;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bg-BG" altLang="bg-BG" sz="2400" dirty="0" smtClean="0"/>
              <a:t>не е известна стойността на атрибута;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bg-BG" altLang="bg-BG" sz="2400" dirty="0" smtClean="0"/>
              <a:t>стойността не е въведена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5"/>
            </a:pPr>
            <a:r>
              <a:rPr lang="bg-BG" altLang="bg-BG" dirty="0" smtClean="0"/>
              <a:t>Представянето на стойностите Null еднотипно, скрива различната им семантика.</a:t>
            </a:r>
            <a:endParaRPr lang="bg-BG" altLang="bg-BG" i="1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bg-BG" altLang="bg-BG" i="1" dirty="0" smtClean="0">
                <a:solidFill>
                  <a:srgbClr val="C00000"/>
                </a:solidFill>
              </a:rPr>
              <a:t>ПРАВИЛО 3:</a:t>
            </a:r>
            <a:r>
              <a:rPr lang="bg-BG" altLang="bg-BG" i="1" dirty="0" smtClean="0"/>
              <a:t> Да се избягва въвеждането на атрибути в релационната схема, чиито стойности са в голямата си част </a:t>
            </a:r>
            <a:r>
              <a:rPr lang="en-US" altLang="bg-BG" i="1" dirty="0" smtClean="0"/>
              <a:t>null</a:t>
            </a:r>
            <a:r>
              <a:rPr lang="bg-BG" altLang="bg-BG" i="1" dirty="0" smtClean="0"/>
              <a:t>.</a:t>
            </a:r>
          </a:p>
        </p:txBody>
      </p:sp>
      <p:sp>
        <p:nvSpPr>
          <p:cNvPr id="1536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5F25150-F3AD-49B7-B802-C61B115F1456}" type="slidenum">
              <a:rPr lang="bg-BG" altLang="bg-BG" sz="1400"/>
              <a:pPr eaLnBrk="1" hangingPunct="1"/>
              <a:t>13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2" name="Rectangle 8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939502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6392" name="Rectangle 9"/>
          <p:cNvSpPr>
            <a:spLocks noGrp="1" noChangeArrowheads="1"/>
          </p:cNvSpPr>
          <p:nvPr>
            <p:ph type="body" sz="half" idx="3"/>
          </p:nvPr>
        </p:nvSpPr>
        <p:spPr>
          <a:xfrm>
            <a:off x="4788024" y="1412776"/>
            <a:ext cx="4038600" cy="4456113"/>
          </a:xfrm>
        </p:spPr>
        <p:txBody>
          <a:bodyPr/>
          <a:lstStyle/>
          <a:p>
            <a:pPr marL="533400" indent="-533400" algn="ctr" eaLnBrk="1" hangingPunct="1">
              <a:lnSpc>
                <a:spcPct val="90000"/>
              </a:lnSpc>
              <a:buFontTx/>
              <a:buNone/>
            </a:pPr>
            <a:r>
              <a:rPr lang="bg-BG" altLang="bg-BG" dirty="0" smtClean="0">
                <a:solidFill>
                  <a:srgbClr val="C00000"/>
                </a:solidFill>
              </a:rPr>
              <a:t>Фалшиви кортежи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При изпълнение на операцията "съединение" EMP_PROJ1 и EMP_LOCS се получават повече кортежи, отколкото в EMP_PROJ. 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Допълнителните кортежи се наричат </a:t>
            </a:r>
            <a:r>
              <a:rPr lang="bg-BG" altLang="bg-BG" sz="2000" i="1" dirty="0" smtClean="0"/>
              <a:t>фалшиви</a:t>
            </a:r>
            <a:r>
              <a:rPr lang="bg-BG" altLang="bg-BG" sz="2000" dirty="0" smtClean="0"/>
              <a:t>, тъй като представят некоректни данни. 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Фалшивите кортежи се получават заради лошо подбран свързващ атрибут – PLOCATION не е някакъв ключ за някое от двете отношения.</a:t>
            </a:r>
          </a:p>
        </p:txBody>
      </p:sp>
      <p:sp>
        <p:nvSpPr>
          <p:cNvPr id="16386" name="Date Placeholder 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6387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638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39B62F2E-49DA-42E1-94C7-FE3BBE275CFC}" type="slidenum">
              <a:rPr lang="bg-BG" altLang="bg-BG" sz="1400"/>
              <a:pPr eaLnBrk="1" hangingPunct="1"/>
              <a:t>14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737300" y="3469519"/>
            <a:ext cx="3840852" cy="239937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737300" y="1705300"/>
            <a:ext cx="3840852" cy="132676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4" name="Rectangle 8"/>
          <p:cNvSpPr>
            <a:spLocks noGrp="1" noChangeArrowheads="1"/>
          </p:cNvSpPr>
          <p:nvPr>
            <p:ph type="title"/>
          </p:nvPr>
        </p:nvSpPr>
        <p:spPr>
          <a:xfrm>
            <a:off x="863588" y="476672"/>
            <a:ext cx="7416824" cy="102413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</a:t>
            </a:r>
            <a:r>
              <a:rPr lang="bg-BG" altLang="bg-BG" sz="3600" dirty="0" smtClean="0">
                <a:solidFill>
                  <a:schemeClr val="accent1">
                    <a:lumMod val="75000"/>
                  </a:schemeClr>
                </a:solidFill>
              </a:rPr>
              <a:t>правила</a:t>
            </a: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 при проектиране на релационни бази от данни</a:t>
            </a:r>
          </a:p>
        </p:txBody>
      </p:sp>
      <p:pic>
        <p:nvPicPr>
          <p:cNvPr id="1741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093360" cy="4176464"/>
          </a:xfrm>
        </p:spPr>
      </p:pic>
      <p:sp>
        <p:nvSpPr>
          <p:cNvPr id="1741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1B81CD1E-F520-45E9-B393-C7A05B01DE96}" type="slidenum">
              <a:rPr lang="bg-BG" altLang="bg-BG" sz="1400"/>
              <a:pPr eaLnBrk="1" hangingPunct="1"/>
              <a:t>15</a:t>
            </a:fld>
            <a:endParaRPr lang="bg-BG" altLang="bg-BG" sz="1400"/>
          </a:p>
        </p:txBody>
      </p:sp>
      <p:sp>
        <p:nvSpPr>
          <p:cNvPr id="174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323528" y="476672"/>
            <a:ext cx="8243888" cy="101151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Евристични правила при проектиране на релационни бази от данни</a:t>
            </a:r>
          </a:p>
        </p:txBody>
      </p:sp>
      <p:sp>
        <p:nvSpPr>
          <p:cNvPr id="18438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4823866"/>
          </a:xfrm>
        </p:spPr>
        <p:txBody>
          <a:bodyPr>
            <a:normAutofit lnSpcReduction="10000"/>
          </a:bodyPr>
          <a:lstStyle/>
          <a:p>
            <a:pPr marL="381000" indent="-381000" algn="ctr" eaLnBrk="1" hangingPunct="1">
              <a:lnSpc>
                <a:spcPct val="80000"/>
              </a:lnSpc>
              <a:buFontTx/>
              <a:buNone/>
            </a:pPr>
            <a:r>
              <a:rPr lang="bg-BG" altLang="bg-BG" sz="2400" dirty="0" smtClean="0">
                <a:solidFill>
                  <a:srgbClr val="C00000"/>
                </a:solidFill>
              </a:rPr>
              <a:t>Фалшиви кортежи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Лоши проекти на релационната база водят до грешни резултати при изпълнението на операцията “съединение”.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Отделните релационни схеми трябва да се проектират така, че операцията “естествено съединение” да се извършва само чрез  условия за съединение между атрибути, които са главни или чужди ключове. 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Не бива в отделните схеми да има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еднакви </a:t>
            </a:r>
            <a:r>
              <a:rPr lang="bg-BG" altLang="bg-BG" sz="2400" dirty="0" smtClean="0"/>
              <a:t>атрибути, които не са ключове.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Наличието на еднакви атрибути, които не са ключове в две различни схеми, позволява дефинирането на условие за съединение, а в резултат се получават фалшиви кортежи.</a:t>
            </a:r>
          </a:p>
          <a:p>
            <a:pPr marL="381000" indent="-381000" eaLnBrk="1" hangingPunct="1">
              <a:lnSpc>
                <a:spcPct val="80000"/>
              </a:lnSpc>
              <a:buFontTx/>
              <a:buNone/>
            </a:pPr>
            <a:r>
              <a:rPr lang="bg-BG" altLang="bg-BG" sz="2400" i="1" dirty="0" smtClean="0">
                <a:solidFill>
                  <a:srgbClr val="C00000"/>
                </a:solidFill>
              </a:rPr>
              <a:t>ПРАВИЛО 4:</a:t>
            </a:r>
            <a:r>
              <a:rPr lang="bg-BG" altLang="bg-BG" sz="2400" i="1" dirty="0" smtClean="0"/>
              <a:t> Проектирайте схемите, така че при изпълнение на операцията "съединение" да не се получават фалшиви кортежи. </a:t>
            </a:r>
          </a:p>
        </p:txBody>
      </p:sp>
      <p:sp>
        <p:nvSpPr>
          <p:cNvPr id="1843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52BB818A-4256-4373-8557-C66CE95D2C55}" type="slidenum">
              <a:rPr lang="bg-BG" altLang="bg-BG" sz="1400"/>
              <a:pPr eaLnBrk="1" hangingPunct="1"/>
              <a:t>16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394356"/>
            <a:ext cx="8243887" cy="653752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Функционални зависимости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>
          <a:xfrm>
            <a:off x="450056" y="1204191"/>
            <a:ext cx="8229600" cy="4248472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Описват връзката между отделните атрибути в дадена релационна схема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Свойства: </a:t>
            </a:r>
          </a:p>
          <a:p>
            <a:pPr marL="990600" lvl="1" indent="-533400" eaLnBrk="1" hangingPunct="1">
              <a:buFontTx/>
              <a:buChar char="•"/>
            </a:pPr>
            <a:r>
              <a:rPr lang="bg-BG" altLang="bg-BG" sz="2400" dirty="0" smtClean="0"/>
              <a:t>използуват се за задаването на формални мерки относно качеството на релационния проект;</a:t>
            </a:r>
          </a:p>
          <a:p>
            <a:pPr marL="990600" lvl="1" indent="-533400" eaLnBrk="1" hangingPunct="1">
              <a:buFontTx/>
              <a:buChar char="•"/>
            </a:pPr>
            <a:r>
              <a:rPr lang="bg-BG" altLang="bg-BG" sz="2400" dirty="0" smtClean="0"/>
              <a:t>използуват се при дефинирането на основните нормални форми;</a:t>
            </a:r>
          </a:p>
          <a:p>
            <a:pPr marL="990600" lvl="1" indent="-533400" eaLnBrk="1" hangingPunct="1">
              <a:buFontTx/>
              <a:buChar char="•"/>
            </a:pPr>
            <a:r>
              <a:rPr lang="bg-BG" altLang="bg-BG" sz="2400" dirty="0" smtClean="0"/>
              <a:t>представляват ограничения, които се извеждат от значението и връзките между отделните атрибути в релационните схеми.</a:t>
            </a:r>
          </a:p>
        </p:txBody>
      </p:sp>
      <p:sp>
        <p:nvSpPr>
          <p:cNvPr id="1945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C3566C22-81F7-4AA2-A508-EE4E64575497}" type="slidenum">
              <a:rPr lang="bg-BG" altLang="bg-BG" sz="1400"/>
              <a:pPr eaLnBrk="1" hangingPunct="1"/>
              <a:t>17</a:t>
            </a:fld>
            <a:endParaRPr lang="bg-BG" altLang="bg-BG" sz="1400"/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946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946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19468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76672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Функционални зависимости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>
          <a:xfrm>
            <a:off x="637937" y="1268760"/>
            <a:ext cx="8229600" cy="445611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bg-BG" altLang="bg-BG" sz="2400" dirty="0" smtClean="0"/>
              <a:t>Нека </a:t>
            </a:r>
            <a:r>
              <a:rPr lang="bg-BG" altLang="bg-BG" sz="2400" i="1" dirty="0" smtClean="0"/>
              <a:t>R(A</a:t>
            </a:r>
            <a:r>
              <a:rPr lang="bg-BG" altLang="bg-BG" sz="2400" i="1" baseline="-25000" dirty="0" smtClean="0"/>
              <a:t>1</a:t>
            </a:r>
            <a:r>
              <a:rPr lang="bg-BG" altLang="bg-BG" sz="2400" i="1" dirty="0" smtClean="0"/>
              <a:t>, A</a:t>
            </a:r>
            <a:r>
              <a:rPr lang="bg-BG" altLang="bg-BG" sz="2400" i="1" baseline="-25000" dirty="0" smtClean="0"/>
              <a:t>2</a:t>
            </a:r>
            <a:r>
              <a:rPr lang="bg-BG" altLang="bg-BG" sz="2400" i="1" dirty="0" smtClean="0"/>
              <a:t>,… ,A</a:t>
            </a:r>
            <a:r>
              <a:rPr lang="bg-BG" altLang="bg-BG" sz="2400" i="1" baseline="-25000" dirty="0" smtClean="0"/>
              <a:t>n</a:t>
            </a:r>
            <a:r>
              <a:rPr lang="bg-BG" altLang="bg-BG" sz="2400" i="1" dirty="0" smtClean="0"/>
              <a:t>)</a:t>
            </a:r>
            <a:r>
              <a:rPr lang="bg-BG" altLang="bg-BG" sz="2400" dirty="0" smtClean="0"/>
              <a:t> е релационна схема</a:t>
            </a:r>
          </a:p>
          <a:p>
            <a:pPr marL="609600" indent="-609600" eaLnBrk="1" hangingPunct="1">
              <a:buFontTx/>
              <a:buNone/>
            </a:pPr>
            <a:r>
              <a:rPr lang="bg-BG" altLang="bg-BG" sz="2400" i="1" dirty="0" smtClean="0"/>
              <a:t>X </a:t>
            </a:r>
            <a:r>
              <a:rPr lang="bg-BG" altLang="bg-BG" sz="2400" dirty="0" smtClean="0"/>
              <a:t>и </a:t>
            </a:r>
            <a:r>
              <a:rPr lang="bg-BG" altLang="bg-BG" sz="2400" i="1" dirty="0" smtClean="0"/>
              <a:t>Y</a:t>
            </a:r>
            <a:r>
              <a:rPr lang="bg-BG" altLang="bg-BG" sz="2400" dirty="0" smtClean="0"/>
              <a:t> - подмножества на множеството от атрибути на </a:t>
            </a:r>
            <a:r>
              <a:rPr lang="bg-BG" altLang="bg-BG" sz="2400" i="1" dirty="0" smtClean="0"/>
              <a:t>R.</a:t>
            </a:r>
            <a:r>
              <a:rPr lang="bg-BG" altLang="bg-BG" sz="2400" dirty="0" smtClean="0"/>
              <a:t> </a:t>
            </a:r>
          </a:p>
          <a:p>
            <a:pPr marL="609600" indent="-609600" eaLnBrk="1" hangingPunct="1">
              <a:buFontTx/>
              <a:buNone/>
            </a:pPr>
            <a:endParaRPr lang="bg-BG" altLang="bg-BG" sz="2400" dirty="0" smtClean="0"/>
          </a:p>
          <a:p>
            <a:pPr marL="609600" indent="-609600" eaLnBrk="1" hangingPunct="1">
              <a:buFontTx/>
              <a:buNone/>
            </a:pPr>
            <a:r>
              <a:rPr lang="bg-BG" altLang="bg-BG" sz="2400" i="1" u="sng" dirty="0" smtClean="0"/>
              <a:t>Def.1</a:t>
            </a:r>
            <a:r>
              <a:rPr lang="bg-BG" altLang="bg-BG" sz="2400" dirty="0" smtClean="0"/>
              <a:t> Казваме, че в релационната схема </a:t>
            </a:r>
            <a:r>
              <a:rPr lang="bg-BG" altLang="bg-BG" sz="2400" i="1" dirty="0" smtClean="0"/>
              <a:t>R</a:t>
            </a:r>
            <a:r>
              <a:rPr lang="bg-BG" altLang="bg-BG" sz="2400" dirty="0" smtClean="0"/>
              <a:t>, </a:t>
            </a:r>
            <a:r>
              <a:rPr lang="bg-BG" altLang="bg-BG" sz="2400" i="1" dirty="0" smtClean="0"/>
              <a:t>X</a:t>
            </a:r>
            <a:r>
              <a:rPr lang="bg-BG" altLang="bg-BG" sz="2400" dirty="0" smtClean="0"/>
              <a:t> функционално определя </a:t>
            </a:r>
            <a:r>
              <a:rPr lang="bg-BG" altLang="bg-BG" sz="2400" i="1" dirty="0" smtClean="0"/>
              <a:t>Y</a:t>
            </a:r>
            <a:r>
              <a:rPr lang="bg-BG" altLang="bg-BG" sz="2400" dirty="0" smtClean="0"/>
              <a:t> (записва се </a:t>
            </a:r>
            <a:r>
              <a:rPr lang="bg-BG" altLang="bg-BG" sz="2400" i="1" dirty="0" smtClean="0"/>
              <a:t>X</a:t>
            </a:r>
            <a:r>
              <a:rPr lang="bg-BG" altLang="bg-BG" sz="2400" i="1" dirty="0" smtClean="0">
                <a:latin typeface="Symbol" pitchFamily="18" charset="2"/>
              </a:rPr>
              <a:t>®</a:t>
            </a:r>
            <a:r>
              <a:rPr lang="bg-BG" altLang="bg-BG" sz="2400" i="1" dirty="0" smtClean="0"/>
              <a:t> Y</a:t>
            </a:r>
            <a:r>
              <a:rPr lang="bg-BG" altLang="bg-BG" sz="2400" dirty="0" smtClean="0"/>
              <a:t>) тогава и само тогава когато за всеки кортеж от произволно отношение </a:t>
            </a:r>
            <a:r>
              <a:rPr lang="bg-BG" altLang="bg-BG" sz="2400" i="1" dirty="0" smtClean="0"/>
              <a:t>r </a:t>
            </a:r>
            <a:r>
              <a:rPr lang="bg-BG" altLang="bg-BG" sz="2400" i="1" dirty="0" smtClean="0">
                <a:latin typeface="Symbol" pitchFamily="18" charset="2"/>
              </a:rPr>
              <a:t>Î</a:t>
            </a:r>
            <a:r>
              <a:rPr lang="bg-BG" altLang="bg-BG" sz="2400" i="1" dirty="0" smtClean="0"/>
              <a:t>R,</a:t>
            </a:r>
            <a:r>
              <a:rPr lang="bg-BG" altLang="bg-BG" sz="2400" dirty="0" smtClean="0"/>
              <a:t> стойностите на </a:t>
            </a:r>
            <a:r>
              <a:rPr lang="bg-BG" altLang="bg-BG" sz="2400" i="1" dirty="0" smtClean="0"/>
              <a:t>Y</a:t>
            </a:r>
            <a:r>
              <a:rPr lang="bg-BG" altLang="bg-BG" sz="2400" dirty="0" smtClean="0"/>
              <a:t> се определят еднозначно (в зависимост) от стойностите на </a:t>
            </a:r>
            <a:r>
              <a:rPr lang="bg-BG" altLang="bg-BG" sz="2400" i="1" dirty="0" smtClean="0"/>
              <a:t>X.</a:t>
            </a:r>
            <a:r>
              <a:rPr lang="bg-BG" altLang="bg-BG" sz="2400" dirty="0" smtClean="0"/>
              <a:t> </a:t>
            </a:r>
          </a:p>
          <a:p>
            <a:pPr marL="609600" indent="-609600" eaLnBrk="1" hangingPunct="1">
              <a:buFontTx/>
              <a:buNone/>
            </a:pPr>
            <a:endParaRPr lang="bg-BG" altLang="bg-BG" sz="2400" i="1" dirty="0" smtClean="0"/>
          </a:p>
          <a:p>
            <a:pPr marL="609600" indent="-609600" algn="ctr" eaLnBrk="1" hangingPunct="1">
              <a:buFontTx/>
              <a:buNone/>
            </a:pPr>
            <a:r>
              <a:rPr lang="bg-BG" altLang="bg-BG" sz="2400" i="1" dirty="0" smtClean="0"/>
              <a:t>X </a:t>
            </a:r>
            <a:r>
              <a:rPr lang="bg-BG" altLang="bg-BG" sz="2400" i="1" dirty="0" smtClean="0">
                <a:sym typeface="Wingdings" pitchFamily="2" charset="2"/>
              </a:rPr>
              <a:t></a:t>
            </a:r>
            <a:r>
              <a:rPr lang="bg-BG" altLang="bg-BG" sz="2400" i="1" dirty="0" smtClean="0"/>
              <a:t> Y </a:t>
            </a:r>
            <a:r>
              <a:rPr lang="bg-BG" altLang="bg-BG" sz="2400" dirty="0" smtClean="0"/>
              <a:t>определя ограничение върху отношението </a:t>
            </a:r>
            <a:r>
              <a:rPr lang="en-US" altLang="bg-BG" sz="2400" i="1" dirty="0" smtClean="0"/>
              <a:t>r</a:t>
            </a:r>
            <a:endParaRPr lang="bg-BG" altLang="bg-BG" sz="2400" dirty="0" smtClean="0"/>
          </a:p>
        </p:txBody>
      </p:sp>
      <p:sp>
        <p:nvSpPr>
          <p:cNvPr id="2048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D5BD1E06-C460-4382-8488-55EA1343DEF8}" type="slidenum">
              <a:rPr lang="bg-BG" altLang="bg-BG" sz="1400"/>
              <a:pPr eaLnBrk="1" hangingPunct="1"/>
              <a:t>18</a:t>
            </a:fld>
            <a:endParaRPr lang="bg-BG" altLang="bg-BG" sz="1400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76672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Функционални зависимости</a:t>
            </a:r>
          </a:p>
        </p:txBody>
      </p:sp>
      <p:sp>
        <p:nvSpPr>
          <p:cNvPr id="21510" name="Rectangle 5"/>
          <p:cNvSpPr>
            <a:spLocks noGrp="1" noChangeArrowheads="1"/>
          </p:cNvSpPr>
          <p:nvPr>
            <p:ph idx="1"/>
          </p:nvPr>
        </p:nvSpPr>
        <p:spPr>
          <a:xfrm>
            <a:off x="251520" y="1268760"/>
            <a:ext cx="8229600" cy="4456112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Функционалните зависимости произлизат от значението на атрибутите в дадена схема.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Дефинират се от проектанта, в зависимост от неговото разбиране за смисъла на атрибутите в схемата.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Веднъж определени, функционалните зависимости са валидни за всички отношения.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Служат за описване на ограниченията върху атрибутите на схемата, които да са в сила във всеки един момент, независимо от въвежданите данни.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Представляват ограничения за цялостност, които СУБД трябва автоматично да проверява, с цел поддържането на непротиворечива база.</a:t>
            </a:r>
          </a:p>
        </p:txBody>
      </p:sp>
      <p:sp>
        <p:nvSpPr>
          <p:cNvPr id="2150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B107A927-081E-4485-9D42-F82B0C851B44}" type="slidenum">
              <a:rPr lang="bg-BG" altLang="bg-BG" sz="1400"/>
              <a:pPr eaLnBrk="1" hangingPunct="1"/>
              <a:t>19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0926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Функционални зависимости</a:t>
            </a:r>
            <a:r>
              <a:rPr lang="en-US" altLang="bg-BG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bg-BG" altLang="bg-BG" sz="32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535" name="Rectangle 14"/>
          <p:cNvSpPr>
            <a:spLocks noGrp="1" noChangeArrowheads="1"/>
          </p:cNvSpPr>
          <p:nvPr>
            <p:ph type="body" sz="half" idx="2"/>
          </p:nvPr>
        </p:nvSpPr>
        <p:spPr>
          <a:xfrm>
            <a:off x="467544" y="2924944"/>
            <a:ext cx="8352928" cy="2951162"/>
          </a:xfrm>
        </p:spPr>
        <p:txBody>
          <a:bodyPr>
            <a:normAutofit/>
          </a:bodyPr>
          <a:lstStyle/>
          <a:p>
            <a:pPr marL="533400" indent="-533400" algn="ctr" eaLnBrk="1" hangingPunct="1">
              <a:lnSpc>
                <a:spcPct val="80000"/>
              </a:lnSpc>
              <a:buFontTx/>
              <a:buNone/>
            </a:pPr>
            <a:r>
              <a:rPr lang="bg-BG" altLang="bg-BG" sz="2400" i="1" dirty="0" smtClean="0">
                <a:solidFill>
                  <a:srgbClr val="C00000"/>
                </a:solidFill>
              </a:rPr>
              <a:t>Примери</a:t>
            </a:r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i="1" dirty="0" smtClean="0"/>
              <a:t>{SSN} </a:t>
            </a:r>
            <a:r>
              <a:rPr lang="bg-BG" altLang="bg-BG" sz="2400" i="1" dirty="0" smtClean="0">
                <a:latin typeface="Symbol" pitchFamily="18" charset="2"/>
              </a:rPr>
              <a:t>®</a:t>
            </a:r>
            <a:r>
              <a:rPr lang="bg-BG" altLang="bg-BG" sz="2400" i="1" dirty="0" smtClean="0"/>
              <a:t> {ENAME}</a:t>
            </a:r>
            <a:r>
              <a:rPr lang="bg-BG" altLang="bg-BG" sz="2400" dirty="0" smtClean="0"/>
              <a:t> - стойността на номера на даден служител еднозначно определя неговото име.</a:t>
            </a:r>
            <a:endParaRPr lang="bg-BG" altLang="bg-BG" sz="2400" i="1" dirty="0" smtClean="0"/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i="1" dirty="0" smtClean="0"/>
              <a:t>{PNUMBER }</a:t>
            </a:r>
            <a:r>
              <a:rPr lang="bg-BG" altLang="bg-BG" sz="2400" i="1" dirty="0" smtClean="0">
                <a:latin typeface="Symbol" pitchFamily="18" charset="2"/>
              </a:rPr>
              <a:t>®</a:t>
            </a:r>
            <a:r>
              <a:rPr lang="bg-BG" altLang="bg-BG" sz="2400" i="1" dirty="0" smtClean="0"/>
              <a:t> {PNAME,</a:t>
            </a:r>
            <a:r>
              <a:rPr lang="en-US" altLang="bg-BG" sz="2400" i="1" dirty="0" smtClean="0"/>
              <a:t> </a:t>
            </a:r>
            <a:r>
              <a:rPr lang="bg-BG" altLang="bg-BG" sz="2400" i="1" dirty="0" smtClean="0"/>
              <a:t>PLOCATION}</a:t>
            </a:r>
            <a:r>
              <a:rPr lang="bg-BG" altLang="bg-BG" sz="2400" dirty="0" smtClean="0"/>
              <a:t> - номерът на проект уникално определя името и местоположението му.</a:t>
            </a:r>
            <a:endParaRPr lang="bg-BG" altLang="bg-BG" sz="2400" i="1" dirty="0" smtClean="0"/>
          </a:p>
          <a:p>
            <a:pPr marL="533400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i="1" dirty="0" smtClean="0"/>
              <a:t>{SSN,</a:t>
            </a:r>
            <a:r>
              <a:rPr lang="en-US" altLang="bg-BG" sz="2400" i="1" dirty="0" smtClean="0"/>
              <a:t> </a:t>
            </a:r>
            <a:r>
              <a:rPr lang="bg-BG" altLang="bg-BG" sz="2400" i="1" dirty="0" smtClean="0"/>
              <a:t>PNUMBER} </a:t>
            </a:r>
            <a:r>
              <a:rPr lang="bg-BG" altLang="bg-BG" sz="2400" i="1" dirty="0" smtClean="0">
                <a:latin typeface="Symbol" pitchFamily="18" charset="2"/>
              </a:rPr>
              <a:t>® </a:t>
            </a:r>
            <a:r>
              <a:rPr lang="bg-BG" altLang="bg-BG" sz="2400" i="1" dirty="0" smtClean="0"/>
              <a:t>{HOURS}</a:t>
            </a:r>
            <a:r>
              <a:rPr lang="bg-BG" altLang="bg-BG" sz="2400" dirty="0" smtClean="0"/>
              <a:t> - комбинацията от стойности на атрибутите “номер на служител, номер на проект” еднозначно дефинира броя часове, които работи служител с номер SSN по проект с номер PNUMBER.</a:t>
            </a:r>
          </a:p>
        </p:txBody>
      </p:sp>
      <p:sp>
        <p:nvSpPr>
          <p:cNvPr id="22530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253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253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994C2983-C255-4BCA-89D1-C9919A4D5CE9}" type="slidenum">
              <a:rPr lang="bg-BG" altLang="bg-BG" sz="1400"/>
              <a:pPr eaLnBrk="1" hangingPunct="1"/>
              <a:t>20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42402" y="995276"/>
            <a:ext cx="5603212" cy="193554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476672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Функционални зависимости 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980728"/>
            <a:ext cx="8229600" cy="4824412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Наличието на функционални зависимости е свойство на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релационната схема</a:t>
            </a:r>
            <a:r>
              <a:rPr lang="bg-BG" altLang="bg-BG" sz="2400" dirty="0" smtClean="0">
                <a:solidFill>
                  <a:srgbClr val="C00000"/>
                </a:solidFill>
              </a:rPr>
              <a:t> </a:t>
            </a:r>
            <a:r>
              <a:rPr lang="bg-BG" altLang="bg-BG" sz="2400" i="1" dirty="0" smtClean="0"/>
              <a:t>R</a:t>
            </a:r>
            <a:r>
              <a:rPr lang="bg-BG" altLang="bg-BG" sz="2400" dirty="0" smtClean="0"/>
              <a:t>, а не на определените от нея отношения.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Те се дефинират явно от проектанта на базата, който е запознат със семантиката на атрибутите на </a:t>
            </a:r>
            <a:r>
              <a:rPr lang="bg-BG" altLang="bg-BG" sz="2400" i="1" dirty="0" smtClean="0"/>
              <a:t>с</a:t>
            </a:r>
            <a:r>
              <a:rPr lang="bg-BG" altLang="bg-BG" sz="2400" dirty="0" smtClean="0"/>
              <a:t>хемата.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Множеството от функционални зависимости, които са зададени върху </a:t>
            </a:r>
            <a:r>
              <a:rPr lang="en-US" altLang="bg-BG" sz="2400" i="1" dirty="0" smtClean="0"/>
              <a:t>R</a:t>
            </a:r>
            <a:r>
              <a:rPr lang="en-US" altLang="bg-BG" sz="2400" dirty="0" smtClean="0"/>
              <a:t> </a:t>
            </a:r>
            <a:r>
              <a:rPr lang="bg-BG" altLang="bg-BG" sz="2400" dirty="0" smtClean="0"/>
              <a:t>се бележи с </a:t>
            </a:r>
            <a:r>
              <a:rPr lang="en-US" altLang="bg-BG" sz="2400" i="1" dirty="0" smtClean="0"/>
              <a:t>F</a:t>
            </a:r>
            <a:r>
              <a:rPr lang="bg-BG" altLang="bg-BG" sz="2400" dirty="0" smtClean="0"/>
              <a:t>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Обикновено проектантът на базата дефинира онези от тях, които са семантично очевидни.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 Съществуват допълнителни функционални зависимости, които могат се извеждат от вече определените (аксиоми на Армстронг).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Решаването на тази задача е </a:t>
            </a:r>
            <a:r>
              <a:rPr lang="bg-BG" altLang="bg-BG" sz="2400" dirty="0" smtClean="0">
                <a:solidFill>
                  <a:srgbClr val="C00000"/>
                </a:solidFill>
              </a:rPr>
              <a:t>практически</a:t>
            </a:r>
            <a:r>
              <a:rPr lang="bg-BG" altLang="bg-BG" sz="2400" dirty="0" smtClean="0"/>
              <a:t> важно за да могат да се поддържат коректни данни в базата.</a:t>
            </a:r>
          </a:p>
        </p:txBody>
      </p:sp>
      <p:sp>
        <p:nvSpPr>
          <p:cNvPr id="2355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355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08C13C46-E531-4D5D-BE7A-84E7D85C0B3D}" type="slidenum">
              <a:rPr lang="bg-BG" altLang="bg-BG" sz="1400"/>
              <a:pPr eaLnBrk="1" hangingPunct="1"/>
              <a:t>21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781800" cy="59208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</a:p>
        </p:txBody>
      </p:sp>
      <p:sp>
        <p:nvSpPr>
          <p:cNvPr id="24582" name="Rectangle 5"/>
          <p:cNvSpPr>
            <a:spLocks noGrp="1" noChangeArrowheads="1"/>
          </p:cNvSpPr>
          <p:nvPr>
            <p:ph idx="1"/>
          </p:nvPr>
        </p:nvSpPr>
        <p:spPr>
          <a:xfrm>
            <a:off x="467544" y="980729"/>
            <a:ext cx="8229600" cy="5112568"/>
          </a:xfrm>
        </p:spPr>
        <p:txBody>
          <a:bodyPr>
            <a:normAutofit lnSpcReduction="10000"/>
          </a:bodyPr>
          <a:lstStyle/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Нормализацията на данните е процес, при който неудовлетворителните ("лошите") релационни схеми се разлагат или декомпозират чрез разбиване на атрибутите и групирането им в по-малки релационни схеми, които притежават желани свойства. 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Цел - добър проект на схемите, за да се избягнат аномалиите при обновяване на базата и други нежелателни явления, а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информацията да се запази</a:t>
            </a:r>
            <a:r>
              <a:rPr lang="bg-BG" altLang="bg-BG" sz="2400" dirty="0" smtClean="0"/>
              <a:t>. 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Декомпозирането се провежда без загуба на атрибути.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По същество то е идентично с операцията “проекция” от релационната алгебра като “запазване на информацията” означава възможност за обратно построяване на изходната схема чрез операцията “съединение”.</a:t>
            </a:r>
          </a:p>
          <a:p>
            <a:pPr marL="381000" indent="-381000" eaLnBrk="1" hangingPunct="1">
              <a:lnSpc>
                <a:spcPct val="80000"/>
              </a:lnSpc>
              <a:buFontTx/>
              <a:buAutoNum type="arabicPeriod"/>
            </a:pPr>
            <a:r>
              <a:rPr lang="bg-BG" altLang="bg-BG" sz="2400" dirty="0" smtClean="0"/>
              <a:t>Нормализацията е формален метод за анализ на отношенията. Тя включва множество от правила, чрез които проектираните релационни схеми се подлагат на проверки, за да се установи в коя от нормалните форми се намират. </a:t>
            </a:r>
          </a:p>
        </p:txBody>
      </p:sp>
      <p:sp>
        <p:nvSpPr>
          <p:cNvPr id="2457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636AC287-26E9-458F-82FE-9B442A4A6802}" type="slidenum">
              <a:rPr lang="bg-BG" altLang="bg-BG" sz="1400"/>
              <a:pPr eaLnBrk="1" hangingPunct="1"/>
              <a:t>22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76672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 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196752"/>
            <a:ext cx="8229600" cy="445611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>
                <a:solidFill>
                  <a:srgbClr val="C00000"/>
                </a:solidFill>
              </a:rPr>
              <a:t>Нормалните форми </a:t>
            </a:r>
            <a:r>
              <a:rPr lang="bg-BG" altLang="bg-BG" sz="2400" dirty="0" smtClean="0"/>
              <a:t>(</a:t>
            </a:r>
            <a:r>
              <a:rPr lang="en-US" altLang="bg-BG" sz="2400" dirty="0" smtClean="0"/>
              <a:t>normal forms</a:t>
            </a:r>
            <a:r>
              <a:rPr lang="bg-BG" altLang="bg-BG" sz="2400" dirty="0" smtClean="0"/>
              <a:t>) са условия, които дадена релационна схема трябва да удовлетворява.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Създадени са от Код през 1972 г.  -  три нормални форми, които се означават съответно с 1</a:t>
            </a:r>
            <a:r>
              <a:rPr lang="en-US" altLang="bg-BG" sz="2400" dirty="0" smtClean="0"/>
              <a:t>NF</a:t>
            </a:r>
            <a:r>
              <a:rPr lang="bg-BG" altLang="bg-BG" sz="2400" dirty="0" smtClean="0"/>
              <a:t>, 2</a:t>
            </a:r>
            <a:r>
              <a:rPr lang="en-US" altLang="bg-BG" sz="2400" dirty="0" smtClean="0"/>
              <a:t>NF</a:t>
            </a:r>
            <a:r>
              <a:rPr lang="bg-BG" altLang="bg-BG" sz="2400" dirty="0" smtClean="0"/>
              <a:t>, 3</a:t>
            </a:r>
            <a:r>
              <a:rPr lang="en-US" altLang="bg-BG" sz="2400" dirty="0" smtClean="0"/>
              <a:t>NF</a:t>
            </a:r>
            <a:r>
              <a:rPr lang="bg-BG" altLang="bg-BG" sz="2400" dirty="0" smtClean="0"/>
              <a:t>.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Третата нормална форма е доразвита от Бойс и е известна под името нормална форма на Бойс-Код – 3</a:t>
            </a:r>
            <a:r>
              <a:rPr lang="en-US" altLang="bg-BG" sz="2400" dirty="0" smtClean="0"/>
              <a:t>NFBC</a:t>
            </a:r>
            <a:r>
              <a:rPr lang="bg-BG" altLang="bg-BG" sz="2400" dirty="0" smtClean="0"/>
              <a:t>. 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Всички форми използуват понятията функционална зависимост между атрибутите на дадена релационна схема и ключ.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Тези форми гарантират отсъствието на аномалии при обновяване. </a:t>
            </a:r>
          </a:p>
        </p:txBody>
      </p:sp>
      <p:sp>
        <p:nvSpPr>
          <p:cNvPr id="2560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A585816-4A0C-460A-A183-6D13A9692BCD}" type="slidenum">
              <a:rPr lang="bg-BG" altLang="bg-BG" sz="1400"/>
              <a:pPr eaLnBrk="1" hangingPunct="1"/>
              <a:t>23</a:t>
            </a:fld>
            <a:endParaRPr lang="bg-BG" altLang="bg-BG" sz="1400"/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76672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  <a:r>
              <a:rPr lang="en-US" altLang="bg-BG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bg-BG" altLang="bg-BG" sz="32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196752"/>
            <a:ext cx="7543800" cy="4104456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bg-BG" altLang="bg-BG" sz="2400" dirty="0" smtClean="0"/>
              <a:t>Разработени са четвърта и пета нормални форми.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bg-BG" altLang="bg-BG" sz="2400" dirty="0" smtClean="0"/>
              <a:t>Четвърта нормална форма използува понятието </a:t>
            </a:r>
            <a:r>
              <a:rPr lang="bg-BG" altLang="bg-BG" sz="2400" i="1" dirty="0" smtClean="0">
                <a:solidFill>
                  <a:srgbClr val="C00000"/>
                </a:solidFill>
              </a:rPr>
              <a:t>многостойностни зависимости</a:t>
            </a:r>
            <a:r>
              <a:rPr lang="bg-BG" altLang="bg-BG" sz="2400" dirty="0" smtClean="0">
                <a:solidFill>
                  <a:srgbClr val="C00000"/>
                </a:solidFill>
              </a:rPr>
              <a:t> </a:t>
            </a:r>
            <a:r>
              <a:rPr lang="bg-BG" altLang="bg-BG" sz="2400" dirty="0" smtClean="0"/>
              <a:t>и забранява наличието на атрибути А, В и С в схемата, такива че за всяка стойност на А да съществуват множество от стойности на В и множество от стойности на С, като тези множества не зависят едно от друго.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bg-BG" altLang="bg-BG" sz="2400" dirty="0" smtClean="0"/>
              <a:t>Многостойностните зависимости са обобщение на функционалните зависимости, т.е. всяка функционална зависимост може да се разглежда като частен случай на многостойностна зависимост. Това прави донякъде необходима четвъртата нормална форма. </a:t>
            </a:r>
          </a:p>
        </p:txBody>
      </p:sp>
      <p:sp>
        <p:nvSpPr>
          <p:cNvPr id="2662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BC1A3D5C-8D96-483F-ACFD-316B0042108D}" type="slidenum">
              <a:rPr lang="bg-BG" altLang="bg-BG" sz="1400"/>
              <a:pPr eaLnBrk="1" hangingPunct="1"/>
              <a:t>24</a:t>
            </a:fld>
            <a:endParaRPr lang="bg-BG" altLang="bg-BG" sz="1400"/>
          </a:p>
        </p:txBody>
      </p:sp>
      <p:sp>
        <p:nvSpPr>
          <p:cNvPr id="2663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04664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</a:p>
        </p:txBody>
      </p:sp>
      <p:sp>
        <p:nvSpPr>
          <p:cNvPr id="27654" name="Rectangle 10"/>
          <p:cNvSpPr>
            <a:spLocks noGrp="1" noChangeArrowheads="1"/>
          </p:cNvSpPr>
          <p:nvPr>
            <p:ph idx="1"/>
          </p:nvPr>
        </p:nvSpPr>
        <p:spPr>
          <a:xfrm>
            <a:off x="457200" y="550017"/>
            <a:ext cx="8229600" cy="4933124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 startAt="7"/>
            </a:pPr>
            <a:r>
              <a:rPr lang="bg-BG" altLang="bg-BG" sz="2200" dirty="0" smtClean="0"/>
              <a:t>Пета нормална форма</a:t>
            </a:r>
            <a:r>
              <a:rPr lang="bg-BG" altLang="bg-BG" sz="2200" i="1" dirty="0" smtClean="0"/>
              <a:t> </a:t>
            </a:r>
            <a:r>
              <a:rPr lang="bg-BG" altLang="bg-BG" sz="2200" dirty="0" smtClean="0"/>
              <a:t>използва понятието</a:t>
            </a:r>
            <a:r>
              <a:rPr lang="bg-BG" altLang="bg-BG" sz="2200" i="1" dirty="0" smtClean="0"/>
              <a:t> “зависимости по съединение”</a:t>
            </a:r>
            <a:r>
              <a:rPr lang="bg-BG" altLang="bg-BG" sz="2200" dirty="0" smtClean="0"/>
              <a:t> 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7"/>
            </a:pPr>
            <a:r>
              <a:rPr lang="bg-BG" altLang="bg-BG" sz="2200" dirty="0" smtClean="0"/>
              <a:t>Понятието “Пета нормална форма” е известно още под името “нормална форма проекция-съединение ” (</a:t>
            </a:r>
            <a:r>
              <a:rPr lang="en-US" altLang="bg-BG" sz="2200" dirty="0" smtClean="0"/>
              <a:t>PJ</a:t>
            </a:r>
            <a:r>
              <a:rPr lang="bg-BG" altLang="bg-BG" sz="2200" dirty="0" smtClean="0"/>
              <a:t>/</a:t>
            </a:r>
            <a:r>
              <a:rPr lang="en-US" altLang="bg-BG" sz="2200" dirty="0" smtClean="0"/>
              <a:t>NF</a:t>
            </a:r>
            <a:r>
              <a:rPr lang="bg-BG" altLang="bg-BG" sz="2200" dirty="0" smtClean="0"/>
              <a:t> - </a:t>
            </a:r>
            <a:r>
              <a:rPr lang="en-US" altLang="bg-BG" sz="2200" dirty="0" smtClean="0"/>
              <a:t>projection</a:t>
            </a:r>
            <a:r>
              <a:rPr lang="bg-BG" altLang="bg-BG" sz="2200" dirty="0" smtClean="0"/>
              <a:t>-</a:t>
            </a:r>
            <a:r>
              <a:rPr lang="en-US" altLang="bg-BG" sz="2200" dirty="0" smtClean="0"/>
              <a:t>join normal form</a:t>
            </a:r>
            <a:r>
              <a:rPr lang="bg-BG" altLang="bg-BG" sz="2200" dirty="0" smtClean="0"/>
              <a:t>)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7"/>
            </a:pPr>
            <a:r>
              <a:rPr lang="bg-BG" altLang="bg-BG" sz="2200" dirty="0" smtClean="0"/>
              <a:t>Тя гарантира проект на схемата, при който не могат да се генерират </a:t>
            </a:r>
            <a:r>
              <a:rPr lang="bg-BG" altLang="bg-BG" sz="2200" u="sng" dirty="0" smtClean="0">
                <a:solidFill>
                  <a:srgbClr val="C00000"/>
                </a:solidFill>
              </a:rPr>
              <a:t>фалшиви</a:t>
            </a:r>
            <a:r>
              <a:rPr lang="bg-BG" altLang="bg-BG" sz="2200" dirty="0" smtClean="0"/>
              <a:t> кортежи.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7"/>
            </a:pPr>
            <a:r>
              <a:rPr lang="bg-BG" altLang="bg-BG" sz="2200" dirty="0" smtClean="0"/>
              <a:t>В теорията е предложена още една нормална форма, наречена нормална форма “домейн-ключ” (</a:t>
            </a:r>
            <a:r>
              <a:rPr lang="en-US" altLang="bg-BG" sz="2200" dirty="0" smtClean="0"/>
              <a:t>domain</a:t>
            </a:r>
            <a:r>
              <a:rPr lang="bg-BG" altLang="bg-BG" sz="2200" dirty="0" smtClean="0"/>
              <a:t>-</a:t>
            </a:r>
            <a:r>
              <a:rPr lang="en-US" altLang="bg-BG" sz="2200" dirty="0" smtClean="0"/>
              <a:t>key normal form</a:t>
            </a:r>
            <a:r>
              <a:rPr lang="bg-BG" altLang="bg-BG" sz="2200" dirty="0" smtClean="0"/>
              <a:t> - </a:t>
            </a:r>
            <a:r>
              <a:rPr lang="en-US" altLang="bg-BG" sz="2200" dirty="0" smtClean="0"/>
              <a:t>DKNF</a:t>
            </a:r>
            <a:r>
              <a:rPr lang="bg-BG" altLang="bg-BG" sz="2200" dirty="0" smtClean="0"/>
              <a:t>), която отчита всички видове зависимости и ограничения за цялостност.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7"/>
            </a:pPr>
            <a:r>
              <a:rPr lang="bg-BG" altLang="bg-BG" sz="2200" dirty="0" smtClean="0"/>
              <a:t>Всяка следваща нормална форма е по-рестриктивна от предхождащите я. </a:t>
            </a:r>
            <a:endParaRPr lang="en-US" altLang="bg-BG" sz="2200" dirty="0" smtClean="0"/>
          </a:p>
        </p:txBody>
      </p:sp>
      <p:sp>
        <p:nvSpPr>
          <p:cNvPr id="2765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09512CF-B761-456D-8337-E3700CFEAE0F}" type="slidenum">
              <a:rPr lang="bg-BG" altLang="bg-BG" sz="1400"/>
              <a:pPr eaLnBrk="1" hangingPunct="1"/>
              <a:t>25</a:t>
            </a:fld>
            <a:endParaRPr lang="bg-BG" altLang="bg-BG" sz="1400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436" y="4664121"/>
            <a:ext cx="1590703" cy="150118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04664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466" y="969455"/>
            <a:ext cx="6635067" cy="5083238"/>
          </a:xfrm>
        </p:spPr>
      </p:pic>
      <p:sp>
        <p:nvSpPr>
          <p:cNvPr id="2765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09512CF-B761-456D-8337-E3700CFEAE0F}" type="slidenum">
              <a:rPr lang="bg-BG" altLang="bg-BG" sz="1400"/>
              <a:pPr eaLnBrk="1" hangingPunct="1"/>
              <a:t>26</a:t>
            </a:fld>
            <a:endParaRPr lang="bg-BG" altLang="bg-BG" sz="1400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1862995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404664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052736"/>
            <a:ext cx="8229600" cy="4715892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За практиката имат значение първите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три нормални форми.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Нормалните форми, разглеждани изолирано от други фактори не гарантират добър проект на базата от данни.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Не е достатъчно да се провери дали всяка схема е например в трета нормална форма.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Процесът на нормализация чрез декомпозиране на схемите трябва да осигури още:</a:t>
            </a:r>
          </a:p>
          <a:p>
            <a:pPr marL="914400" lvl="1" indent="-457200" eaLnBrk="1" hangingPunct="1">
              <a:buFontTx/>
              <a:buChar char="•"/>
            </a:pPr>
            <a:r>
              <a:rPr lang="bg-BG" altLang="bg-BG" sz="2400" dirty="0" smtClean="0"/>
              <a:t>Избягване на фалшиви кортежи.</a:t>
            </a:r>
          </a:p>
          <a:p>
            <a:pPr marL="914400" lvl="1" indent="-457200" eaLnBrk="1" hangingPunct="1">
              <a:buFontTx/>
              <a:buChar char="•"/>
            </a:pPr>
            <a:r>
              <a:rPr lang="bg-BG" altLang="bg-BG" sz="2400" dirty="0" smtClean="0"/>
              <a:t>Съхранение на функционалните зависимости, т.е. всички те трябва да са представени в някои от получените след нормализирането отношения.</a:t>
            </a:r>
          </a:p>
        </p:txBody>
      </p:sp>
      <p:sp>
        <p:nvSpPr>
          <p:cNvPr id="286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9672E903-C085-473B-9494-5F0A9FFA15CD}" type="slidenum">
              <a:rPr lang="bg-BG" altLang="bg-BG" sz="1400"/>
              <a:pPr eaLnBrk="1" hangingPunct="1"/>
              <a:t>27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Процесът “нормализация”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980728"/>
            <a:ext cx="8229600" cy="4139481"/>
          </a:xfrm>
        </p:spPr>
        <p:txBody>
          <a:bodyPr/>
          <a:lstStyle/>
          <a:p>
            <a:pPr marL="609600" indent="-609600" algn="ctr" eaLnBrk="1" hangingPunct="1">
              <a:buFontTx/>
              <a:buNone/>
            </a:pPr>
            <a:r>
              <a:rPr lang="bg-BG" altLang="bg-BG" sz="2800" dirty="0" smtClean="0">
                <a:solidFill>
                  <a:srgbClr val="C00000"/>
                </a:solidFill>
              </a:rPr>
              <a:t>Цели на процеса “нормализация” </a:t>
            </a:r>
          </a:p>
          <a:p>
            <a:pPr marL="609600" indent="-609600" algn="ctr" eaLnBrk="1" hangingPunct="1">
              <a:buFontTx/>
              <a:buNone/>
            </a:pPr>
            <a:endParaRPr lang="bg-BG" altLang="bg-BG" sz="1000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Елиминиране на излишеството в данните.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Избягване на аномалии при обновяването.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Създаване на проект на базата, който отразява правилно предметната област.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800" dirty="0" smtClean="0"/>
              <a:t>Опростена и автоматична проверка на някои от ограниченията за цялостност.</a:t>
            </a:r>
          </a:p>
        </p:txBody>
      </p:sp>
      <p:sp>
        <p:nvSpPr>
          <p:cNvPr id="2969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5867DDEC-A51D-462C-8226-56E8468E4C8B}" type="slidenum">
              <a:rPr lang="bg-BG" altLang="bg-BG" sz="1400"/>
              <a:pPr eaLnBrk="1" hangingPunct="1"/>
              <a:t>28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Първа нормална форма </a:t>
            </a:r>
          </a:p>
        </p:txBody>
      </p:sp>
      <p:sp>
        <p:nvSpPr>
          <p:cNvPr id="30726" name="Rectangle 10"/>
          <p:cNvSpPr>
            <a:spLocks noGrp="1" noChangeArrowheads="1"/>
          </p:cNvSpPr>
          <p:nvPr>
            <p:ph idx="1"/>
          </p:nvPr>
        </p:nvSpPr>
        <p:spPr>
          <a:xfrm>
            <a:off x="539552" y="1124744"/>
            <a:ext cx="8229600" cy="4456112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Тя е част от формалната дефиниция на отношението и налага следните ограничения: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домейните включват само атомарни (неделими) стойности;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стойностите</a:t>
            </a:r>
            <a:r>
              <a:rPr lang="bg-BG" altLang="bg-BG" sz="2000" dirty="0" smtClean="0"/>
              <a:t> </a:t>
            </a:r>
            <a:r>
              <a:rPr lang="bg-BG" altLang="bg-BG" sz="2400" dirty="0" smtClean="0"/>
              <a:t>на всеки атрибут във всеки кортеж  са неделими.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Първа нормална форма (1NF) забранява множество от стойности, редица от стойности и влагането на релации, т.е. многозначни и сложни атрибути, както и комбинациите им. 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Единствените стойности на атрибути, които са позволени от 1NF са единични, неделими стойности. Атрибутите в отношенията са прости. </a:t>
            </a:r>
          </a:p>
        </p:txBody>
      </p:sp>
      <p:sp>
        <p:nvSpPr>
          <p:cNvPr id="3072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EB5EF565-3BFE-4DD5-8A6F-EEF24AD7EE24}" type="slidenum">
              <a:rPr lang="bg-BG" altLang="bg-BG" sz="1400"/>
              <a:pPr eaLnBrk="1" hangingPunct="1"/>
              <a:t>29</a:t>
            </a:fld>
            <a:endParaRPr lang="bg-BG" altLang="bg-BG" sz="1400"/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43888" cy="65216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Първа нормална форма 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4902"/>
            <a:ext cx="8229600" cy="4931569"/>
          </a:xfrm>
        </p:spPr>
        <p:txBody>
          <a:bodyPr/>
          <a:lstStyle/>
          <a:p>
            <a:pPr marL="457200" indent="-4572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2400" u="sng" dirty="0" smtClean="0">
                <a:solidFill>
                  <a:srgbClr val="C00000"/>
                </a:solidFill>
              </a:rPr>
              <a:t>Защо ни трябва </a:t>
            </a:r>
            <a:r>
              <a:rPr lang="en-US" altLang="bg-BG" sz="2400" u="sng" dirty="0" smtClean="0">
                <a:solidFill>
                  <a:srgbClr val="C00000"/>
                </a:solidFill>
              </a:rPr>
              <a:t>1NF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?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Данните, произлизащи от различни източници са в табличен вид – например таблица от </a:t>
            </a:r>
            <a:r>
              <a:rPr lang="en-US" altLang="bg-BG" sz="2400" dirty="0" smtClean="0"/>
              <a:t>Excel</a:t>
            </a:r>
            <a:r>
              <a:rPr lang="bg-BG" altLang="bg-BG" sz="2400" dirty="0" smtClean="0"/>
              <a:t>, но редовете или колоните не са изградени от неделими стойности и често се срещат повтарящи се групи. 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Подобни таблици подлежат на “нормализиране” или  привеждане до първа нормална форма. За целта е необходимо да се премахнат всички повтарящи се групи.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Съществуват два основни подхода за премахване на сложните или многостойностни атрибути от таблици с данни:</a:t>
            </a:r>
          </a:p>
          <a:p>
            <a:pPr marL="838200" lvl="1" indent="-3810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повторение на данните;</a:t>
            </a:r>
          </a:p>
          <a:p>
            <a:pPr marL="838200" lvl="1" indent="-3810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400" dirty="0" smtClean="0"/>
              <a:t>разлагане или декомпозиране. </a:t>
            </a:r>
          </a:p>
        </p:txBody>
      </p:sp>
      <p:sp>
        <p:nvSpPr>
          <p:cNvPr id="3174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4DF700D5-0857-4FD7-B314-E4B7EE5E29CA}" type="slidenum">
              <a:rPr lang="bg-BG" altLang="bg-BG" sz="1400"/>
              <a:pPr eaLnBrk="1" hangingPunct="1"/>
              <a:t>30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4664"/>
            <a:ext cx="8243887" cy="580926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Първа нормална форма</a:t>
            </a:r>
          </a:p>
        </p:txBody>
      </p:sp>
      <p:sp>
        <p:nvSpPr>
          <p:cNvPr id="32774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052512"/>
            <a:ext cx="4038600" cy="5040783"/>
          </a:xfrm>
        </p:spPr>
        <p:txBody>
          <a:bodyPr/>
          <a:lstStyle/>
          <a:p>
            <a:pPr marL="381000" indent="-381000" algn="ctr" eaLnBrk="1" hangingPunct="1">
              <a:lnSpc>
                <a:spcPct val="90000"/>
              </a:lnSpc>
              <a:buFontTx/>
              <a:buNone/>
            </a:pPr>
            <a:r>
              <a:rPr lang="bg-BG" altLang="bg-BG" sz="2000" dirty="0" smtClean="0">
                <a:solidFill>
                  <a:srgbClr val="C00000"/>
                </a:solidFill>
              </a:rPr>
              <a:t>Подход “повторение на данните”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Повтарящите се групи се елиминират чрез допълнително въвеждане на данни в празните колони или редове. 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Получава се излишество в съхраняваните данни, но получената нова таблица удовлетворява формалната дефиниция за отношение.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Подходът е известен с името “сплескване на таблицата” (</a:t>
            </a:r>
            <a:r>
              <a:rPr lang="en-US" altLang="bg-BG" sz="2000" dirty="0" smtClean="0"/>
              <a:t>flattening the table</a:t>
            </a:r>
            <a:r>
              <a:rPr lang="bg-BG" altLang="bg-BG" sz="2000" dirty="0" smtClean="0"/>
              <a:t>). 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В резултат се получава нова таблица, която съдържа единствено атомарни стойности. </a:t>
            </a:r>
          </a:p>
        </p:txBody>
      </p:sp>
      <p:sp>
        <p:nvSpPr>
          <p:cNvPr id="32770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277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27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B8C5C2F7-D132-42CC-A5FD-55B19A96C19F}" type="slidenum">
              <a:rPr lang="bg-BG" altLang="bg-BG" sz="1400"/>
              <a:pPr eaLnBrk="1" hangingPunct="1"/>
              <a:t>31</a:t>
            </a:fld>
            <a:endParaRPr lang="bg-BG" altLang="bg-BG" sz="1400"/>
          </a:p>
        </p:txBody>
      </p:sp>
      <p:sp>
        <p:nvSpPr>
          <p:cNvPr id="3277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0056" y="1196752"/>
            <a:ext cx="4145623" cy="424847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80926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Първа нормална форма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196752"/>
            <a:ext cx="4038600" cy="4456113"/>
          </a:xfrm>
        </p:spPr>
        <p:txBody>
          <a:bodyPr/>
          <a:lstStyle/>
          <a:p>
            <a:pPr marL="533400" indent="-533400" algn="ctr" eaLnBrk="1" hangingPunct="1">
              <a:buFontTx/>
              <a:buNone/>
            </a:pPr>
            <a:r>
              <a:rPr lang="bg-BG" altLang="bg-BG" sz="2400" dirty="0" smtClean="0">
                <a:solidFill>
                  <a:srgbClr val="C00000"/>
                </a:solidFill>
              </a:rPr>
              <a:t>Подход “декомпозиране”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Премахва повтарящите се групи чрез декомпозиция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bg-BG" altLang="bg-BG" sz="2400" dirty="0" smtClean="0"/>
              <a:t>Получените таблици са в първа нормална форма</a:t>
            </a:r>
          </a:p>
          <a:p>
            <a:pPr marL="533400" indent="-533400" eaLnBrk="1" hangingPunct="1">
              <a:buFontTx/>
              <a:buAutoNum type="arabicPeriod"/>
            </a:pPr>
            <a:endParaRPr lang="bg-BG" altLang="bg-BG" sz="2400" dirty="0" smtClean="0"/>
          </a:p>
          <a:p>
            <a:pPr marL="533400" indent="-533400" eaLnBrk="1" hangingPunct="1">
              <a:buFontTx/>
              <a:buNone/>
            </a:pPr>
            <a:r>
              <a:rPr lang="bg-BG" altLang="bg-BG" sz="2400" dirty="0" smtClean="0"/>
              <a:t>И двата подхода са коректни. </a:t>
            </a:r>
          </a:p>
          <a:p>
            <a:pPr marL="533400" indent="-533400" eaLnBrk="1" hangingPunct="1">
              <a:buFontTx/>
              <a:buNone/>
            </a:pPr>
            <a:r>
              <a:rPr lang="bg-BG" altLang="bg-BG" sz="2400" dirty="0" smtClean="0"/>
              <a:t>При втория няма излишество.</a:t>
            </a:r>
          </a:p>
        </p:txBody>
      </p:sp>
      <p:sp>
        <p:nvSpPr>
          <p:cNvPr id="33794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379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379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FAE736F-162E-4755-94E6-9B91F7C154FA}" type="slidenum">
              <a:rPr lang="bg-BG" altLang="bg-BG" sz="1400"/>
              <a:pPr eaLnBrk="1" hangingPunct="1"/>
              <a:t>32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1600" y="1340768"/>
            <a:ext cx="3304405" cy="447163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43888" cy="65216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Първа нормална форма 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91" y="1072506"/>
            <a:ext cx="6750309" cy="5120592"/>
          </a:xfrm>
        </p:spPr>
      </p:pic>
      <p:sp>
        <p:nvSpPr>
          <p:cNvPr id="3174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4DF700D5-0857-4FD7-B314-E4B7EE5E29CA}" type="slidenum">
              <a:rPr lang="bg-BG" altLang="bg-BG" sz="1400"/>
              <a:pPr eaLnBrk="1" hangingPunct="1"/>
              <a:t>33</a:t>
            </a:fld>
            <a:endParaRPr lang="bg-BG" altLang="bg-BG" sz="1400"/>
          </a:p>
        </p:txBody>
      </p:sp>
    </p:spTree>
    <p:extLst>
      <p:ext uri="{BB962C8B-B14F-4D97-AF65-F5344CB8AC3E}">
        <p14:creationId xmlns:p14="http://schemas.microsoft.com/office/powerpoint/2010/main" val="39155216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781800" cy="58296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Втора нормална форма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196752"/>
            <a:ext cx="7543800" cy="4032448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bg-BG" altLang="bg-BG" sz="2400" dirty="0" smtClean="0"/>
              <a:t>Използува понятието </a:t>
            </a:r>
            <a:r>
              <a:rPr lang="bg-BG" altLang="bg-BG" sz="2400" dirty="0" smtClean="0">
                <a:solidFill>
                  <a:srgbClr val="C00000"/>
                </a:solidFill>
              </a:rPr>
              <a:t>пълна функционална </a:t>
            </a:r>
            <a:r>
              <a:rPr lang="bg-BG" altLang="bg-BG" sz="2400" dirty="0" smtClean="0">
                <a:solidFill>
                  <a:srgbClr val="C00000"/>
                </a:solidFill>
              </a:rPr>
              <a:t>зависимост.</a:t>
            </a:r>
            <a:endParaRPr lang="bg-BG" altLang="bg-BG" sz="2400" dirty="0" smtClean="0">
              <a:solidFill>
                <a:srgbClr val="C00000"/>
              </a:solidFill>
            </a:endParaRPr>
          </a:p>
          <a:p>
            <a:pPr eaLnBrk="1" hangingPunct="1">
              <a:buFontTx/>
              <a:buNone/>
            </a:pPr>
            <a:endParaRPr lang="bg-BG" altLang="bg-BG" sz="2400" i="1" dirty="0" smtClean="0"/>
          </a:p>
          <a:p>
            <a:pPr eaLnBrk="1" hangingPunct="1">
              <a:buFontTx/>
              <a:buNone/>
            </a:pPr>
            <a:r>
              <a:rPr lang="bg-BG" altLang="bg-BG" sz="2400" i="1" dirty="0" smtClean="0"/>
              <a:t>Def.2</a:t>
            </a:r>
            <a:r>
              <a:rPr lang="bg-BG" altLang="bg-BG" sz="2400" dirty="0" smtClean="0"/>
              <a:t> Казваме, че функционалната зависимост </a:t>
            </a:r>
            <a:r>
              <a:rPr lang="bg-BG" altLang="bg-BG" sz="2400" i="1" dirty="0" smtClean="0"/>
              <a:t>X </a:t>
            </a:r>
            <a:r>
              <a:rPr lang="bg-BG" altLang="bg-BG" sz="2400" i="1" dirty="0" smtClean="0">
                <a:latin typeface="Symbol" pitchFamily="18" charset="2"/>
              </a:rPr>
              <a:t>®</a:t>
            </a:r>
            <a:r>
              <a:rPr lang="bg-BG" altLang="bg-BG" sz="2400" i="1" dirty="0" smtClean="0"/>
              <a:t> Y</a:t>
            </a:r>
            <a:r>
              <a:rPr lang="bg-BG" altLang="bg-BG" sz="2400" dirty="0" smtClean="0"/>
              <a:t> е пълна, ако след премахването на произволен атрибут </a:t>
            </a:r>
            <a:r>
              <a:rPr lang="bg-BG" altLang="bg-BG" sz="2400" i="1" dirty="0" smtClean="0"/>
              <a:t>A </a:t>
            </a:r>
            <a:r>
              <a:rPr lang="bg-BG" altLang="bg-BG" sz="2400" dirty="0" smtClean="0"/>
              <a:t>от </a:t>
            </a:r>
            <a:r>
              <a:rPr lang="bg-BG" altLang="bg-BG" sz="2400" i="1" dirty="0" smtClean="0"/>
              <a:t>X,</a:t>
            </a:r>
            <a:r>
              <a:rPr lang="bg-BG" altLang="bg-BG" sz="2400" dirty="0" smtClean="0"/>
              <a:t> тя вече не е в сила.</a:t>
            </a:r>
          </a:p>
          <a:p>
            <a:pPr eaLnBrk="1" hangingPunct="1">
              <a:buFontTx/>
              <a:buNone/>
            </a:pPr>
            <a:endParaRPr lang="bg-BG" altLang="bg-BG" sz="2400" i="1" dirty="0" smtClean="0"/>
          </a:p>
          <a:p>
            <a:pPr eaLnBrk="1" hangingPunct="1">
              <a:buFontTx/>
              <a:buNone/>
            </a:pPr>
            <a:r>
              <a:rPr lang="bg-BG" altLang="bg-BG" sz="2400" i="1" dirty="0" smtClean="0"/>
              <a:t>Def.3 </a:t>
            </a:r>
            <a:r>
              <a:rPr lang="bg-BG" altLang="bg-BG" sz="2400" dirty="0" smtClean="0"/>
              <a:t>Казваме, че функционалната зависимост </a:t>
            </a:r>
            <a:r>
              <a:rPr lang="bg-BG" altLang="bg-BG" sz="2400" i="1" dirty="0" smtClean="0"/>
              <a:t>X </a:t>
            </a:r>
            <a:r>
              <a:rPr lang="bg-BG" altLang="bg-BG" sz="2400" i="1" dirty="0" smtClean="0">
                <a:latin typeface="Symbol" pitchFamily="18" charset="2"/>
              </a:rPr>
              <a:t>® </a:t>
            </a:r>
            <a:r>
              <a:rPr lang="bg-BG" altLang="bg-BG" sz="2400" i="1" dirty="0" smtClean="0"/>
              <a:t>Y</a:t>
            </a:r>
            <a:r>
              <a:rPr lang="bg-BG" altLang="bg-BG" sz="2400" dirty="0" smtClean="0"/>
              <a:t> е частична, ако съществува атрибут </a:t>
            </a:r>
            <a:r>
              <a:rPr lang="bg-BG" altLang="bg-BG" sz="2400" i="1" dirty="0" smtClean="0"/>
              <a:t>A</a:t>
            </a:r>
            <a:r>
              <a:rPr lang="bg-BG" altLang="bg-BG" sz="2400" dirty="0" smtClean="0"/>
              <a:t>, такъв че при премахването му, тя да остава в сила, </a:t>
            </a:r>
          </a:p>
          <a:p>
            <a:pPr eaLnBrk="1" hangingPunct="1">
              <a:buFontTx/>
              <a:buNone/>
            </a:pPr>
            <a:r>
              <a:rPr lang="bg-BG" altLang="bg-BG" dirty="0"/>
              <a:t> </a:t>
            </a:r>
            <a:r>
              <a:rPr lang="bg-BG" altLang="bg-BG" dirty="0" smtClean="0"/>
              <a:t>   </a:t>
            </a:r>
            <a:r>
              <a:rPr lang="bg-BG" altLang="bg-BG" sz="2400" dirty="0" smtClean="0"/>
              <a:t>т.е.</a:t>
            </a:r>
            <a:r>
              <a:rPr lang="bg-BG" altLang="bg-BG" sz="2400" i="1" dirty="0" smtClean="0">
                <a:latin typeface="Symbol" pitchFamily="18" charset="2"/>
              </a:rPr>
              <a:t>$</a:t>
            </a:r>
            <a:r>
              <a:rPr lang="bg-BG" altLang="bg-BG" sz="2400" i="1" dirty="0" smtClean="0"/>
              <a:t> A</a:t>
            </a:r>
            <a:r>
              <a:rPr lang="bg-BG" altLang="bg-BG" sz="2400" i="1" dirty="0" smtClean="0">
                <a:latin typeface="Symbol" pitchFamily="18" charset="2"/>
              </a:rPr>
              <a:t>Î</a:t>
            </a:r>
            <a:r>
              <a:rPr lang="bg-BG" altLang="bg-BG" sz="2400" i="1" dirty="0" smtClean="0"/>
              <a:t>X: {X-{A}} </a:t>
            </a:r>
            <a:r>
              <a:rPr lang="bg-BG" altLang="bg-BG" sz="2400" i="1" dirty="0" smtClean="0">
                <a:latin typeface="Symbol" pitchFamily="18" charset="2"/>
              </a:rPr>
              <a:t>®</a:t>
            </a:r>
            <a:r>
              <a:rPr lang="bg-BG" altLang="bg-BG" sz="2400" i="1" dirty="0" smtClean="0"/>
              <a:t> Y</a:t>
            </a:r>
          </a:p>
        </p:txBody>
      </p:sp>
      <p:sp>
        <p:nvSpPr>
          <p:cNvPr id="3481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817E724-F6CF-41A0-8E00-61834250F40C}" type="slidenum">
              <a:rPr lang="bg-BG" altLang="bg-BG" sz="1400"/>
              <a:pPr eaLnBrk="1" hangingPunct="1"/>
              <a:t>34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665634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Втора нормална форма</a:t>
            </a: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67544" y="3717032"/>
            <a:ext cx="8229600" cy="2152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bg-BG" altLang="bg-BG" sz="2000" dirty="0" smtClean="0"/>
              <a:t>Пълна функционална зависимост е </a:t>
            </a:r>
            <a:r>
              <a:rPr lang="bg-BG" altLang="bg-BG" sz="2000" i="1" dirty="0" smtClean="0"/>
              <a:t>{SSN,PNUMBER} </a:t>
            </a:r>
            <a:r>
              <a:rPr lang="bg-BG" altLang="bg-BG" sz="2000" i="1" dirty="0" smtClean="0">
                <a:latin typeface="Symbol" pitchFamily="18" charset="2"/>
              </a:rPr>
              <a:t>®</a:t>
            </a:r>
            <a:r>
              <a:rPr lang="bg-BG" altLang="bg-BG" sz="2000" i="1" dirty="0" smtClean="0"/>
              <a:t> {HOURS}</a:t>
            </a:r>
            <a:r>
              <a:rPr lang="bg-BG" altLang="bg-BG" sz="2000" dirty="0" smtClean="0"/>
              <a:t> понеже нито </a:t>
            </a:r>
            <a:r>
              <a:rPr lang="bg-BG" altLang="bg-BG" sz="2000" i="1" dirty="0" smtClean="0"/>
              <a:t>{PNUMBER }</a:t>
            </a:r>
            <a:r>
              <a:rPr lang="bg-BG" altLang="bg-BG" sz="2000" i="1" dirty="0" smtClean="0">
                <a:latin typeface="Symbol" pitchFamily="18" charset="2"/>
              </a:rPr>
              <a:t>®</a:t>
            </a:r>
            <a:r>
              <a:rPr lang="bg-BG" altLang="bg-BG" sz="2000" i="1" dirty="0" smtClean="0"/>
              <a:t> {HOURS}, </a:t>
            </a:r>
            <a:r>
              <a:rPr lang="bg-BG" altLang="bg-BG" sz="2000" dirty="0" smtClean="0"/>
              <a:t>нито </a:t>
            </a:r>
            <a:r>
              <a:rPr lang="bg-BG" altLang="bg-BG" sz="2000" i="1" dirty="0" smtClean="0"/>
              <a:t>{SSN }</a:t>
            </a:r>
            <a:r>
              <a:rPr lang="bg-BG" altLang="bg-BG" sz="2000" i="1" dirty="0" smtClean="0">
                <a:latin typeface="Symbol" pitchFamily="18" charset="2"/>
              </a:rPr>
              <a:t>®</a:t>
            </a:r>
            <a:r>
              <a:rPr lang="bg-BG" altLang="bg-BG" sz="2000" i="1" dirty="0" smtClean="0"/>
              <a:t> {HOURS} </a:t>
            </a:r>
            <a:r>
              <a:rPr lang="bg-BG" altLang="bg-BG" sz="2000" dirty="0" smtClean="0"/>
              <a:t>са в сила.</a:t>
            </a:r>
            <a:r>
              <a:rPr lang="bg-BG" altLang="bg-BG" sz="2000" i="1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bg-BG" altLang="bg-BG" sz="2000" dirty="0" smtClean="0"/>
              <a:t>Частична функционална зависимост е </a:t>
            </a:r>
            <a:r>
              <a:rPr lang="bg-BG" altLang="bg-BG" sz="2000" i="1" dirty="0" smtClean="0"/>
              <a:t>{SSN, PNUMBER} </a:t>
            </a:r>
            <a:r>
              <a:rPr lang="bg-BG" altLang="bg-BG" sz="2000" i="1" dirty="0" smtClean="0">
                <a:latin typeface="Symbol" pitchFamily="18" charset="2"/>
              </a:rPr>
              <a:t>®</a:t>
            </a:r>
            <a:r>
              <a:rPr lang="bg-BG" altLang="bg-BG" sz="2000" i="1" dirty="0" smtClean="0"/>
              <a:t> {ENAME}</a:t>
            </a:r>
            <a:r>
              <a:rPr lang="bg-BG" altLang="bg-BG" sz="2000" dirty="0" smtClean="0"/>
              <a:t>, понеже </a:t>
            </a:r>
            <a:r>
              <a:rPr lang="bg-BG" altLang="bg-BG" sz="2000" i="1" dirty="0" smtClean="0"/>
              <a:t>{SSN} </a:t>
            </a:r>
            <a:r>
              <a:rPr lang="bg-BG" altLang="bg-BG" sz="2000" i="1" dirty="0" smtClean="0">
                <a:latin typeface="Symbol" pitchFamily="18" charset="2"/>
              </a:rPr>
              <a:t>®</a:t>
            </a:r>
            <a:r>
              <a:rPr lang="bg-BG" altLang="bg-BG" sz="2000" i="1" dirty="0" smtClean="0"/>
              <a:t> {ENAME} </a:t>
            </a:r>
            <a:r>
              <a:rPr lang="bg-BG" altLang="bg-BG" sz="2000" dirty="0" smtClean="0"/>
              <a:t>е също в сила.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bg-BG" altLang="bg-BG" sz="2000" i="1" dirty="0" smtClean="0"/>
              <a:t>Def.4</a:t>
            </a:r>
            <a:r>
              <a:rPr lang="bg-BG" altLang="bg-BG" sz="2000" dirty="0" smtClean="0"/>
              <a:t> Релационната схема </a:t>
            </a:r>
            <a:r>
              <a:rPr lang="bg-BG" altLang="bg-BG" sz="2000" i="1" dirty="0" smtClean="0"/>
              <a:t>R</a:t>
            </a:r>
            <a:r>
              <a:rPr lang="bg-BG" altLang="bg-BG" sz="2000" dirty="0" smtClean="0"/>
              <a:t> е във втора нормална форма, ако всеки атрибут, който не участвува в главния ключ, е пълно функционално зависим от главния ключ на </a:t>
            </a:r>
            <a:r>
              <a:rPr lang="bg-BG" altLang="bg-BG" sz="2000" i="1" dirty="0" smtClean="0"/>
              <a:t>R</a:t>
            </a:r>
            <a:r>
              <a:rPr lang="bg-BG" altLang="bg-BG" sz="2000" dirty="0" smtClean="0"/>
              <a:t>.</a:t>
            </a:r>
            <a:endParaRPr lang="bg-BG" altLang="bg-BG" sz="2000" i="1" dirty="0" smtClean="0"/>
          </a:p>
        </p:txBody>
      </p:sp>
      <p:sp>
        <p:nvSpPr>
          <p:cNvPr id="35842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584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58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CD8E57FB-7B20-47CC-A4BC-440E0386DAF7}" type="slidenum">
              <a:rPr lang="bg-BG" altLang="bg-BG" sz="1400"/>
              <a:pPr eaLnBrk="1" hangingPunct="1"/>
              <a:t>35</a:t>
            </a:fld>
            <a:endParaRPr lang="bg-BG" altLang="bg-BG" sz="140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35696" y="1192150"/>
            <a:ext cx="5663224" cy="252488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665634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Втора нормална форма</a:t>
            </a:r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3935223"/>
            <a:ext cx="8229600" cy="338197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bg-BG" altLang="bg-BG" dirty="0" smtClean="0">
                <a:solidFill>
                  <a:srgbClr val="C00000"/>
                </a:solidFill>
              </a:rPr>
              <a:t>Пример за частична и пълна функционална зависимост</a:t>
            </a:r>
            <a:endParaRPr lang="bg-BG" altLang="bg-BG" dirty="0" smtClean="0">
              <a:solidFill>
                <a:srgbClr val="C00000"/>
              </a:solidFill>
            </a:endParaRPr>
          </a:p>
        </p:txBody>
      </p:sp>
      <p:sp>
        <p:nvSpPr>
          <p:cNvPr id="35842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584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58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CD8E57FB-7B20-47CC-A4BC-440E0386DAF7}" type="slidenum">
              <a:rPr lang="bg-BG" altLang="bg-BG" sz="1400"/>
              <a:pPr eaLnBrk="1" hangingPunct="1"/>
              <a:t>36</a:t>
            </a:fld>
            <a:endParaRPr lang="bg-BG" altLang="bg-BG" sz="140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31432"/>
            <a:ext cx="6469137" cy="2299375"/>
          </a:xfrm>
        </p:spPr>
      </p:pic>
    </p:spTree>
    <p:extLst>
      <p:ext uri="{BB962C8B-B14F-4D97-AF65-F5344CB8AC3E}">
        <p14:creationId xmlns:p14="http://schemas.microsoft.com/office/powerpoint/2010/main" val="10286726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04664"/>
            <a:ext cx="6781800" cy="654968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Трета нормална форма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334739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bg-BG" altLang="bg-BG" sz="2800" dirty="0" smtClean="0">
                <a:sym typeface="Math3Mono" pitchFamily="2" charset="2"/>
              </a:rPr>
              <a:t>Използува понятието </a:t>
            </a:r>
            <a:r>
              <a:rPr lang="bg-BG" altLang="bg-BG" sz="2800" dirty="0" smtClean="0">
                <a:solidFill>
                  <a:srgbClr val="C00000"/>
                </a:solidFill>
                <a:sym typeface="Math3Mono" pitchFamily="2" charset="2"/>
              </a:rPr>
              <a:t>транзитивна зависимост</a:t>
            </a:r>
            <a:r>
              <a:rPr lang="en-US" altLang="bg-BG" sz="2800" dirty="0" smtClean="0">
                <a:solidFill>
                  <a:schemeClr val="accent1">
                    <a:lumMod val="75000"/>
                  </a:schemeClr>
                </a:solidFill>
                <a:sym typeface="Math3Mono" pitchFamily="2" charset="2"/>
              </a:rPr>
              <a:t>.</a:t>
            </a:r>
            <a:endParaRPr lang="bg-BG" altLang="bg-BG" sz="2800" dirty="0" smtClean="0">
              <a:solidFill>
                <a:schemeClr val="accent1">
                  <a:lumMod val="75000"/>
                </a:schemeClr>
              </a:solidFill>
              <a:sym typeface="Math3Mono" pitchFamily="2" charset="2"/>
            </a:endParaRPr>
          </a:p>
          <a:p>
            <a:pPr algn="ctr" eaLnBrk="1" hangingPunct="1">
              <a:buFontTx/>
              <a:buNone/>
            </a:pPr>
            <a:endParaRPr lang="bg-BG" altLang="bg-BG" sz="800" i="1" dirty="0" smtClean="0">
              <a:sym typeface="Math3Mono" pitchFamily="2" charset="2"/>
            </a:endParaRPr>
          </a:p>
          <a:p>
            <a:pPr eaLnBrk="1" hangingPunct="1">
              <a:buFontTx/>
              <a:buNone/>
            </a:pPr>
            <a:r>
              <a:rPr lang="bg-BG" altLang="bg-BG" sz="2800" i="1" dirty="0" smtClean="0">
                <a:sym typeface="Math3Mono" pitchFamily="2" charset="2"/>
              </a:rPr>
              <a:t>Def.5</a:t>
            </a:r>
            <a:r>
              <a:rPr lang="bg-BG" altLang="bg-BG" sz="2800" dirty="0" smtClean="0">
                <a:sym typeface="Math3Mono" pitchFamily="2" charset="2"/>
              </a:rPr>
              <a:t> Функционалната зависимост </a:t>
            </a:r>
            <a:r>
              <a:rPr lang="bg-BG" altLang="bg-BG" sz="2800" i="1" dirty="0" smtClean="0">
                <a:sym typeface="Math3Mono" pitchFamily="2" charset="2"/>
              </a:rPr>
              <a:t>X </a:t>
            </a:r>
            <a:r>
              <a:rPr lang="bg-BG" altLang="bg-BG" sz="2800" i="1" dirty="0" smtClean="0">
                <a:latin typeface="Symbol" pitchFamily="18" charset="2"/>
                <a:sym typeface="Math3Mono" pitchFamily="2" charset="2"/>
              </a:rPr>
              <a:t>®</a:t>
            </a:r>
            <a:r>
              <a:rPr lang="bg-BG" altLang="bg-BG" sz="2800" i="1" dirty="0" smtClean="0">
                <a:sym typeface="Math3Mono" pitchFamily="2" charset="2"/>
              </a:rPr>
              <a:t> Y</a:t>
            </a:r>
            <a:r>
              <a:rPr lang="bg-BG" altLang="bg-BG" sz="2800" dirty="0" smtClean="0">
                <a:sym typeface="Math3Mono" pitchFamily="2" charset="2"/>
              </a:rPr>
              <a:t> се нарича транзитивна, ако съществува подмножество от атрибути </a:t>
            </a:r>
            <a:r>
              <a:rPr lang="bg-BG" altLang="bg-BG" sz="2800" i="1" dirty="0" smtClean="0">
                <a:sym typeface="Math3Mono" pitchFamily="2" charset="2"/>
              </a:rPr>
              <a:t>Z</a:t>
            </a:r>
            <a:r>
              <a:rPr lang="bg-BG" altLang="bg-BG" sz="2800" dirty="0" smtClean="0">
                <a:sym typeface="Math3Mono" pitchFamily="2" charset="2"/>
              </a:rPr>
              <a:t>, което не е подмножество на главния ключ, и са в сила: </a:t>
            </a:r>
            <a:r>
              <a:rPr lang="bg-BG" altLang="bg-BG" sz="2800" i="1" dirty="0" smtClean="0">
                <a:sym typeface="Math3Mono" pitchFamily="2" charset="2"/>
              </a:rPr>
              <a:t>X </a:t>
            </a:r>
            <a:r>
              <a:rPr lang="bg-BG" altLang="bg-BG" sz="2800" i="1" dirty="0" smtClean="0">
                <a:latin typeface="Symbol" pitchFamily="18" charset="2"/>
                <a:sym typeface="Math3Mono" pitchFamily="2" charset="2"/>
              </a:rPr>
              <a:t>®</a:t>
            </a:r>
            <a:r>
              <a:rPr lang="bg-BG" altLang="bg-BG" sz="2800" i="1" dirty="0" smtClean="0">
                <a:sym typeface="Math3Mono" pitchFamily="2" charset="2"/>
              </a:rPr>
              <a:t> Z</a:t>
            </a:r>
            <a:r>
              <a:rPr lang="bg-BG" altLang="bg-BG" sz="2800" dirty="0" smtClean="0">
                <a:sym typeface="Math3Mono" pitchFamily="2" charset="2"/>
              </a:rPr>
              <a:t> и </a:t>
            </a:r>
            <a:r>
              <a:rPr lang="bg-BG" altLang="bg-BG" sz="2800" i="1" dirty="0" smtClean="0">
                <a:sym typeface="Math3Mono" pitchFamily="2" charset="2"/>
              </a:rPr>
              <a:t>Z </a:t>
            </a:r>
            <a:r>
              <a:rPr lang="bg-BG" altLang="bg-BG" sz="2800" i="1" dirty="0" smtClean="0">
                <a:latin typeface="Symbol" pitchFamily="18" charset="2"/>
                <a:sym typeface="Math3Mono" pitchFamily="2" charset="2"/>
              </a:rPr>
              <a:t>®</a:t>
            </a:r>
            <a:r>
              <a:rPr lang="bg-BG" altLang="bg-BG" sz="2800" i="1" dirty="0" smtClean="0">
                <a:sym typeface="Math3Mono" pitchFamily="2" charset="2"/>
              </a:rPr>
              <a:t> Y</a:t>
            </a:r>
            <a:r>
              <a:rPr lang="bg-BG" altLang="bg-BG" sz="2800" dirty="0" smtClean="0">
                <a:sym typeface="Math3Mono" pitchFamily="2" charset="2"/>
              </a:rPr>
              <a:t>.</a:t>
            </a:r>
          </a:p>
        </p:txBody>
      </p:sp>
      <p:sp>
        <p:nvSpPr>
          <p:cNvPr id="3686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BFFB1B3E-13E8-45BA-9AA4-61DC494FC3F1}" type="slidenum">
              <a:rPr lang="bg-BG" altLang="bg-BG" sz="1400"/>
              <a:pPr eaLnBrk="1" hangingPunct="1"/>
              <a:t>37</a:t>
            </a:fld>
            <a:endParaRPr lang="bg-BG" altLang="bg-BG" sz="1400"/>
          </a:p>
        </p:txBody>
      </p:sp>
      <p:sp>
        <p:nvSpPr>
          <p:cNvPr id="3687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04664"/>
            <a:ext cx="8243887" cy="580926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Трета нормална форма</a:t>
            </a:r>
          </a:p>
        </p:txBody>
      </p:sp>
      <p:sp>
        <p:nvSpPr>
          <p:cNvPr id="37894" name="Rectangle 11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3501008"/>
            <a:ext cx="8229600" cy="2304256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dirty="0" smtClean="0"/>
              <a:t>Показаната функционална зависимост </a:t>
            </a:r>
            <a:r>
              <a:rPr lang="bg-BG" altLang="bg-BG" sz="2000" i="1" dirty="0" smtClean="0"/>
              <a:t>SSN </a:t>
            </a:r>
            <a:r>
              <a:rPr lang="bg-BG" altLang="bg-BG" sz="2000" i="1" dirty="0" smtClean="0">
                <a:latin typeface="Symbol" pitchFamily="18" charset="2"/>
              </a:rPr>
              <a:t>® </a:t>
            </a:r>
            <a:r>
              <a:rPr lang="bg-BG" altLang="bg-BG" sz="2000" i="1" dirty="0" smtClean="0"/>
              <a:t>DMGSSN</a:t>
            </a:r>
            <a:r>
              <a:rPr lang="bg-BG" altLang="bg-BG" sz="2000" dirty="0" smtClean="0"/>
              <a:t> e транзитивна, понеже атрибутът DNUMBER не е подмножество на ключа SSN и са в сила следните две зависимости: </a:t>
            </a:r>
            <a:endParaRPr lang="bg-BG" altLang="bg-BG" sz="2000" i="1" dirty="0" smtClean="0"/>
          </a:p>
          <a:p>
            <a:pPr marL="800100" lvl="1" indent="-342900">
              <a:lnSpc>
                <a:spcPct val="90000"/>
              </a:lnSpc>
              <a:buNone/>
            </a:pPr>
            <a:r>
              <a:rPr lang="bg-BG" altLang="bg-BG" sz="1800" i="1" dirty="0" smtClean="0"/>
              <a:t>SSN </a:t>
            </a:r>
            <a:r>
              <a:rPr lang="bg-BG" altLang="bg-BG" sz="1800" i="1" dirty="0">
                <a:latin typeface="Symbol" pitchFamily="18" charset="2"/>
              </a:rPr>
              <a:t> ® </a:t>
            </a:r>
            <a:r>
              <a:rPr lang="bg-BG" altLang="bg-BG" sz="1800" i="1" dirty="0" smtClean="0"/>
              <a:t>  DNUMBER, DNUMBER </a:t>
            </a:r>
            <a:r>
              <a:rPr lang="bg-BG" altLang="bg-BG" sz="1800" i="1" dirty="0">
                <a:latin typeface="Symbol" pitchFamily="18" charset="2"/>
              </a:rPr>
              <a:t> ® </a:t>
            </a:r>
            <a:r>
              <a:rPr lang="bg-BG" altLang="bg-BG" sz="1800" i="1" dirty="0" smtClean="0"/>
              <a:t>  DMGRSSN </a:t>
            </a:r>
            <a:endParaRPr lang="bg-BG" altLang="bg-BG" sz="1800" dirty="0" smtClean="0"/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000" i="1" dirty="0" smtClean="0"/>
              <a:t>Def.6</a:t>
            </a:r>
            <a:r>
              <a:rPr lang="bg-BG" altLang="bg-BG" sz="2000" dirty="0" smtClean="0"/>
              <a:t> Казваме, че релационната схема </a:t>
            </a:r>
            <a:r>
              <a:rPr lang="bg-BG" altLang="bg-BG" sz="2000" i="1" dirty="0" smtClean="0"/>
              <a:t>R</a:t>
            </a:r>
            <a:r>
              <a:rPr lang="bg-BG" altLang="bg-BG" sz="2000" dirty="0" smtClean="0"/>
              <a:t> e в трета нормална форма, ако е във 2NF и никой от атрибутите, които не участвуват в главния ключ, не е транзитивно зависим от него.</a:t>
            </a:r>
          </a:p>
        </p:txBody>
      </p:sp>
      <p:sp>
        <p:nvSpPr>
          <p:cNvPr id="37890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789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789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CA540247-2529-43B8-AEAE-B51EF233CFD5}" type="slidenum">
              <a:rPr lang="bg-BG" altLang="bg-BG" sz="1400"/>
              <a:pPr eaLnBrk="1" hangingPunct="1"/>
              <a:t>38</a:t>
            </a:fld>
            <a:endParaRPr lang="bg-BG" altLang="bg-BG" sz="1400"/>
          </a:p>
        </p:txBody>
      </p:sp>
      <p:sp>
        <p:nvSpPr>
          <p:cNvPr id="3789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75656" y="1070468"/>
            <a:ext cx="6433218" cy="23593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08595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За нормалните форми - неформално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196752"/>
            <a:ext cx="7543800" cy="3024336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bg-BG" altLang="bg-BG" dirty="0" smtClean="0"/>
              <a:t>Първа нормална форма - </a:t>
            </a:r>
            <a:r>
              <a:rPr lang="en-US" altLang="bg-BG" dirty="0" smtClean="0"/>
              <a:t>1NF</a:t>
            </a:r>
          </a:p>
          <a:p>
            <a:pPr marL="990600" lvl="1" indent="-533400" eaLnBrk="1" hangingPunct="1"/>
            <a:r>
              <a:rPr lang="en-US" altLang="bg-BG" dirty="0" smtClean="0"/>
              <a:t> </a:t>
            </a:r>
            <a:r>
              <a:rPr lang="bg-BG" altLang="bg-BG" dirty="0" smtClean="0"/>
              <a:t>всички атрибути зависят от ключа.</a:t>
            </a:r>
            <a:endParaRPr lang="en-US" altLang="bg-BG" dirty="0" smtClean="0"/>
          </a:p>
          <a:p>
            <a:pPr marL="609600" indent="-609600" eaLnBrk="1" hangingPunct="1">
              <a:buFontTx/>
              <a:buAutoNum type="arabicPeriod" startAt="2"/>
            </a:pPr>
            <a:r>
              <a:rPr lang="bg-BG" altLang="bg-BG" dirty="0" smtClean="0"/>
              <a:t>Втора нормална форма – </a:t>
            </a:r>
            <a:r>
              <a:rPr lang="en-US" altLang="bg-BG" dirty="0" smtClean="0"/>
              <a:t>2NF</a:t>
            </a:r>
            <a:endParaRPr lang="bg-BG" altLang="bg-BG" dirty="0" smtClean="0"/>
          </a:p>
          <a:p>
            <a:pPr marL="990600" lvl="1" indent="-533400" eaLnBrk="1" hangingPunct="1">
              <a:spcBef>
                <a:spcPct val="0"/>
              </a:spcBef>
              <a:buFontTx/>
              <a:buChar char="•"/>
            </a:pPr>
            <a:r>
              <a:rPr lang="bg-BG" altLang="bg-BG" dirty="0" smtClean="0"/>
              <a:t>всички атрибути зависят от  целия ключ</a:t>
            </a:r>
            <a:r>
              <a:rPr lang="en-US" altLang="bg-BG" dirty="0" smtClean="0"/>
              <a:t> </a:t>
            </a:r>
            <a:r>
              <a:rPr lang="bg-BG" altLang="bg-BG" dirty="0" smtClean="0"/>
              <a:t>.</a:t>
            </a:r>
            <a:endParaRPr lang="en-US" altLang="bg-BG" dirty="0" smtClean="0"/>
          </a:p>
          <a:p>
            <a:pPr marL="609600" indent="-609600" eaLnBrk="1" hangingPunct="1">
              <a:buFontTx/>
              <a:buAutoNum type="arabicPeriod" startAt="3"/>
            </a:pPr>
            <a:r>
              <a:rPr lang="bg-BG" altLang="bg-BG" dirty="0" smtClean="0"/>
              <a:t>Трета нормална форма – </a:t>
            </a:r>
            <a:r>
              <a:rPr lang="en-US" altLang="bg-BG" dirty="0" smtClean="0"/>
              <a:t>3NF</a:t>
            </a:r>
            <a:endParaRPr lang="bg-BG" altLang="bg-BG" dirty="0" smtClean="0"/>
          </a:p>
          <a:p>
            <a:pPr marL="990600" lvl="1" indent="-533400" eaLnBrk="1" hangingPunct="1">
              <a:spcBef>
                <a:spcPct val="0"/>
              </a:spcBef>
              <a:buFontTx/>
              <a:buChar char="•"/>
            </a:pPr>
            <a:r>
              <a:rPr lang="bg-BG" altLang="bg-BG" dirty="0" smtClean="0"/>
              <a:t>всички атрибути зависят само и единствено от ключа.</a:t>
            </a:r>
            <a:endParaRPr lang="en-US" altLang="bg-BG" dirty="0" smtClean="0"/>
          </a:p>
          <a:p>
            <a:pPr marL="609600" indent="-609600" eaLnBrk="1" hangingPunct="1"/>
            <a:endParaRPr lang="bg-BG" altLang="bg-BG" dirty="0" smtClean="0"/>
          </a:p>
        </p:txBody>
      </p:sp>
      <p:sp>
        <p:nvSpPr>
          <p:cNvPr id="3891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F3176C60-5F08-4E4D-9A3D-AEEB718F68DE}" type="slidenum">
              <a:rPr lang="bg-BG" altLang="bg-BG" sz="1400"/>
              <a:pPr eaLnBrk="1" hangingPunct="1"/>
              <a:t>39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Обобщение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052736"/>
            <a:ext cx="8229600" cy="4714875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bg-BG" altLang="bg-BG" sz="2400" dirty="0" smtClean="0"/>
              <a:t>При проектирането на релационни схеми могат да се използуват четири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неформални </a:t>
            </a:r>
            <a:r>
              <a:rPr lang="bg-BG" altLang="bg-BG" sz="2400" dirty="0" smtClean="0"/>
              <a:t>мерки за тяхното качество, които са произлезли от практиката. Те допринасят за създаването на бази от данни със задоволителни свойства.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400" dirty="0" smtClean="0"/>
              <a:t>Функционалните зависимости отразяват семантиката на атрибутите в дадена схема. Те представляват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основно </a:t>
            </a:r>
            <a:r>
              <a:rPr lang="bg-BG" altLang="bg-BG" sz="2400" dirty="0" smtClean="0"/>
              <a:t>понятие при процеса “нормализация”.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bg-BG" altLang="bg-BG" sz="2400" dirty="0" smtClean="0"/>
              <a:t>Нормализацията може да се разглежда като средство, с чиято помощ се разработват релационни схеми с добро качество, при зададени предварително изисквания към данните.</a:t>
            </a:r>
          </a:p>
        </p:txBody>
      </p:sp>
      <p:sp>
        <p:nvSpPr>
          <p:cNvPr id="3993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3993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55599146-1F60-4681-A9A6-501A8EE2579B}" type="slidenum">
              <a:rPr lang="bg-BG" altLang="bg-BG" sz="1400"/>
              <a:pPr eaLnBrk="1" hangingPunct="1"/>
              <a:t>40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781800" cy="654968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bg-BG" altLang="bg-BG" sz="3200" dirty="0" smtClean="0">
                <a:solidFill>
                  <a:schemeClr val="accent1">
                    <a:lumMod val="75000"/>
                  </a:schemeClr>
                </a:solidFill>
              </a:rPr>
              <a:t>Обобщение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052736"/>
            <a:ext cx="8229600" cy="504031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Процесът “нормализация” подлага всяка схема на проверки като за целта използува различни нормални форми, най-често - първите три. На всеки етап се премахват нежелателни свойства на схемата, като по този начин се избягват аномалиите при обновяване.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bg-BG" altLang="bg-BG" sz="2400" u="sng" dirty="0" smtClean="0">
                <a:solidFill>
                  <a:srgbClr val="C00000"/>
                </a:solidFill>
              </a:rPr>
              <a:t>Практически</a:t>
            </a:r>
            <a:r>
              <a:rPr lang="bg-BG" altLang="bg-BG" sz="2400" dirty="0" smtClean="0"/>
              <a:t> процесът “нормализация” се състои от следните стъпки: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000" dirty="0" smtClean="0"/>
              <a:t>Стъпка 1: Произволна таблица: премахване на повтарящи се групи.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000" dirty="0" smtClean="0"/>
              <a:t>Стъпка 2: Първа нормална форма: премахване на частични функционални зависимости.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Char char="•"/>
            </a:pPr>
            <a:r>
              <a:rPr lang="bg-BG" altLang="bg-BG" sz="2000" dirty="0" smtClean="0"/>
              <a:t>Стъпка 3: Втора нормална форма: премахване на транзитивни зависимости.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bg-BG" altLang="bg-BG" sz="2400" dirty="0" smtClean="0"/>
              <a:t>Резултат: Трета нормална форма.</a:t>
            </a:r>
          </a:p>
        </p:txBody>
      </p:sp>
      <p:sp>
        <p:nvSpPr>
          <p:cNvPr id="40962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Юлиана Пенева</a:t>
            </a:r>
          </a:p>
        </p:txBody>
      </p:sp>
      <p:sp>
        <p:nvSpPr>
          <p:cNvPr id="409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bg-BG" altLang="bg-BG" sz="1400"/>
              <a:t>CSCB405- модул5</a:t>
            </a: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fld id="{289978C4-AD34-4ACA-8ED2-908E6B04089A}" type="slidenum">
              <a:rPr lang="bg-BG" altLang="bg-BG" sz="1400"/>
              <a:pPr eaLnBrk="1" hangingPunct="1"/>
              <a:t>41</a:t>
            </a:fld>
            <a:endParaRPr lang="bg-BG" altLang="bg-BG" sz="14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4654</TotalTime>
  <Words>2460</Words>
  <Application>Microsoft Office PowerPoint</Application>
  <PresentationFormat>On-screen Show (4:3)</PresentationFormat>
  <Paragraphs>355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Arial Narrow</vt:lpstr>
      <vt:lpstr>Impact</vt:lpstr>
      <vt:lpstr>Math3Mono</vt:lpstr>
      <vt:lpstr>Symbol</vt:lpstr>
      <vt:lpstr>Times New Roman</vt:lpstr>
      <vt:lpstr>Wingdings</vt:lpstr>
      <vt:lpstr>NewsPrint</vt:lpstr>
      <vt:lpstr>CSCB405 Бази от данни и СУБД  Модул 5: Нормализация на данните    </vt:lpstr>
      <vt:lpstr>Съдържание 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Евристични правила при проектиране на релационни бази от данни</vt:lpstr>
      <vt:lpstr>Функционални зависимости</vt:lpstr>
      <vt:lpstr>Функционални зависимости</vt:lpstr>
      <vt:lpstr>Функционални зависимости</vt:lpstr>
      <vt:lpstr>Функционални зависимости </vt:lpstr>
      <vt:lpstr>Функционални зависимости </vt:lpstr>
      <vt:lpstr>Процесът “нормализация”</vt:lpstr>
      <vt:lpstr>Процесът “нормализация” </vt:lpstr>
      <vt:lpstr>Процесът “нормализация” </vt:lpstr>
      <vt:lpstr>Процесът “нормализация”</vt:lpstr>
      <vt:lpstr>Процесът “нормализация”</vt:lpstr>
      <vt:lpstr>Процесът “нормализация”</vt:lpstr>
      <vt:lpstr>Процесът “нормализация”</vt:lpstr>
      <vt:lpstr>Първа нормална форма </vt:lpstr>
      <vt:lpstr>Първа нормална форма </vt:lpstr>
      <vt:lpstr>Първа нормална форма</vt:lpstr>
      <vt:lpstr>Първа нормална форма</vt:lpstr>
      <vt:lpstr>Първа нормална форма </vt:lpstr>
      <vt:lpstr>Втора нормална форма</vt:lpstr>
      <vt:lpstr>Втора нормална форма</vt:lpstr>
      <vt:lpstr>Втора нормална форма</vt:lpstr>
      <vt:lpstr>Трета нормална форма</vt:lpstr>
      <vt:lpstr>Трета нормална форма</vt:lpstr>
      <vt:lpstr>За нормалните форми - неформално</vt:lpstr>
      <vt:lpstr>Обобщение</vt:lpstr>
      <vt:lpstr>Обобщение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204</cp:revision>
  <dcterms:created xsi:type="dcterms:W3CDTF">2006-09-20T15:43:40Z</dcterms:created>
  <dcterms:modified xsi:type="dcterms:W3CDTF">2018-12-03T06:08:11Z</dcterms:modified>
</cp:coreProperties>
</file>