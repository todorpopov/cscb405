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58" r:id="rId4"/>
    <p:sldId id="260" r:id="rId5"/>
    <p:sldId id="263" r:id="rId6"/>
    <p:sldId id="259" r:id="rId7"/>
    <p:sldId id="312" r:id="rId8"/>
    <p:sldId id="313" r:id="rId9"/>
    <p:sldId id="327" r:id="rId10"/>
    <p:sldId id="264" r:id="rId11"/>
    <p:sldId id="329" r:id="rId12"/>
    <p:sldId id="317" r:id="rId13"/>
    <p:sldId id="331" r:id="rId14"/>
    <p:sldId id="286" r:id="rId15"/>
    <p:sldId id="318" r:id="rId16"/>
    <p:sldId id="343" r:id="rId17"/>
    <p:sldId id="332" r:id="rId18"/>
    <p:sldId id="333" r:id="rId19"/>
    <p:sldId id="334" r:id="rId20"/>
    <p:sldId id="336" r:id="rId21"/>
    <p:sldId id="339" r:id="rId22"/>
    <p:sldId id="337" r:id="rId23"/>
    <p:sldId id="338" r:id="rId24"/>
    <p:sldId id="342" r:id="rId25"/>
    <p:sldId id="340" r:id="rId26"/>
    <p:sldId id="341" r:id="rId27"/>
    <p:sldId id="315" r:id="rId28"/>
    <p:sldId id="282" r:id="rId29"/>
    <p:sldId id="314" r:id="rId30"/>
    <p:sldId id="283" r:id="rId31"/>
    <p:sldId id="284" r:id="rId32"/>
    <p:sldId id="344" r:id="rId33"/>
    <p:sldId id="345" r:id="rId34"/>
    <p:sldId id="346" r:id="rId35"/>
    <p:sldId id="287" r:id="rId36"/>
    <p:sldId id="347" r:id="rId37"/>
  </p:sldIdLst>
  <p:sldSz cx="9144000" cy="6858000" type="screen4x3"/>
  <p:notesSz cx="6858000" cy="9144000"/>
  <p:defaultTextStyle>
    <a:defPPr>
      <a:defRPr lang="bg-BG"/>
    </a:defPPr>
    <a:lvl1pPr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0" autoAdjust="0"/>
    <p:restoredTop sz="94636" autoAdjust="0"/>
  </p:normalViewPr>
  <p:slideViewPr>
    <p:cSldViewPr>
      <p:cViewPr varScale="1">
        <p:scale>
          <a:sx n="106" d="100"/>
          <a:sy n="106" d="100"/>
        </p:scale>
        <p:origin x="103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42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fld id="{61EA3FE4-08DE-4CFF-BB68-2CB96A30D6DD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612727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smtClean="0"/>
              <a:t>Click to edit Master text styles</a:t>
            </a:r>
          </a:p>
          <a:p>
            <a:pPr lvl="1"/>
            <a:r>
              <a:rPr lang="bg-BG" altLang="bg-BG" smtClean="0"/>
              <a:t>Second level</a:t>
            </a:r>
          </a:p>
          <a:p>
            <a:pPr lvl="2"/>
            <a:r>
              <a:rPr lang="bg-BG" altLang="bg-BG" smtClean="0"/>
              <a:t>Third level</a:t>
            </a:r>
          </a:p>
          <a:p>
            <a:pPr lvl="3"/>
            <a:r>
              <a:rPr lang="bg-BG" altLang="bg-BG" smtClean="0"/>
              <a:t>Fourth level</a:t>
            </a:r>
          </a:p>
          <a:p>
            <a:pPr lvl="4"/>
            <a:r>
              <a:rPr lang="bg-BG" altLang="bg-BG" smtClean="0"/>
              <a:t>Fifth level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fld id="{23BA89D1-C84C-44AB-A469-7A5D40BB0B29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8430784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CSCB405 - модул 7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AEA53-A345-405E-BFB1-BC91597C0430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CSCB405 - модул 7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79F91-E4DB-4209-A594-8264B6FCAB9E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CSCB405 - модул 7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1C048-683A-4B95-8CE1-9FEA7C126529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CSCB405 - модул 7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6A0E-3FB7-487A-B7EA-4C81F687263B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CSCB405 - модул 7</a:t>
            </a:r>
            <a:endParaRPr lang="bg-BG" alt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816D-883B-4214-BB90-638E86DB2AE1}" type="slidenum">
              <a:rPr lang="bg-BG" altLang="bg-BG" smtClean="0"/>
              <a:pPr/>
              <a:t>‹#›</a:t>
            </a:fld>
            <a:endParaRPr lang="bg-BG" altLang="bg-BG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CSCB405 - модул 7</a:t>
            </a:r>
            <a:endParaRPr lang="bg-BG" alt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8E17C-A89E-4153-942F-3E8C21377CAF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CSCB405 - модул 7</a:t>
            </a:r>
            <a:endParaRPr lang="bg-BG" alt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41522-D497-4EFA-80C3-0A7A82F193F8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CSCB405 - модул 7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D012E-6011-49B6-9035-DF76B596F58C}" type="slidenum">
              <a:rPr lang="bg-BG" altLang="bg-BG" smtClean="0"/>
              <a:pPr/>
              <a:t>‹#›</a:t>
            </a:fld>
            <a:endParaRPr lang="bg-BG" altLang="bg-BG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CSCB405 - модул 7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496C0-3C04-4BD2-B7AA-F59472DAF32B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CSCB405 - модул 7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EFE2E-7AF7-4636-8440-42D02689CC5B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CSCB405 - модул 7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B0CA-3D55-47FF-B60B-CAC09DB9111A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03663"/>
            <a:ext cx="8229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CSCB405 - модул 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0F9C1192-8F7A-4926-A213-11428FA407F6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53342719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bg-BG" altLang="bg-BG" smtClean="0"/>
              <a:t>CSCB405 - модул 7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5CFD8702-C768-401B-89B7-EC6C169A4EEA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hdr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99592" y="620688"/>
            <a:ext cx="7543800" cy="2375520"/>
          </a:xfrm>
        </p:spPr>
        <p:txBody>
          <a:bodyPr/>
          <a:lstStyle/>
          <a:p>
            <a:r>
              <a:rPr lang="en-US" altLang="bg-BG" sz="2700" dirty="0">
                <a:solidFill>
                  <a:srgbClr val="FF0000"/>
                </a:solidFill>
              </a:rPr>
              <a:t>CSCB405 </a:t>
            </a:r>
            <a:r>
              <a:rPr lang="bg-BG" altLang="bg-BG" sz="2700" dirty="0">
                <a:solidFill>
                  <a:srgbClr val="FF0000"/>
                </a:solidFill>
              </a:rPr>
              <a:t>Бази от данни и СУБД</a:t>
            </a:r>
            <a:br>
              <a:rPr lang="bg-BG" altLang="bg-BG" sz="2700" dirty="0">
                <a:solidFill>
                  <a:srgbClr val="FF0000"/>
                </a:solidFill>
              </a:rPr>
            </a:br>
            <a:r>
              <a:rPr lang="bg-BG" altLang="bg-BG" sz="2700" dirty="0"/>
              <a:t/>
            </a:r>
            <a:br>
              <a:rPr lang="bg-BG" altLang="bg-BG" sz="2700" dirty="0"/>
            </a:br>
            <a:r>
              <a:rPr lang="bg-BG" altLang="bg-BG" sz="2700" dirty="0"/>
              <a:t> Модул </a:t>
            </a:r>
            <a:r>
              <a:rPr lang="en-US" altLang="bg-BG" sz="2700" dirty="0"/>
              <a:t>7</a:t>
            </a:r>
            <a:r>
              <a:rPr lang="bg-BG" altLang="bg-BG" sz="2700" dirty="0"/>
              <a:t>: Проектиране и администриране на бази от данни</a:t>
            </a:r>
            <a:br>
              <a:rPr lang="bg-BG" altLang="bg-BG" sz="2700" dirty="0"/>
            </a:br>
            <a:endParaRPr lang="bg-BG" altLang="bg-BG" sz="27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584" y="3284984"/>
            <a:ext cx="6858000" cy="1440160"/>
          </a:xfrm>
        </p:spPr>
        <p:txBody>
          <a:bodyPr>
            <a:noAutofit/>
          </a:bodyPr>
          <a:lstStyle/>
          <a:p>
            <a:pPr indent="623888">
              <a:lnSpc>
                <a:spcPct val="90000"/>
              </a:lnSpc>
            </a:pPr>
            <a:r>
              <a:rPr lang="bg-BG" altLang="bg-BG" sz="2400" dirty="0"/>
              <a:t>Юлиана Пенева</a:t>
            </a:r>
          </a:p>
          <a:p>
            <a:pPr indent="623888">
              <a:lnSpc>
                <a:spcPct val="90000"/>
              </a:lnSpc>
            </a:pPr>
            <a:r>
              <a:rPr lang="bg-BG" altLang="bg-BG" sz="2400" dirty="0"/>
              <a:t>Департамент “Информатика”</a:t>
            </a:r>
          </a:p>
          <a:p>
            <a:pPr indent="623888">
              <a:lnSpc>
                <a:spcPct val="90000"/>
              </a:lnSpc>
            </a:pPr>
            <a:r>
              <a:rPr lang="en-US" altLang="bg-BG" sz="2400" dirty="0"/>
              <a:t>july_peneva@abv.bg</a:t>
            </a:r>
            <a:endParaRPr lang="bg-BG" altLang="bg-BG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304" y="4293096"/>
            <a:ext cx="3096344" cy="1733953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404664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b="1" dirty="0">
                <a:solidFill>
                  <a:schemeClr val="accent1"/>
                </a:solidFill>
              </a:rPr>
              <a:t>Съдържание</a:t>
            </a:r>
            <a:r>
              <a:rPr lang="bg-BG" altLang="bg-BG" sz="32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899592" y="980728"/>
            <a:ext cx="7543800" cy="4534272"/>
          </a:xfrm>
        </p:spPr>
        <p:txBody>
          <a:bodyPr>
            <a:normAutofit/>
          </a:bodyPr>
          <a:lstStyle/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600" dirty="0"/>
              <a:t>Жизнен цикъл на информационна </a:t>
            </a:r>
            <a:r>
              <a:rPr lang="bg-BG" altLang="bg-BG" sz="2600" dirty="0" smtClean="0"/>
              <a:t>система.</a:t>
            </a:r>
            <a:endParaRPr lang="bg-BG" altLang="bg-BG" sz="2600" dirty="0"/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600" dirty="0"/>
              <a:t>Процесът “проектиране на бази от данни</a:t>
            </a:r>
            <a:r>
              <a:rPr lang="bg-BG" altLang="bg-BG" sz="2600" dirty="0" smtClean="0"/>
              <a:t>”.</a:t>
            </a:r>
            <a:endParaRPr lang="bg-BG" altLang="bg-BG" sz="2600" dirty="0"/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600" dirty="0"/>
              <a:t>Проектиране на </a:t>
            </a:r>
            <a:r>
              <a:rPr lang="bg-BG" altLang="bg-BG" sz="2600" dirty="0" smtClean="0"/>
              <a:t>приложенията.</a:t>
            </a:r>
            <a:endParaRPr lang="bg-BG" altLang="bg-BG" sz="2600" dirty="0"/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600" dirty="0"/>
              <a:t>Администриране на данните и </a:t>
            </a:r>
            <a:r>
              <a:rPr lang="bg-BG" altLang="bg-BG" sz="2600" dirty="0" smtClean="0"/>
              <a:t>базата.</a:t>
            </a:r>
            <a:endParaRPr lang="bg-BG" altLang="bg-BG" sz="2600" dirty="0"/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600" dirty="0"/>
              <a:t>Средства, автоматизиращи проектирането.</a:t>
            </a:r>
          </a:p>
          <a:p>
            <a:pPr marL="990600" lvl="1" indent="-533400">
              <a:lnSpc>
                <a:spcPct val="90000"/>
              </a:lnSpc>
              <a:buFontTx/>
              <a:buNone/>
            </a:pPr>
            <a:endParaRPr lang="bg-BG" altLang="bg-BG" sz="2400" dirty="0"/>
          </a:p>
          <a:p>
            <a:pPr marL="990600" lvl="1" indent="-533400">
              <a:lnSpc>
                <a:spcPct val="90000"/>
              </a:lnSpc>
              <a:buFontTx/>
              <a:buNone/>
            </a:pPr>
            <a:r>
              <a:rPr lang="bg-BG" altLang="bg-BG" sz="2400" dirty="0"/>
              <a:t>Трябва да са усвоени:</a:t>
            </a:r>
          </a:p>
          <a:p>
            <a:pPr marL="1264920" lvl="2" indent="-533400">
              <a:lnSpc>
                <a:spcPct val="90000"/>
              </a:lnSpc>
              <a:buFontTx/>
              <a:buNone/>
            </a:pPr>
            <a:r>
              <a:rPr lang="bg-BG" altLang="bg-BG" dirty="0"/>
              <a:t>Модул 3: Релационен модел </a:t>
            </a:r>
          </a:p>
          <a:p>
            <a:pPr marL="1264920" lvl="2" indent="-533400">
              <a:lnSpc>
                <a:spcPct val="90000"/>
              </a:lnSpc>
              <a:buFontTx/>
              <a:buNone/>
            </a:pPr>
            <a:r>
              <a:rPr lang="bg-BG" altLang="bg-BG" dirty="0"/>
              <a:t>Модул 5: Нормализация на данните </a:t>
            </a:r>
          </a:p>
          <a:p>
            <a:pPr marL="1264920" lvl="2" indent="-533400">
              <a:lnSpc>
                <a:spcPct val="90000"/>
              </a:lnSpc>
              <a:buFontTx/>
              <a:buNone/>
            </a:pPr>
            <a:r>
              <a:rPr lang="bg-BG" altLang="bg-BG" dirty="0"/>
              <a:t>Модул 6: Концептуално моделиране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E0A6-6276-46B2-ABDF-434A5E2E29A1}" type="slidenum">
              <a:rPr lang="bg-BG" altLang="bg-BG"/>
              <a:pPr/>
              <a:t>2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239476"/>
            <a:ext cx="8208912" cy="654968"/>
          </a:xfrm>
        </p:spPr>
        <p:txBody>
          <a:bodyPr>
            <a:noAutofit/>
          </a:bodyPr>
          <a:lstStyle/>
          <a:p>
            <a:pPr marL="838200" indent="-838200"/>
            <a:r>
              <a:rPr lang="bg-BG" altLang="bg-BG" sz="3200" dirty="0">
                <a:solidFill>
                  <a:schemeClr val="accent1"/>
                </a:solidFill>
              </a:rPr>
              <a:t>Жизнен цикъл на информационна </a:t>
            </a:r>
            <a:r>
              <a:rPr lang="bg-BG" altLang="bg-BG" sz="3200" dirty="0" smtClean="0">
                <a:solidFill>
                  <a:schemeClr val="accent1"/>
                </a:solidFill>
              </a:rPr>
              <a:t>система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8202" name="Rectangle 10"/>
          <p:cNvSpPr>
            <a:spLocks noGrp="1" noChangeArrowheads="1"/>
          </p:cNvSpPr>
          <p:nvPr>
            <p:ph idx="1"/>
          </p:nvPr>
        </p:nvSpPr>
        <p:spPr>
          <a:xfrm>
            <a:off x="838200" y="1050527"/>
            <a:ext cx="7543800" cy="2542049"/>
          </a:xfrm>
        </p:spPr>
        <p:txBody>
          <a:bodyPr>
            <a:normAutofit fontScale="92500" lnSpcReduction="20000"/>
          </a:bodyPr>
          <a:lstStyle/>
          <a:p>
            <a:pPr marL="609600" indent="-609600" algn="ctr"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Подходи при проектиране на релационна база от данни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800" dirty="0" smtClean="0"/>
              <a:t>Отгоре-надолу.</a:t>
            </a:r>
            <a:endParaRPr lang="bg-BG" altLang="bg-BG" sz="2800" dirty="0"/>
          </a:p>
          <a:p>
            <a:pPr marL="990600" lvl="1" indent="-533400">
              <a:buFontTx/>
              <a:buChar char="•"/>
            </a:pPr>
            <a:r>
              <a:rPr lang="bg-BG" altLang="bg-BG" dirty="0"/>
              <a:t>Използува се при проектирането на търговски приложения от тип “база от данни”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800" dirty="0"/>
              <a:t>Релационен синтез (отдолу-нагоре</a:t>
            </a:r>
            <a:r>
              <a:rPr lang="bg-BG" altLang="bg-BG" sz="2800" dirty="0" smtClean="0"/>
              <a:t>).</a:t>
            </a:r>
            <a:endParaRPr lang="bg-BG" altLang="bg-BG" sz="2800" dirty="0"/>
          </a:p>
          <a:p>
            <a:pPr marL="990600" lvl="1" indent="-533400">
              <a:buFontTx/>
              <a:buChar char="•"/>
            </a:pPr>
            <a:r>
              <a:rPr lang="bg-BG" altLang="bg-BG" dirty="0"/>
              <a:t>Теоретичен</a:t>
            </a:r>
          </a:p>
          <a:p>
            <a:pPr marL="1478280" lvl="3" indent="-609600">
              <a:buFontTx/>
              <a:buAutoNum type="arabicPeriod"/>
            </a:pPr>
            <a:endParaRPr lang="bg-BG" altLang="bg-BG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9BBE1-7768-4B4D-AAA5-BBDAC96A0D19}" type="slidenum">
              <a:rPr lang="bg-BG" altLang="bg-BG"/>
              <a:pPr/>
              <a:t>3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162" y="3510644"/>
            <a:ext cx="6149876" cy="2576856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76671"/>
            <a:ext cx="8243887" cy="436141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Жизнен цикъл на информационна система</a:t>
            </a:r>
          </a:p>
        </p:txBody>
      </p:sp>
      <p:sp>
        <p:nvSpPr>
          <p:cNvPr id="60432" name="Rectangle 16"/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229600" cy="5075238"/>
          </a:xfrm>
        </p:spPr>
        <p:txBody>
          <a:bodyPr>
            <a:normAutofit/>
          </a:bodyPr>
          <a:lstStyle/>
          <a:p>
            <a:pPr marL="609600" indent="-609600" algn="ctr"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Стъпки при подход "отгоре-надолу" (top-down)</a:t>
            </a:r>
          </a:p>
          <a:p>
            <a:pPr marL="609600" indent="-609600" algn="ctr">
              <a:buFontTx/>
              <a:buNone/>
            </a:pPr>
            <a:endParaRPr lang="bg-BG" altLang="bg-BG" sz="700" dirty="0"/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Проектиране на концептуална схема на базата от данни, като се използва модел от високо ниво (например </a:t>
            </a:r>
            <a:r>
              <a:rPr lang="en-US" altLang="bg-BG" sz="2400" dirty="0"/>
              <a:t>E</a:t>
            </a:r>
            <a:r>
              <a:rPr lang="bg-BG" altLang="bg-BG" sz="2400" dirty="0"/>
              <a:t>-</a:t>
            </a:r>
            <a:r>
              <a:rPr lang="en-US" altLang="bg-BG" sz="2400" dirty="0"/>
              <a:t>R</a:t>
            </a:r>
            <a:r>
              <a:rPr lang="bg-BG" altLang="bg-BG" sz="2400" dirty="0"/>
              <a:t> модел</a:t>
            </a:r>
            <a:r>
              <a:rPr lang="bg-BG" altLang="bg-BG" sz="2400" dirty="0" smtClean="0"/>
              <a:t>). </a:t>
            </a:r>
            <a:endParaRPr lang="bg-BG" altLang="bg-BG" sz="2400" dirty="0"/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Изобразяване на получената схема в множество от </a:t>
            </a:r>
            <a:r>
              <a:rPr lang="bg-BG" altLang="bg-BG" sz="2400" dirty="0" smtClean="0"/>
              <a:t>отношения</a:t>
            </a:r>
            <a:r>
              <a:rPr lang="bg-BG" altLang="bg-BG" dirty="0"/>
              <a:t>.</a:t>
            </a:r>
            <a:endParaRPr lang="bg-BG" altLang="bg-BG" sz="2400" dirty="0"/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Анализ на отношенията с помощта на функционалните зависимости, като се прилагат четирите неформални мерки за </a:t>
            </a:r>
            <a:r>
              <a:rPr lang="bg-BG" altLang="bg-BG" sz="2400" dirty="0" smtClean="0"/>
              <a:t>качество.</a:t>
            </a:r>
            <a:endParaRPr lang="bg-BG" altLang="bg-BG" sz="2400" dirty="0"/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Провеждане на нормализация до трета нормална форма, за да се избегнат транзитивните и частичните функционални зависимости.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9158D-1FBC-4A00-8D66-8416B57167C6}" type="slidenum">
              <a:rPr lang="bg-BG" altLang="bg-BG"/>
              <a:pPr/>
              <a:t>4</a:t>
            </a:fld>
            <a:endParaRPr lang="bg-BG" altLang="bg-BG"/>
          </a:p>
        </p:txBody>
      </p:sp>
      <p:sp>
        <p:nvSpPr>
          <p:cNvPr id="6043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0436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0438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10410"/>
            <a:ext cx="8064896" cy="582960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 smtClean="0">
                <a:solidFill>
                  <a:schemeClr val="accent1"/>
                </a:solidFill>
              </a:rPr>
              <a:t>Жизнен цикъл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на </a:t>
            </a:r>
            <a:r>
              <a:rPr lang="bg-BG" altLang="bg-BG" sz="3200" dirty="0">
                <a:solidFill>
                  <a:schemeClr val="accent1"/>
                </a:solidFill>
              </a:rPr>
              <a:t>информационна </a:t>
            </a:r>
            <a:r>
              <a:rPr lang="bg-BG" altLang="bg-BG" sz="3200" dirty="0" smtClean="0">
                <a:solidFill>
                  <a:schemeClr val="accent1"/>
                </a:solidFill>
              </a:rPr>
              <a:t>система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66595" name="Rectangle 35"/>
          <p:cNvSpPr>
            <a:spLocks noGrp="1" noChangeArrowheads="1"/>
          </p:cNvSpPr>
          <p:nvPr>
            <p:ph idx="1"/>
          </p:nvPr>
        </p:nvSpPr>
        <p:spPr>
          <a:xfrm>
            <a:off x="457200" y="1124744"/>
            <a:ext cx="8229600" cy="4643438"/>
          </a:xfrm>
        </p:spPr>
        <p:txBody>
          <a:bodyPr>
            <a:normAutofit/>
          </a:bodyPr>
          <a:lstStyle/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Стъпки при подход “релационен синтез" (</a:t>
            </a:r>
            <a:r>
              <a:rPr lang="en-US" altLang="bg-BG" sz="2800" dirty="0">
                <a:solidFill>
                  <a:srgbClr val="C00000"/>
                </a:solidFill>
              </a:rPr>
              <a:t>bottom-up</a:t>
            </a:r>
            <a:r>
              <a:rPr lang="bg-BG" altLang="bg-BG" sz="2800" dirty="0">
                <a:solidFill>
                  <a:srgbClr val="C00000"/>
                </a:solidFill>
              </a:rPr>
              <a:t>)</a:t>
            </a:r>
          </a:p>
          <a:p>
            <a:pPr marL="609600" indent="-609600" algn="ctr">
              <a:lnSpc>
                <a:spcPct val="90000"/>
              </a:lnSpc>
              <a:buFontTx/>
              <a:buNone/>
            </a:pPr>
            <a:endParaRPr lang="en-US" altLang="bg-BG" sz="6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Спецификация на зависимостите от проектанта на базата и извод на някои от тях с помощта на аксиомите на Армстронг.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Синтезиране една голяма релационна схема, съдържаща всички атрибути (т.нар. универсална схема), като имената на атрибутите в нея са уникални.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Декомпозиция на универсалната схема – до </a:t>
            </a:r>
            <a:r>
              <a:rPr lang="en-US" altLang="bg-BG" sz="2400" dirty="0"/>
              <a:t>3NF</a:t>
            </a:r>
            <a:r>
              <a:rPr lang="bg-BG" altLang="bg-BG" sz="2400" dirty="0"/>
              <a:t>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bg-BG" altLang="bg-BG" sz="2400" dirty="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2400" dirty="0">
                <a:solidFill>
                  <a:srgbClr val="C00000"/>
                </a:solidFill>
              </a:rPr>
              <a:t>Проблем: при релационния синтез алгоритмите не могат да се прилагат автоматично!</a:t>
            </a:r>
            <a:r>
              <a:rPr lang="bg-BG" altLang="bg-BG" dirty="0">
                <a:solidFill>
                  <a:srgbClr val="C00000"/>
                </a:solidFill>
              </a:rPr>
              <a:t> </a:t>
            </a:r>
            <a:endParaRPr lang="bg-BG" altLang="bg-BG" sz="2400" dirty="0">
              <a:solidFill>
                <a:srgbClr val="C00000"/>
              </a:solidFill>
            </a:endParaRP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bg-BG" altLang="bg-BG" sz="240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27487-73B2-4361-95C1-C48D78B7EA29}" type="slidenum">
              <a:rPr lang="bg-BG" altLang="bg-BG"/>
              <a:pPr/>
              <a:t>5</a:t>
            </a:fld>
            <a:endParaRPr lang="bg-BG" altLang="bg-BG"/>
          </a:p>
        </p:txBody>
      </p:sp>
      <p:sp>
        <p:nvSpPr>
          <p:cNvPr id="6657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7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81917"/>
            <a:ext cx="8243887" cy="508918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Жизнен цикъл на информационна система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5567" y="990835"/>
            <a:ext cx="8229600" cy="2151063"/>
          </a:xfrm>
        </p:spPr>
        <p:txBody>
          <a:bodyPr>
            <a:normAutofit fontScale="85000" lnSpcReduction="20000"/>
          </a:bodyPr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>
                <a:solidFill>
                  <a:srgbClr val="C00000"/>
                </a:solidFill>
              </a:rPr>
              <a:t>Методология на проектирането </a:t>
            </a:r>
            <a:r>
              <a:rPr lang="bg-BG" altLang="bg-BG" sz="2800" dirty="0"/>
              <a:t>се нарича систематичният процес, обхващащ всички дейности свързани с проектирането на определена база от данни без оглед на модела на СУБД – релационен, обектно-ориентиран, обектно- релационен или друг.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Методологиите на проектиране са част от средствата за проектиране на бази от данни като</a:t>
            </a:r>
            <a:r>
              <a:rPr lang="bg-BG" altLang="bg-BG" sz="2800" dirty="0" smtClean="0"/>
              <a:t>:</a:t>
            </a:r>
            <a:endParaRPr lang="en-US" altLang="bg-BG" sz="2800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2051720" y="3039632"/>
            <a:ext cx="5761219" cy="3005588"/>
          </a:xfrm>
        </p:spPr>
        <p:txBody>
          <a:bodyPr>
            <a:normAutofit/>
          </a:bodyPr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bg-BG" alt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4F818-9CC1-4B54-AC4E-8A5DB3EDC194}" type="slidenum">
              <a:rPr lang="bg-BG" altLang="bg-BG"/>
              <a:pPr/>
              <a:t>6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141898"/>
            <a:ext cx="5761219" cy="300558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34692" y="398100"/>
            <a:ext cx="8243887" cy="582191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Жизнен цикъл на информационна система</a:t>
            </a:r>
          </a:p>
        </p:txBody>
      </p:sp>
      <p:sp>
        <p:nvSpPr>
          <p:cNvPr id="187403" name="Rectangle 11"/>
          <p:cNvSpPr>
            <a:spLocks noGrp="1" noChangeArrowheads="1"/>
          </p:cNvSpPr>
          <p:nvPr>
            <p:ph idx="1"/>
          </p:nvPr>
        </p:nvSpPr>
        <p:spPr>
          <a:xfrm>
            <a:off x="448979" y="893981"/>
            <a:ext cx="8229600" cy="4715545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Класификация на базите от данни</a:t>
            </a:r>
            <a:endParaRPr lang="en-US" altLang="bg-BG" sz="28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bg-BG" altLang="bg-BG" sz="2800" dirty="0"/>
              <a:t>Базите от данни могат да се класифицират условно в зависимост от броя на обектите, изграждащи схемата и броя на потребителите: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bg-BG" altLang="bg-BG" dirty="0"/>
              <a:t>малки бази от данни – до 25 обекта и до 20 потребители;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bg-BG" altLang="bg-BG" dirty="0"/>
              <a:t>средни по размер бази – около 30-40 обекта и до 100 потребители;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bg-BG" altLang="bg-BG" dirty="0"/>
              <a:t>големи бази от данни – над 40 различни обекта. </a:t>
            </a:r>
          </a:p>
          <a:p>
            <a:pPr>
              <a:lnSpc>
                <a:spcPct val="90000"/>
              </a:lnSpc>
            </a:pPr>
            <a:r>
              <a:rPr lang="bg-BG" altLang="bg-BG" sz="2800" dirty="0"/>
              <a:t>Базите от данни от среден и голям размер се нуждаят от прилагането на методология при проектирането им.</a:t>
            </a:r>
            <a:r>
              <a:rPr lang="bg-BG" altLang="bg-BG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B21C5-C887-4590-A661-017F52934CFF}" type="slidenum">
              <a:rPr lang="bg-BG" altLang="bg-BG"/>
              <a:pPr/>
              <a:t>7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8243887" cy="581174"/>
          </a:xfrm>
        </p:spPr>
        <p:txBody>
          <a:bodyPr>
            <a:normAutofit fontScale="90000"/>
          </a:bodyPr>
          <a:lstStyle/>
          <a:p>
            <a:pPr marL="685800" indent="-685800" algn="ctr"/>
            <a:r>
              <a:rPr lang="bg-BG" altLang="bg-BG" sz="3600" dirty="0">
                <a:solidFill>
                  <a:schemeClr val="accent1"/>
                </a:solidFill>
              </a:rPr>
              <a:t>Жизнен цикъл на информационна система</a:t>
            </a:r>
            <a:r>
              <a:rPr lang="bg-BG" altLang="bg-BG" dirty="0"/>
              <a:t> </a:t>
            </a:r>
          </a:p>
        </p:txBody>
      </p:sp>
      <p:sp>
        <p:nvSpPr>
          <p:cNvPr id="188423" name="Rectangle 7"/>
          <p:cNvSpPr>
            <a:spLocks noGrp="1" noChangeArrowheads="1"/>
          </p:cNvSpPr>
          <p:nvPr>
            <p:ph idx="1"/>
          </p:nvPr>
        </p:nvSpPr>
        <p:spPr>
          <a:xfrm>
            <a:off x="467544" y="1052736"/>
            <a:ext cx="8229600" cy="4680520"/>
          </a:xfrm>
        </p:spPr>
        <p:txBody>
          <a:bodyPr/>
          <a:lstStyle/>
          <a:p>
            <a:pPr marL="609600" indent="-609600" algn="ctr"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Защо се прилага методология при проектирането на базата от данни?</a:t>
            </a:r>
          </a:p>
          <a:p>
            <a:pPr marL="609600" indent="-609600" algn="ctr">
              <a:buFontTx/>
              <a:buNone/>
            </a:pPr>
            <a:endParaRPr lang="bg-BG" altLang="bg-BG" sz="1000" dirty="0"/>
          </a:p>
          <a:p>
            <a:pPr marL="609600" indent="-609600">
              <a:spcBef>
                <a:spcPct val="0"/>
              </a:spcBef>
              <a:buFontTx/>
              <a:buAutoNum type="arabicPeriod"/>
            </a:pPr>
            <a:r>
              <a:rPr lang="bg-BG" altLang="bg-BG" sz="2400" dirty="0"/>
              <a:t>През 70-те години организациите се ориентират към прилагане на технологията “бази от данни” при изграждането на информационните си системи.</a:t>
            </a:r>
          </a:p>
          <a:p>
            <a:pPr marL="609600" indent="-609600">
              <a:spcBef>
                <a:spcPct val="0"/>
              </a:spcBef>
              <a:buFontTx/>
              <a:buAutoNum type="arabicPeriod"/>
            </a:pPr>
            <a:r>
              <a:rPr lang="bg-BG" altLang="bg-BG" sz="2400" dirty="0"/>
              <a:t>СУБД е част от информационната система, която се използува, за да се управляват информационните ресурси.</a:t>
            </a:r>
          </a:p>
          <a:p>
            <a:pPr marL="609600" indent="-609600">
              <a:spcBef>
                <a:spcPct val="0"/>
              </a:spcBef>
              <a:buFontTx/>
              <a:buAutoNum type="arabicPeriod"/>
            </a:pPr>
            <a:r>
              <a:rPr lang="bg-BG" altLang="bg-BG" sz="2400" dirty="0"/>
              <a:t>Базата от данни е основният интегриращ елемент   на информационната система.</a:t>
            </a:r>
          </a:p>
          <a:p>
            <a:pPr marL="609600" indent="-609600">
              <a:spcBef>
                <a:spcPct val="0"/>
              </a:spcBef>
              <a:buFontTx/>
              <a:buAutoNum type="arabicPeriod"/>
            </a:pPr>
            <a:endParaRPr lang="bg-BG" altLang="bg-BG" sz="2400" dirty="0"/>
          </a:p>
          <a:p>
            <a:pPr marL="609600" indent="-609600">
              <a:spcBef>
                <a:spcPct val="0"/>
              </a:spcBef>
              <a:buFontTx/>
              <a:buAutoNum type="arabicPeriod"/>
            </a:pPr>
            <a:endParaRPr lang="bg-BG" altLang="bg-B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CC96-C593-4383-9ED5-A64A9DC7DC8C}" type="slidenum">
              <a:rPr lang="bg-BG" altLang="bg-BG"/>
              <a:pPr/>
              <a:t>8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18014"/>
            <a:ext cx="8243887" cy="580157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Жизнен цикъл на информационна система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idx="1"/>
          </p:nvPr>
        </p:nvSpPr>
        <p:spPr>
          <a:xfrm>
            <a:off x="421936" y="1048418"/>
            <a:ext cx="8229600" cy="3244678"/>
          </a:xfrm>
        </p:spPr>
        <p:txBody>
          <a:bodyPr>
            <a:normAutofit/>
          </a:bodyPr>
          <a:lstStyle/>
          <a:p>
            <a:pPr marL="609600" indent="-609600">
              <a:lnSpc>
                <a:spcPct val="80000"/>
              </a:lnSpc>
              <a:spcBef>
                <a:spcPts val="700"/>
              </a:spcBef>
              <a:buFont typeface="Arial" charset="0"/>
              <a:buAutoNum type="arabicPeriod"/>
            </a:pPr>
            <a:r>
              <a:rPr lang="bg-BG" altLang="bg-BG" sz="2000" dirty="0">
                <a:solidFill>
                  <a:srgbClr val="C00000"/>
                </a:solidFill>
              </a:rPr>
              <a:t>Информационна система </a:t>
            </a:r>
            <a:r>
              <a:rPr lang="bg-BG" altLang="bg-BG" sz="2000" dirty="0"/>
              <a:t>- множеството от взаимосвързани компоненти, които позволяват събиране, обработка, съхраняване и разпространение на информация за подпомагането на процеса на вземане на решения, координацията и контрола в рамките на дадена организация. </a:t>
            </a:r>
          </a:p>
          <a:p>
            <a:pPr marL="609600" indent="-609600">
              <a:lnSpc>
                <a:spcPct val="80000"/>
              </a:lnSpc>
              <a:spcBef>
                <a:spcPts val="700"/>
              </a:spcBef>
              <a:buFont typeface="Arial" charset="0"/>
              <a:buAutoNum type="arabicPeriod"/>
            </a:pPr>
            <a:r>
              <a:rPr lang="bg-BG" altLang="bg-BG" sz="2000" dirty="0"/>
              <a:t>Информационна система е организационно средство, което обхваща всички видове информационни дейности. </a:t>
            </a:r>
          </a:p>
          <a:p>
            <a:pPr marL="609600" indent="-609600">
              <a:lnSpc>
                <a:spcPct val="80000"/>
              </a:lnSpc>
              <a:spcBef>
                <a:spcPts val="700"/>
              </a:spcBef>
              <a:buFont typeface="Arial" charset="0"/>
              <a:buAutoNum type="arabicPeriod"/>
            </a:pPr>
            <a:r>
              <a:rPr lang="bg-BG" altLang="bg-BG" sz="2000" dirty="0"/>
              <a:t>Съществуват два жизнени цикъла на системата:</a:t>
            </a:r>
            <a:r>
              <a:rPr lang="en-US" altLang="bg-BG" sz="2000" dirty="0"/>
              <a:t> </a:t>
            </a:r>
          </a:p>
          <a:p>
            <a:pPr marL="1371600" lvl="2" indent="-457200">
              <a:lnSpc>
                <a:spcPct val="80000"/>
              </a:lnSpc>
              <a:spcBef>
                <a:spcPts val="700"/>
              </a:spcBef>
            </a:pPr>
            <a:r>
              <a:rPr lang="bg-BG" altLang="bg-BG" dirty="0"/>
              <a:t>м</a:t>
            </a:r>
            <a:r>
              <a:rPr lang="bg-BG" altLang="bg-BG" dirty="0" smtClean="0"/>
              <a:t>акро </a:t>
            </a:r>
            <a:r>
              <a:rPr lang="bg-BG" altLang="bg-BG" dirty="0"/>
              <a:t>жизнен цикъл – на информационната система като цяло;</a:t>
            </a:r>
            <a:endParaRPr lang="en-US" altLang="bg-BG" dirty="0"/>
          </a:p>
          <a:p>
            <a:pPr marL="1371600" lvl="2" indent="-457200">
              <a:lnSpc>
                <a:spcPct val="80000"/>
              </a:lnSpc>
              <a:spcBef>
                <a:spcPts val="650"/>
              </a:spcBef>
            </a:pPr>
            <a:r>
              <a:rPr lang="bg-BG" altLang="bg-BG" dirty="0" smtClean="0"/>
              <a:t>микро </a:t>
            </a:r>
            <a:r>
              <a:rPr lang="bg-BG" altLang="bg-BG" dirty="0"/>
              <a:t>жизнен цикъл – само на базата от данни</a:t>
            </a:r>
            <a:r>
              <a:rPr lang="en-US" altLang="bg-BG" dirty="0"/>
              <a:t>.</a:t>
            </a:r>
            <a:endParaRPr lang="bg-BG" alt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401D7-3118-42AE-A919-ECCF5EC75EF6}" type="slidenum">
              <a:rPr lang="bg-BG" altLang="bg-BG"/>
              <a:pPr/>
              <a:t>9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92" y="4293096"/>
            <a:ext cx="4083687" cy="237964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67563"/>
            <a:ext cx="8243888" cy="581744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Жизнен цикъл на информационна система</a:t>
            </a:r>
          </a:p>
        </p:txBody>
      </p:sp>
      <p:sp>
        <p:nvSpPr>
          <p:cNvPr id="67599" name="Rectangle 15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4930775"/>
          </a:xfrm>
        </p:spPr>
        <p:txBody>
          <a:bodyPr/>
          <a:lstStyle/>
          <a:p>
            <a:pPr marL="609600" indent="-609600" algn="ctr">
              <a:lnSpc>
                <a:spcPct val="80000"/>
              </a:lnSpc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Фази на жизнения цикъл на информационна система</a:t>
            </a:r>
          </a:p>
          <a:p>
            <a:pPr marL="609600" indent="-609600" algn="ctr">
              <a:lnSpc>
                <a:spcPct val="80000"/>
              </a:lnSpc>
              <a:buFontTx/>
              <a:buNone/>
            </a:pPr>
            <a:endParaRPr lang="bg-BG" altLang="bg-BG" sz="1000" dirty="0"/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Анализ на възможностите (</a:t>
            </a:r>
            <a:r>
              <a:rPr lang="en-US" altLang="bg-BG" sz="2400" dirty="0"/>
              <a:t>feasibility study</a:t>
            </a:r>
            <a:r>
              <a:rPr lang="bg-BG" altLang="bg-BG" sz="2400" dirty="0" smtClean="0"/>
              <a:t>).</a:t>
            </a:r>
            <a:endParaRPr lang="bg-BG" altLang="bg-BG" sz="2400" dirty="0"/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200" dirty="0"/>
              <a:t>анализ на потенциалните области на приложение;</a:t>
            </a:r>
            <a:endParaRPr lang="en-US" altLang="bg-BG" sz="2200" dirty="0"/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200" dirty="0"/>
              <a:t>икономически ефект от събирането и </a:t>
            </a:r>
            <a:r>
              <a:rPr lang="bg-BG" altLang="bg-BG" sz="2200" dirty="0" smtClean="0"/>
              <a:t>разпространението </a:t>
            </a:r>
            <a:r>
              <a:rPr lang="bg-BG" altLang="bg-BG" sz="2200" dirty="0"/>
              <a:t>на информацията; </a:t>
            </a:r>
            <a:endParaRPr lang="en-US" altLang="bg-BG" sz="2200" dirty="0"/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200" dirty="0"/>
              <a:t>проучване на разходите и ползите;</a:t>
            </a:r>
            <a:endParaRPr lang="en-US" altLang="bg-BG" sz="2200" dirty="0"/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200" dirty="0"/>
              <a:t>установяване на приоритети между приложенията.</a:t>
            </a:r>
            <a:endParaRPr lang="en-US" altLang="bg-BG" sz="2200" dirty="0"/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Събиране и анализ на изискванията.</a:t>
            </a:r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200" dirty="0"/>
              <a:t>събиране на подробни изисквания;</a:t>
            </a:r>
            <a:endParaRPr lang="en-US" altLang="bg-BG" sz="2200" dirty="0"/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200" dirty="0"/>
              <a:t>взаимодействие с потребителите.</a:t>
            </a:r>
            <a:endParaRPr lang="bg-BG" altLang="bg-BG" sz="2000" dirty="0"/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Проектиране.</a:t>
            </a:r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200" dirty="0"/>
              <a:t>на базата от данни; </a:t>
            </a:r>
            <a:endParaRPr lang="en-US" altLang="bg-BG" sz="2200" dirty="0"/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200" dirty="0"/>
              <a:t>на програмите за работа с базата. </a:t>
            </a:r>
            <a:endParaRPr lang="bg-BG" altLang="bg-BG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391A-E4D7-4BB9-BD88-035389548D58}" type="slidenum">
              <a:rPr lang="bg-BG" altLang="bg-BG"/>
              <a:pPr/>
              <a:t>10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535831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Жизнен цикъл на информационна система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908720"/>
            <a:ext cx="8229600" cy="5400675"/>
          </a:xfrm>
        </p:spPr>
        <p:txBody>
          <a:bodyPr>
            <a:normAutofit lnSpcReduction="10000"/>
          </a:bodyPr>
          <a:lstStyle/>
          <a:p>
            <a:pPr marL="609600" indent="-609600" algn="ctr">
              <a:lnSpc>
                <a:spcPct val="80000"/>
              </a:lnSpc>
              <a:buFontTx/>
              <a:buNone/>
            </a:pPr>
            <a:r>
              <a:rPr lang="ru-RU" altLang="bg-BG" sz="2800" dirty="0">
                <a:solidFill>
                  <a:srgbClr val="C00000"/>
                </a:solidFill>
              </a:rPr>
              <a:t>Фази на жизнения цикъл на информационна </a:t>
            </a:r>
            <a:r>
              <a:rPr lang="ru-RU" altLang="bg-BG" sz="2800" dirty="0" smtClean="0">
                <a:solidFill>
                  <a:srgbClr val="C00000"/>
                </a:solidFill>
              </a:rPr>
              <a:t>система</a:t>
            </a:r>
          </a:p>
          <a:p>
            <a:pPr marL="609600" indent="-609600" algn="ctr">
              <a:lnSpc>
                <a:spcPct val="80000"/>
              </a:lnSpc>
              <a:buFontTx/>
              <a:buNone/>
            </a:pPr>
            <a:endParaRPr lang="bg-BG" altLang="bg-BG" sz="1100" dirty="0">
              <a:solidFill>
                <a:schemeClr val="accent1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 startAt="4"/>
            </a:pPr>
            <a:r>
              <a:rPr lang="bg-BG" altLang="bg-BG" sz="2400" dirty="0"/>
              <a:t>Реализация.</a:t>
            </a:r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информационната система се реализира;</a:t>
            </a:r>
            <a:endParaRPr lang="en-US" altLang="bg-BG" sz="2400" dirty="0"/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базата се зарежда с данни; </a:t>
            </a:r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транзакциите се реализират и тестват.</a:t>
            </a:r>
          </a:p>
          <a:p>
            <a:pPr marL="609600" indent="-609600">
              <a:lnSpc>
                <a:spcPct val="80000"/>
              </a:lnSpc>
              <a:buFontTx/>
              <a:buAutoNum type="arabicPeriod" startAt="4"/>
            </a:pPr>
            <a:r>
              <a:rPr lang="bg-BG" altLang="bg-BG" sz="2400" dirty="0"/>
              <a:t>Валидиране и тестване за приемане на системата.</a:t>
            </a:r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системата се валидира дали отговаря на спецификацията си (потребителските изисквания); </a:t>
            </a:r>
            <a:endParaRPr lang="en-US" altLang="bg-BG" sz="2400" dirty="0"/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тества се </a:t>
            </a:r>
            <a:r>
              <a:rPr lang="bg-BG" altLang="bg-BG" sz="2400" dirty="0" smtClean="0"/>
              <a:t>производителността </a:t>
            </a:r>
            <a:r>
              <a:rPr lang="bg-BG" altLang="bg-BG" sz="2400" dirty="0"/>
              <a:t>на системата.</a:t>
            </a:r>
            <a:endParaRPr lang="en-US" altLang="bg-BG" sz="2400" dirty="0"/>
          </a:p>
          <a:p>
            <a:pPr marL="609600" indent="-609600">
              <a:lnSpc>
                <a:spcPct val="80000"/>
              </a:lnSpc>
              <a:buFontTx/>
              <a:buAutoNum type="arabicPeriod" startAt="4"/>
            </a:pPr>
            <a:r>
              <a:rPr lang="bg-BG" altLang="bg-BG" sz="2400" dirty="0"/>
              <a:t>Експлоатация и </a:t>
            </a:r>
            <a:r>
              <a:rPr lang="bg-BG" altLang="bg-BG" sz="2400" dirty="0" smtClean="0"/>
              <a:t>съпровождане.</a:t>
            </a:r>
            <a:endParaRPr lang="bg-BG" altLang="bg-BG" sz="2400" dirty="0"/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данните се конвертират от съществуващите източници на данни;</a:t>
            </a:r>
            <a:r>
              <a:rPr lang="en-US" altLang="bg-BG" sz="2400" dirty="0"/>
              <a:t> </a:t>
            </a:r>
            <a:r>
              <a:rPr lang="bg-BG" altLang="bg-BG" sz="2400" dirty="0"/>
              <a:t>провежда се обучение на потребителите;</a:t>
            </a:r>
            <a:endParaRPr lang="en-US" altLang="bg-BG" sz="2400" dirty="0"/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поддържане на системата;</a:t>
            </a:r>
            <a:r>
              <a:rPr lang="en-US" altLang="bg-BG" sz="2400" dirty="0"/>
              <a:t> </a:t>
            </a:r>
            <a:endParaRPr lang="bg-BG" altLang="bg-BG" sz="2400" dirty="0"/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следене на проезвадителността;</a:t>
            </a:r>
            <a:r>
              <a:rPr lang="en-US" altLang="bg-BG" sz="2400" dirty="0"/>
              <a:t> </a:t>
            </a:r>
            <a:endParaRPr lang="bg-BG" altLang="bg-BG" sz="2400" dirty="0"/>
          </a:p>
          <a:p>
            <a:pPr marL="800100" lvl="1" indent="-342900">
              <a:lnSpc>
                <a:spcPct val="80000"/>
              </a:lnSpc>
              <a:spcBef>
                <a:spcPts val="550"/>
              </a:spcBef>
            </a:pPr>
            <a:r>
              <a:rPr lang="bg-BG" altLang="bg-BG" sz="2400" dirty="0"/>
              <a:t>настройване на базата.</a:t>
            </a:r>
            <a:endParaRPr lang="bg-BG" altLang="bg-BG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888A-CAF1-452F-8485-62F37C992580}" type="slidenum">
              <a:rPr lang="bg-BG" altLang="bg-BG"/>
              <a:pPr/>
              <a:t>11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04664"/>
            <a:ext cx="8243888" cy="652463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Жизнен цикъл на информационна система</a:t>
            </a:r>
          </a:p>
        </p:txBody>
      </p:sp>
      <p:sp>
        <p:nvSpPr>
          <p:cNvPr id="192520" name="Rectangle 8"/>
          <p:cNvSpPr>
            <a:spLocks noGrp="1" noChangeArrowheads="1"/>
          </p:cNvSpPr>
          <p:nvPr>
            <p:ph idx="1"/>
          </p:nvPr>
        </p:nvSpPr>
        <p:spPr>
          <a:xfrm>
            <a:off x="251520" y="1052736"/>
            <a:ext cx="8507288" cy="4859338"/>
          </a:xfrm>
        </p:spPr>
        <p:txBody>
          <a:bodyPr/>
          <a:lstStyle/>
          <a:p>
            <a:pPr marL="457200" indent="-457200" algn="ctr">
              <a:lnSpc>
                <a:spcPct val="90000"/>
              </a:lnSpc>
              <a:buFontTx/>
              <a:buNone/>
            </a:pPr>
            <a:r>
              <a:rPr lang="bg-BG" altLang="bg-BG" sz="2400" dirty="0">
                <a:solidFill>
                  <a:srgbClr val="C00000"/>
                </a:solidFill>
              </a:rPr>
              <a:t>Фази на жизнения цикъл на приложение от тип “база от данни”</a:t>
            </a:r>
          </a:p>
          <a:p>
            <a:pPr marL="457200" indent="-457200" algn="ctr">
              <a:lnSpc>
                <a:spcPct val="90000"/>
              </a:lnSpc>
              <a:buFontTx/>
              <a:buNone/>
            </a:pPr>
            <a:endParaRPr lang="bg-BG" altLang="bg-BG" sz="1000" dirty="0">
              <a:solidFill>
                <a:srgbClr val="C00000"/>
              </a:solidFill>
            </a:endParaRP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Дефиниране на системата.</a:t>
            </a:r>
          </a:p>
          <a:p>
            <a:pPr marL="800100" lvl="1" indent="-342900">
              <a:lnSpc>
                <a:spcPct val="90000"/>
              </a:lnSpc>
              <a:spcBef>
                <a:spcPts val="550"/>
              </a:spcBef>
            </a:pPr>
            <a:r>
              <a:rPr lang="bg-BG" altLang="bg-BG" sz="2400" dirty="0"/>
              <a:t>дефиниране обхвата на системата, потребителите и приложенията</a:t>
            </a:r>
          </a:p>
          <a:p>
            <a:pPr marL="457200" indent="-457200">
              <a:lnSpc>
                <a:spcPct val="90000"/>
              </a:lnSpc>
              <a:spcBef>
                <a:spcPts val="550"/>
              </a:spcBef>
              <a:buFont typeface="Arial" charset="0"/>
              <a:buAutoNum type="arabicPeriod"/>
            </a:pPr>
            <a:r>
              <a:rPr lang="bg-BG" altLang="bg-BG" sz="2400" u="sng" dirty="0">
                <a:solidFill>
                  <a:srgbClr val="C00000"/>
                </a:solidFill>
              </a:rPr>
              <a:t>Проектиране на базата.</a:t>
            </a:r>
          </a:p>
          <a:p>
            <a:pPr marL="800100" lvl="1" indent="-342900">
              <a:lnSpc>
                <a:spcPct val="90000"/>
              </a:lnSpc>
              <a:spcBef>
                <a:spcPts val="550"/>
              </a:spcBef>
            </a:pPr>
            <a:r>
              <a:rPr lang="bg-BG" altLang="bg-BG" sz="2400" dirty="0"/>
              <a:t>концептуално, логическо и физическо проектиране на базата</a:t>
            </a:r>
            <a:endParaRPr lang="bg-BG" altLang="bg-BG" sz="2400" u="sng" dirty="0"/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Реализация на </a:t>
            </a:r>
            <a:r>
              <a:rPr lang="bg-BG" altLang="bg-BG" sz="2400" dirty="0" smtClean="0"/>
              <a:t>базата.</a:t>
            </a:r>
            <a:endParaRPr lang="bg-BG" altLang="bg-BG" sz="2400" dirty="0"/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Дефиниране на външна, концептуална и вътрешна схеми. </a:t>
            </a:r>
          </a:p>
          <a:p>
            <a:pPr marL="838200" lvl="1" indent="-381000">
              <a:lnSpc>
                <a:spcPct val="90000"/>
              </a:lnSpc>
            </a:pPr>
            <a:r>
              <a:rPr lang="bg-BG" altLang="bg-BG" sz="2400" dirty="0"/>
              <a:t>създаване на файловете на </a:t>
            </a:r>
            <a:r>
              <a:rPr lang="bg-BG" altLang="bg-BG" sz="2400" dirty="0" smtClean="0"/>
              <a:t>базата;</a:t>
            </a:r>
            <a:endParaRPr lang="en-US" altLang="bg-BG" sz="2400" dirty="0"/>
          </a:p>
          <a:p>
            <a:pPr marL="800100" lvl="1" indent="-342900">
              <a:lnSpc>
                <a:spcPct val="90000"/>
              </a:lnSpc>
              <a:spcBef>
                <a:spcPts val="550"/>
              </a:spcBef>
            </a:pPr>
            <a:r>
              <a:rPr lang="bg-BG" altLang="bg-BG" sz="2400" dirty="0"/>
              <a:t>реализация на приложния софтуер.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CCDAA-BE63-4268-B003-8E79ADBB252A}" type="slidenum">
              <a:rPr lang="bg-BG" altLang="bg-BG"/>
              <a:pPr/>
              <a:t>12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76672"/>
            <a:ext cx="8243888" cy="508446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Жизнен цикъл на информационна система</a:t>
            </a:r>
          </a:p>
        </p:txBody>
      </p:sp>
      <p:sp>
        <p:nvSpPr>
          <p:cNvPr id="328707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908720"/>
            <a:ext cx="8579296" cy="4931569"/>
          </a:xfrm>
        </p:spPr>
        <p:txBody>
          <a:bodyPr/>
          <a:lstStyle/>
          <a:p>
            <a:pPr marL="609600" indent="-609600" algn="ctr">
              <a:buFontTx/>
              <a:buNone/>
            </a:pPr>
            <a:r>
              <a:rPr lang="bg-BG" altLang="bg-BG" sz="2400" dirty="0">
                <a:solidFill>
                  <a:srgbClr val="C00000"/>
                </a:solidFill>
              </a:rPr>
              <a:t>Фази на жизнения цикъл на приложение от тип “база от данни”</a:t>
            </a:r>
          </a:p>
          <a:p>
            <a:pPr marL="609600" indent="-609600" algn="ctr">
              <a:buFontTx/>
              <a:buNone/>
            </a:pPr>
            <a:endParaRPr lang="bg-BG" altLang="bg-BG" sz="1000" dirty="0">
              <a:solidFill>
                <a:srgbClr val="C00000"/>
              </a:solidFill>
            </a:endParaRPr>
          </a:p>
          <a:p>
            <a:pPr marL="609600" indent="-609600">
              <a:buFontTx/>
              <a:buAutoNum type="arabicPeriod" startAt="4"/>
            </a:pPr>
            <a:r>
              <a:rPr lang="bg-BG" altLang="bg-BG" sz="2400" dirty="0"/>
              <a:t>Зареждане или конвертиране на данни.</a:t>
            </a:r>
          </a:p>
          <a:p>
            <a:pPr marL="800100" lvl="1" indent="-342900">
              <a:spcBef>
                <a:spcPts val="650"/>
              </a:spcBef>
            </a:pPr>
            <a:r>
              <a:rPr lang="bg-BG" altLang="bg-BG" sz="2400" dirty="0" smtClean="0"/>
              <a:t>Напълване </a:t>
            </a:r>
            <a:r>
              <a:rPr lang="bg-BG" altLang="bg-BG" sz="2400" dirty="0"/>
              <a:t>на файловете на базата с </a:t>
            </a:r>
            <a:r>
              <a:rPr lang="bg-BG" altLang="bg-BG" sz="2400" dirty="0" smtClean="0"/>
              <a:t>данни.</a:t>
            </a:r>
            <a:endParaRPr lang="en-US" altLang="bg-BG" sz="2400" dirty="0"/>
          </a:p>
          <a:p>
            <a:pPr marL="609600" indent="-609600">
              <a:buFontTx/>
              <a:buAutoNum type="arabicPeriod" startAt="4"/>
            </a:pPr>
            <a:r>
              <a:rPr lang="bg-BG" altLang="bg-BG" sz="2400" dirty="0"/>
              <a:t>Конвертиране на приложения.</a:t>
            </a:r>
          </a:p>
          <a:p>
            <a:pPr marL="800100" lvl="1" indent="-342900">
              <a:spcBef>
                <a:spcPts val="650"/>
              </a:spcBef>
            </a:pPr>
            <a:r>
              <a:rPr lang="bg-BG" altLang="bg-BG" sz="2400" dirty="0"/>
              <a:t>Конвертиране на приложенията към новата </a:t>
            </a:r>
            <a:r>
              <a:rPr lang="bg-BG" altLang="bg-BG" sz="2400" dirty="0" smtClean="0"/>
              <a:t>система.</a:t>
            </a:r>
            <a:endParaRPr lang="bg-BG" altLang="bg-BG" sz="2400" dirty="0"/>
          </a:p>
          <a:p>
            <a:pPr marL="609600" indent="-609600">
              <a:buFontTx/>
              <a:buAutoNum type="arabicPeriod" startAt="4"/>
            </a:pPr>
            <a:r>
              <a:rPr lang="bg-BG" altLang="bg-BG" sz="2400" dirty="0"/>
              <a:t>Тестване и валидиране.</a:t>
            </a:r>
          </a:p>
          <a:p>
            <a:pPr marL="609600" indent="-609600">
              <a:buFontTx/>
              <a:buAutoNum type="arabicPeriod" startAt="4"/>
            </a:pPr>
            <a:r>
              <a:rPr lang="bg-BG" altLang="bg-BG" sz="2400" dirty="0"/>
              <a:t>Експлоатация.</a:t>
            </a:r>
          </a:p>
          <a:p>
            <a:pPr marL="800100" lvl="1" indent="-342900">
              <a:spcBef>
                <a:spcPts val="650"/>
              </a:spcBef>
            </a:pPr>
            <a:r>
              <a:rPr lang="bg-BG" altLang="bg-BG" sz="2400" dirty="0"/>
              <a:t>Работа с новата </a:t>
            </a:r>
            <a:r>
              <a:rPr lang="bg-BG" altLang="bg-BG" sz="2400" dirty="0" smtClean="0"/>
              <a:t>система.</a:t>
            </a:r>
            <a:endParaRPr lang="bg-BG" altLang="bg-BG" sz="2400" dirty="0"/>
          </a:p>
          <a:p>
            <a:pPr marL="609600" indent="-609600">
              <a:buFontTx/>
              <a:buAutoNum type="arabicPeriod" startAt="4"/>
            </a:pPr>
            <a:r>
              <a:rPr lang="bg-BG" altLang="bg-BG" sz="2400" dirty="0"/>
              <a:t>Управление и поддържане.</a:t>
            </a:r>
            <a:endParaRPr lang="en-US" altLang="bg-BG" sz="2800" dirty="0"/>
          </a:p>
          <a:p>
            <a:pPr marL="800100" lvl="1" indent="-342900">
              <a:spcBef>
                <a:spcPts val="650"/>
              </a:spcBef>
            </a:pPr>
            <a:r>
              <a:rPr lang="bg-BG" altLang="bg-BG" sz="2400" dirty="0"/>
              <a:t>Следене на </a:t>
            </a:r>
            <a:r>
              <a:rPr lang="bg-BG" altLang="bg-BG" sz="2400" dirty="0" smtClean="0"/>
              <a:t>производителността.</a:t>
            </a:r>
            <a:endParaRPr lang="bg-BG" altLang="bg-B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107E4-35DD-4384-827B-F08728274BA7}" type="slidenum">
              <a:rPr lang="bg-BG" altLang="bg-BG"/>
              <a:pPr/>
              <a:t>13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332656"/>
            <a:ext cx="8243887" cy="653752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</a:t>
            </a:r>
          </a:p>
        </p:txBody>
      </p:sp>
      <p:sp>
        <p:nvSpPr>
          <p:cNvPr id="140299" name="Rectangle 11"/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29600" cy="4968875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Обхваща създаването на база, която да поддържа функционирането на организацията с оглед постигането на нейните цели. 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>
                <a:solidFill>
                  <a:srgbClr val="C00000"/>
                </a:solidFill>
              </a:rPr>
              <a:t>Задача: </a:t>
            </a:r>
            <a:r>
              <a:rPr lang="bg-BG" altLang="bg-BG" sz="2400" dirty="0"/>
              <a:t>да се проектира логическата и физическа структура на една или повече бази от данни за удовлетворяване на информационните потребности в дадена организация при дефинирано множество от приложения.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>
                <a:solidFill>
                  <a:srgbClr val="C00000"/>
                </a:solidFill>
              </a:rPr>
              <a:t>Резултат:</a:t>
            </a:r>
            <a:r>
              <a:rPr lang="bg-BG" altLang="bg-BG" sz="2400" dirty="0"/>
              <a:t> схема на базата от данни, която да не е необходимо да се модифицира след окончателната реализация на базата </a:t>
            </a:r>
          </a:p>
          <a:p>
            <a:pPr marL="609600" indent="-609600">
              <a:lnSpc>
                <a:spcPct val="80000"/>
              </a:lnSpc>
              <a:spcBef>
                <a:spcPts val="700"/>
              </a:spcBef>
              <a:buFont typeface="Arial" charset="0"/>
              <a:buAutoNum type="arabicPeriod"/>
            </a:pPr>
            <a:r>
              <a:rPr lang="bg-BG" altLang="bg-BG" sz="2400" dirty="0">
                <a:solidFill>
                  <a:srgbClr val="C00000"/>
                </a:solidFill>
              </a:rPr>
              <a:t>Цели:</a:t>
            </a:r>
            <a:endParaRPr lang="en-US" altLang="bg-BG" sz="2400" dirty="0">
              <a:solidFill>
                <a:srgbClr val="C00000"/>
              </a:solidFill>
            </a:endParaRPr>
          </a:p>
          <a:p>
            <a:pPr marL="800100" lvl="1" indent="-342900">
              <a:lnSpc>
                <a:spcPct val="80000"/>
              </a:lnSpc>
              <a:spcBef>
                <a:spcPts val="650"/>
              </a:spcBef>
            </a:pPr>
            <a:r>
              <a:rPr lang="bg-BG" altLang="bg-BG" sz="2100" dirty="0"/>
              <a:t>да се удовлетворят изискванията към съдържанието на данните; </a:t>
            </a:r>
            <a:r>
              <a:rPr lang="en-US" altLang="bg-BG" sz="2100" dirty="0"/>
              <a:t> </a:t>
            </a:r>
          </a:p>
          <a:p>
            <a:pPr marL="800100" lvl="1" indent="-342900">
              <a:lnSpc>
                <a:spcPct val="80000"/>
              </a:lnSpc>
              <a:spcBef>
                <a:spcPts val="650"/>
              </a:spcBef>
            </a:pPr>
            <a:r>
              <a:rPr lang="bg-BG" altLang="bg-BG" sz="2100" dirty="0"/>
              <a:t>да се осигури подходящо структуриране на информацията; </a:t>
            </a:r>
            <a:endParaRPr lang="en-US" altLang="bg-BG" sz="2100" dirty="0"/>
          </a:p>
          <a:p>
            <a:pPr marL="800100" lvl="1" indent="-342900">
              <a:lnSpc>
                <a:spcPct val="80000"/>
              </a:lnSpc>
              <a:spcBef>
                <a:spcPts val="650"/>
              </a:spcBef>
            </a:pPr>
            <a:r>
              <a:rPr lang="bg-BG" altLang="bg-BG" sz="2100" dirty="0"/>
              <a:t>да се поддържат изискванията към обработките и производителността на системата.</a:t>
            </a:r>
            <a:endParaRPr lang="en-US" altLang="bg-BG" sz="2100" dirty="0"/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bg-BG" altLang="bg-B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3A22-F401-4DEE-9752-798671E87D3B}" type="slidenum">
              <a:rPr lang="bg-BG" altLang="bg-BG"/>
              <a:pPr/>
              <a:t>14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12383-BF0B-445B-8A4D-9285BA70AF05}" type="slidenum">
              <a:rPr lang="bg-BG" altLang="bg-BG"/>
              <a:pPr/>
              <a:t>15</a:t>
            </a:fld>
            <a:endParaRPr lang="bg-BG" altLang="bg-BG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332656"/>
            <a:ext cx="8243888" cy="652934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127889"/>
            <a:ext cx="6387181" cy="474224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332656"/>
            <a:ext cx="8243887" cy="653752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</a:t>
            </a:r>
          </a:p>
        </p:txBody>
      </p:sp>
      <p:sp>
        <p:nvSpPr>
          <p:cNvPr id="140299" name="Rectangle 11"/>
          <p:cNvSpPr>
            <a:spLocks noGrp="1" noChangeArrowheads="1"/>
          </p:cNvSpPr>
          <p:nvPr>
            <p:ph idx="1"/>
          </p:nvPr>
        </p:nvSpPr>
        <p:spPr>
          <a:xfrm>
            <a:off x="457200" y="1020445"/>
            <a:ext cx="8229600" cy="4968875"/>
          </a:xfrm>
        </p:spPr>
        <p:txBody>
          <a:bodyPr>
            <a:normAutofit/>
          </a:bodyPr>
          <a:lstStyle/>
          <a:p>
            <a:pPr marL="609600" indent="-609600">
              <a:lnSpc>
                <a:spcPct val="80000"/>
              </a:lnSpc>
              <a:buFontTx/>
              <a:buAutoNum type="arabicPeriod"/>
            </a:pPr>
            <a:endParaRPr lang="en-US" altLang="bg-BG" sz="2400" dirty="0" smtClean="0"/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bg-BG" altLang="bg-B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13A22-F401-4DEE-9752-798671E87D3B}" type="slidenum">
              <a:rPr lang="bg-BG" altLang="bg-BG"/>
              <a:pPr/>
              <a:t>16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48" y="1088136"/>
            <a:ext cx="6242304" cy="4681728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5181763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580727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4743"/>
            <a:ext cx="8229600" cy="4931569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bg-BG" altLang="bg-BG" sz="2400" i="1" u="sng" dirty="0">
                <a:solidFill>
                  <a:srgbClr val="C00000"/>
                </a:solidFill>
              </a:rPr>
              <a:t>ФАЗА1:</a:t>
            </a:r>
            <a:r>
              <a:rPr lang="bg-BG" altLang="bg-BG" sz="2400" dirty="0">
                <a:solidFill>
                  <a:srgbClr val="C00000"/>
                </a:solidFill>
              </a:rPr>
              <a:t> СЪБИРАНЕ И АНАЛИЗ НА ИЗИСКВАНИЯТА</a:t>
            </a:r>
          </a:p>
          <a:p>
            <a:pPr>
              <a:lnSpc>
                <a:spcPct val="80000"/>
              </a:lnSpc>
              <a:buFontTx/>
              <a:buNone/>
            </a:pPr>
            <a:endParaRPr lang="bg-BG" altLang="bg-BG" sz="1100" dirty="0"/>
          </a:p>
          <a:p>
            <a:pPr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Процес на идентификация и анализ на потребителските намерения.</a:t>
            </a:r>
          </a:p>
          <a:p>
            <a:pPr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Изискванията към базата от данни – определят се от новите и евентуално разработени вече потребителски приложения. </a:t>
            </a:r>
          </a:p>
          <a:p>
            <a:pPr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Изискване  -  възможност, която разработената система предоставя на потребителя. </a:t>
            </a:r>
          </a:p>
          <a:p>
            <a:pPr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Цел - разбиране на  нуждите на потребителите на системата.</a:t>
            </a:r>
          </a:p>
          <a:p>
            <a:pPr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Анализът на изискванията се провежда от системни аналитици - интервюират  потенциалните потребители на базата и изследват съществуващите документи.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F49E6-9262-4E0E-880C-3D472A1E9FDE}" type="slidenum">
              <a:rPr lang="bg-BG" altLang="bg-BG"/>
              <a:pPr/>
              <a:t>17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8" cy="627335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</a:t>
            </a:r>
          </a:p>
        </p:txBody>
      </p:sp>
      <p:sp>
        <p:nvSpPr>
          <p:cNvPr id="3307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229600" cy="5075238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bg-BG" altLang="bg-BG" sz="2400" i="1" u="sng" dirty="0">
                <a:solidFill>
                  <a:srgbClr val="C00000"/>
                </a:solidFill>
              </a:rPr>
              <a:t>ФАЗА1:</a:t>
            </a:r>
            <a:r>
              <a:rPr lang="bg-BG" altLang="bg-BG" sz="2400" dirty="0">
                <a:solidFill>
                  <a:srgbClr val="C00000"/>
                </a:solidFill>
              </a:rPr>
              <a:t> СЪБИРАНЕ И АНАЛИЗ НА ИЗИСКВАНИЯТА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bg-BG" altLang="bg-BG" sz="1200" dirty="0"/>
          </a:p>
          <a:p>
            <a:pPr>
              <a:lnSpc>
                <a:spcPct val="80000"/>
              </a:lnSpc>
              <a:buFontTx/>
              <a:buAutoNum type="arabicPeriod" startAt="6"/>
            </a:pPr>
            <a:r>
              <a:rPr lang="bg-BG" altLang="bg-BG" sz="2400" dirty="0"/>
              <a:t>Дейности: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идентификация на потребителските групи и областите на приложение;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преглед на съществуващите документи относно приложенията;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интервюиране или анкетиране на бъдещите потребители;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анализ на оперативната среда и изискванията към обработките.</a:t>
            </a:r>
          </a:p>
          <a:p>
            <a:pPr>
              <a:lnSpc>
                <a:spcPct val="80000"/>
              </a:lnSpc>
              <a:buFontTx/>
              <a:buAutoNum type="arabicPeriod" startAt="7"/>
            </a:pPr>
            <a:r>
              <a:rPr lang="bg-BG" altLang="bg-BG" sz="2400" dirty="0"/>
              <a:t>Резултат: описания на изискванията на естествен език - непълни, неточни и двусмислени. </a:t>
            </a:r>
          </a:p>
          <a:p>
            <a:pPr>
              <a:lnSpc>
                <a:spcPct val="80000"/>
              </a:lnSpc>
              <a:buFontTx/>
              <a:buAutoNum type="arabicPeriod" startAt="7"/>
            </a:pPr>
            <a:r>
              <a:rPr lang="bg-BG" altLang="bg-BG" sz="2400" dirty="0"/>
              <a:t>Методи за спецификация - помагат за по-доброто структуриране и представяне на изискванията.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bg-BG" altLang="bg-BG" sz="2400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Резултатът е описание на изискванията.</a:t>
            </a:r>
            <a:r>
              <a:rPr lang="bg-BG" altLang="bg-BG" sz="24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458D5-E21E-4884-AA67-FB8D1E0C49FB}" type="slidenum">
              <a:rPr lang="bg-BG" altLang="bg-BG"/>
              <a:pPr/>
              <a:t>18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243887" cy="579710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</a:t>
            </a:r>
          </a:p>
        </p:txBody>
      </p:sp>
      <p:sp>
        <p:nvSpPr>
          <p:cNvPr id="33177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836613"/>
            <a:ext cx="8640960" cy="5329237"/>
          </a:xfrm>
        </p:spPr>
        <p:txBody>
          <a:bodyPr>
            <a:normAutofit lnSpcReduction="10000"/>
          </a:bodyPr>
          <a:lstStyle/>
          <a:p>
            <a:pPr marL="609600" indent="-609600" algn="ctr">
              <a:buFontTx/>
              <a:buNone/>
            </a:pPr>
            <a:r>
              <a:rPr lang="bg-BG" altLang="bg-BG" sz="2400" i="1" u="sng" dirty="0">
                <a:solidFill>
                  <a:srgbClr val="C00000"/>
                </a:solidFill>
              </a:rPr>
              <a:t>ФАЗА 2:</a:t>
            </a:r>
            <a:r>
              <a:rPr lang="bg-BG" altLang="bg-BG" sz="2400" dirty="0">
                <a:solidFill>
                  <a:srgbClr val="C00000"/>
                </a:solidFill>
              </a:rPr>
              <a:t> ПРОЕКТИРАНЕ НА КОНЦЕПТУАЛНАТА БАЗА ОТ </a:t>
            </a:r>
            <a:r>
              <a:rPr lang="bg-BG" altLang="bg-BG" sz="2400" dirty="0" smtClean="0">
                <a:solidFill>
                  <a:srgbClr val="C00000"/>
                </a:solidFill>
              </a:rPr>
              <a:t>ДАННИ</a:t>
            </a:r>
            <a:endParaRPr lang="bg-BG" altLang="bg-BG" sz="1000" dirty="0">
              <a:solidFill>
                <a:srgbClr val="C00000"/>
              </a:solidFill>
            </a:endParaRPr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Разделя се на две части и включва две паралелни дейности:</a:t>
            </a:r>
          </a:p>
          <a:p>
            <a:pPr marL="990600" lvl="1" indent="-533400"/>
            <a:r>
              <a:rPr lang="bg-BG" altLang="bg-BG" sz="2000" dirty="0"/>
              <a:t>изследване на изискванията към данните и построяване на концептуална схема на базата;</a:t>
            </a:r>
          </a:p>
          <a:p>
            <a:pPr marL="990600" lvl="1" indent="-533400"/>
            <a:r>
              <a:rPr lang="bg-BG" altLang="bg-BG" sz="2000" dirty="0"/>
              <a:t>изследване на приложенията и проектиране на транзакциите.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Фаза 2А: Проектиране на концептуалната схема – моделиране на данните. Използват се концептуални модели.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Фаза 2B: Проектиране на транзакциите – приложения, които се изпълняват върху готовата база. Използват се средства, моделиращи процеси (</a:t>
            </a:r>
            <a:r>
              <a:rPr lang="en-US" altLang="bg-BG" sz="2400" dirty="0"/>
              <a:t>UML, </a:t>
            </a:r>
            <a:r>
              <a:rPr lang="en-US" altLang="bg-BG" sz="2400" dirty="0" err="1"/>
              <a:t>BPwin</a:t>
            </a:r>
            <a:r>
              <a:rPr lang="bg-BG" altLang="bg-BG" sz="2400" dirty="0"/>
              <a:t>........)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Резултати: (двете отделни фази се разработват успоредно.)</a:t>
            </a:r>
          </a:p>
          <a:p>
            <a:pPr marL="990600" lvl="1" indent="-533400"/>
            <a:r>
              <a:rPr lang="bg-BG" altLang="bg-BG" sz="2000" dirty="0"/>
              <a:t>Фаза 2А- концептуална схема в термините на концептуален модел;</a:t>
            </a:r>
          </a:p>
          <a:p>
            <a:pPr marL="990600" lvl="1" indent="-533400"/>
            <a:r>
              <a:rPr lang="bg-BG" altLang="bg-BG" sz="2000" dirty="0"/>
              <a:t>Фаза 2В - специфициране</a:t>
            </a:r>
            <a:r>
              <a:rPr lang="bg-BG" altLang="bg-BG" sz="2400" dirty="0"/>
              <a:t> </a:t>
            </a:r>
            <a:r>
              <a:rPr lang="bg-BG" altLang="bg-BG" sz="2000" dirty="0"/>
              <a:t>на транзакциите</a:t>
            </a:r>
            <a:r>
              <a:rPr lang="bg-BG" altLang="bg-BG" sz="24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17A0B-7400-4C36-9A7F-AFB4C4538DC8}" type="slidenum">
              <a:rPr lang="bg-BG" altLang="bg-BG"/>
              <a:pPr/>
              <a:t>19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04664"/>
            <a:ext cx="8243887" cy="580727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836712"/>
            <a:ext cx="8229600" cy="5329238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80000"/>
              </a:lnSpc>
              <a:spcBef>
                <a:spcPts val="600"/>
              </a:spcBef>
              <a:buFont typeface="Arial" charset="0"/>
              <a:buNone/>
            </a:pPr>
            <a:r>
              <a:rPr lang="bg-BG" altLang="bg-BG" sz="2400" i="1" u="sng" dirty="0">
                <a:solidFill>
                  <a:srgbClr val="C00000"/>
                </a:solidFill>
              </a:rPr>
              <a:t>ФАЗА 3:</a:t>
            </a:r>
            <a:r>
              <a:rPr lang="bg-BG" altLang="bg-BG" sz="2400" i="1" dirty="0">
                <a:solidFill>
                  <a:srgbClr val="C00000"/>
                </a:solidFill>
              </a:rPr>
              <a:t> </a:t>
            </a:r>
            <a:r>
              <a:rPr lang="bg-BG" altLang="bg-BG" sz="2400" dirty="0">
                <a:solidFill>
                  <a:srgbClr val="C00000"/>
                </a:solidFill>
              </a:rPr>
              <a:t>ИЗБОР НА СУБД</a:t>
            </a:r>
          </a:p>
          <a:p>
            <a:pPr>
              <a:lnSpc>
                <a:spcPct val="80000"/>
              </a:lnSpc>
              <a:spcBef>
                <a:spcPts val="600"/>
              </a:spcBef>
              <a:buFont typeface="Arial" charset="0"/>
              <a:buNone/>
            </a:pPr>
            <a:r>
              <a:rPr lang="bg-BG" altLang="bg-BG" sz="2200" dirty="0"/>
              <a:t>Зависи от много фактори:</a:t>
            </a:r>
            <a:endParaRPr lang="en-US" altLang="bg-BG" sz="2200" dirty="0"/>
          </a:p>
          <a:p>
            <a:pPr lvl="1">
              <a:lnSpc>
                <a:spcPct val="80000"/>
              </a:lnSpc>
              <a:spcBef>
                <a:spcPts val="550"/>
              </a:spcBef>
              <a:buFont typeface="Arial" charset="0"/>
              <a:buChar char="–"/>
            </a:pPr>
            <a:r>
              <a:rPr lang="bg-BG" altLang="bg-BG" sz="2200" dirty="0">
                <a:solidFill>
                  <a:srgbClr val="C00000"/>
                </a:solidFill>
              </a:rPr>
              <a:t>Технически</a:t>
            </a:r>
            <a:endParaRPr lang="en-US" altLang="bg-BG" sz="2200" dirty="0">
              <a:solidFill>
                <a:srgbClr val="C00000"/>
              </a:solidFill>
            </a:endParaRPr>
          </a:p>
          <a:p>
            <a:pPr lvl="2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</a:pPr>
            <a:r>
              <a:rPr lang="bg-BG" altLang="bg-BG" sz="2200" dirty="0"/>
              <a:t>Тип на СУБД: релационна, обектно-релационна и др</a:t>
            </a:r>
            <a:r>
              <a:rPr lang="bg-BG" altLang="bg-BG" sz="2200" dirty="0" smtClean="0"/>
              <a:t>.;</a:t>
            </a:r>
            <a:endParaRPr lang="en-US" altLang="bg-BG" sz="2200" dirty="0"/>
          </a:p>
          <a:p>
            <a:pPr lvl="2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</a:pPr>
            <a:r>
              <a:rPr lang="bg-BG" altLang="bg-BG" sz="2200" dirty="0"/>
              <a:t>Структури на </a:t>
            </a:r>
            <a:r>
              <a:rPr lang="bg-BG" altLang="bg-BG" sz="2200" dirty="0" smtClean="0"/>
              <a:t>съхранение;</a:t>
            </a:r>
            <a:endParaRPr lang="en-US" altLang="bg-BG" sz="2200" dirty="0"/>
          </a:p>
          <a:p>
            <a:pPr lvl="2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</a:pPr>
            <a:r>
              <a:rPr lang="bg-BG" altLang="bg-BG" sz="2200" dirty="0" smtClean="0"/>
              <a:t>Архитектура.</a:t>
            </a:r>
            <a:endParaRPr lang="en-US" altLang="bg-BG" sz="2200" dirty="0"/>
          </a:p>
          <a:p>
            <a:pPr lvl="1">
              <a:lnSpc>
                <a:spcPct val="80000"/>
              </a:lnSpc>
              <a:spcBef>
                <a:spcPts val="550"/>
              </a:spcBef>
              <a:buFont typeface="Arial" charset="0"/>
              <a:buChar char="–"/>
            </a:pPr>
            <a:r>
              <a:rPr lang="bg-BG" altLang="bg-BG" sz="2200" dirty="0" smtClean="0">
                <a:solidFill>
                  <a:srgbClr val="C00000"/>
                </a:solidFill>
              </a:rPr>
              <a:t>Икономически</a:t>
            </a:r>
            <a:endParaRPr lang="en-US" altLang="bg-BG" sz="2200" dirty="0" smtClean="0">
              <a:solidFill>
                <a:srgbClr val="C00000"/>
              </a:solidFill>
            </a:endParaRPr>
          </a:p>
          <a:p>
            <a:pPr lvl="2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</a:pPr>
            <a:r>
              <a:rPr lang="bg-BG" altLang="bg-BG" sz="2200" dirty="0" smtClean="0"/>
              <a:t>Цена на продукта, обучение, поддържане; </a:t>
            </a:r>
            <a:endParaRPr lang="en-US" altLang="bg-BG" sz="2200" dirty="0" smtClean="0"/>
          </a:p>
          <a:p>
            <a:pPr lvl="2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</a:pPr>
            <a:r>
              <a:rPr lang="bg-BG" altLang="bg-BG" sz="2200" dirty="0" smtClean="0"/>
              <a:t>Цена </a:t>
            </a:r>
            <a:r>
              <a:rPr lang="bg-BG" altLang="bg-BG" sz="2200" dirty="0"/>
              <a:t>на създаване на базата и конвертиране на данни и </a:t>
            </a:r>
            <a:r>
              <a:rPr lang="bg-BG" altLang="bg-BG" sz="2200" dirty="0" smtClean="0"/>
              <a:t>приложения.</a:t>
            </a:r>
            <a:endParaRPr lang="en-US" altLang="bg-BG" sz="2200" dirty="0"/>
          </a:p>
          <a:p>
            <a:pPr lvl="1">
              <a:lnSpc>
                <a:spcPct val="80000"/>
              </a:lnSpc>
              <a:spcBef>
                <a:spcPts val="550"/>
              </a:spcBef>
              <a:buFont typeface="Arial" charset="0"/>
              <a:buChar char="–"/>
            </a:pPr>
            <a:r>
              <a:rPr lang="bg-BG" altLang="bg-BG" sz="2200" dirty="0" smtClean="0">
                <a:solidFill>
                  <a:srgbClr val="C00000"/>
                </a:solidFill>
              </a:rPr>
              <a:t>Организационни</a:t>
            </a:r>
            <a:endParaRPr lang="en-US" altLang="bg-BG" sz="2200" dirty="0">
              <a:solidFill>
                <a:srgbClr val="C00000"/>
              </a:solidFill>
            </a:endParaRPr>
          </a:p>
          <a:p>
            <a:pPr lvl="2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</a:pPr>
            <a:r>
              <a:rPr lang="bg-BG" altLang="bg-BG" sz="2200" dirty="0"/>
              <a:t>Организационна </a:t>
            </a:r>
            <a:r>
              <a:rPr lang="bg-BG" altLang="bg-BG" sz="2200" dirty="0" smtClean="0"/>
              <a:t>философия;</a:t>
            </a:r>
            <a:endParaRPr lang="en-US" altLang="bg-BG" sz="2200" dirty="0"/>
          </a:p>
          <a:p>
            <a:pPr lvl="3">
              <a:lnSpc>
                <a:spcPct val="80000"/>
              </a:lnSpc>
              <a:spcBef>
                <a:spcPts val="450"/>
              </a:spcBef>
              <a:buFont typeface="Arial" charset="0"/>
              <a:buChar char="–"/>
            </a:pPr>
            <a:r>
              <a:rPr lang="bg-BG" altLang="bg-BG" sz="2200" dirty="0"/>
              <a:t>Релационна или ОО</a:t>
            </a:r>
            <a:endParaRPr lang="en-US" altLang="bg-BG" sz="2200" dirty="0"/>
          </a:p>
          <a:p>
            <a:pPr lvl="3">
              <a:lnSpc>
                <a:spcPct val="80000"/>
              </a:lnSpc>
              <a:spcBef>
                <a:spcPts val="450"/>
              </a:spcBef>
              <a:buFont typeface="Arial" charset="0"/>
              <a:buChar char="–"/>
            </a:pPr>
            <a:r>
              <a:rPr lang="bg-BG" altLang="bg-BG" sz="2200" dirty="0"/>
              <a:t>Предпочитания на продавача</a:t>
            </a:r>
            <a:endParaRPr lang="en-US" altLang="bg-BG" sz="2200" dirty="0"/>
          </a:p>
          <a:p>
            <a:pPr lvl="2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</a:pPr>
            <a:r>
              <a:rPr lang="bg-BG" altLang="bg-BG" sz="2200" dirty="0"/>
              <a:t>Познания на персонала относно </a:t>
            </a:r>
            <a:r>
              <a:rPr lang="bg-BG" altLang="bg-BG" sz="2200" dirty="0" smtClean="0"/>
              <a:t>софтуера;</a:t>
            </a:r>
            <a:endParaRPr lang="en-US" altLang="bg-BG" sz="2200" dirty="0"/>
          </a:p>
          <a:p>
            <a:pPr lvl="2">
              <a:lnSpc>
                <a:spcPct val="80000"/>
              </a:lnSpc>
              <a:spcBef>
                <a:spcPts val="500"/>
              </a:spcBef>
              <a:buFont typeface="Arial" charset="0"/>
              <a:buChar char="•"/>
            </a:pPr>
            <a:r>
              <a:rPr lang="bg-BG" altLang="bg-BG" sz="2200" dirty="0"/>
              <a:t>Наличие на сервизни </a:t>
            </a:r>
            <a:r>
              <a:rPr lang="bg-BG" altLang="bg-BG" sz="2200" dirty="0" smtClean="0"/>
              <a:t>услуги.</a:t>
            </a:r>
            <a:endParaRPr lang="bg-BG" altLang="bg-BG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3D73A-E787-42A9-A816-F8502F7C14A6}" type="slidenum">
              <a:rPr lang="bg-BG" altLang="bg-BG"/>
              <a:pPr/>
              <a:t>20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243887" cy="652462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4930775"/>
          </a:xfrm>
        </p:spPr>
        <p:txBody>
          <a:bodyPr/>
          <a:lstStyle/>
          <a:p>
            <a:pPr marL="457200" indent="-457200" algn="ctr">
              <a:lnSpc>
                <a:spcPct val="90000"/>
              </a:lnSpc>
              <a:buFontTx/>
              <a:buNone/>
            </a:pPr>
            <a:r>
              <a:rPr lang="bg-BG" altLang="bg-BG" sz="2400" i="1" u="sng" dirty="0">
                <a:solidFill>
                  <a:srgbClr val="C00000"/>
                </a:solidFill>
              </a:rPr>
              <a:t>ФАЗА 4:</a:t>
            </a:r>
            <a:r>
              <a:rPr lang="bg-BG" altLang="bg-BG" sz="2400" i="1" dirty="0">
                <a:solidFill>
                  <a:srgbClr val="C00000"/>
                </a:solidFill>
              </a:rPr>
              <a:t> </a:t>
            </a:r>
            <a:r>
              <a:rPr lang="bg-BG" altLang="bg-BG" sz="2400" dirty="0">
                <a:solidFill>
                  <a:srgbClr val="C00000"/>
                </a:solidFill>
              </a:rPr>
              <a:t>ЛОГИЧЕСКО ПРОЕКТИРАНЕ</a:t>
            </a:r>
          </a:p>
          <a:p>
            <a:pPr marL="457200" indent="-457200">
              <a:lnSpc>
                <a:spcPct val="90000"/>
              </a:lnSpc>
              <a:buFontTx/>
              <a:buNone/>
            </a:pPr>
            <a:endParaRPr lang="bg-BG" altLang="bg-BG" sz="1000" dirty="0"/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Създават се концептуална и външни схеми в термините модела на избраната СУБД, като се трансформира концептуалната схема, получена във Фаза 2А.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Процесът протича на два етапа:</a:t>
            </a:r>
          </a:p>
          <a:p>
            <a:pPr marL="838200" lvl="1" indent="-381000">
              <a:lnSpc>
                <a:spcPct val="90000"/>
              </a:lnSpc>
            </a:pPr>
            <a:r>
              <a:rPr lang="bg-BG" altLang="bg-BG" sz="2400" dirty="0" smtClean="0"/>
              <a:t>трансформиране </a:t>
            </a:r>
            <a:r>
              <a:rPr lang="bg-BG" altLang="bg-BG" sz="2400" dirty="0"/>
              <a:t>на концептуалната схема в схема на релационна база от данни (най-често използуваният модел на данните е релационният</a:t>
            </a:r>
            <a:r>
              <a:rPr lang="bg-BG" altLang="bg-BG" sz="2400" dirty="0" smtClean="0"/>
              <a:t>);</a:t>
            </a:r>
            <a:endParaRPr lang="bg-BG" altLang="bg-BG" sz="2400" dirty="0"/>
          </a:p>
          <a:p>
            <a:pPr marL="838200" lvl="1" indent="-381000">
              <a:lnSpc>
                <a:spcPct val="90000"/>
              </a:lnSpc>
            </a:pPr>
            <a:r>
              <a:rPr lang="bg-BG" altLang="bg-BG" sz="2400" dirty="0" smtClean="0"/>
              <a:t>отразяване </a:t>
            </a:r>
            <a:r>
              <a:rPr lang="bg-BG" altLang="bg-BG" sz="2400" dirty="0"/>
              <a:t>на специфичните особености на избраната за реализация СУБД върху създадената на предишния етап схема на релационната база.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>
                <a:solidFill>
                  <a:schemeClr val="accent1"/>
                </a:solidFill>
              </a:rPr>
              <a:t>Резултат:</a:t>
            </a:r>
            <a:r>
              <a:rPr lang="bg-BG" altLang="bg-BG" sz="2400" dirty="0"/>
              <a:t> описание на схемата на езика за дефиниране на данните на избраната за реализация СУБД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dirty="0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57BD6-8850-45CD-8FC3-45C288876FB1}" type="slidenum">
              <a:rPr lang="bg-BG" altLang="bg-BG"/>
              <a:pPr/>
              <a:t>21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463823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>
          <a:xfrm>
            <a:off x="263487" y="663638"/>
            <a:ext cx="8651999" cy="5545138"/>
          </a:xfrm>
        </p:spPr>
        <p:txBody>
          <a:bodyPr>
            <a:normAutofit lnSpcReduction="10000"/>
          </a:bodyPr>
          <a:lstStyle/>
          <a:p>
            <a:pPr marL="609600" indent="-609600" algn="ctr">
              <a:lnSpc>
                <a:spcPct val="80000"/>
              </a:lnSpc>
              <a:buFontTx/>
              <a:buNone/>
            </a:pPr>
            <a:r>
              <a:rPr lang="bg-BG" altLang="bg-BG" sz="2000" i="1" u="sng" dirty="0">
                <a:solidFill>
                  <a:srgbClr val="C00000"/>
                </a:solidFill>
              </a:rPr>
              <a:t>Алгоритъм за трансформиране от </a:t>
            </a:r>
            <a:r>
              <a:rPr lang="en-US" altLang="bg-BG" sz="2000" i="1" u="sng" dirty="0">
                <a:solidFill>
                  <a:srgbClr val="C00000"/>
                </a:solidFill>
              </a:rPr>
              <a:t>E</a:t>
            </a:r>
            <a:r>
              <a:rPr lang="bg-BG" altLang="bg-BG" sz="2000" i="1" u="sng" dirty="0">
                <a:solidFill>
                  <a:srgbClr val="C00000"/>
                </a:solidFill>
              </a:rPr>
              <a:t>-</a:t>
            </a:r>
            <a:r>
              <a:rPr lang="en-US" altLang="bg-BG" sz="2000" i="1" u="sng" dirty="0">
                <a:solidFill>
                  <a:srgbClr val="C00000"/>
                </a:solidFill>
              </a:rPr>
              <a:t>R</a:t>
            </a:r>
            <a:r>
              <a:rPr lang="bg-BG" altLang="bg-BG" sz="2000" i="1" u="sng" dirty="0">
                <a:solidFill>
                  <a:srgbClr val="C00000"/>
                </a:solidFill>
              </a:rPr>
              <a:t> модел в релационен модел</a:t>
            </a:r>
            <a:endParaRPr lang="bg-BG" altLang="bg-BG" sz="2000" dirty="0">
              <a:solidFill>
                <a:srgbClr val="C00000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За всеки тип (силен) обект Е от </a:t>
            </a:r>
            <a:r>
              <a:rPr lang="en-US" altLang="bg-BG" sz="2000" dirty="0"/>
              <a:t>E</a:t>
            </a:r>
            <a:r>
              <a:rPr lang="bg-BG" altLang="bg-BG" sz="2000" dirty="0"/>
              <a:t>-</a:t>
            </a:r>
            <a:r>
              <a:rPr lang="en-US" altLang="bg-BG" sz="2000" dirty="0"/>
              <a:t>R</a:t>
            </a:r>
            <a:r>
              <a:rPr lang="bg-BG" altLang="bg-BG" sz="2000" dirty="0"/>
              <a:t> схемата се създава схема </a:t>
            </a:r>
            <a:r>
              <a:rPr lang="en-US" altLang="bg-BG" sz="2000" dirty="0"/>
              <a:t>R</a:t>
            </a:r>
            <a:r>
              <a:rPr lang="bg-BG" altLang="bg-BG" sz="2000" dirty="0"/>
              <a:t>, с колони простите атрибути на типа обект. При наличие на сложен атрибут се включват съставящите го прости компоненти. За ключ на </a:t>
            </a:r>
            <a:r>
              <a:rPr lang="en-US" altLang="bg-BG" sz="2000" dirty="0"/>
              <a:t>R</a:t>
            </a:r>
            <a:r>
              <a:rPr lang="bg-BG" altLang="bg-BG" sz="2000" dirty="0"/>
              <a:t> се избира един от ключовете на обекта Е.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За всеки слаб тип обект </a:t>
            </a:r>
            <a:r>
              <a:rPr lang="en-US" altLang="bg-BG" sz="2000" dirty="0"/>
              <a:t>W</a:t>
            </a:r>
            <a:r>
              <a:rPr lang="bg-BG" altLang="bg-BG" sz="2000" dirty="0"/>
              <a:t>, свързан с даден тип обект Е се създава схема </a:t>
            </a:r>
            <a:r>
              <a:rPr lang="en-US" altLang="bg-BG" sz="2000" dirty="0"/>
              <a:t>R</a:t>
            </a:r>
            <a:r>
              <a:rPr lang="bg-BG" altLang="bg-BG" sz="2000" dirty="0"/>
              <a:t>, която включва всички атрибути на </a:t>
            </a:r>
            <a:r>
              <a:rPr lang="en-US" altLang="bg-BG" sz="2000" dirty="0"/>
              <a:t>W </a:t>
            </a:r>
            <a:r>
              <a:rPr lang="bg-BG" altLang="bg-BG" sz="2000" dirty="0"/>
              <a:t>и ключа на типа обект Е, който се явява чужд ключ за схемата </a:t>
            </a:r>
            <a:r>
              <a:rPr lang="en-US" altLang="bg-BG" sz="2000" dirty="0"/>
              <a:t>R</a:t>
            </a:r>
            <a:r>
              <a:rPr lang="bg-BG" altLang="bg-BG" sz="2000" dirty="0"/>
              <a:t>. Собственият ключ на </a:t>
            </a:r>
            <a:r>
              <a:rPr lang="en-US" altLang="bg-BG" sz="2000" dirty="0"/>
              <a:t>R </a:t>
            </a:r>
            <a:r>
              <a:rPr lang="bg-BG" altLang="bg-BG" sz="2000" dirty="0"/>
              <a:t>е съставен и се изгражда от ключа на типа обект Е и частичния ключ на слабия обект.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За всяка двоична връзка от вида 1:1 се идентифицират двете участвуващи схеми </a:t>
            </a:r>
            <a:r>
              <a:rPr lang="en-US" altLang="bg-BG" sz="2000" dirty="0"/>
              <a:t>R </a:t>
            </a:r>
            <a:r>
              <a:rPr lang="bg-BG" altLang="bg-BG" sz="2000" dirty="0"/>
              <a:t>и </a:t>
            </a:r>
            <a:r>
              <a:rPr lang="en-US" altLang="bg-BG" sz="2000" dirty="0"/>
              <a:t>S</a:t>
            </a:r>
            <a:r>
              <a:rPr lang="bg-BG" altLang="bg-BG" sz="2000" dirty="0"/>
              <a:t>, като в едната от тях, като чужд ключ се включва </a:t>
            </a:r>
            <a:r>
              <a:rPr lang="bg-BG" altLang="bg-BG" sz="2000" dirty="0" smtClean="0"/>
              <a:t>ключа </a:t>
            </a:r>
            <a:r>
              <a:rPr lang="bg-BG" altLang="bg-BG" sz="2000" dirty="0"/>
              <a:t>на другата.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За всяка двоична връзка от вида 1:</a:t>
            </a:r>
            <a:r>
              <a:rPr lang="en-US" altLang="bg-BG" sz="2000" dirty="0"/>
              <a:t>N </a:t>
            </a:r>
            <a:r>
              <a:rPr lang="bg-BG" altLang="bg-BG" sz="2000" dirty="0"/>
              <a:t>между схемите </a:t>
            </a:r>
            <a:r>
              <a:rPr lang="en-US" altLang="bg-BG" sz="2000" dirty="0"/>
              <a:t>R </a:t>
            </a:r>
            <a:r>
              <a:rPr lang="bg-BG" altLang="bg-BG" sz="2000" dirty="0"/>
              <a:t>и </a:t>
            </a:r>
            <a:r>
              <a:rPr lang="en-US" altLang="bg-BG" sz="2000" dirty="0"/>
              <a:t>S</a:t>
            </a:r>
            <a:r>
              <a:rPr lang="bg-BG" altLang="bg-BG" sz="2000" dirty="0"/>
              <a:t>, в схемата от страната на </a:t>
            </a:r>
            <a:r>
              <a:rPr lang="en-US" altLang="bg-BG" sz="2000" dirty="0"/>
              <a:t>N </a:t>
            </a:r>
            <a:r>
              <a:rPr lang="bg-BG" altLang="bg-BG" sz="2000" dirty="0"/>
              <a:t>(например </a:t>
            </a:r>
            <a:r>
              <a:rPr lang="en-US" altLang="bg-BG" sz="2000" dirty="0"/>
              <a:t>S</a:t>
            </a:r>
            <a:r>
              <a:rPr lang="bg-BG" altLang="bg-BG" sz="2000" dirty="0"/>
              <a:t>) се включва </a:t>
            </a:r>
            <a:r>
              <a:rPr lang="bg-BG" altLang="bg-BG" sz="2000" dirty="0" smtClean="0"/>
              <a:t>ключа </a:t>
            </a:r>
            <a:r>
              <a:rPr lang="bg-BG" altLang="bg-BG" sz="2000" dirty="0"/>
              <a:t>на другата схема </a:t>
            </a:r>
            <a:r>
              <a:rPr lang="en-US" altLang="bg-BG" sz="2000" dirty="0"/>
              <a:t>R</a:t>
            </a:r>
            <a:r>
              <a:rPr lang="bg-BG" altLang="bg-BG" sz="2000" dirty="0"/>
              <a:t>, като чужд ключ.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За всяка двоична връзка от вида </a:t>
            </a:r>
            <a:r>
              <a:rPr lang="en-US" altLang="bg-BG" sz="2000" dirty="0"/>
              <a:t>M</a:t>
            </a:r>
            <a:r>
              <a:rPr lang="bg-BG" altLang="bg-BG" sz="2000" dirty="0"/>
              <a:t>:</a:t>
            </a:r>
            <a:r>
              <a:rPr lang="en-US" altLang="bg-BG" sz="2000" dirty="0"/>
              <a:t>N</a:t>
            </a:r>
            <a:r>
              <a:rPr lang="bg-BG" altLang="bg-BG" sz="2000" dirty="0"/>
              <a:t> се създава нова схема, която включва ключовете на двата обекта и собствените атрибути на връзката.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За всеки многостойностен атрибут се създава нова схема.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За всяка връзка със степен по-висока от две, се създава нова схема, която включва ключовете на всички участвуващи обекти и собствените атрибути на връзката.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6416" y="5877272"/>
            <a:ext cx="762000" cy="365125"/>
          </a:xfrm>
        </p:spPr>
        <p:txBody>
          <a:bodyPr/>
          <a:lstStyle/>
          <a:p>
            <a:fld id="{9782970E-253F-4166-89AA-599923F6BC17}" type="slidenum">
              <a:rPr lang="bg-BG" altLang="bg-BG"/>
              <a:pPr/>
              <a:t>22</a:t>
            </a:fld>
            <a:endParaRPr lang="bg-BG" altLang="bg-B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8" name="Rectangle 6"/>
          <p:cNvSpPr>
            <a:spLocks noGrp="1" noChangeArrowheads="1"/>
          </p:cNvSpPr>
          <p:nvPr>
            <p:ph type="title"/>
          </p:nvPr>
        </p:nvSpPr>
        <p:spPr>
          <a:xfrm>
            <a:off x="611560" y="260648"/>
            <a:ext cx="8243887" cy="652462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</a:t>
            </a:r>
          </a:p>
        </p:txBody>
      </p:sp>
      <p:sp>
        <p:nvSpPr>
          <p:cNvPr id="3358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980728"/>
            <a:ext cx="8568952" cy="676275"/>
          </a:xfrm>
        </p:spPr>
        <p:txBody>
          <a:bodyPr>
            <a:normAutofit fontScale="92500"/>
          </a:bodyPr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bg-BG" altLang="bg-BG" sz="2600" dirty="0">
                <a:solidFill>
                  <a:srgbClr val="C00000"/>
                </a:solidFill>
              </a:rPr>
              <a:t>Трансформации между понятията на </a:t>
            </a:r>
            <a:r>
              <a:rPr lang="en-US" altLang="bg-BG" sz="2600" dirty="0">
                <a:solidFill>
                  <a:srgbClr val="C00000"/>
                </a:solidFill>
              </a:rPr>
              <a:t>E</a:t>
            </a:r>
            <a:r>
              <a:rPr lang="bg-BG" altLang="bg-BG" sz="2600" dirty="0">
                <a:solidFill>
                  <a:srgbClr val="C00000"/>
                </a:solidFill>
              </a:rPr>
              <a:t>-</a:t>
            </a:r>
            <a:r>
              <a:rPr lang="en-US" altLang="bg-BG" sz="2600" dirty="0">
                <a:solidFill>
                  <a:srgbClr val="C00000"/>
                </a:solidFill>
              </a:rPr>
              <a:t>R</a:t>
            </a:r>
            <a:r>
              <a:rPr lang="bg-BG" altLang="bg-BG" sz="2600" dirty="0">
                <a:solidFill>
                  <a:srgbClr val="C00000"/>
                </a:solidFill>
              </a:rPr>
              <a:t> и релационния модели</a:t>
            </a:r>
            <a:r>
              <a:rPr lang="bg-BG" altLang="bg-BG" sz="2400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335880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" y="1844675"/>
            <a:ext cx="8135938" cy="3240088"/>
          </a:xfrm>
          <a:ln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9217-3C94-4374-9300-571DDCD1B25C}" type="slidenum">
              <a:rPr lang="bg-BG" altLang="bg-BG"/>
              <a:pPr/>
              <a:t>23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60648"/>
            <a:ext cx="8243887" cy="608856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836613"/>
            <a:ext cx="8362950" cy="52197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bg-BG" altLang="bg-BG" sz="2400" i="1" u="sng" dirty="0">
                <a:solidFill>
                  <a:srgbClr val="C00000"/>
                </a:solidFill>
              </a:rPr>
              <a:t>ФАЗА</a:t>
            </a:r>
            <a:r>
              <a:rPr lang="en-US" altLang="bg-BG" sz="2400" i="1" u="sng" dirty="0">
                <a:solidFill>
                  <a:srgbClr val="C00000"/>
                </a:solidFill>
              </a:rPr>
              <a:t> </a:t>
            </a:r>
            <a:r>
              <a:rPr lang="bg-BG" altLang="bg-BG" sz="2400" i="1" u="sng" dirty="0">
                <a:solidFill>
                  <a:srgbClr val="C00000"/>
                </a:solidFill>
              </a:rPr>
              <a:t>5</a:t>
            </a:r>
            <a:r>
              <a:rPr lang="bg-BG" altLang="bg-BG" sz="2400" u="sng" dirty="0">
                <a:solidFill>
                  <a:srgbClr val="C00000"/>
                </a:solidFill>
              </a:rPr>
              <a:t> </a:t>
            </a:r>
            <a:r>
              <a:rPr lang="bg-BG" altLang="bg-BG" sz="2400" dirty="0">
                <a:solidFill>
                  <a:srgbClr val="C00000"/>
                </a:solidFill>
              </a:rPr>
              <a:t>ПРОЕКТИРАНЕ НА ФИЗИЧЕСКАТА БАЗА</a:t>
            </a:r>
          </a:p>
          <a:p>
            <a:pPr algn="ctr">
              <a:lnSpc>
                <a:spcPct val="90000"/>
              </a:lnSpc>
              <a:buFontTx/>
              <a:buNone/>
            </a:pPr>
            <a:endParaRPr lang="bg-BG" altLang="bg-BG" sz="1000" dirty="0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Проектиране на физическата база – процес на избор на специфични структури на съхранение и пътища за достъп за файловете. </a:t>
            </a:r>
          </a:p>
          <a:p>
            <a:pPr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Цел  - измежду заложените в СУБД възможности да се изберат най – удачните структури за файловете на базата на разработваното приложение.</a:t>
            </a:r>
          </a:p>
          <a:p>
            <a:pPr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Критерии:</a:t>
            </a:r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време за </a:t>
            </a:r>
            <a:r>
              <a:rPr lang="bg-BG" altLang="bg-BG" sz="2000" dirty="0" smtClean="0"/>
              <a:t>отговор;</a:t>
            </a:r>
            <a:r>
              <a:rPr lang="bg-BG" altLang="bg-BG" sz="2000" dirty="0"/>
              <a:t> </a:t>
            </a:r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използувано </a:t>
            </a:r>
            <a:r>
              <a:rPr lang="bg-BG" altLang="bg-BG" sz="2000" dirty="0" smtClean="0"/>
              <a:t>пространство;</a:t>
            </a:r>
            <a:r>
              <a:rPr lang="bg-BG" altLang="bg-BG" sz="2000" dirty="0"/>
              <a:t> </a:t>
            </a:r>
          </a:p>
          <a:p>
            <a:pPr lvl="1">
              <a:lnSpc>
                <a:spcPct val="90000"/>
              </a:lnSpc>
            </a:pPr>
            <a:r>
              <a:rPr lang="bg-BG" altLang="bg-BG" sz="2000" dirty="0"/>
              <a:t>среден брой транзакции, които се обработват за минута от системата - критичен параметър при системи, които изискват бърз отговор </a:t>
            </a:r>
            <a:r>
              <a:rPr lang="bg-BG" altLang="bg-BG" sz="2000" dirty="0" smtClean="0"/>
              <a:t>(банкови </a:t>
            </a:r>
            <a:r>
              <a:rPr lang="bg-BG" altLang="bg-BG" sz="2000" dirty="0"/>
              <a:t>информационни системи, системи за резервация на самолетни билети и т.н</a:t>
            </a:r>
            <a:r>
              <a:rPr lang="bg-BG" altLang="bg-BG" sz="2000" dirty="0" smtClean="0"/>
              <a:t>.).</a:t>
            </a:r>
            <a:endParaRPr lang="bg-BG" altLang="bg-BG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2866-B717-469E-A532-7F55666901C3}" type="slidenum">
              <a:rPr lang="bg-BG" altLang="bg-BG"/>
              <a:pPr/>
              <a:t>24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581744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</a:t>
            </a:r>
          </a:p>
        </p:txBody>
      </p:sp>
      <p:sp>
        <p:nvSpPr>
          <p:cNvPr id="339971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052736"/>
            <a:ext cx="8229600" cy="4787900"/>
          </a:xfrm>
        </p:spPr>
        <p:txBody>
          <a:bodyPr/>
          <a:lstStyle/>
          <a:p>
            <a:pPr marL="533400" indent="-533400">
              <a:buFontTx/>
              <a:buAutoNum type="arabicPeriod" startAt="4"/>
            </a:pPr>
            <a:r>
              <a:rPr lang="bg-BG" altLang="bg-BG" sz="2400" dirty="0"/>
              <a:t>Дейности: </a:t>
            </a:r>
          </a:p>
          <a:p>
            <a:pPr marL="914400" lvl="1" indent="-457200"/>
            <a:r>
              <a:rPr lang="bg-BG" altLang="bg-BG" sz="2400" dirty="0"/>
              <a:t>Анализ на транзакциите.</a:t>
            </a:r>
          </a:p>
          <a:p>
            <a:pPr marL="914400" lvl="1" indent="-457200"/>
            <a:r>
              <a:rPr lang="bg-BG" altLang="bg-BG" sz="2400" dirty="0"/>
              <a:t>Избор на файлови организации (от предлаганите от СУБД).</a:t>
            </a:r>
          </a:p>
          <a:p>
            <a:pPr marL="914400" lvl="1" indent="-457200"/>
            <a:r>
              <a:rPr lang="bg-BG" altLang="bg-BG" sz="2400" dirty="0"/>
              <a:t>Добавяне на вторични индекси.</a:t>
            </a:r>
          </a:p>
          <a:p>
            <a:pPr marL="914400" lvl="1" indent="-457200"/>
            <a:r>
              <a:rPr lang="bg-BG" altLang="bg-BG" sz="2400" dirty="0"/>
              <a:t>Прилагане на контролирано излишество в данните, ако това се налага.</a:t>
            </a:r>
          </a:p>
          <a:p>
            <a:pPr marL="914400" lvl="1" indent="-457200"/>
            <a:r>
              <a:rPr lang="bg-BG" altLang="bg-BG" sz="2400" dirty="0"/>
              <a:t>Оценяване изискванията за дисково пространство.</a:t>
            </a:r>
          </a:p>
          <a:p>
            <a:pPr marL="914400" lvl="1" indent="-457200"/>
            <a:r>
              <a:rPr lang="bg-BG" altLang="bg-BG" sz="2400" dirty="0"/>
              <a:t>Проектиране на механизмите за защита на базата.</a:t>
            </a:r>
          </a:p>
          <a:p>
            <a:pPr marL="533400" indent="-533400">
              <a:buFontTx/>
              <a:buAutoNum type="arabicPeriod" startAt="5"/>
            </a:pPr>
            <a:r>
              <a:rPr lang="bg-BG" altLang="bg-BG" sz="2400" dirty="0"/>
              <a:t>Резултат: </a:t>
            </a:r>
            <a:r>
              <a:rPr lang="bg-BG" altLang="bg-BG" sz="2400" u="sng" dirty="0">
                <a:solidFill>
                  <a:srgbClr val="C00000"/>
                </a:solidFill>
              </a:rPr>
              <a:t>начално</a:t>
            </a:r>
            <a:r>
              <a:rPr lang="bg-BG" altLang="bg-BG" sz="2400" dirty="0">
                <a:solidFill>
                  <a:srgbClr val="C00000"/>
                </a:solidFill>
              </a:rPr>
              <a:t> </a:t>
            </a:r>
            <a:r>
              <a:rPr lang="bg-BG" altLang="bg-BG" sz="2400" dirty="0"/>
              <a:t>определяне на структурите за съхранение и пътищата за достъп.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ABF0-FDD6-42E2-AC57-DC5A44B24A46}" type="slidenum">
              <a:rPr lang="bg-BG" altLang="bg-BG"/>
              <a:pPr/>
              <a:t>25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04664"/>
            <a:ext cx="8243887" cy="580727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Процесът “проектиране на бази от данни”</a:t>
            </a:r>
          </a:p>
        </p:txBody>
      </p:sp>
      <p:sp>
        <p:nvSpPr>
          <p:cNvPr id="34099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980728"/>
            <a:ext cx="8435975" cy="5329238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bg-BG" altLang="bg-BG" sz="2400" i="1" u="sng" dirty="0">
                <a:solidFill>
                  <a:srgbClr val="C00000"/>
                </a:solidFill>
              </a:rPr>
              <a:t>ФАЗА 6 :</a:t>
            </a:r>
            <a:r>
              <a:rPr lang="bg-BG" altLang="bg-BG" sz="2400" dirty="0">
                <a:solidFill>
                  <a:srgbClr val="C00000"/>
                </a:solidFill>
              </a:rPr>
              <a:t>РЕАЛИЗАЦИЯ И НАСТРОЙВАНЕ НА БАЗАТА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bg-BG" altLang="bg-BG" sz="800" dirty="0">
              <a:solidFill>
                <a:srgbClr val="FF0066"/>
              </a:solidFill>
            </a:endParaRPr>
          </a:p>
          <a:p>
            <a:pPr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Отговорен за този процес е АБД. </a:t>
            </a:r>
          </a:p>
          <a:p>
            <a:pPr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Основните дейности са: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Създаване на празна база.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Зареждане на базата с данни – това може да стане:</a:t>
            </a:r>
          </a:p>
          <a:p>
            <a:pPr lvl="2">
              <a:lnSpc>
                <a:spcPct val="80000"/>
              </a:lnSpc>
            </a:pPr>
            <a:r>
              <a:rPr lang="bg-BG" altLang="bg-BG" sz="2000" dirty="0"/>
              <a:t>интерактивно;</a:t>
            </a:r>
          </a:p>
          <a:p>
            <a:pPr lvl="2">
              <a:lnSpc>
                <a:spcPct val="80000"/>
              </a:lnSpc>
            </a:pPr>
            <a:r>
              <a:rPr lang="bg-BG" altLang="bg-BG" sz="2000" dirty="0"/>
              <a:t>чрез конвертиращи програми.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Реализиране на транзакциите от приложните програмисти.</a:t>
            </a:r>
          </a:p>
          <a:p>
            <a:pPr lvl="1">
              <a:lnSpc>
                <a:spcPct val="80000"/>
              </a:lnSpc>
            </a:pPr>
            <a:r>
              <a:rPr lang="bg-BG" altLang="bg-BG" sz="2400" dirty="0"/>
              <a:t>Настройване на базата.</a:t>
            </a:r>
          </a:p>
          <a:p>
            <a:pPr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Под настройване на базата (</a:t>
            </a:r>
            <a:r>
              <a:rPr lang="en-US" altLang="bg-BG" sz="2400" dirty="0"/>
              <a:t>tuning the database</a:t>
            </a:r>
            <a:r>
              <a:rPr lang="bg-BG" altLang="bg-BG" sz="2400" dirty="0"/>
              <a:t>) се разбира процесът на промяна на първоначалния проект на физическата база с оглед постигането на по-добра производителност на системата. </a:t>
            </a:r>
          </a:p>
          <a:p>
            <a:pPr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Настройването на базата продължава, докато тя е в употреба всеки път, когато възникнат проблеми с производителността на системата.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0" y="5949280"/>
            <a:ext cx="762000" cy="365125"/>
          </a:xfrm>
        </p:spPr>
        <p:txBody>
          <a:bodyPr/>
          <a:lstStyle/>
          <a:p>
            <a:fld id="{D75AF04B-3906-4AA9-991A-8AE5FB1260C0}" type="slidenum">
              <a:rPr lang="bg-BG" altLang="bg-BG"/>
              <a:pPr/>
              <a:t>26</a:t>
            </a:fld>
            <a:endParaRPr lang="bg-BG" altLang="bg-BG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72" name="Rectangle 8"/>
          <p:cNvSpPr>
            <a:spLocks noGrp="1" noChangeArrowheads="1"/>
          </p:cNvSpPr>
          <p:nvPr>
            <p:ph type="title"/>
          </p:nvPr>
        </p:nvSpPr>
        <p:spPr>
          <a:xfrm>
            <a:off x="1043608" y="404664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Проектиране на приложенията </a:t>
            </a:r>
          </a:p>
        </p:txBody>
      </p:sp>
      <p:sp>
        <p:nvSpPr>
          <p:cNvPr id="190486" name="Rectangle 22"/>
          <p:cNvSpPr>
            <a:spLocks noGrp="1" noChangeArrowheads="1"/>
          </p:cNvSpPr>
          <p:nvPr>
            <p:ph idx="1"/>
          </p:nvPr>
        </p:nvSpPr>
        <p:spPr>
          <a:xfrm>
            <a:off x="323528" y="980728"/>
            <a:ext cx="8229600" cy="4930775"/>
          </a:xfrm>
        </p:spPr>
        <p:txBody>
          <a:bodyPr>
            <a:normAutofit lnSpcReduction="10000"/>
          </a:bodyPr>
          <a:lstStyle/>
          <a:p>
            <a:pPr marL="609600" indent="-609600">
              <a:buFontTx/>
              <a:buAutoNum type="arabicPeriod"/>
            </a:pPr>
            <a:r>
              <a:rPr lang="bg-BG" altLang="bg-BG" sz="2400" dirty="0"/>
              <a:t>Приложения: транзакции, приложни програми, потребителски интерфейс.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Приложните програми се реализират с помощта на език от трето или четвърто ниво.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Транзакциите към базата от данни се задават чрез езика за обработване на данните (може да бъде вграден в език за програмиране) на избраната за реализация на системата СУБД.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СУБД обикновено притежава собствени средства (генератори на отчети, непроцедурни езици за заявки....), които ускоряват разработването на съответното приложение.  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Реализират функции, свързани със защита на данните.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4EE58-4EE7-4DB3-8229-72274EEE1CBF}" type="slidenum">
              <a:rPr lang="bg-BG" altLang="bg-BG"/>
              <a:pPr/>
              <a:t>27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6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332656"/>
            <a:ext cx="8243887" cy="581744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Администриране на данните и базата</a:t>
            </a:r>
          </a:p>
        </p:txBody>
      </p:sp>
      <p:sp>
        <p:nvSpPr>
          <p:cNvPr id="136197" name="Rectangle 5"/>
          <p:cNvSpPr>
            <a:spLocks noGrp="1" noChangeArrowheads="1"/>
          </p:cNvSpPr>
          <p:nvPr>
            <p:ph idx="1"/>
          </p:nvPr>
        </p:nvSpPr>
        <p:spPr>
          <a:xfrm>
            <a:off x="468313" y="1052513"/>
            <a:ext cx="8229600" cy="5075237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bg-BG" altLang="bg-BG" sz="2800" dirty="0">
                <a:solidFill>
                  <a:srgbClr val="C00000"/>
                </a:solidFill>
              </a:rPr>
              <a:t>Администриране на данните </a:t>
            </a:r>
            <a:r>
              <a:rPr lang="bg-BG" altLang="bg-BG" sz="2800" dirty="0"/>
              <a:t>означава управлението им като организационен ресурс.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800" dirty="0"/>
              <a:t>Включва планиране на базата, разработване и поддържане на стандарти, политики и процедури, концептуално и логическо проектиране.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800" dirty="0"/>
              <a:t>Персоналът, занимаващ се администрирането на данните отговаря за тях като корпоративен ресурс, управлява използуването им от различните потребители и консултира висшия управленски персонал.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2A563-896A-44D1-8AE6-4F4D7A3D6DF7}" type="slidenum">
              <a:rPr lang="bg-BG" altLang="bg-BG"/>
              <a:pPr/>
              <a:t>28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6" name="Rectangle 6"/>
          <p:cNvSpPr>
            <a:spLocks noGrp="1" noChangeArrowheads="1"/>
          </p:cNvSpPr>
          <p:nvPr>
            <p:ph type="title"/>
          </p:nvPr>
        </p:nvSpPr>
        <p:spPr>
          <a:xfrm>
            <a:off x="899592" y="260648"/>
            <a:ext cx="7266384" cy="654968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Администриране на данните 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базата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89453" name="Rectangle 13"/>
          <p:cNvSpPr>
            <a:spLocks noGrp="1" noChangeArrowheads="1"/>
          </p:cNvSpPr>
          <p:nvPr>
            <p:ph idx="1"/>
          </p:nvPr>
        </p:nvSpPr>
        <p:spPr>
          <a:xfrm>
            <a:off x="395536" y="908720"/>
            <a:ext cx="8229600" cy="4930775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Дейности по администриране на данните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bg-BG" altLang="bg-BG" sz="1600" dirty="0"/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bg-BG" altLang="bg-BG" sz="2400" dirty="0"/>
              <a:t>Избор на подходящи производствени средства.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bg-BG" altLang="bg-BG" sz="2400" dirty="0"/>
              <a:t>Разработване на корпоративен модел на данните.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bg-BG" altLang="bg-BG" sz="2400" dirty="0"/>
              <a:t>Определяне на организационните изисквания към данните.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bg-BG" altLang="bg-BG" sz="2400" dirty="0"/>
              <a:t>Оценяване обема на данните и вероятното му нарастване.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bg-BG" altLang="bg-BG" sz="2400" dirty="0"/>
              <a:t>Определяне на шаблони и честота на използуване.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bg-BG" altLang="bg-BG" sz="2400" dirty="0"/>
              <a:t>Провеждане на концептуално и логическо проектиране на базата.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bg-BG" altLang="bg-BG" sz="2400" dirty="0"/>
              <a:t>Управление речника на данните.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bg-BG" altLang="bg-BG" sz="2400" dirty="0"/>
              <a:t>Осигуряване на пълна документация, която включва описание модела на организацията, прилаганите стандарти, политики и процедури, употребата на речника и контрола върху крайните потребители</a:t>
            </a:r>
            <a:r>
              <a:rPr lang="bg-BG" altLang="bg-BG" sz="2400" dirty="0" smtClean="0"/>
              <a:t>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bg-BG" altLang="bg-BG" dirty="0" smtClean="0"/>
              <a:t>.....................................................................................</a:t>
            </a:r>
            <a:endParaRPr lang="bg-BG" altLang="bg-B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8B07-47E7-4971-BDC8-9828F72FC442}" type="slidenum">
              <a:rPr lang="bg-BG" altLang="bg-BG"/>
              <a:pPr/>
              <a:t>29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4" name="Rectangle 8"/>
          <p:cNvSpPr>
            <a:spLocks noGrp="1" noChangeArrowheads="1"/>
          </p:cNvSpPr>
          <p:nvPr>
            <p:ph type="title"/>
          </p:nvPr>
        </p:nvSpPr>
        <p:spPr>
          <a:xfrm>
            <a:off x="902804" y="404664"/>
            <a:ext cx="7338392" cy="654968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Администриране на данните 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базата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37226" name="Rectangle 10"/>
          <p:cNvSpPr>
            <a:spLocks noGrp="1" noChangeArrowheads="1"/>
          </p:cNvSpPr>
          <p:nvPr>
            <p:ph idx="1"/>
          </p:nvPr>
        </p:nvSpPr>
        <p:spPr>
          <a:xfrm>
            <a:off x="457200" y="1124744"/>
            <a:ext cx="8229600" cy="4643438"/>
          </a:xfrm>
        </p:spPr>
        <p:txBody>
          <a:bodyPr>
            <a:normAutofit lnSpcReduction="10000"/>
          </a:bodyPr>
          <a:lstStyle/>
          <a:p>
            <a:pPr marL="533400" indent="-533400">
              <a:buFontTx/>
              <a:buAutoNum type="arabicPeriod"/>
            </a:pPr>
            <a:r>
              <a:rPr lang="bg-BG" altLang="bg-BG" sz="2800" dirty="0">
                <a:solidFill>
                  <a:srgbClr val="C00000"/>
                </a:solidFill>
              </a:rPr>
              <a:t>Администриране на базата от данни </a:t>
            </a:r>
            <a:r>
              <a:rPr lang="bg-BG" altLang="bg-BG" sz="2800" dirty="0"/>
              <a:t>означава управлението на физическата реализация на информационните системи.</a:t>
            </a:r>
          </a:p>
          <a:p>
            <a:pPr marL="533400" indent="-533400">
              <a:buFontTx/>
              <a:buAutoNum type="arabicPeriod"/>
            </a:pPr>
            <a:r>
              <a:rPr lang="bg-BG" altLang="bg-BG" sz="2800" dirty="0"/>
              <a:t>Обхваща проектиране и реализация на физическата база от данни, следене производителността на системата, реорганизация на базата при необходимост, защита.</a:t>
            </a:r>
          </a:p>
          <a:p>
            <a:pPr marL="533400" indent="-533400">
              <a:buFontTx/>
              <a:buAutoNum type="arabicPeriod"/>
            </a:pPr>
            <a:r>
              <a:rPr lang="bg-BG" altLang="bg-BG" sz="2800" dirty="0"/>
              <a:t>Персоналът, занимаващ се с администрирането на базата е технически по-добре ориентиран от този, отговарящ за данните като корпоративен ресурс. 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3057A-3B8E-43EF-8487-D51147F59326}" type="slidenum">
              <a:rPr lang="bg-BG" altLang="bg-BG"/>
              <a:pPr/>
              <a:t>30</a:t>
            </a:fld>
            <a:endParaRPr lang="bg-BG" altLang="bg-BG"/>
          </a:p>
        </p:txBody>
      </p:sp>
      <p:sp>
        <p:nvSpPr>
          <p:cNvPr id="13722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3722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58788" y="332656"/>
            <a:ext cx="7626424" cy="654968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Администриране на данните 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базата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908720"/>
            <a:ext cx="8229600" cy="4930775"/>
          </a:xfrm>
        </p:spPr>
        <p:txBody>
          <a:bodyPr/>
          <a:lstStyle/>
          <a:p>
            <a:pPr marL="609600" indent="-609600" algn="ctr">
              <a:lnSpc>
                <a:spcPct val="80000"/>
              </a:lnSpc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Дейности по администриране на базата</a:t>
            </a:r>
          </a:p>
          <a:p>
            <a:pPr marL="609600" indent="-609600" algn="ctr">
              <a:lnSpc>
                <a:spcPct val="80000"/>
              </a:lnSpc>
              <a:buFontTx/>
              <a:buNone/>
            </a:pPr>
            <a:endParaRPr lang="bg-BG" altLang="bg-BG" sz="600" dirty="0"/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Оценяване и избор на продукти от тип СУБД.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Проектиране на физическата база.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Общуване с разработчиците на приложенията.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Разработване на стратегии за тестване на системата.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Обучение на потребителите.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Периодично архивиране на базата.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Следене производителността на системата и настройване на базата.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Осигуряване на процедури за възстановяване на базата.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Обновяване на хардуера и софтуера при необходимост.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........................................................................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FC525-6387-4333-BB54-BC28FCE01140}" type="slidenum">
              <a:rPr lang="bg-BG" altLang="bg-BG"/>
              <a:pPr/>
              <a:t>31</a:t>
            </a:fld>
            <a:endParaRPr lang="bg-BG" altLang="bg-BG"/>
          </a:p>
        </p:txBody>
      </p:sp>
      <p:sp>
        <p:nvSpPr>
          <p:cNvPr id="13824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3824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3824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3825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3825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3825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6" name="Rectangle 6"/>
          <p:cNvSpPr>
            <a:spLocks noGrp="1" noChangeArrowheads="1"/>
          </p:cNvSpPr>
          <p:nvPr>
            <p:ph type="title"/>
          </p:nvPr>
        </p:nvSpPr>
        <p:spPr>
          <a:xfrm>
            <a:off x="899592" y="260648"/>
            <a:ext cx="7266384" cy="654968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Администриране на данните 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базата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89453" name="Rectangle 13"/>
          <p:cNvSpPr>
            <a:spLocks noGrp="1" noChangeArrowheads="1"/>
          </p:cNvSpPr>
          <p:nvPr>
            <p:ph idx="1"/>
          </p:nvPr>
        </p:nvSpPr>
        <p:spPr>
          <a:xfrm>
            <a:off x="899592" y="696498"/>
            <a:ext cx="7439769" cy="648072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Дейности по администриране на </a:t>
            </a:r>
            <a:r>
              <a:rPr lang="bg-BG" altLang="bg-BG" sz="2800" dirty="0" smtClean="0">
                <a:solidFill>
                  <a:srgbClr val="C00000"/>
                </a:solidFill>
              </a:rPr>
              <a:t>данните</a:t>
            </a:r>
            <a:endParaRPr lang="bg-BG" altLang="bg-BG" sz="2800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8B07-47E7-4971-BDC8-9828F72FC442}" type="slidenum">
              <a:rPr lang="bg-BG" altLang="bg-BG"/>
              <a:pPr/>
              <a:t>32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368235"/>
            <a:ext cx="6143625" cy="4762500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8697743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6" name="Rectangle 6"/>
          <p:cNvSpPr>
            <a:spLocks noGrp="1" noChangeArrowheads="1"/>
          </p:cNvSpPr>
          <p:nvPr>
            <p:ph type="title"/>
          </p:nvPr>
        </p:nvSpPr>
        <p:spPr>
          <a:xfrm>
            <a:off x="899592" y="260648"/>
            <a:ext cx="7266384" cy="654968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Администриране на данните 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базата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89453" name="Rectangle 13"/>
          <p:cNvSpPr>
            <a:spLocks noGrp="1" noChangeArrowheads="1"/>
          </p:cNvSpPr>
          <p:nvPr>
            <p:ph idx="1"/>
          </p:nvPr>
        </p:nvSpPr>
        <p:spPr>
          <a:xfrm>
            <a:off x="761999" y="905559"/>
            <a:ext cx="6887408" cy="5157191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endParaRPr lang="bg-BG" altLang="bg-BG" sz="2800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8B07-47E7-4971-BDC8-9828F72FC442}" type="slidenum">
              <a:rPr lang="bg-BG" altLang="bg-BG"/>
              <a:pPr/>
              <a:t>33</a:t>
            </a:fld>
            <a:endParaRPr lang="bg-BG" altLang="bg-BG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436" y="895501"/>
            <a:ext cx="6876256" cy="5157192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6641016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6" name="Rectangle 6"/>
          <p:cNvSpPr>
            <a:spLocks noGrp="1" noChangeArrowheads="1"/>
          </p:cNvSpPr>
          <p:nvPr>
            <p:ph type="title"/>
          </p:nvPr>
        </p:nvSpPr>
        <p:spPr>
          <a:xfrm>
            <a:off x="899592" y="260648"/>
            <a:ext cx="7266384" cy="654968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Администриране на данните 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базата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259" y="953046"/>
            <a:ext cx="6877050" cy="5157788"/>
          </a:xfrm>
          <a:ln w="19050">
            <a:solidFill>
              <a:srgbClr val="C00000"/>
            </a:solidFill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8B07-47E7-4971-BDC8-9828F72FC442}" type="slidenum">
              <a:rPr lang="bg-BG" altLang="bg-BG"/>
              <a:pPr/>
              <a:t>34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5127432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476672"/>
            <a:ext cx="8521575" cy="652934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Средства за автоматизация на проектирането</a:t>
            </a:r>
          </a:p>
        </p:txBody>
      </p:sp>
      <p:sp>
        <p:nvSpPr>
          <p:cNvPr id="141332" name="Rectangle 20"/>
          <p:cNvSpPr>
            <a:spLocks noGrp="1" noChangeArrowheads="1"/>
          </p:cNvSpPr>
          <p:nvPr>
            <p:ph idx="1"/>
          </p:nvPr>
        </p:nvSpPr>
        <p:spPr>
          <a:xfrm>
            <a:off x="755576" y="1268760"/>
            <a:ext cx="7543800" cy="3886200"/>
          </a:xfrm>
        </p:spPr>
        <p:txBody>
          <a:bodyPr>
            <a:normAutofit lnSpcReduction="10000"/>
          </a:bodyPr>
          <a:lstStyle/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Автоматизиращите средства за проектиране на бази от данни </a:t>
            </a:r>
            <a:r>
              <a:rPr lang="en-US" altLang="bg-BG" sz="2400" dirty="0"/>
              <a:t>(CASE-tools) </a:t>
            </a:r>
            <a:r>
              <a:rPr lang="bg-BG" altLang="bg-BG" sz="2400" dirty="0"/>
              <a:t>обикновено улесняват:</a:t>
            </a:r>
          </a:p>
          <a:p>
            <a:pPr marL="914400" lvl="1" indent="-457200">
              <a:lnSpc>
                <a:spcPct val="90000"/>
              </a:lnSpc>
              <a:buFontTx/>
              <a:buChar char="•"/>
            </a:pPr>
            <a:r>
              <a:rPr lang="bg-BG" altLang="bg-BG" sz="2400" dirty="0"/>
              <a:t>Създаване на диаграма на концептуалната схема като се използува дадена нотация.</a:t>
            </a:r>
          </a:p>
          <a:p>
            <a:pPr marL="914400" lvl="1" indent="-457200">
              <a:lnSpc>
                <a:spcPct val="90000"/>
              </a:lnSpc>
              <a:buFontTx/>
              <a:buChar char="•"/>
            </a:pPr>
            <a:r>
              <a:rPr lang="bg-BG" altLang="bg-BG" sz="2400" dirty="0"/>
              <a:t>Преобразуване на концептуалния модел в логически модел на базата.</a:t>
            </a:r>
          </a:p>
          <a:p>
            <a:pPr marL="914400" lvl="1" indent="-457200">
              <a:lnSpc>
                <a:spcPct val="90000"/>
              </a:lnSpc>
              <a:buFontTx/>
              <a:buChar char="•"/>
            </a:pPr>
            <a:r>
              <a:rPr lang="bg-BG" altLang="bg-BG" sz="2400" dirty="0"/>
              <a:t>Нормализация на данните.</a:t>
            </a:r>
          </a:p>
          <a:p>
            <a:pPr marL="914400" lvl="1" indent="-457200">
              <a:lnSpc>
                <a:spcPct val="90000"/>
              </a:lnSpc>
              <a:buFontTx/>
              <a:buChar char="•"/>
            </a:pPr>
            <a:r>
              <a:rPr lang="bg-BG" altLang="bg-BG" sz="2400" dirty="0"/>
              <a:t>Индексиране на базата.</a:t>
            </a: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r>
              <a:rPr lang="bg-BG" altLang="bg-BG" sz="2400" dirty="0">
                <a:solidFill>
                  <a:srgbClr val="C00000"/>
                </a:solidFill>
              </a:rPr>
              <a:t>Проблемът за настройване на базата се решава от администратора на базата и за него няма автоматизиращи средства!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7A9-C899-4BD4-9810-EEB66B4CE247}" type="slidenum">
              <a:rPr lang="bg-BG" altLang="bg-BG"/>
              <a:pPr/>
              <a:t>35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353597"/>
            <a:ext cx="8521575" cy="652934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Средства за автоматизация на проектирането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63" y="1045551"/>
            <a:ext cx="6832272" cy="5124204"/>
          </a:xfrm>
          <a:ln w="15875">
            <a:solidFill>
              <a:srgbClr val="C00000"/>
            </a:solidFill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CSCB405 - модул 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227A9-C899-4BD4-9810-EEB66B4CE247}" type="slidenum">
              <a:rPr lang="bg-BG" altLang="bg-BG"/>
              <a:pPr/>
              <a:t>36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42332404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8403</TotalTime>
  <Words>2642</Words>
  <Application>Microsoft Office PowerPoint</Application>
  <PresentationFormat>On-screen Show (4:3)</PresentationFormat>
  <Paragraphs>371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Arial Narrow</vt:lpstr>
      <vt:lpstr>Impact</vt:lpstr>
      <vt:lpstr>Times New Roman</vt:lpstr>
      <vt:lpstr>Wingdings</vt:lpstr>
      <vt:lpstr>NewsPrint</vt:lpstr>
      <vt:lpstr>CSCB405 Бази от данни и СУБД   Модул 7: Проектиране и администриране на бази от данни </vt:lpstr>
      <vt:lpstr>Съдържание </vt:lpstr>
      <vt:lpstr>Жизнен цикъл на информационна система</vt:lpstr>
      <vt:lpstr>Жизнен цикъл на информационна система</vt:lpstr>
      <vt:lpstr>Жизнен цикъл на информационна система</vt:lpstr>
      <vt:lpstr>Жизнен цикъл на информационна система</vt:lpstr>
      <vt:lpstr>Жизнен цикъл на информационна система</vt:lpstr>
      <vt:lpstr>Жизнен цикъл на информационна система </vt:lpstr>
      <vt:lpstr>Жизнен цикъл на информационна система</vt:lpstr>
      <vt:lpstr>Жизнен цикъл на информационна система</vt:lpstr>
      <vt:lpstr>Жизнен цикъл на информационна система</vt:lpstr>
      <vt:lpstr>Жизнен цикъл на информационна система</vt:lpstr>
      <vt:lpstr>Жизнен цикъл на информационна система</vt:lpstr>
      <vt:lpstr>Процесът “проектиране на бази от данни”</vt:lpstr>
      <vt:lpstr>Процесът “проектиране на бази от данни” </vt:lpstr>
      <vt:lpstr>Процесът “проектиране на бази от данни”</vt:lpstr>
      <vt:lpstr>Процесът “проектиране на бази от данни”</vt:lpstr>
      <vt:lpstr>Процесът “проектиране на бази от данни”</vt:lpstr>
      <vt:lpstr>Процесът “проектиране на бази от данни”</vt:lpstr>
      <vt:lpstr>Процесът “проектиране на бази от данни”</vt:lpstr>
      <vt:lpstr>Процесът “проектиране на бази от данни”</vt:lpstr>
      <vt:lpstr>Процесът “проектиране на бази от данни”</vt:lpstr>
      <vt:lpstr>Процесът “проектиране на бази от данни”</vt:lpstr>
      <vt:lpstr>Процесът “проектиране на бази от данни”</vt:lpstr>
      <vt:lpstr>Процесът “проектиране на бази от данни”</vt:lpstr>
      <vt:lpstr>Процесът “проектиране на бази от данни”</vt:lpstr>
      <vt:lpstr>Проектиране на приложенията </vt:lpstr>
      <vt:lpstr>Администриране на данните и базата</vt:lpstr>
      <vt:lpstr>Администриране на данните и базата</vt:lpstr>
      <vt:lpstr>Администриране на данните и базата</vt:lpstr>
      <vt:lpstr>Администриране на данните и базата</vt:lpstr>
      <vt:lpstr>Администриране на данните и базата</vt:lpstr>
      <vt:lpstr>Администриране на данните и базата</vt:lpstr>
      <vt:lpstr>Администриране на данните и базата</vt:lpstr>
      <vt:lpstr>Средства за автоматизация на проектирането</vt:lpstr>
      <vt:lpstr>Средства за автоматизация на проектирането</vt:lpstr>
    </vt:vector>
  </TitlesOfParts>
  <Company>NBU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INFB586 Module 1</dc:title>
  <dc:subject>Files&amp;databases</dc:subject>
  <dc:creator>July Peneva</dc:creator>
  <cp:lastModifiedBy>Windows User</cp:lastModifiedBy>
  <cp:revision>247</cp:revision>
  <dcterms:created xsi:type="dcterms:W3CDTF">2006-09-20T15:43:40Z</dcterms:created>
  <dcterms:modified xsi:type="dcterms:W3CDTF">2018-12-19T18:25:42Z</dcterms:modified>
</cp:coreProperties>
</file>