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5" r:id="rId1"/>
  </p:sldMasterIdLst>
  <p:notesMasterIdLst>
    <p:notesMasterId r:id="rId30"/>
  </p:notesMasterIdLst>
  <p:handoutMasterIdLst>
    <p:handoutMasterId r:id="rId31"/>
  </p:handoutMasterIdLst>
  <p:sldIdLst>
    <p:sldId id="256" r:id="rId2"/>
    <p:sldId id="257" r:id="rId3"/>
    <p:sldId id="281" r:id="rId4"/>
    <p:sldId id="258" r:id="rId5"/>
    <p:sldId id="312" r:id="rId6"/>
    <p:sldId id="259" r:id="rId7"/>
    <p:sldId id="260" r:id="rId8"/>
    <p:sldId id="263" r:id="rId9"/>
    <p:sldId id="320" r:id="rId10"/>
    <p:sldId id="280" r:id="rId11"/>
    <p:sldId id="264" r:id="rId12"/>
    <p:sldId id="282" r:id="rId13"/>
    <p:sldId id="283" r:id="rId14"/>
    <p:sldId id="313" r:id="rId15"/>
    <p:sldId id="338" r:id="rId16"/>
    <p:sldId id="284" r:id="rId17"/>
    <p:sldId id="285" r:id="rId18"/>
    <p:sldId id="286" r:id="rId19"/>
    <p:sldId id="339" r:id="rId20"/>
    <p:sldId id="287" r:id="rId21"/>
    <p:sldId id="340" r:id="rId22"/>
    <p:sldId id="288" r:id="rId23"/>
    <p:sldId id="326" r:id="rId24"/>
    <p:sldId id="327" r:id="rId25"/>
    <p:sldId id="328" r:id="rId26"/>
    <p:sldId id="329" r:id="rId27"/>
    <p:sldId id="336" r:id="rId28"/>
    <p:sldId id="337" r:id="rId29"/>
  </p:sldIdLst>
  <p:sldSz cx="9144000" cy="6858000" type="screen4x3"/>
  <p:notesSz cx="6858000" cy="9144000"/>
  <p:defaultTextStyle>
    <a:defPPr>
      <a:defRPr lang="bg-BG"/>
    </a:defPPr>
    <a:lvl1pPr algn="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99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7" autoAdjust="0"/>
    <p:restoredTop sz="94636" autoAdjust="0"/>
  </p:normalViewPr>
  <p:slideViewPr>
    <p:cSldViewPr>
      <p:cViewPr varScale="1">
        <p:scale>
          <a:sx n="117" d="100"/>
          <a:sy n="117" d="100"/>
        </p:scale>
        <p:origin x="948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1422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4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7.wmf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endParaRPr lang="bg-BG" altLang="bg-BG"/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bg-BG" altLang="bg-BG"/>
          </a:p>
        </p:txBody>
      </p:sp>
      <p:sp>
        <p:nvSpPr>
          <p:cNvPr id="1198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endParaRPr lang="bg-BG" altLang="bg-BG"/>
          </a:p>
        </p:txBody>
      </p:sp>
      <p:sp>
        <p:nvSpPr>
          <p:cNvPr id="1198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fld id="{FA02BA35-38D1-4100-9CAD-3DA9D5F550CB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16742662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endParaRPr lang="bg-BG" altLang="bg-BG"/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bg-BG" altLang="bg-BG"/>
          </a:p>
        </p:txBody>
      </p:sp>
      <p:sp>
        <p:nvSpPr>
          <p:cNvPr id="983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83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bg-BG" altLang="bg-BG" smtClean="0"/>
              <a:t>Click to edit Master text styles</a:t>
            </a:r>
          </a:p>
          <a:p>
            <a:pPr lvl="1"/>
            <a:r>
              <a:rPr lang="bg-BG" altLang="bg-BG" smtClean="0"/>
              <a:t>Second level</a:t>
            </a:r>
          </a:p>
          <a:p>
            <a:pPr lvl="2"/>
            <a:r>
              <a:rPr lang="bg-BG" altLang="bg-BG" smtClean="0"/>
              <a:t>Third level</a:t>
            </a:r>
          </a:p>
          <a:p>
            <a:pPr lvl="3"/>
            <a:r>
              <a:rPr lang="bg-BG" altLang="bg-BG" smtClean="0"/>
              <a:t>Fourth level</a:t>
            </a:r>
          </a:p>
          <a:p>
            <a:pPr lvl="4"/>
            <a:r>
              <a:rPr lang="bg-BG" altLang="bg-BG" smtClean="0"/>
              <a:t>Fifth level</a:t>
            </a:r>
          </a:p>
        </p:txBody>
      </p:sp>
      <p:sp>
        <p:nvSpPr>
          <p:cNvPr id="983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endParaRPr lang="bg-BG" altLang="bg-BG"/>
          </a:p>
        </p:txBody>
      </p:sp>
      <p:sp>
        <p:nvSpPr>
          <p:cNvPr id="983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fld id="{53796CCF-C370-4B8A-9601-9D0B33931E70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13470970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796CCF-C370-4B8A-9601-9D0B33931E70}" type="slidenum">
              <a:rPr lang="bg-BG" altLang="bg-BG" smtClean="0"/>
              <a:pPr/>
              <a:t>22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2392607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200400"/>
            <a:ext cx="7543800" cy="1524000"/>
          </a:xfrm>
        </p:spPr>
        <p:txBody>
          <a:bodyPr>
            <a:noAutofit/>
          </a:bodyPr>
          <a:lstStyle>
            <a:lvl1pPr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724400"/>
            <a:ext cx="6858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8AA7-BEBA-4C44-8BE5-7CE64CD03EDE}" type="slidenum">
              <a:rPr lang="bg-BG" altLang="bg-BG" smtClean="0"/>
              <a:pPr/>
              <a:t>‹#›</a:t>
            </a:fld>
            <a:endParaRPr lang="bg-BG" altLang="bg-BG"/>
          </a:p>
        </p:txBody>
      </p:sp>
      <p:sp>
        <p:nvSpPr>
          <p:cNvPr id="7" name="Rectangle 6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54E65-57A1-4CEB-BF9A-AE0208A91E59}" type="slidenum">
              <a:rPr lang="bg-BG" altLang="bg-BG" smtClean="0"/>
              <a:pPr/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276600"/>
            <a:ext cx="7543800" cy="1676400"/>
          </a:xfrm>
        </p:spPr>
        <p:txBody>
          <a:bodyPr anchor="b" anchorCtr="0"/>
          <a:lstStyle>
            <a:lvl1pPr algn="l">
              <a:defRPr sz="54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953000"/>
            <a:ext cx="6858000" cy="9144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11478-203D-414C-AF4A-0DE995DB7134}" type="slidenum">
              <a:rPr lang="bg-BG" altLang="bg-BG" smtClean="0"/>
              <a:pPr/>
              <a:t>‹#›</a:t>
            </a:fld>
            <a:endParaRPr lang="bg-BG" altLang="bg-BG"/>
          </a:p>
        </p:txBody>
      </p:sp>
      <p:sp>
        <p:nvSpPr>
          <p:cNvPr id="8" name="Rectangle 7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75FFF-7557-4A95-B934-4E9DC1FDD68B}" type="slidenum">
              <a:rPr lang="bg-BG" altLang="bg-BG" smtClean="0"/>
              <a:pPr/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89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1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58A1C-9C45-48CF-826D-F93A851D00B2}" type="slidenum">
              <a:rPr lang="bg-BG" altLang="bg-BG" smtClean="0"/>
              <a:pPr/>
              <a:t>‹#›</a:t>
            </a:fld>
            <a:endParaRPr lang="bg-BG" altLang="bg-BG"/>
          </a:p>
        </p:txBody>
      </p:sp>
      <p:cxnSp>
        <p:nvCxnSpPr>
          <p:cNvPr id="11" name="Straight Connector 10"/>
          <p:cNvCxnSpPr/>
          <p:nvPr/>
        </p:nvCxnSpPr>
        <p:spPr>
          <a:xfrm>
            <a:off x="7589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6451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1CF88-2DFB-420F-9EE5-E8E4514F8233}" type="slidenum">
              <a:rPr lang="bg-BG" altLang="bg-BG" smtClean="0"/>
              <a:pPr/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A62A5-C8DE-4721-8ADE-9FBBBA1D1330}" type="slidenum">
              <a:rPr lang="bg-BG" altLang="bg-BG" smtClean="0"/>
              <a:pPr/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866" y="457200"/>
            <a:ext cx="4594934" cy="41147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1" y="457200"/>
            <a:ext cx="2673657" cy="41148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CC879-0033-42BA-AADD-06593D5D3234}" type="slidenum">
              <a:rPr lang="bg-BG" altLang="bg-BG" smtClean="0"/>
              <a:pPr/>
              <a:t>‹#›</a:t>
            </a:fld>
            <a:endParaRPr lang="bg-BG" altLang="bg-BG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1677194" y="2514600"/>
            <a:ext cx="3810000" cy="158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457200"/>
            <a:ext cx="7543800" cy="2895600"/>
          </a:xfrm>
          <a:ln w="6350"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392" y="3505200"/>
            <a:ext cx="7391400" cy="8048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148E6-52D3-4635-A181-361F58AD3910}" type="slidenum">
              <a:rPr lang="bg-BG" altLang="bg-BG" smtClean="0"/>
              <a:pPr/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85800"/>
            <a:ext cx="7239000" cy="38862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3AD6C-B40D-49B1-B268-1C86184E5C17}" type="slidenum">
              <a:rPr lang="bg-BG" altLang="bg-BG" smtClean="0"/>
              <a:pPr/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" y="685801"/>
            <a:ext cx="1828800" cy="541019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0800" y="685801"/>
            <a:ext cx="5715000" cy="48768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B4BE5-3EE6-482F-B476-FC9D8DBEDCFE}" type="slidenum">
              <a:rPr lang="bg-BG" altLang="bg-BG" smtClean="0"/>
              <a:pPr/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4561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1E46C465-AD67-43E5-8A8B-655259890A1C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3581299019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510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03663"/>
            <a:ext cx="8229600" cy="21526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65079325-3CE8-444C-8B0C-6FF87B565408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1741770234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456113"/>
          </a:xfrm>
        </p:spPr>
        <p:txBody>
          <a:bodyPr/>
          <a:lstStyle/>
          <a:p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4DDAEB88-0BF7-4F3A-B47D-4E9911677C61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39656419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510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03663"/>
            <a:ext cx="8229600" cy="21526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E0F2965D-19A5-4927-AB58-5BB3C177DDF3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8054087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1800" cy="1600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685800"/>
            <a:ext cx="7543800" cy="38862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00" y="620877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1999" y="6208776"/>
            <a:ext cx="48738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5687568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FC034E39-DF6F-48EB-9629-5F98A92788F2}" type="slidenum">
              <a:rPr lang="bg-BG" altLang="bg-BG" smtClean="0"/>
              <a:pPr/>
              <a:t>‹#›</a:t>
            </a:fld>
            <a:endParaRPr lang="bg-BG" altLang="bg-BG"/>
          </a:p>
        </p:txBody>
      </p:sp>
      <p:sp>
        <p:nvSpPr>
          <p:cNvPr id="8" name="Rectangle 7"/>
          <p:cNvSpPr/>
          <p:nvPr/>
        </p:nvSpPr>
        <p:spPr>
          <a:xfrm>
            <a:off x="777240" y="0"/>
            <a:ext cx="7543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</p:sldLayoutIdLst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hdr="0"/>
  <p:txStyles>
    <p:titleStyle>
      <a:lvl1pPr algn="l" defTabSz="9144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6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4.bin"/><Relationship Id="rId10" Type="http://schemas.openxmlformats.org/officeDocument/2006/relationships/image" Target="../media/image9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7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2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oleObject" Target="../embeddings/oleObject16.bin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7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19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0.emf"/><Relationship Id="rId4" Type="http://schemas.openxmlformats.org/officeDocument/2006/relationships/image" Target="../media/image7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27584" y="764704"/>
            <a:ext cx="7543800" cy="2028056"/>
          </a:xfrm>
        </p:spPr>
        <p:txBody>
          <a:bodyPr/>
          <a:lstStyle/>
          <a:p>
            <a:r>
              <a:rPr lang="en-US" altLang="bg-BG" sz="3200" dirty="0">
                <a:solidFill>
                  <a:srgbClr val="FF0000"/>
                </a:solidFill>
              </a:rPr>
              <a:t>CSCB405 </a:t>
            </a:r>
            <a:r>
              <a:rPr lang="bg-BG" altLang="bg-BG" sz="3200" dirty="0">
                <a:solidFill>
                  <a:srgbClr val="FF0000"/>
                </a:solidFill>
              </a:rPr>
              <a:t>Бази от данни и СУБД</a:t>
            </a:r>
            <a:br>
              <a:rPr lang="bg-BG" altLang="bg-BG" sz="3200" dirty="0">
                <a:solidFill>
                  <a:srgbClr val="FF0000"/>
                </a:solidFill>
              </a:rPr>
            </a:br>
            <a:r>
              <a:rPr lang="bg-BG" altLang="bg-BG" sz="3200" dirty="0"/>
              <a:t/>
            </a:r>
            <a:br>
              <a:rPr lang="bg-BG" altLang="bg-BG" sz="3200" dirty="0"/>
            </a:br>
            <a:r>
              <a:rPr lang="bg-BG" altLang="bg-BG" sz="3200" dirty="0"/>
              <a:t> Модул </a:t>
            </a:r>
            <a:r>
              <a:rPr lang="en-US" altLang="bg-BG" sz="3200" dirty="0"/>
              <a:t>3</a:t>
            </a:r>
            <a:r>
              <a:rPr lang="bg-BG" altLang="bg-BG" sz="3200" dirty="0"/>
              <a:t>: Релационен </a:t>
            </a:r>
            <a:r>
              <a:rPr lang="bg-BG" altLang="bg-BG" sz="3200" dirty="0" smtClean="0"/>
              <a:t>модел – част 1</a:t>
            </a:r>
            <a:r>
              <a:rPr lang="bg-BG" altLang="bg-BG" sz="3200" dirty="0"/>
              <a:t/>
            </a:r>
            <a:br>
              <a:rPr lang="bg-BG" altLang="bg-BG" sz="3200" dirty="0"/>
            </a:br>
            <a:endParaRPr lang="bg-BG" altLang="bg-BG" sz="3200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63688" y="3933056"/>
            <a:ext cx="5777880" cy="136889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bg-BG" altLang="bg-BG" dirty="0"/>
              <a:t>Юлиана Пенева</a:t>
            </a:r>
          </a:p>
          <a:p>
            <a:pPr>
              <a:lnSpc>
                <a:spcPct val="90000"/>
              </a:lnSpc>
            </a:pPr>
            <a:r>
              <a:rPr lang="bg-BG" altLang="bg-BG" dirty="0"/>
              <a:t>Департамент “Информатика”</a:t>
            </a:r>
          </a:p>
          <a:p>
            <a:pPr>
              <a:lnSpc>
                <a:spcPct val="90000"/>
              </a:lnSpc>
            </a:pPr>
            <a:r>
              <a:rPr lang="en-US" altLang="bg-BG" dirty="0"/>
              <a:t>july_peneva@abv.bg</a:t>
            </a:r>
            <a:endParaRPr lang="bg-BG" altLang="bg-BG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216" y="4077072"/>
            <a:ext cx="2225233" cy="1511939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333375"/>
            <a:ext cx="8243888" cy="725488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b="1" dirty="0">
                <a:solidFill>
                  <a:schemeClr val="accent1"/>
                </a:solidFill>
              </a:rPr>
              <a:t>Съдържание</a:t>
            </a:r>
            <a:r>
              <a:rPr lang="bg-BG" altLang="bg-BG" sz="3200" dirty="0"/>
              <a:t> 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268760"/>
            <a:ext cx="8424936" cy="4104233"/>
          </a:xfrm>
        </p:spPr>
        <p:txBody>
          <a:bodyPr/>
          <a:lstStyle/>
          <a:p>
            <a:pPr marL="990600" lvl="1" indent="-533400">
              <a:buFontTx/>
              <a:buAutoNum type="arabicPeriod"/>
            </a:pPr>
            <a:r>
              <a:rPr lang="bg-BG" altLang="bg-BG" sz="2400" dirty="0">
                <a:solidFill>
                  <a:schemeClr val="tx1"/>
                </a:solidFill>
              </a:rPr>
              <a:t>Основни понятия на релационния модел.</a:t>
            </a:r>
          </a:p>
          <a:p>
            <a:pPr marL="990600" lvl="1" indent="-533400">
              <a:buFontTx/>
              <a:buAutoNum type="arabicPeriod"/>
            </a:pPr>
            <a:r>
              <a:rPr lang="bg-BG" altLang="bg-BG" sz="2400" dirty="0">
                <a:solidFill>
                  <a:schemeClr val="tx1"/>
                </a:solidFill>
              </a:rPr>
              <a:t>Релационни ограничения</a:t>
            </a:r>
            <a:r>
              <a:rPr lang="bg-BG" altLang="bg-BG" sz="2400" dirty="0" smtClean="0">
                <a:solidFill>
                  <a:schemeClr val="tx1"/>
                </a:solidFill>
              </a:rPr>
              <a:t>.</a:t>
            </a:r>
            <a:endParaRPr lang="bg-BG" altLang="bg-BG" sz="2400" dirty="0">
              <a:solidFill>
                <a:schemeClr val="tx1"/>
              </a:solidFill>
            </a:endParaRPr>
          </a:p>
          <a:p>
            <a:pPr marL="990600" lvl="1" indent="-533400">
              <a:buFontTx/>
              <a:buAutoNum type="arabicPeriod"/>
            </a:pPr>
            <a:r>
              <a:rPr lang="bg-BG" altLang="bg-BG" sz="2400" dirty="0" smtClean="0">
                <a:solidFill>
                  <a:schemeClr val="tx1"/>
                </a:solidFill>
              </a:rPr>
              <a:t>Релационни операции.</a:t>
            </a:r>
          </a:p>
          <a:p>
            <a:pPr marL="990600" lvl="1" indent="-533400">
              <a:buFontTx/>
              <a:buNone/>
            </a:pPr>
            <a:endParaRPr lang="bg-BG" altLang="bg-BG" sz="2400" dirty="0">
              <a:solidFill>
                <a:schemeClr val="tx1"/>
              </a:solidFill>
            </a:endParaRPr>
          </a:p>
          <a:p>
            <a:pPr marL="990600" lvl="1" indent="-533400">
              <a:buFontTx/>
              <a:buNone/>
            </a:pPr>
            <a:r>
              <a:rPr lang="bg-BG" altLang="bg-BG" sz="2400" dirty="0">
                <a:solidFill>
                  <a:schemeClr val="tx1"/>
                </a:solidFill>
              </a:rPr>
              <a:t>Трябва да са усвоени:</a:t>
            </a:r>
          </a:p>
          <a:p>
            <a:pPr marL="990600" lvl="1" indent="-533400">
              <a:buFontTx/>
              <a:buNone/>
            </a:pPr>
            <a:r>
              <a:rPr lang="bg-BG" altLang="bg-BG" sz="2400" dirty="0">
                <a:solidFill>
                  <a:srgbClr val="C00000"/>
                </a:solidFill>
              </a:rPr>
              <a:t>Модул 1: </a:t>
            </a:r>
            <a:r>
              <a:rPr lang="bg-BG" altLang="bg-BG" sz="2400" dirty="0">
                <a:solidFill>
                  <a:schemeClr val="tx1"/>
                </a:solidFill>
              </a:rPr>
              <a:t>Организиране на данни и информация. Файлове и бази от </a:t>
            </a:r>
            <a:r>
              <a:rPr lang="bg-BG" altLang="bg-BG" sz="2400" dirty="0" smtClean="0">
                <a:solidFill>
                  <a:schemeClr val="tx1"/>
                </a:solidFill>
              </a:rPr>
              <a:t>данни.</a:t>
            </a:r>
            <a:endParaRPr lang="bg-BG" altLang="bg-BG" sz="2400" dirty="0">
              <a:solidFill>
                <a:schemeClr val="tx1"/>
              </a:solidFill>
            </a:endParaRPr>
          </a:p>
          <a:p>
            <a:pPr marL="990600" lvl="1" indent="-533400">
              <a:buFontTx/>
              <a:buNone/>
            </a:pPr>
            <a:r>
              <a:rPr lang="bg-BG" altLang="bg-BG" sz="2400" dirty="0">
                <a:solidFill>
                  <a:srgbClr val="C00000"/>
                </a:solidFill>
              </a:rPr>
              <a:t>Модул 2:</a:t>
            </a:r>
            <a:r>
              <a:rPr lang="bg-BG" altLang="bg-BG" sz="2400" dirty="0">
                <a:solidFill>
                  <a:schemeClr val="tx1"/>
                </a:solidFill>
              </a:rPr>
              <a:t> Моделиране на данните. Архитектура на СУБД.</a:t>
            </a:r>
          </a:p>
          <a:p>
            <a:pPr marL="990600" lvl="1" indent="-533400">
              <a:buFontTx/>
              <a:buNone/>
            </a:pPr>
            <a:endParaRPr lang="bg-BG" altLang="bg-BG" sz="2400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6FD44-778E-4C82-AF8A-EC3F9BC0005E}" type="slidenum">
              <a:rPr lang="bg-BG" altLang="bg-BG"/>
              <a:pPr/>
              <a:t>2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404664"/>
            <a:ext cx="8243887" cy="580901"/>
          </a:xfrm>
        </p:spPr>
        <p:txBody>
          <a:bodyPr>
            <a:normAutofit/>
          </a:bodyPr>
          <a:lstStyle/>
          <a:p>
            <a:r>
              <a:rPr lang="bg-BG" altLang="bg-BG" sz="3200" dirty="0">
                <a:solidFill>
                  <a:schemeClr val="accent1"/>
                </a:solidFill>
              </a:rPr>
              <a:t>Основни понятия на релационния модел</a:t>
            </a:r>
          </a:p>
        </p:txBody>
      </p:sp>
      <p:sp>
        <p:nvSpPr>
          <p:cNvPr id="126979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1052736"/>
            <a:ext cx="8229600" cy="4896544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bg-BG" altLang="bg-BG" dirty="0">
                <a:solidFill>
                  <a:schemeClr val="tx1"/>
                </a:solidFill>
              </a:rPr>
              <a:t>Създаден от Код </a:t>
            </a:r>
            <a:r>
              <a:rPr lang="bg-BG" altLang="bg-BG" dirty="0" smtClean="0">
                <a:solidFill>
                  <a:schemeClr val="tx1"/>
                </a:solidFill>
              </a:rPr>
              <a:t>(</a:t>
            </a:r>
            <a:r>
              <a:rPr lang="en-US" altLang="bg-BG" dirty="0" smtClean="0">
                <a:solidFill>
                  <a:schemeClr val="tx1"/>
                </a:solidFill>
              </a:rPr>
              <a:t>IBM Research </a:t>
            </a:r>
            <a:r>
              <a:rPr lang="bg-BG" altLang="bg-BG" dirty="0" smtClean="0">
                <a:solidFill>
                  <a:schemeClr val="tx1"/>
                </a:solidFill>
              </a:rPr>
              <a:t>)1970 </a:t>
            </a:r>
            <a:r>
              <a:rPr lang="bg-BG" altLang="bg-BG" dirty="0">
                <a:solidFill>
                  <a:schemeClr val="tx1"/>
                </a:solidFill>
              </a:rPr>
              <a:t>г</a:t>
            </a:r>
            <a:r>
              <a:rPr lang="bg-BG" altLang="bg-BG" dirty="0" smtClean="0">
                <a:solidFill>
                  <a:schemeClr val="tx1"/>
                </a:solidFill>
              </a:rPr>
              <a:t>.</a:t>
            </a:r>
            <a:r>
              <a:rPr lang="en-US" altLang="bg-BG" dirty="0" smtClean="0">
                <a:solidFill>
                  <a:schemeClr val="tx1"/>
                </a:solidFill>
              </a:rPr>
              <a:t>- </a:t>
            </a:r>
            <a:r>
              <a:rPr lang="bg-BG" altLang="bg-BG" dirty="0" smtClean="0">
                <a:solidFill>
                  <a:schemeClr val="tx1"/>
                </a:solidFill>
              </a:rPr>
              <a:t>публикуван в статията:</a:t>
            </a:r>
          </a:p>
          <a:p>
            <a:pPr marL="0" indent="0">
              <a:buNone/>
            </a:pPr>
            <a:r>
              <a:rPr lang="en-US" altLang="bg-BG" dirty="0" smtClean="0">
                <a:solidFill>
                  <a:srgbClr val="C00000"/>
                </a:solidFill>
              </a:rPr>
              <a:t>"A </a:t>
            </a:r>
            <a:r>
              <a:rPr lang="en-US" altLang="bg-BG" dirty="0">
                <a:solidFill>
                  <a:srgbClr val="C00000"/>
                </a:solidFill>
              </a:rPr>
              <a:t>Relational Model for Large Shared Data Banks," </a:t>
            </a:r>
            <a:r>
              <a:rPr lang="bg-BG" altLang="bg-BG" dirty="0" smtClean="0">
                <a:solidFill>
                  <a:srgbClr val="C00000"/>
                </a:solidFill>
              </a:rPr>
              <a:t>в списание </a:t>
            </a:r>
            <a:r>
              <a:rPr lang="en-US" altLang="bg-BG" dirty="0" smtClean="0">
                <a:solidFill>
                  <a:srgbClr val="C00000"/>
                </a:solidFill>
              </a:rPr>
              <a:t>Communications </a:t>
            </a:r>
            <a:r>
              <a:rPr lang="en-US" altLang="bg-BG" dirty="0">
                <a:solidFill>
                  <a:srgbClr val="C00000"/>
                </a:solidFill>
              </a:rPr>
              <a:t>of the </a:t>
            </a:r>
            <a:r>
              <a:rPr lang="en-US" altLang="bg-BG" dirty="0" smtClean="0">
                <a:solidFill>
                  <a:srgbClr val="C00000"/>
                </a:solidFill>
              </a:rPr>
              <a:t>ACM</a:t>
            </a:r>
            <a:r>
              <a:rPr lang="bg-BG" altLang="bg-BG" dirty="0" smtClean="0">
                <a:solidFill>
                  <a:srgbClr val="C00000"/>
                </a:solidFill>
              </a:rPr>
              <a:t>.</a:t>
            </a:r>
          </a:p>
          <a:p>
            <a:pPr marL="0" indent="0">
              <a:buNone/>
            </a:pPr>
            <a:r>
              <a:rPr lang="bg-BG" altLang="bg-BG" i="1" dirty="0" smtClean="0">
                <a:solidFill>
                  <a:schemeClr val="tx1"/>
                </a:solidFill>
              </a:rPr>
              <a:t>Статията поражда революция при управлението на базите от данни. Код печели </a:t>
            </a:r>
            <a:r>
              <a:rPr lang="en-US" altLang="bg-BG" dirty="0" smtClean="0">
                <a:solidFill>
                  <a:schemeClr val="accent1">
                    <a:lumMod val="75000"/>
                  </a:schemeClr>
                </a:solidFill>
              </a:rPr>
              <a:t>ACM </a:t>
            </a:r>
            <a:r>
              <a:rPr lang="en-US" altLang="bg-BG" dirty="0">
                <a:solidFill>
                  <a:schemeClr val="accent1">
                    <a:lumMod val="75000"/>
                  </a:schemeClr>
                </a:solidFill>
              </a:rPr>
              <a:t>Turing </a:t>
            </a:r>
            <a:r>
              <a:rPr lang="en-US" altLang="bg-BG" dirty="0" smtClean="0">
                <a:solidFill>
                  <a:schemeClr val="accent1">
                    <a:lumMod val="75000"/>
                  </a:schemeClr>
                </a:solidFill>
              </a:rPr>
              <a:t>Award</a:t>
            </a:r>
            <a:r>
              <a:rPr lang="bg-BG" altLang="bg-BG" dirty="0" smtClean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bg-BG" altLang="bg-BG" dirty="0" smtClean="0">
                <a:solidFill>
                  <a:schemeClr val="tx1"/>
                </a:solidFill>
              </a:rPr>
              <a:t>Основна идея:</a:t>
            </a:r>
            <a:endParaRPr lang="bg-BG" altLang="bg-BG" dirty="0">
              <a:solidFill>
                <a:schemeClr val="tx1"/>
              </a:solidFill>
            </a:endParaRPr>
          </a:p>
          <a:p>
            <a:pPr lvl="1"/>
            <a:r>
              <a:rPr lang="bg-BG" altLang="bg-BG" sz="2000" dirty="0" smtClean="0">
                <a:solidFill>
                  <a:srgbClr val="C00000"/>
                </a:solidFill>
              </a:rPr>
              <a:t>релация </a:t>
            </a:r>
            <a:r>
              <a:rPr lang="bg-BG" altLang="bg-BG" sz="2000" dirty="0">
                <a:solidFill>
                  <a:srgbClr val="C00000"/>
                </a:solidFill>
              </a:rPr>
              <a:t>(</a:t>
            </a:r>
            <a:r>
              <a:rPr lang="bg-BG" altLang="bg-BG" sz="2000" dirty="0" smtClean="0">
                <a:solidFill>
                  <a:srgbClr val="C00000"/>
                </a:solidFill>
              </a:rPr>
              <a:t>таблица) </a:t>
            </a:r>
            <a:r>
              <a:rPr lang="bg-BG" altLang="bg-BG" sz="2000" dirty="0">
                <a:solidFill>
                  <a:schemeClr val="tx1"/>
                </a:solidFill>
              </a:rPr>
              <a:t>- </a:t>
            </a:r>
            <a:r>
              <a:rPr lang="bg-BG" altLang="bg-BG" sz="2000" u="sng" dirty="0" smtClean="0">
                <a:solidFill>
                  <a:schemeClr val="tx1"/>
                </a:solidFill>
              </a:rPr>
              <a:t>главна </a:t>
            </a:r>
            <a:r>
              <a:rPr lang="bg-BG" altLang="bg-BG" sz="2000" u="sng" dirty="0">
                <a:solidFill>
                  <a:schemeClr val="tx1"/>
                </a:solidFill>
              </a:rPr>
              <a:t>структура </a:t>
            </a:r>
            <a:r>
              <a:rPr lang="bg-BG" altLang="bg-BG" sz="2000" dirty="0">
                <a:solidFill>
                  <a:schemeClr val="tx1"/>
                </a:solidFill>
              </a:rPr>
              <a:t>за моделиране на </a:t>
            </a:r>
            <a:r>
              <a:rPr lang="bg-BG" altLang="bg-BG" sz="2000" dirty="0" smtClean="0">
                <a:solidFill>
                  <a:schemeClr val="tx1"/>
                </a:solidFill>
              </a:rPr>
              <a:t>данните;</a:t>
            </a:r>
            <a:endParaRPr lang="bg-BG" altLang="bg-BG" sz="2000" dirty="0">
              <a:solidFill>
                <a:schemeClr val="tx1"/>
              </a:solidFill>
            </a:endParaRPr>
          </a:p>
          <a:p>
            <a:pPr lvl="1"/>
            <a:r>
              <a:rPr lang="bg-BG" altLang="bg-BG" sz="2000" dirty="0" smtClean="0">
                <a:solidFill>
                  <a:schemeClr val="tx1"/>
                </a:solidFill>
              </a:rPr>
              <a:t>релация </a:t>
            </a:r>
            <a:r>
              <a:rPr lang="bg-BG" altLang="bg-BG" sz="2000" dirty="0">
                <a:solidFill>
                  <a:schemeClr val="tx1"/>
                </a:solidFill>
              </a:rPr>
              <a:t>- математическо понятие, което използува теорията на множествата и предикатна логика от първи ред;</a:t>
            </a:r>
          </a:p>
          <a:p>
            <a:pPr lvl="1"/>
            <a:r>
              <a:rPr lang="bg-BG" altLang="bg-BG" sz="2000" dirty="0">
                <a:solidFill>
                  <a:schemeClr val="tx1"/>
                </a:solidFill>
              </a:rPr>
              <a:t>базата от данни се представя като множество от </a:t>
            </a:r>
            <a:r>
              <a:rPr lang="bg-BG" altLang="bg-BG" sz="2000" dirty="0" smtClean="0">
                <a:solidFill>
                  <a:schemeClr val="tx1"/>
                </a:solidFill>
              </a:rPr>
              <a:t>релации.</a:t>
            </a:r>
            <a:endParaRPr lang="bg-BG" altLang="bg-BG" sz="2600" dirty="0" smtClean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D10E3-E371-4B75-97A4-2D4CC0DBFF2B}" type="slidenum">
              <a:rPr lang="bg-BG" altLang="bg-BG"/>
              <a:pPr/>
              <a:t>3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404664"/>
            <a:ext cx="8243887" cy="463823"/>
          </a:xfrm>
        </p:spPr>
        <p:txBody>
          <a:bodyPr>
            <a:normAutofit fontScale="90000"/>
          </a:bodyPr>
          <a:lstStyle/>
          <a:p>
            <a:pPr marL="838200" indent="-838200" algn="ctr"/>
            <a:r>
              <a:rPr lang="bg-BG" altLang="bg-BG" sz="3200" dirty="0">
                <a:solidFill>
                  <a:schemeClr val="accent1"/>
                </a:solidFill>
              </a:rPr>
              <a:t>Основни понятия на релационния модел</a:t>
            </a:r>
            <a:endParaRPr lang="bg-BG" altLang="bg-BG" sz="3200" dirty="0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4859338" y="836712"/>
            <a:ext cx="4249166" cy="5256584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endParaRPr lang="bg-BG" altLang="bg-BG" sz="800" dirty="0"/>
          </a:p>
          <a:p>
            <a:pPr>
              <a:lnSpc>
                <a:spcPct val="80000"/>
              </a:lnSpc>
              <a:spcBef>
                <a:spcPts val="575"/>
              </a:spcBef>
              <a:buFont typeface="Arial" charset="0"/>
              <a:buAutoNum type="arabicPeriod"/>
            </a:pPr>
            <a:r>
              <a:rPr lang="bg-BG" altLang="bg-BG" sz="2200" dirty="0"/>
              <a:t>Неформално</a:t>
            </a:r>
            <a:r>
              <a:rPr lang="en-US" altLang="bg-BG" sz="2200" dirty="0"/>
              <a:t> </a:t>
            </a:r>
            <a:r>
              <a:rPr lang="bg-BG" altLang="bg-BG" sz="2200" dirty="0"/>
              <a:t>отношението прилича на таблица със стойности.</a:t>
            </a:r>
          </a:p>
          <a:p>
            <a:pPr>
              <a:lnSpc>
                <a:spcPct val="80000"/>
              </a:lnSpc>
              <a:spcBef>
                <a:spcPts val="575"/>
              </a:spcBef>
              <a:buFont typeface="Arial" charset="0"/>
              <a:buAutoNum type="arabicPeriod"/>
            </a:pPr>
            <a:r>
              <a:rPr lang="bg-BG" altLang="bg-BG" sz="2200" dirty="0"/>
              <a:t>Отношението съдържа множество от редове.</a:t>
            </a:r>
          </a:p>
          <a:p>
            <a:pPr>
              <a:lnSpc>
                <a:spcPct val="80000"/>
              </a:lnSpc>
              <a:spcBef>
                <a:spcPts val="575"/>
              </a:spcBef>
              <a:buFont typeface="Arial" charset="0"/>
              <a:buAutoNum type="arabicPeriod"/>
            </a:pPr>
            <a:r>
              <a:rPr lang="bg-BG" altLang="bg-BG" sz="2200" dirty="0"/>
              <a:t>Във всеки ред елементите от данни представят факти за обект или връзка. Във формалния модел редовете се наричат кортежи.</a:t>
            </a:r>
          </a:p>
          <a:p>
            <a:pPr>
              <a:lnSpc>
                <a:spcPct val="80000"/>
              </a:lnSpc>
              <a:spcBef>
                <a:spcPts val="575"/>
              </a:spcBef>
              <a:buFont typeface="Arial" charset="0"/>
              <a:buAutoNum type="arabicPeriod"/>
            </a:pPr>
            <a:r>
              <a:rPr lang="bg-BG" altLang="bg-BG" sz="2200" dirty="0"/>
              <a:t>Всяка колона е именувана с име, отговарящо на значението на полето с данни. Във формалния модел имената на  колоните  се наричат атрибути.</a:t>
            </a:r>
          </a:p>
          <a:p>
            <a:pPr>
              <a:lnSpc>
                <a:spcPct val="80000"/>
              </a:lnSpc>
              <a:spcBef>
                <a:spcPts val="575"/>
              </a:spcBef>
              <a:buFont typeface="Arial" charset="0"/>
              <a:buAutoNum type="arabicPeriod"/>
            </a:pPr>
            <a:r>
              <a:rPr lang="bg-BG" altLang="bg-BG" sz="2200" dirty="0"/>
              <a:t>Всеки ред еднозначно се идентифицира от стойността на определена колона или няколко колони – ключ на отношението.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98591-73FB-46EB-BB89-F6A656C33562}" type="slidenum">
              <a:rPr lang="bg-BG" altLang="bg-BG"/>
              <a:pPr/>
              <a:t>4</a:t>
            </a:fld>
            <a:endParaRPr lang="bg-BG" altLang="bg-BG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3934" y="1700808"/>
            <a:ext cx="4763319" cy="338544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611188" y="404664"/>
            <a:ext cx="8243887" cy="576064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Основни понятия на релационния модел</a:t>
            </a:r>
          </a:p>
        </p:txBody>
      </p:sp>
      <p:pic>
        <p:nvPicPr>
          <p:cNvPr id="184327" name="Picture 7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00200"/>
            <a:ext cx="8229600" cy="2151063"/>
          </a:xfrm>
          <a:noFill/>
          <a:ln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84326" name="Rectangle 6"/>
          <p:cNvSpPr>
            <a:spLocks noGrp="1" noChangeArrowheads="1"/>
          </p:cNvSpPr>
          <p:nvPr>
            <p:ph type="body" sz="half" idx="2"/>
          </p:nvPr>
        </p:nvSpPr>
        <p:spPr>
          <a:xfrm>
            <a:off x="323528" y="4077072"/>
            <a:ext cx="8229600" cy="533400"/>
          </a:xfrm>
        </p:spPr>
        <p:txBody>
          <a:bodyPr/>
          <a:lstStyle/>
          <a:p>
            <a:pPr algn="ctr">
              <a:buFontTx/>
              <a:buNone/>
            </a:pPr>
            <a:r>
              <a:rPr lang="bg-BG" altLang="bg-BG" sz="2800" dirty="0" smtClean="0">
                <a:solidFill>
                  <a:schemeClr val="accent1">
                    <a:lumMod val="75000"/>
                  </a:schemeClr>
                </a:solidFill>
              </a:rPr>
              <a:t>Пример</a:t>
            </a:r>
            <a:endParaRPr lang="bg-BG" altLang="bg-BG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C57EC-658D-445F-9365-31BD1763B809}" type="slidenum">
              <a:rPr lang="bg-BG" altLang="bg-BG"/>
              <a:pPr/>
              <a:t>5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404664"/>
            <a:ext cx="8243887" cy="580455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Основни понятия на релационния модел </a:t>
            </a:r>
          </a:p>
        </p:txBody>
      </p:sp>
      <p:graphicFrame>
        <p:nvGraphicFramePr>
          <p:cNvPr id="54308" name="Group 36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903801635"/>
              </p:ext>
            </p:extLst>
          </p:nvPr>
        </p:nvGraphicFramePr>
        <p:xfrm>
          <a:off x="611560" y="1194681"/>
          <a:ext cx="7571184" cy="2601803"/>
        </p:xfrm>
        <a:graphic>
          <a:graphicData uri="http://schemas.openxmlformats.org/drawingml/2006/table">
            <a:tbl>
              <a:tblPr/>
              <a:tblGrid>
                <a:gridCol w="3785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5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786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altLang="bg-BG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Неформална терминология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altLang="bg-BG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Релационна терминология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9005">
                <a:tc>
                  <a:txBody>
                    <a:bodyPr/>
                    <a:lstStyle>
                      <a:lvl1pPr marL="533400" indent="-533400"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1pPr>
                      <a:lvl2pPr marL="914400" indent="-457200"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2pPr>
                      <a:lvl3pPr marL="1295400" indent="-38100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3pPr>
                      <a:lvl4pPr marL="1714500" indent="-3429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4pPr>
                      <a:lvl5pPr marL="2171700" indent="-3429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5pPr>
                      <a:lvl6pPr marL="26289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6pPr>
                      <a:lvl7pPr marL="30861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7pPr>
                      <a:lvl8pPr marL="35433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8pPr>
                      <a:lvl9pPr marL="40005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9pPr>
                    </a:lstStyle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bg-BG" altLang="bg-BG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Таблица или файл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bg-BG" altLang="bg-BG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Ред или запис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bg-BG" altLang="bg-BG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Име или колона на запис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bg-BG" altLang="bg-BG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533400" indent="-533400"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1pPr>
                      <a:lvl2pPr marL="914400" indent="-457200"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2pPr>
                      <a:lvl3pPr marL="1295400" indent="-38100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3pPr>
                      <a:lvl4pPr marL="1714500" indent="-3429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4pPr>
                      <a:lvl5pPr marL="2171700" indent="-3429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5pPr>
                      <a:lvl6pPr marL="26289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6pPr>
                      <a:lvl7pPr marL="30861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7pPr>
                      <a:lvl8pPr marL="35433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8pPr>
                      <a:lvl9pPr marL="40005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itchFamily="34" charset="0"/>
                        </a:defRPr>
                      </a:lvl9pPr>
                    </a:lstStyle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bg-BG" altLang="bg-BG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Релация или отношение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bg-BG" altLang="bg-BG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Кортеж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bg-BG" altLang="bg-BG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Атрибут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bg-BG" altLang="bg-BG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68C3A-52E3-4838-AB8A-AC3CCACAD05B}" type="slidenum">
              <a:rPr lang="bg-BG" altLang="bg-BG"/>
              <a:pPr/>
              <a:t>6</a:t>
            </a:fld>
            <a:endParaRPr lang="bg-BG" altLang="bg-BG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5536" y="1600201"/>
            <a:ext cx="8424936" cy="2980927"/>
          </a:xfrm>
        </p:spPr>
        <p:txBody>
          <a:bodyPr/>
          <a:lstStyle/>
          <a:p>
            <a:pPr marL="609600" indent="-609600">
              <a:spcBef>
                <a:spcPct val="0"/>
              </a:spcBef>
              <a:buFontTx/>
              <a:buAutoNum type="arabicPeriod" startAt="3"/>
            </a:pPr>
            <a:endParaRPr lang="bg-BG" altLang="bg-BG" sz="2800" dirty="0"/>
          </a:p>
          <a:p>
            <a:pPr marL="609600" indent="-609600">
              <a:buFontTx/>
              <a:buNone/>
            </a:pPr>
            <a:endParaRPr lang="bg-BG" altLang="bg-BG" sz="2800" dirty="0"/>
          </a:p>
          <a:p>
            <a:pPr marL="609600" indent="-609600">
              <a:buFontTx/>
              <a:buAutoNum type="arabicPeriod"/>
            </a:pPr>
            <a:endParaRPr lang="bg-BG" altLang="bg-BG" sz="2800" dirty="0"/>
          </a:p>
          <a:p>
            <a:pPr marL="609600" indent="-609600">
              <a:buFontTx/>
              <a:buAutoNum type="arabicPeriod"/>
            </a:pPr>
            <a:endParaRPr lang="bg-BG" altLang="bg-BG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3872440"/>
            <a:ext cx="2971221" cy="2228416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333375"/>
            <a:ext cx="8243888" cy="652463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Основни понятия на релационния модел </a:t>
            </a:r>
          </a:p>
        </p:txBody>
      </p:sp>
      <p:sp>
        <p:nvSpPr>
          <p:cNvPr id="60432" name="Rectangle 16"/>
          <p:cNvSpPr>
            <a:spLocks noGrp="1" noChangeArrowheads="1"/>
          </p:cNvSpPr>
          <p:nvPr>
            <p:ph idx="1"/>
          </p:nvPr>
        </p:nvSpPr>
        <p:spPr>
          <a:xfrm>
            <a:off x="457200" y="980729"/>
            <a:ext cx="8229600" cy="5184576"/>
          </a:xfrm>
        </p:spPr>
        <p:txBody>
          <a:bodyPr>
            <a:normAutofit fontScale="77500" lnSpcReduction="20000"/>
          </a:bodyPr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bg-BG" altLang="bg-BG" sz="3100" i="1" dirty="0">
                <a:solidFill>
                  <a:srgbClr val="C00000"/>
                </a:solidFill>
              </a:rPr>
              <a:t>Формални </a:t>
            </a:r>
            <a:r>
              <a:rPr lang="bg-BG" altLang="bg-BG" sz="3100" i="1" dirty="0" smtClean="0">
                <a:solidFill>
                  <a:srgbClr val="C00000"/>
                </a:solidFill>
              </a:rPr>
              <a:t>дефиниции</a:t>
            </a:r>
            <a:endParaRPr lang="bg-BG" altLang="bg-BG" sz="3100" i="1" dirty="0">
              <a:solidFill>
                <a:srgbClr val="C00000"/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altLang="bg-BG" sz="800" i="1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bg-BG" sz="2800" u="sng" dirty="0"/>
              <a:t>Def</a:t>
            </a:r>
            <a:r>
              <a:rPr lang="bg-BG" altLang="bg-BG" sz="2800" u="sng" dirty="0"/>
              <a:t>.1</a:t>
            </a:r>
            <a:r>
              <a:rPr lang="bg-BG" altLang="bg-BG" sz="2800" dirty="0"/>
              <a:t>: </a:t>
            </a:r>
            <a:r>
              <a:rPr lang="bg-BG" altLang="bg-BG" sz="2800" dirty="0">
                <a:solidFill>
                  <a:srgbClr val="C00000"/>
                </a:solidFill>
              </a:rPr>
              <a:t>Домейн</a:t>
            </a:r>
            <a:r>
              <a:rPr lang="bg-BG" altLang="bg-BG" sz="2800" dirty="0"/>
              <a:t> се нарича произволно множество от неделими (атомарни, неразложими) стойности</a:t>
            </a:r>
            <a:r>
              <a:rPr lang="bg-BG" altLang="bg-BG" sz="2800" dirty="0" smtClean="0"/>
              <a:t>. </a:t>
            </a:r>
          </a:p>
          <a:p>
            <a:pPr>
              <a:lnSpc>
                <a:spcPct val="80000"/>
              </a:lnSpc>
            </a:pPr>
            <a:r>
              <a:rPr lang="bg-BG" altLang="bg-BG" sz="2800" dirty="0"/>
              <a:t>д</a:t>
            </a:r>
            <a:r>
              <a:rPr lang="bg-BG" altLang="bg-BG" sz="2800" dirty="0" smtClean="0"/>
              <a:t>омейнът се дефинира логически;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bg-BG" altLang="bg-BG" sz="2800" dirty="0" smtClean="0"/>
              <a:t>Примери:</a:t>
            </a:r>
            <a:endParaRPr lang="bg-BG" altLang="bg-BG" sz="2800" dirty="0"/>
          </a:p>
          <a:p>
            <a:pPr lvl="1">
              <a:lnSpc>
                <a:spcPct val="80000"/>
              </a:lnSpc>
              <a:buFontTx/>
              <a:buNone/>
            </a:pPr>
            <a:r>
              <a:rPr lang="bg-BG" altLang="bg-BG" sz="2800" dirty="0"/>
              <a:t>Имена: {Иван Петров, Ана Попова,....}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bg-BG" altLang="bg-BG" sz="2800" dirty="0"/>
              <a:t>Факултети: {Информатика, Математика,.Право, Икономика, ......}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bg-BG" altLang="bg-BG" sz="2800" dirty="0"/>
              <a:t>Оценка: {2,3,4,5,6}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bg-BG" altLang="bg-BG" sz="2800" dirty="0"/>
              <a:t>Телефон: {множество от валидни </a:t>
            </a:r>
            <a:r>
              <a:rPr lang="bg-BG" altLang="bg-BG" sz="2800" dirty="0" smtClean="0"/>
              <a:t>БГ телефонни </a:t>
            </a:r>
            <a:r>
              <a:rPr lang="bg-BG" altLang="bg-BG" sz="2800" dirty="0"/>
              <a:t>номера</a:t>
            </a:r>
            <a:r>
              <a:rPr lang="bg-BG" altLang="bg-BG" sz="2800" dirty="0" smtClean="0"/>
              <a:t>}.</a:t>
            </a:r>
          </a:p>
          <a:p>
            <a:pPr>
              <a:lnSpc>
                <a:spcPct val="80000"/>
              </a:lnSpc>
            </a:pPr>
            <a:r>
              <a:rPr lang="bg-BG" altLang="bg-BG" sz="2800" dirty="0" smtClean="0"/>
              <a:t>домейнът има тип на данните или формат на данните.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bg-BG" altLang="bg-BG" sz="2800" dirty="0" smtClean="0"/>
              <a:t>Например: датата може да има различен формат:</a:t>
            </a:r>
            <a:r>
              <a:rPr lang="en-US" altLang="bg-BG" sz="2800" dirty="0" err="1" smtClean="0"/>
              <a:t>yyyy</a:t>
            </a:r>
            <a:r>
              <a:rPr lang="en-US" altLang="bg-BG" sz="2800" dirty="0" smtClean="0"/>
              <a:t>-mm-</a:t>
            </a:r>
            <a:r>
              <a:rPr lang="en-US" altLang="bg-BG" sz="2800" dirty="0" err="1" smtClean="0"/>
              <a:t>dd</a:t>
            </a:r>
            <a:r>
              <a:rPr lang="bg-BG" altLang="bg-BG" sz="2800" dirty="0" smtClean="0"/>
              <a:t> или </a:t>
            </a:r>
            <a:r>
              <a:rPr lang="en-US" altLang="bg-BG" sz="2800" dirty="0" err="1" smtClean="0"/>
              <a:t>dd</a:t>
            </a:r>
            <a:r>
              <a:rPr lang="bg-BG" altLang="bg-BG" sz="2800" dirty="0" smtClean="0"/>
              <a:t>,</a:t>
            </a:r>
            <a:r>
              <a:rPr lang="en-US" altLang="bg-BG" sz="2800" dirty="0" smtClean="0"/>
              <a:t> </a:t>
            </a:r>
            <a:r>
              <a:rPr lang="en-US" altLang="bg-BG" sz="2800" dirty="0" err="1"/>
              <a:t>mm,yyyy</a:t>
            </a:r>
            <a:r>
              <a:rPr lang="en-US" altLang="bg-BG" sz="2800" dirty="0"/>
              <a:t> </a:t>
            </a:r>
            <a:endParaRPr lang="bg-BG" altLang="bg-BG" sz="2800" dirty="0" smtClean="0"/>
          </a:p>
          <a:p>
            <a:pPr marL="0" indent="0">
              <a:lnSpc>
                <a:spcPct val="80000"/>
              </a:lnSpc>
              <a:buNone/>
            </a:pPr>
            <a:endParaRPr lang="bg-BG" altLang="bg-BG" sz="2400" dirty="0"/>
          </a:p>
          <a:p>
            <a:pPr>
              <a:lnSpc>
                <a:spcPct val="80000"/>
              </a:lnSpc>
              <a:buFontTx/>
              <a:buNone/>
            </a:pPr>
            <a:r>
              <a:rPr lang="bg-BG" altLang="bg-BG" sz="2800" u="sng" dirty="0"/>
              <a:t>De</a:t>
            </a:r>
            <a:r>
              <a:rPr lang="en-US" altLang="bg-BG" sz="2800" u="sng" dirty="0"/>
              <a:t>f</a:t>
            </a:r>
            <a:r>
              <a:rPr lang="bg-BG" altLang="bg-BG" sz="2800" u="sng" dirty="0"/>
              <a:t>.2:</a:t>
            </a:r>
            <a:r>
              <a:rPr lang="bg-BG" altLang="bg-BG" sz="2800" dirty="0"/>
              <a:t> Крайно множество от имена на атрибути </a:t>
            </a:r>
            <a:endParaRPr lang="bg-BG" altLang="bg-BG" sz="2800" dirty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bg-BG" altLang="bg-BG" sz="2800" dirty="0" smtClean="0"/>
              <a:t>се </a:t>
            </a:r>
            <a:r>
              <a:rPr lang="bg-BG" altLang="bg-BG" sz="2800" dirty="0"/>
              <a:t>нарича </a:t>
            </a:r>
            <a:r>
              <a:rPr lang="bg-BG" altLang="bg-BG" sz="2800" dirty="0">
                <a:solidFill>
                  <a:srgbClr val="C00000"/>
                </a:solidFill>
              </a:rPr>
              <a:t>релационна схема</a:t>
            </a:r>
            <a:r>
              <a:rPr lang="bg-BG" altLang="bg-BG" sz="2800" dirty="0"/>
              <a:t>                     </a:t>
            </a:r>
            <a:r>
              <a:rPr lang="bg-BG" altLang="bg-BG" sz="2800" dirty="0" smtClean="0"/>
              <a:t>.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bg-BG" altLang="bg-BG" sz="2800" dirty="0" smtClean="0"/>
              <a:t>Всеки атрибут приема стойности от определен домейн.</a:t>
            </a:r>
            <a:endParaRPr lang="bg-BG" altLang="bg-BG" sz="2800" dirty="0"/>
          </a:p>
          <a:p>
            <a:pPr lvl="1">
              <a:lnSpc>
                <a:spcPct val="80000"/>
              </a:lnSpc>
              <a:buFontTx/>
              <a:buNone/>
            </a:pPr>
            <a:endParaRPr lang="bg-BG" altLang="bg-BG" sz="1300" dirty="0" smtClean="0"/>
          </a:p>
          <a:p>
            <a:pPr lvl="1">
              <a:lnSpc>
                <a:spcPct val="80000"/>
              </a:lnSpc>
              <a:buFontTx/>
              <a:buNone/>
            </a:pPr>
            <a:r>
              <a:rPr lang="bg-BG" altLang="bg-BG" sz="2900" dirty="0" smtClean="0"/>
              <a:t>СТУДЕНТ </a:t>
            </a:r>
            <a:r>
              <a:rPr lang="bg-BG" altLang="bg-BG" sz="2900" dirty="0"/>
              <a:t>(Фак.№, Име, Адрес, Специалност)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bg-BG" altLang="bg-BG" sz="2900" dirty="0"/>
              <a:t>СЛУЖИТЕЛ (ЕГН, ИМЕ, ОТДЕЛ, ЗАПЛАТА, ДЛЪЖНОСТ) </a:t>
            </a:r>
            <a:endParaRPr lang="bg-BG" altLang="bg-BG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21638" y="6037928"/>
            <a:ext cx="762000" cy="365125"/>
          </a:xfrm>
        </p:spPr>
        <p:txBody>
          <a:bodyPr/>
          <a:lstStyle/>
          <a:p>
            <a:fld id="{51A8F967-4C3A-43A9-8B5C-F83999E8865B}" type="slidenum">
              <a:rPr lang="bg-BG" altLang="bg-BG"/>
              <a:pPr/>
              <a:t>7</a:t>
            </a:fld>
            <a:endParaRPr lang="bg-BG" altLang="bg-BG" dirty="0"/>
          </a:p>
        </p:txBody>
      </p:sp>
      <p:sp>
        <p:nvSpPr>
          <p:cNvPr id="60434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graphicFrame>
        <p:nvGraphicFramePr>
          <p:cNvPr id="6043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2623162"/>
              </p:ext>
            </p:extLst>
          </p:nvPr>
        </p:nvGraphicFramePr>
        <p:xfrm>
          <a:off x="6300192" y="4653136"/>
          <a:ext cx="1103313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46" name="Equation" r:id="rId3" imgW="863280" imgH="228600" progId="Equation.3">
                  <p:embed/>
                </p:oleObj>
              </mc:Choice>
              <mc:Fallback>
                <p:oleObj name="Equation" r:id="rId3" imgW="863280" imgH="2286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192" y="4653136"/>
                        <a:ext cx="1103313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36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60438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graphicFrame>
        <p:nvGraphicFramePr>
          <p:cNvPr id="6043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2725227"/>
              </p:ext>
            </p:extLst>
          </p:nvPr>
        </p:nvGraphicFramePr>
        <p:xfrm>
          <a:off x="3995936" y="4869160"/>
          <a:ext cx="144145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47" name="Equation" r:id="rId5" imgW="1002865" imgH="228501" progId="Equation.3">
                  <p:embed/>
                </p:oleObj>
              </mc:Choice>
              <mc:Fallback>
                <p:oleObj name="Equation" r:id="rId5" imgW="1002865" imgH="228501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936" y="4869160"/>
                        <a:ext cx="144145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0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0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6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0056" y="476672"/>
            <a:ext cx="8243887" cy="508447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Основни понятия на релационния модел 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idx="1"/>
          </p:nvPr>
        </p:nvSpPr>
        <p:spPr>
          <a:xfrm>
            <a:off x="800100" y="1052736"/>
            <a:ext cx="7581900" cy="4824536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bg-BG" altLang="bg-BG" sz="2400" dirty="0"/>
              <a:t>Всяка релационна </a:t>
            </a:r>
            <a:r>
              <a:rPr lang="bg-BG" altLang="bg-BG" sz="2400" dirty="0" smtClean="0"/>
              <a:t>схема </a:t>
            </a:r>
            <a:r>
              <a:rPr lang="en-US" altLang="bg-BG" sz="2400" dirty="0" smtClean="0"/>
              <a:t>                       </a:t>
            </a:r>
            <a:r>
              <a:rPr lang="bg-BG" altLang="bg-BG" sz="2400" dirty="0" smtClean="0"/>
              <a:t>описва </a:t>
            </a:r>
            <a:r>
              <a:rPr lang="bg-BG" altLang="bg-BG" sz="2400" dirty="0"/>
              <a:t>отношение r.</a:t>
            </a:r>
            <a:endParaRPr lang="en-US" altLang="bg-BG" sz="2400" u="sng" dirty="0"/>
          </a:p>
          <a:p>
            <a:pPr>
              <a:buFontTx/>
              <a:buNone/>
            </a:pPr>
            <a:r>
              <a:rPr lang="en-US" altLang="bg-BG" sz="2400" u="sng" dirty="0"/>
              <a:t>Def</a:t>
            </a:r>
            <a:r>
              <a:rPr lang="bg-BG" altLang="bg-BG" sz="2400" u="sng" dirty="0"/>
              <a:t>.3: </a:t>
            </a:r>
            <a:r>
              <a:rPr lang="bg-BG" altLang="bg-BG" sz="2400" dirty="0"/>
              <a:t>Броят на атрибутите n се нарича </a:t>
            </a:r>
            <a:r>
              <a:rPr lang="bg-BG" altLang="bg-BG" sz="2400" dirty="0">
                <a:solidFill>
                  <a:srgbClr val="C00000"/>
                </a:solidFill>
              </a:rPr>
              <a:t>степен на </a:t>
            </a:r>
            <a:r>
              <a:rPr lang="bg-BG" altLang="bg-BG" sz="2400" dirty="0" smtClean="0">
                <a:solidFill>
                  <a:srgbClr val="C00000"/>
                </a:solidFill>
              </a:rPr>
              <a:t>отношението</a:t>
            </a:r>
            <a:r>
              <a:rPr lang="bg-BG" altLang="bg-BG" sz="2400" dirty="0" smtClean="0"/>
              <a:t> </a:t>
            </a:r>
            <a:r>
              <a:rPr lang="bg-BG" altLang="bg-BG" sz="2400" dirty="0"/>
              <a:t>r.</a:t>
            </a:r>
          </a:p>
          <a:p>
            <a:pPr>
              <a:buFontTx/>
              <a:buNone/>
            </a:pPr>
            <a:endParaRPr lang="en-US" altLang="bg-BG" sz="900" dirty="0"/>
          </a:p>
          <a:p>
            <a:pPr>
              <a:buFontTx/>
              <a:buNone/>
            </a:pPr>
            <a:r>
              <a:rPr lang="bg-BG" altLang="bg-BG" sz="2400" dirty="0"/>
              <a:t>Нека  </a:t>
            </a:r>
            <a:r>
              <a:rPr lang="en-US" altLang="bg-BG" sz="2400" dirty="0"/>
              <a:t>                            </a:t>
            </a:r>
            <a:r>
              <a:rPr lang="bg-BG" altLang="bg-BG" sz="2400" dirty="0"/>
              <a:t>са n домейна и </a:t>
            </a:r>
            <a:r>
              <a:rPr lang="en-US" altLang="bg-BG" sz="2400" dirty="0" smtClean="0"/>
              <a:t>                            </a:t>
            </a:r>
            <a:r>
              <a:rPr lang="bg-BG" altLang="bg-BG" sz="2400" dirty="0"/>
              <a:t>е релационна </a:t>
            </a:r>
            <a:r>
              <a:rPr lang="bg-BG" altLang="bg-BG" sz="2400" dirty="0" smtClean="0"/>
              <a:t>схема.</a:t>
            </a:r>
            <a:endParaRPr lang="bg-BG" altLang="bg-BG" sz="2400" u="sng" dirty="0"/>
          </a:p>
          <a:p>
            <a:pPr>
              <a:buFontTx/>
              <a:buNone/>
            </a:pPr>
            <a:r>
              <a:rPr lang="bg-BG" altLang="bg-BG" sz="2400" u="sng" dirty="0"/>
              <a:t>D</a:t>
            </a:r>
            <a:r>
              <a:rPr lang="en-US" altLang="bg-BG" sz="2400" u="sng" dirty="0"/>
              <a:t>e</a:t>
            </a:r>
            <a:r>
              <a:rPr lang="bg-BG" altLang="bg-BG" sz="2400" u="sng" dirty="0"/>
              <a:t>f.4: </a:t>
            </a:r>
            <a:r>
              <a:rPr lang="bg-BG" altLang="bg-BG" sz="2400" dirty="0">
                <a:solidFill>
                  <a:srgbClr val="C00000"/>
                </a:solidFill>
              </a:rPr>
              <a:t>Отношение</a:t>
            </a:r>
            <a:r>
              <a:rPr lang="bg-BG" altLang="bg-BG" sz="2400" dirty="0"/>
              <a:t> r се нарича произволно </a:t>
            </a:r>
            <a:r>
              <a:rPr lang="bg-BG" altLang="bg-BG" sz="2400" dirty="0" smtClean="0"/>
              <a:t>подмножество </a:t>
            </a:r>
            <a:r>
              <a:rPr lang="bg-BG" altLang="bg-BG" sz="2400" dirty="0"/>
              <a:t>на декартовото произведение на домейните </a:t>
            </a:r>
            <a:r>
              <a:rPr lang="en-US" altLang="bg-BG" sz="2400" dirty="0"/>
              <a:t>                       </a:t>
            </a:r>
            <a:r>
              <a:rPr lang="bg-BG" altLang="bg-BG" sz="2400" dirty="0"/>
              <a:t>. </a:t>
            </a:r>
          </a:p>
          <a:p>
            <a:pPr>
              <a:buFontTx/>
              <a:buNone/>
            </a:pPr>
            <a:endParaRPr lang="bg-BG" altLang="bg-BG" sz="2400" dirty="0"/>
          </a:p>
          <a:p>
            <a:pPr>
              <a:buFontTx/>
              <a:buNone/>
            </a:pPr>
            <a:r>
              <a:rPr lang="en-US" altLang="bg-BG" sz="2400" u="sng" dirty="0"/>
              <a:t>Def</a:t>
            </a:r>
            <a:r>
              <a:rPr lang="bg-BG" altLang="bg-BG" sz="2400" u="sng" dirty="0"/>
              <a:t>.5</a:t>
            </a:r>
            <a:r>
              <a:rPr lang="bg-BG" altLang="bg-BG" sz="2400" dirty="0"/>
              <a:t> </a:t>
            </a:r>
            <a:r>
              <a:rPr lang="bg-BG" altLang="bg-BG" sz="2400" dirty="0">
                <a:solidFill>
                  <a:srgbClr val="C00000"/>
                </a:solidFill>
              </a:rPr>
              <a:t>Кортеж</a:t>
            </a:r>
            <a:r>
              <a:rPr lang="bg-BG" altLang="bg-BG" sz="2400" dirty="0"/>
              <a:t> </a:t>
            </a:r>
            <a:r>
              <a:rPr lang="en-US" altLang="bg-BG" sz="2400" i="1" dirty="0"/>
              <a:t>t </a:t>
            </a:r>
            <a:r>
              <a:rPr lang="bg-BG" altLang="bg-BG" sz="2400" dirty="0"/>
              <a:t>се нарича наредена </a:t>
            </a:r>
            <a:r>
              <a:rPr lang="en-US" altLang="bg-BG" sz="2400" dirty="0"/>
              <a:t>n</a:t>
            </a:r>
            <a:r>
              <a:rPr lang="bg-BG" altLang="bg-BG" sz="2400" dirty="0"/>
              <a:t>-торка от </a:t>
            </a:r>
            <a:r>
              <a:rPr lang="bg-BG" altLang="bg-BG" sz="2400" dirty="0" smtClean="0"/>
              <a:t>стойности </a:t>
            </a:r>
            <a:endParaRPr lang="en-US" altLang="bg-BG" sz="2400" dirty="0"/>
          </a:p>
          <a:p>
            <a:pPr>
              <a:buFontTx/>
              <a:buNone/>
            </a:pPr>
            <a:r>
              <a:rPr lang="bg-BG" altLang="bg-BG" sz="2400" dirty="0" smtClean="0"/>
              <a:t>                       , където </a:t>
            </a:r>
            <a:r>
              <a:rPr lang="en-US" altLang="bg-BG" dirty="0" smtClean="0"/>
              <a:t>v</a:t>
            </a:r>
            <a:r>
              <a:rPr lang="en-US" altLang="bg-BG" baseline="-25000" dirty="0" smtClean="0"/>
              <a:t>i</a:t>
            </a:r>
            <a:r>
              <a:rPr lang="bg-BG" altLang="bg-BG" sz="2400" dirty="0" smtClean="0"/>
              <a:t> </a:t>
            </a:r>
            <a:r>
              <a:rPr lang="bg-BG" altLang="bg-BG" sz="2400" dirty="0" smtClean="0">
                <a:sym typeface="Symbol"/>
              </a:rPr>
              <a:t></a:t>
            </a:r>
            <a:r>
              <a:rPr lang="en-US" altLang="bg-BG" sz="2400" dirty="0" smtClean="0">
                <a:sym typeface="Symbol"/>
              </a:rPr>
              <a:t> D</a:t>
            </a:r>
            <a:r>
              <a:rPr lang="en-US" altLang="bg-BG" sz="2400" baseline="-25000" dirty="0" smtClean="0">
                <a:sym typeface="Symbol"/>
              </a:rPr>
              <a:t>i </a:t>
            </a:r>
            <a:r>
              <a:rPr lang="en-US" altLang="bg-BG" sz="2400" dirty="0" smtClean="0">
                <a:sym typeface="Symbol"/>
              </a:rPr>
              <a:t>,</a:t>
            </a:r>
            <a:r>
              <a:rPr lang="en-US" altLang="bg-BG" sz="2400" baseline="-25000" dirty="0" smtClean="0">
                <a:sym typeface="Symbol"/>
              </a:rPr>
              <a:t> </a:t>
            </a:r>
            <a:r>
              <a:rPr lang="en-US" altLang="bg-BG" sz="2400" dirty="0" err="1" smtClean="0">
                <a:sym typeface="Symbol"/>
              </a:rPr>
              <a:t>i</a:t>
            </a:r>
            <a:r>
              <a:rPr lang="en-US" altLang="bg-BG" sz="2400" dirty="0" smtClean="0">
                <a:sym typeface="Symbol"/>
              </a:rPr>
              <a:t> = 1,2,…..,n</a:t>
            </a:r>
            <a:r>
              <a:rPr lang="bg-BG" altLang="bg-BG" sz="2400" dirty="0" smtClean="0"/>
              <a:t>.</a:t>
            </a:r>
            <a:endParaRPr lang="bg-BG" altLang="bg-BG" sz="2400" dirty="0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0AD17-BE1A-443F-8E41-90569A1532DD}" type="slidenum">
              <a:rPr lang="bg-BG" altLang="bg-BG"/>
              <a:pPr/>
              <a:t>8</a:t>
            </a:fld>
            <a:endParaRPr lang="bg-BG" altLang="bg-BG"/>
          </a:p>
        </p:txBody>
      </p:sp>
      <p:sp>
        <p:nvSpPr>
          <p:cNvPr id="66573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graphicFrame>
        <p:nvGraphicFramePr>
          <p:cNvPr id="6657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9744045"/>
              </p:ext>
            </p:extLst>
          </p:nvPr>
        </p:nvGraphicFramePr>
        <p:xfrm>
          <a:off x="4097604" y="1210172"/>
          <a:ext cx="1652588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878" name="Equation" r:id="rId3" imgW="1002865" imgH="228501" progId="Equation.3">
                  <p:embed/>
                </p:oleObj>
              </mc:Choice>
              <mc:Fallback>
                <p:oleObj name="Equation" r:id="rId3" imgW="1002865" imgH="228501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7604" y="1210172"/>
                        <a:ext cx="1652588" cy="312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5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graphicFrame>
        <p:nvGraphicFramePr>
          <p:cNvPr id="6657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9338956"/>
              </p:ext>
            </p:extLst>
          </p:nvPr>
        </p:nvGraphicFramePr>
        <p:xfrm>
          <a:off x="1835696" y="2852936"/>
          <a:ext cx="1797050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879" name="Equation" r:id="rId5" imgW="838200" imgH="228600" progId="Equation.3">
                  <p:embed/>
                </p:oleObj>
              </mc:Choice>
              <mc:Fallback>
                <p:oleObj name="Equation" r:id="rId5" imgW="838200" imgH="228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2852936"/>
                        <a:ext cx="1797050" cy="325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83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graphicFrame>
        <p:nvGraphicFramePr>
          <p:cNvPr id="6658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5272749"/>
              </p:ext>
            </p:extLst>
          </p:nvPr>
        </p:nvGraphicFramePr>
        <p:xfrm>
          <a:off x="5840564" y="2880096"/>
          <a:ext cx="196215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880" name="Equation" r:id="rId7" imgW="1002865" imgH="228501" progId="Equation.3">
                  <p:embed/>
                </p:oleObj>
              </mc:Choice>
              <mc:Fallback>
                <p:oleObj name="Equation" r:id="rId7" imgW="1002865" imgH="228501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0564" y="2880096"/>
                        <a:ext cx="1962150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85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graphicFrame>
        <p:nvGraphicFramePr>
          <p:cNvPr id="6658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5357424"/>
              </p:ext>
            </p:extLst>
          </p:nvPr>
        </p:nvGraphicFramePr>
        <p:xfrm>
          <a:off x="2699792" y="4221088"/>
          <a:ext cx="1428750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881" name="Equation" r:id="rId8" imgW="838200" imgH="228600" progId="Equation.3">
                  <p:embed/>
                </p:oleObj>
              </mc:Choice>
              <mc:Fallback>
                <p:oleObj name="Equation" r:id="rId8" imgW="838200" imgH="2286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4221088"/>
                        <a:ext cx="1428750" cy="269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87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graphicFrame>
        <p:nvGraphicFramePr>
          <p:cNvPr id="66586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4649671"/>
              </p:ext>
            </p:extLst>
          </p:nvPr>
        </p:nvGraphicFramePr>
        <p:xfrm>
          <a:off x="2483768" y="4581128"/>
          <a:ext cx="3255962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882" name="Equation" r:id="rId9" imgW="1524000" imgH="228600" progId="Equation.3">
                  <p:embed/>
                </p:oleObj>
              </mc:Choice>
              <mc:Fallback>
                <p:oleObj name="Equation" r:id="rId9" imgW="1524000" imgH="2286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4581128"/>
                        <a:ext cx="3255962" cy="358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89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graphicFrame>
        <p:nvGraphicFramePr>
          <p:cNvPr id="66588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4597634"/>
              </p:ext>
            </p:extLst>
          </p:nvPr>
        </p:nvGraphicFramePr>
        <p:xfrm>
          <a:off x="1475656" y="5373216"/>
          <a:ext cx="1152525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883" name="Equation" r:id="rId11" imgW="762331" imgH="254110" progId="Equation.3">
                  <p:embed/>
                </p:oleObj>
              </mc:Choice>
              <mc:Fallback>
                <p:oleObj name="Equation" r:id="rId11" imgW="762331" imgH="25411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5373216"/>
                        <a:ext cx="1152525" cy="388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0056" y="476672"/>
            <a:ext cx="8243887" cy="508447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Основни понятия на релационния модел 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idx="1"/>
          </p:nvPr>
        </p:nvSpPr>
        <p:spPr>
          <a:xfrm>
            <a:off x="800100" y="1124744"/>
            <a:ext cx="7543800" cy="4824536"/>
          </a:xfrm>
        </p:spPr>
        <p:txBody>
          <a:bodyPr>
            <a:normAutofit lnSpcReduction="10000"/>
          </a:bodyPr>
          <a:lstStyle/>
          <a:p>
            <a:pPr algn="ctr">
              <a:buFontTx/>
              <a:buNone/>
            </a:pPr>
            <a:r>
              <a:rPr lang="bg-BG" altLang="bg-BG" sz="2400" dirty="0" smtClean="0">
                <a:solidFill>
                  <a:srgbClr val="C00000"/>
                </a:solidFill>
              </a:rPr>
              <a:t>Формални дефиниции – пример</a:t>
            </a:r>
          </a:p>
          <a:p>
            <a:pPr marL="0" indent="0">
              <a:buNone/>
            </a:pPr>
            <a:r>
              <a:rPr lang="bg-BG" altLang="bg-BG" dirty="0" smtClean="0">
                <a:ea typeface="ＭＳ Ｐゴシック" pitchFamily="34" charset="-128"/>
              </a:rPr>
              <a:t>Нека </a:t>
            </a:r>
            <a:r>
              <a:rPr lang="en-US" altLang="bg-BG" dirty="0" smtClean="0">
                <a:ea typeface="ＭＳ Ｐゴシック" pitchFamily="34" charset="-128"/>
              </a:rPr>
              <a:t>R(A</a:t>
            </a:r>
            <a:r>
              <a:rPr lang="en-US" altLang="bg-BG" baseline="-25000" dirty="0" smtClean="0">
                <a:ea typeface="ＭＳ Ｐゴシック" pitchFamily="34" charset="-128"/>
              </a:rPr>
              <a:t>1</a:t>
            </a:r>
            <a:r>
              <a:rPr lang="en-US" altLang="bg-BG" dirty="0">
                <a:ea typeface="ＭＳ Ｐゴシック" pitchFamily="34" charset="-128"/>
              </a:rPr>
              <a:t>, A</a:t>
            </a:r>
            <a:r>
              <a:rPr lang="en-US" altLang="bg-BG" baseline="-25000" dirty="0">
                <a:ea typeface="ＭＳ Ｐゴシック" pitchFamily="34" charset="-128"/>
              </a:rPr>
              <a:t>2</a:t>
            </a:r>
            <a:r>
              <a:rPr lang="en-US" altLang="bg-BG" dirty="0">
                <a:ea typeface="ＭＳ Ｐゴシック" pitchFamily="34" charset="-128"/>
              </a:rPr>
              <a:t>) </a:t>
            </a:r>
            <a:r>
              <a:rPr lang="bg-BG" altLang="bg-BG" dirty="0" smtClean="0">
                <a:ea typeface="ＭＳ Ｐゴシック" pitchFamily="34" charset="-128"/>
              </a:rPr>
              <a:t>е релационна схема като </a:t>
            </a:r>
            <a:r>
              <a:rPr lang="en-US" altLang="bg-BG" dirty="0" err="1" smtClean="0">
                <a:ea typeface="ＭＳ Ｐゴシック" pitchFamily="34" charset="-128"/>
              </a:rPr>
              <a:t>dom</a:t>
            </a:r>
            <a:r>
              <a:rPr lang="en-US" altLang="bg-BG" dirty="0" smtClean="0">
                <a:ea typeface="ＭＳ Ｐゴシック" pitchFamily="34" charset="-128"/>
              </a:rPr>
              <a:t>(A</a:t>
            </a:r>
            <a:r>
              <a:rPr lang="en-US" altLang="bg-BG" baseline="-25000" dirty="0" smtClean="0">
                <a:ea typeface="ＭＳ Ｐゴシック" pitchFamily="34" charset="-128"/>
              </a:rPr>
              <a:t>1</a:t>
            </a:r>
            <a:r>
              <a:rPr lang="en-US" altLang="bg-BG" dirty="0">
                <a:ea typeface="ＭＳ Ｐゴシック" pitchFamily="34" charset="-128"/>
              </a:rPr>
              <a:t>) = {0,1}</a:t>
            </a:r>
          </a:p>
          <a:p>
            <a:pPr marL="320040" lvl="1" indent="0">
              <a:buNone/>
            </a:pPr>
            <a:r>
              <a:rPr lang="en-US" altLang="bg-BG" dirty="0" smtClean="0">
                <a:ea typeface="ＭＳ Ｐゴシック" pitchFamily="34" charset="-128"/>
              </a:rPr>
              <a:t> </a:t>
            </a:r>
            <a:r>
              <a:rPr lang="bg-BG" altLang="bg-BG" dirty="0" smtClean="0">
                <a:ea typeface="ＭＳ Ｐゴシック" pitchFamily="34" charset="-128"/>
              </a:rPr>
              <a:t> и </a:t>
            </a:r>
            <a:r>
              <a:rPr lang="en-US" altLang="bg-BG" dirty="0" err="1" smtClean="0">
                <a:ea typeface="ＭＳ Ｐゴシック" pitchFamily="34" charset="-128"/>
              </a:rPr>
              <a:t>dom</a:t>
            </a:r>
            <a:r>
              <a:rPr lang="en-US" altLang="bg-BG" dirty="0" smtClean="0">
                <a:ea typeface="ＭＳ Ｐゴシック" pitchFamily="34" charset="-128"/>
              </a:rPr>
              <a:t>(A</a:t>
            </a:r>
            <a:r>
              <a:rPr lang="en-US" altLang="bg-BG" baseline="-25000" dirty="0" smtClean="0">
                <a:ea typeface="ＭＳ Ｐゴシック" pitchFamily="34" charset="-128"/>
              </a:rPr>
              <a:t>2</a:t>
            </a:r>
            <a:r>
              <a:rPr lang="en-US" altLang="bg-BG" dirty="0">
                <a:ea typeface="ＭＳ Ｐゴシック" pitchFamily="34" charset="-128"/>
              </a:rPr>
              <a:t>) =  {</a:t>
            </a:r>
            <a:r>
              <a:rPr lang="en-US" altLang="bg-BG" dirty="0" err="1">
                <a:ea typeface="ＭＳ Ｐゴシック" pitchFamily="34" charset="-128"/>
              </a:rPr>
              <a:t>a,b,c</a:t>
            </a:r>
            <a:r>
              <a:rPr lang="en-US" altLang="bg-BG" dirty="0" smtClean="0">
                <a:ea typeface="ＭＳ Ｐゴシック" pitchFamily="34" charset="-128"/>
              </a:rPr>
              <a:t>}</a:t>
            </a:r>
            <a:r>
              <a:rPr lang="bg-BG" altLang="bg-BG" dirty="0" smtClean="0">
                <a:ea typeface="ＭＳ Ｐゴシック" pitchFamily="34" charset="-128"/>
              </a:rPr>
              <a:t>.</a:t>
            </a:r>
            <a:endParaRPr lang="en-US" altLang="bg-BG" dirty="0">
              <a:ea typeface="ＭＳ Ｐゴシック" pitchFamily="34" charset="-128"/>
            </a:endParaRPr>
          </a:p>
          <a:p>
            <a:pPr marL="0" indent="0">
              <a:buNone/>
            </a:pPr>
            <a:r>
              <a:rPr lang="bg-BG" altLang="bg-BG" dirty="0" smtClean="0">
                <a:ea typeface="ＭＳ Ｐゴシック" pitchFamily="34" charset="-128"/>
              </a:rPr>
              <a:t>Тогава</a:t>
            </a:r>
            <a:r>
              <a:rPr lang="bg-BG" altLang="bg-BG" dirty="0">
                <a:ea typeface="ＭＳ Ｐゴシック" pitchFamily="34" charset="-128"/>
              </a:rPr>
              <a:t> </a:t>
            </a:r>
            <a:r>
              <a:rPr lang="bg-BG" altLang="bg-BG" dirty="0" smtClean="0">
                <a:ea typeface="ＭＳ Ｐゴシック" pitchFamily="34" charset="-128"/>
              </a:rPr>
              <a:t>декартовото произведение </a:t>
            </a:r>
            <a:r>
              <a:rPr lang="en-US" altLang="bg-BG" dirty="0" err="1" smtClean="0">
                <a:ea typeface="ＭＳ Ｐゴシック" pitchFamily="34" charset="-128"/>
              </a:rPr>
              <a:t>dom</a:t>
            </a:r>
            <a:r>
              <a:rPr lang="en-US" altLang="bg-BG" dirty="0" smtClean="0">
                <a:ea typeface="ＭＳ Ｐゴシック" pitchFamily="34" charset="-128"/>
              </a:rPr>
              <a:t>(A</a:t>
            </a:r>
            <a:r>
              <a:rPr lang="en-US" altLang="bg-BG" baseline="-25000" dirty="0" smtClean="0">
                <a:ea typeface="ＭＳ Ｐゴシック" pitchFamily="34" charset="-128"/>
              </a:rPr>
              <a:t>1</a:t>
            </a:r>
            <a:r>
              <a:rPr lang="en-US" altLang="bg-BG" dirty="0">
                <a:ea typeface="ＭＳ Ｐゴシック" pitchFamily="34" charset="-128"/>
              </a:rPr>
              <a:t>) X </a:t>
            </a:r>
            <a:r>
              <a:rPr lang="en-US" altLang="bg-BG" dirty="0" err="1">
                <a:ea typeface="ＭＳ Ｐゴシック" pitchFamily="34" charset="-128"/>
              </a:rPr>
              <a:t>dom</a:t>
            </a:r>
            <a:r>
              <a:rPr lang="en-US" altLang="bg-BG" dirty="0">
                <a:ea typeface="ＭＳ Ｐゴシック" pitchFamily="34" charset="-128"/>
              </a:rPr>
              <a:t>(A</a:t>
            </a:r>
            <a:r>
              <a:rPr lang="en-US" altLang="bg-BG" baseline="-25000" dirty="0">
                <a:ea typeface="ＭＳ Ｐゴシック" pitchFamily="34" charset="-128"/>
              </a:rPr>
              <a:t>2</a:t>
            </a:r>
            <a:r>
              <a:rPr lang="en-US" altLang="bg-BG" dirty="0">
                <a:ea typeface="ＭＳ Ｐゴシック" pitchFamily="34" charset="-128"/>
              </a:rPr>
              <a:t>) </a:t>
            </a:r>
            <a:r>
              <a:rPr lang="bg-BG" altLang="bg-BG" dirty="0" smtClean="0">
                <a:ea typeface="ＭＳ Ｐゴシック" pitchFamily="34" charset="-128"/>
              </a:rPr>
              <a:t>съдържа </a:t>
            </a:r>
            <a:r>
              <a:rPr lang="en-US" altLang="bg-BG" dirty="0" smtClean="0">
                <a:ea typeface="ＭＳ Ｐゴシック" pitchFamily="34" charset="-128"/>
              </a:rPr>
              <a:t> </a:t>
            </a:r>
            <a:r>
              <a:rPr lang="bg-BG" altLang="bg-BG" dirty="0" smtClean="0">
                <a:ea typeface="ＭＳ Ｐゴシック" pitchFamily="34" charset="-128"/>
              </a:rPr>
              <a:t>всички възможни комбинации</a:t>
            </a:r>
            <a:r>
              <a:rPr lang="en-US" altLang="bg-BG" dirty="0" smtClean="0">
                <a:ea typeface="ＭＳ Ｐゴシック" pitchFamily="34" charset="-128"/>
              </a:rPr>
              <a:t>:</a:t>
            </a:r>
            <a:endParaRPr lang="en-US" altLang="bg-BG" dirty="0">
              <a:ea typeface="ＭＳ Ｐゴシック" pitchFamily="34" charset="-128"/>
            </a:endParaRPr>
          </a:p>
          <a:p>
            <a:pPr marL="320040" lvl="1" indent="0" algn="ctr">
              <a:buNone/>
            </a:pPr>
            <a:r>
              <a:rPr lang="en-US" altLang="bg-BG" dirty="0">
                <a:ea typeface="ＭＳ Ｐゴシック" pitchFamily="34" charset="-128"/>
              </a:rPr>
              <a:t>{&lt;0,a&gt; , &lt;0,b&gt; , &lt;0,c&gt;, &lt;1,a&gt;, &lt;1,b&gt;, &lt;1,c&gt; } </a:t>
            </a:r>
          </a:p>
          <a:p>
            <a:pPr marL="320040" lvl="1" indent="0">
              <a:buNone/>
            </a:pPr>
            <a:endParaRPr lang="en-US" altLang="bg-BG" dirty="0">
              <a:ea typeface="ＭＳ Ｐゴシック" pitchFamily="34" charset="-128"/>
            </a:endParaRPr>
          </a:p>
          <a:p>
            <a:pPr marL="0" indent="0">
              <a:buNone/>
            </a:pPr>
            <a:r>
              <a:rPr lang="bg-BG" altLang="bg-BG" dirty="0" smtClean="0">
                <a:ea typeface="ＭＳ Ｐゴシック" pitchFamily="34" charset="-128"/>
              </a:rPr>
              <a:t>Отношението </a:t>
            </a:r>
            <a:r>
              <a:rPr lang="en-US" altLang="bg-BG" dirty="0" smtClean="0">
                <a:ea typeface="ＭＳ Ｐゴシック" pitchFamily="34" charset="-128"/>
              </a:rPr>
              <a:t>r(R</a:t>
            </a:r>
            <a:r>
              <a:rPr lang="en-US" altLang="bg-BG" dirty="0">
                <a:ea typeface="ＭＳ Ｐゴシック" pitchFamily="34" charset="-128"/>
              </a:rPr>
              <a:t>) </a:t>
            </a:r>
            <a:r>
              <a:rPr lang="en-US" altLang="bg-BG" dirty="0">
                <a:ea typeface="ＭＳ Ｐゴシック" pitchFamily="34" charset="-128"/>
                <a:sym typeface="Symbol" pitchFamily="18" charset="2"/>
              </a:rPr>
              <a:t></a:t>
            </a:r>
            <a:r>
              <a:rPr lang="en-US" altLang="bg-BG" dirty="0">
                <a:ea typeface="ＭＳ Ｐゴシック" pitchFamily="34" charset="-128"/>
              </a:rPr>
              <a:t> </a:t>
            </a:r>
            <a:r>
              <a:rPr lang="en-US" altLang="bg-BG" dirty="0" err="1">
                <a:ea typeface="ＭＳ Ｐゴシック" pitchFamily="34" charset="-128"/>
              </a:rPr>
              <a:t>dom</a:t>
            </a:r>
            <a:r>
              <a:rPr lang="en-US" altLang="bg-BG" dirty="0">
                <a:ea typeface="ＭＳ Ｐゴシック" pitchFamily="34" charset="-128"/>
              </a:rPr>
              <a:t>(A</a:t>
            </a:r>
            <a:r>
              <a:rPr lang="en-US" altLang="bg-BG" baseline="-25000" dirty="0">
                <a:ea typeface="ＭＳ Ｐゴシック" pitchFamily="34" charset="-128"/>
              </a:rPr>
              <a:t>1</a:t>
            </a:r>
            <a:r>
              <a:rPr lang="en-US" altLang="bg-BG" dirty="0">
                <a:ea typeface="ＭＳ Ｐゴシック" pitchFamily="34" charset="-128"/>
              </a:rPr>
              <a:t>) </a:t>
            </a:r>
            <a:r>
              <a:rPr lang="en-US" altLang="bg-BG" dirty="0" smtClean="0">
                <a:ea typeface="ＭＳ Ｐゴシック" pitchFamily="34" charset="-128"/>
              </a:rPr>
              <a:t>x </a:t>
            </a:r>
            <a:r>
              <a:rPr lang="en-US" altLang="bg-BG" dirty="0" err="1">
                <a:ea typeface="ＭＳ Ｐゴシック" pitchFamily="34" charset="-128"/>
              </a:rPr>
              <a:t>dom</a:t>
            </a:r>
            <a:r>
              <a:rPr lang="en-US" altLang="bg-BG" dirty="0">
                <a:ea typeface="ＭＳ Ｐゴシック" pitchFamily="34" charset="-128"/>
              </a:rPr>
              <a:t>(A</a:t>
            </a:r>
            <a:r>
              <a:rPr lang="en-US" altLang="bg-BG" baseline="-25000" dirty="0">
                <a:ea typeface="ＭＳ Ｐゴシック" pitchFamily="34" charset="-128"/>
              </a:rPr>
              <a:t>2</a:t>
            </a:r>
            <a:r>
              <a:rPr lang="en-US" altLang="bg-BG" dirty="0" smtClean="0">
                <a:ea typeface="ＭＳ Ｐゴシック" pitchFamily="34" charset="-128"/>
              </a:rPr>
              <a:t>)</a:t>
            </a:r>
            <a:r>
              <a:rPr lang="bg-BG" altLang="bg-BG" dirty="0" smtClean="0">
                <a:ea typeface="ＭＳ Ｐゴシック" pitchFamily="34" charset="-128"/>
              </a:rPr>
              <a:t>.</a:t>
            </a:r>
            <a:endParaRPr lang="en-US" altLang="bg-BG" dirty="0">
              <a:ea typeface="ＭＳ Ｐゴシック" pitchFamily="34" charset="-128"/>
            </a:endParaRPr>
          </a:p>
          <a:p>
            <a:pPr marL="0" indent="0">
              <a:buNone/>
            </a:pPr>
            <a:r>
              <a:rPr lang="bg-BG" altLang="bg-BG" dirty="0" smtClean="0">
                <a:ea typeface="ＭＳ Ｐゴシック" pitchFamily="34" charset="-128"/>
              </a:rPr>
              <a:t>Например</a:t>
            </a:r>
            <a:r>
              <a:rPr lang="en-US" altLang="bg-BG" dirty="0" smtClean="0">
                <a:ea typeface="ＭＳ Ｐゴシック" pitchFamily="34" charset="-128"/>
              </a:rPr>
              <a:t>: </a:t>
            </a:r>
            <a:r>
              <a:rPr lang="en-US" altLang="bg-BG" dirty="0">
                <a:ea typeface="ＭＳ Ｐゴシック" pitchFamily="34" charset="-128"/>
              </a:rPr>
              <a:t>r(R) </a:t>
            </a:r>
            <a:r>
              <a:rPr lang="bg-BG" altLang="bg-BG" dirty="0" smtClean="0">
                <a:ea typeface="ＭＳ Ｐゴシック" pitchFamily="34" charset="-128"/>
              </a:rPr>
              <a:t>може да съдържа </a:t>
            </a:r>
            <a:r>
              <a:rPr lang="en-US" altLang="bg-BG" dirty="0" smtClean="0">
                <a:ea typeface="ＭＳ Ｐゴシック" pitchFamily="34" charset="-128"/>
              </a:rPr>
              <a:t>{&lt;</a:t>
            </a:r>
            <a:r>
              <a:rPr lang="en-US" altLang="bg-BG" dirty="0">
                <a:ea typeface="ＭＳ Ｐゴシック" pitchFamily="34" charset="-128"/>
              </a:rPr>
              <a:t>0,a&gt; , &lt;0,b&gt; , &lt;1,c&gt; }</a:t>
            </a:r>
          </a:p>
          <a:p>
            <a:pPr marL="320040" lvl="1" indent="0">
              <a:buNone/>
            </a:pPr>
            <a:r>
              <a:rPr lang="bg-BG" altLang="bg-BG" dirty="0" smtClean="0">
                <a:ea typeface="ＭＳ Ｐゴシック" pitchFamily="34" charset="-128"/>
              </a:rPr>
              <a:t>Това е едно възможно състояние на отношението</a:t>
            </a:r>
            <a:r>
              <a:rPr lang="en-US" altLang="bg-BG" dirty="0" smtClean="0">
                <a:ea typeface="ＭＳ Ｐゴシック" pitchFamily="34" charset="-128"/>
              </a:rPr>
              <a:t> </a:t>
            </a:r>
            <a:r>
              <a:rPr lang="en-US" altLang="bg-BG" dirty="0">
                <a:ea typeface="ＭＳ Ｐゴシック" pitchFamily="34" charset="-128"/>
              </a:rPr>
              <a:t>r </a:t>
            </a:r>
            <a:r>
              <a:rPr lang="bg-BG" altLang="bg-BG" dirty="0" smtClean="0">
                <a:ea typeface="ＭＳ Ｐゴシック" pitchFamily="34" charset="-128"/>
              </a:rPr>
              <a:t>с релационна схема </a:t>
            </a:r>
            <a:r>
              <a:rPr lang="en-US" altLang="bg-BG" dirty="0">
                <a:ea typeface="ＭＳ Ｐゴシック" pitchFamily="34" charset="-128"/>
              </a:rPr>
              <a:t>R(A</a:t>
            </a:r>
            <a:r>
              <a:rPr lang="en-US" altLang="bg-BG" baseline="-25000" dirty="0">
                <a:ea typeface="ＭＳ Ｐゴシック" pitchFamily="34" charset="-128"/>
              </a:rPr>
              <a:t>1</a:t>
            </a:r>
            <a:r>
              <a:rPr lang="en-US" altLang="bg-BG" dirty="0">
                <a:ea typeface="ＭＳ Ｐゴシック" pitchFamily="34" charset="-128"/>
              </a:rPr>
              <a:t>, A</a:t>
            </a:r>
            <a:r>
              <a:rPr lang="en-US" altLang="bg-BG" baseline="-25000" dirty="0">
                <a:ea typeface="ＭＳ Ｐゴシック" pitchFamily="34" charset="-128"/>
              </a:rPr>
              <a:t>2</a:t>
            </a:r>
            <a:r>
              <a:rPr lang="en-US" altLang="bg-BG" dirty="0" smtClean="0">
                <a:ea typeface="ＭＳ Ｐゴシック" pitchFamily="34" charset="-128"/>
              </a:rPr>
              <a:t>)</a:t>
            </a:r>
            <a:r>
              <a:rPr lang="bg-BG" altLang="bg-BG" dirty="0" smtClean="0">
                <a:ea typeface="ＭＳ Ｐゴシック" pitchFamily="34" charset="-128"/>
              </a:rPr>
              <a:t>, което съдържа три кортежа:</a:t>
            </a:r>
            <a:r>
              <a:rPr lang="en-US" altLang="bg-BG" dirty="0" smtClean="0">
                <a:ea typeface="ＭＳ Ｐゴシック" pitchFamily="34" charset="-128"/>
              </a:rPr>
              <a:t> </a:t>
            </a:r>
            <a:endParaRPr lang="bg-BG" altLang="bg-BG" dirty="0" smtClean="0">
              <a:ea typeface="ＭＳ Ｐゴシック" pitchFamily="34" charset="-128"/>
            </a:endParaRPr>
          </a:p>
          <a:p>
            <a:pPr marL="320040" lvl="1" indent="0">
              <a:buNone/>
            </a:pPr>
            <a:r>
              <a:rPr lang="en-US" altLang="bg-BG" dirty="0" smtClean="0">
                <a:ea typeface="ＭＳ Ｐゴシック" pitchFamily="34" charset="-128"/>
              </a:rPr>
              <a:t>&lt;</a:t>
            </a:r>
            <a:r>
              <a:rPr lang="en-US" altLang="bg-BG" dirty="0">
                <a:ea typeface="ＭＳ Ｐゴシック" pitchFamily="34" charset="-128"/>
              </a:rPr>
              <a:t>0,a&gt; , &lt;0,b&gt; , &lt;1,c&gt; </a:t>
            </a:r>
            <a:r>
              <a:rPr lang="bg-BG" altLang="bg-BG" dirty="0" smtClean="0">
                <a:ea typeface="ＭＳ Ｐゴシック" pitchFamily="34" charset="-128"/>
              </a:rPr>
              <a:t>.</a:t>
            </a:r>
            <a:endParaRPr lang="en-US" altLang="bg-BG" sz="2400" u="sng" dirty="0"/>
          </a:p>
          <a:p>
            <a:pPr>
              <a:buFontTx/>
              <a:buNone/>
            </a:pPr>
            <a:endParaRPr lang="en-US" altLang="bg-BG" sz="2400" u="sng" dirty="0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0AD17-BE1A-443F-8E41-90569A1532DD}" type="slidenum">
              <a:rPr lang="bg-BG" altLang="bg-BG"/>
              <a:pPr/>
              <a:t>9</a:t>
            </a:fld>
            <a:endParaRPr lang="bg-BG" altLang="bg-BG"/>
          </a:p>
        </p:txBody>
      </p:sp>
      <p:sp>
        <p:nvSpPr>
          <p:cNvPr id="66573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66575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66583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66585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66587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66589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498363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404664"/>
            <a:ext cx="8243887" cy="581174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Основни понятия на релационния модел 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268413"/>
            <a:ext cx="8229600" cy="2482850"/>
          </a:xfrm>
        </p:spPr>
        <p:txBody>
          <a:bodyPr>
            <a:normAutofit lnSpcReduction="10000"/>
          </a:bodyPr>
          <a:lstStyle/>
          <a:p>
            <a:pPr marL="609600" indent="-609600" algn="just">
              <a:buFontTx/>
              <a:buNone/>
            </a:pPr>
            <a:r>
              <a:rPr lang="en-US" altLang="bg-BG" sz="2400" u="sng" dirty="0"/>
              <a:t>Def</a:t>
            </a:r>
            <a:r>
              <a:rPr lang="bg-BG" altLang="bg-BG" sz="2400" u="sng" dirty="0"/>
              <a:t>.6</a:t>
            </a:r>
            <a:r>
              <a:rPr lang="bg-BG" altLang="bg-BG" sz="2400" dirty="0"/>
              <a:t> Броят </a:t>
            </a:r>
            <a:r>
              <a:rPr lang="bg-BG" altLang="bg-BG" sz="2400" i="1" dirty="0"/>
              <a:t>m</a:t>
            </a:r>
            <a:r>
              <a:rPr lang="bg-BG" altLang="bg-BG" sz="2400" dirty="0"/>
              <a:t> на кортежите се нарича </a:t>
            </a:r>
            <a:r>
              <a:rPr lang="bg-BG" altLang="bg-BG" sz="2400" dirty="0">
                <a:solidFill>
                  <a:srgbClr val="C00000"/>
                </a:solidFill>
              </a:rPr>
              <a:t>мощност на отношението</a:t>
            </a:r>
            <a:r>
              <a:rPr lang="bg-BG" altLang="bg-BG" sz="2400" dirty="0"/>
              <a:t> </a:t>
            </a:r>
            <a:r>
              <a:rPr lang="bg-BG" altLang="bg-BG" sz="2400" i="1" dirty="0"/>
              <a:t>r</a:t>
            </a:r>
            <a:r>
              <a:rPr lang="bg-BG" altLang="bg-BG" sz="2400" dirty="0"/>
              <a:t>. </a:t>
            </a:r>
            <a:endParaRPr lang="en-US" altLang="bg-BG" sz="2400" dirty="0"/>
          </a:p>
          <a:p>
            <a:pPr marL="609600" indent="-609600" algn="just">
              <a:buFontTx/>
              <a:buNone/>
            </a:pPr>
            <a:r>
              <a:rPr lang="bg-BG" altLang="bg-BG" sz="2400" dirty="0"/>
              <a:t>Да обобщим:</a:t>
            </a:r>
          </a:p>
          <a:p>
            <a:pPr marL="609600" indent="-609600"/>
            <a:r>
              <a:rPr lang="bg-BG" altLang="bg-BG" sz="2400" dirty="0"/>
              <a:t>отношението е множество от кортежи;</a:t>
            </a:r>
          </a:p>
          <a:p>
            <a:pPr marL="609600" indent="-609600"/>
            <a:r>
              <a:rPr lang="bg-BG" altLang="bg-BG" sz="2400" dirty="0"/>
              <a:t>всяка стойност принадлежи на определен домен. </a:t>
            </a:r>
            <a:endParaRPr lang="en-US" altLang="bg-BG" sz="2400" dirty="0"/>
          </a:p>
          <a:p>
            <a:pPr marL="609600" indent="-609600">
              <a:buFontTx/>
              <a:buNone/>
            </a:pPr>
            <a:r>
              <a:rPr lang="bg-BG" altLang="bg-BG" sz="2400" dirty="0"/>
              <a:t>Пример: стойностите </a:t>
            </a:r>
            <a:r>
              <a:rPr lang="en-US" altLang="bg-BG" sz="2400" dirty="0" smtClean="0">
                <a:solidFill>
                  <a:srgbClr val="C00000"/>
                </a:solidFill>
              </a:rPr>
              <a:t>null</a:t>
            </a:r>
            <a:r>
              <a:rPr lang="bg-BG" altLang="bg-BG" sz="2400" dirty="0" smtClean="0"/>
              <a:t>.</a:t>
            </a:r>
            <a:endParaRPr lang="bg-BG" altLang="bg-BG" sz="2400" dirty="0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8049B-567A-4ECF-8959-B39858261020}" type="slidenum">
              <a:rPr lang="bg-BG" altLang="bg-BG"/>
              <a:pPr/>
              <a:t>10</a:t>
            </a:fld>
            <a:endParaRPr lang="bg-BG" altLang="bg-BG"/>
          </a:p>
        </p:txBody>
      </p:sp>
      <p:sp>
        <p:nvSpPr>
          <p:cNvPr id="97288" name="Rectangle 8"/>
          <p:cNvSpPr>
            <a:spLocks noChangeArrowheads="1"/>
          </p:cNvSpPr>
          <p:nvPr/>
        </p:nvSpPr>
        <p:spPr bwMode="auto">
          <a:xfrm>
            <a:off x="899592" y="3748397"/>
            <a:ext cx="10683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bg-BG" altLang="bg-BG" sz="1800" b="1" dirty="0"/>
              <a:t>STUDENT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7504" y="4183187"/>
            <a:ext cx="8280920" cy="1807269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332656"/>
            <a:ext cx="8243887" cy="608285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Основни понятия на релационния модел 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683568" y="980728"/>
            <a:ext cx="8002587" cy="4752528"/>
          </a:xfrm>
        </p:spPr>
        <p:txBody>
          <a:bodyPr>
            <a:normAutofit fontScale="92500" lnSpcReduction="20000"/>
          </a:bodyPr>
          <a:lstStyle/>
          <a:p>
            <a:pPr marL="609600" indent="-609600" algn="ctr">
              <a:buFontTx/>
              <a:buNone/>
            </a:pPr>
            <a:r>
              <a:rPr lang="bg-BG" altLang="bg-BG" sz="3000" dirty="0">
                <a:solidFill>
                  <a:srgbClr val="C00000"/>
                </a:solidFill>
              </a:rPr>
              <a:t>Свойства на отношението</a:t>
            </a:r>
          </a:p>
          <a:p>
            <a:pPr marL="609600" indent="-609600" algn="ctr">
              <a:buFontTx/>
              <a:buNone/>
            </a:pPr>
            <a:endParaRPr lang="bg-BG" altLang="bg-BG" sz="1000" dirty="0"/>
          </a:p>
          <a:p>
            <a:pPr marL="609600" indent="-609600">
              <a:buFontTx/>
              <a:buAutoNum type="arabicPeriod"/>
            </a:pPr>
            <a:r>
              <a:rPr lang="bg-BG" altLang="bg-BG" sz="2600" dirty="0"/>
              <a:t>Кортежите в отношението не са наредени – може да се даде друга дефиниция, в която не се използва декартово произведение.</a:t>
            </a:r>
          </a:p>
          <a:p>
            <a:pPr marL="609600" indent="-609600">
              <a:buFontTx/>
              <a:buNone/>
            </a:pPr>
            <a:r>
              <a:rPr lang="bg-BG" altLang="bg-BG" sz="2600" dirty="0"/>
              <a:t> </a:t>
            </a:r>
          </a:p>
          <a:p>
            <a:pPr marL="609600" indent="-609600">
              <a:buFontTx/>
              <a:buAutoNum type="arabicPeriod" startAt="2"/>
            </a:pPr>
            <a:r>
              <a:rPr lang="bg-BG" altLang="bg-BG" sz="2600" dirty="0"/>
              <a:t>Стойностите в рамките на даден кортеж не са </a:t>
            </a:r>
            <a:r>
              <a:rPr lang="bg-BG" altLang="bg-BG" sz="2600" dirty="0" smtClean="0"/>
              <a:t>наредени.</a:t>
            </a:r>
            <a:endParaRPr lang="bg-BG" altLang="bg-BG" sz="2600" dirty="0"/>
          </a:p>
          <a:p>
            <a:pPr marL="609600" indent="-609600">
              <a:buFontTx/>
              <a:buNone/>
            </a:pPr>
            <a:endParaRPr lang="bg-BG" altLang="bg-BG" sz="2600" dirty="0"/>
          </a:p>
          <a:p>
            <a:pPr marL="609600" indent="-609600">
              <a:buFontTx/>
              <a:buNone/>
            </a:pPr>
            <a:r>
              <a:rPr lang="bg-BG" altLang="bg-BG" sz="2600" dirty="0"/>
              <a:t>Схемите:    СТУДЕНТ (Фак.№, Име, Адрес, Специалност)</a:t>
            </a:r>
          </a:p>
          <a:p>
            <a:pPr marL="609600" indent="-609600" algn="ctr">
              <a:buFontTx/>
              <a:buNone/>
            </a:pPr>
            <a:r>
              <a:rPr lang="bg-BG" altLang="bg-BG" sz="2600" dirty="0" smtClean="0"/>
              <a:t>                СТУДЕНТ </a:t>
            </a:r>
            <a:r>
              <a:rPr lang="bg-BG" altLang="bg-BG" sz="2600" dirty="0"/>
              <a:t>(Име, Фак.№, Специалност, Адрес</a:t>
            </a:r>
            <a:r>
              <a:rPr lang="bg-BG" altLang="bg-BG" sz="2600" dirty="0" smtClean="0"/>
              <a:t>)</a:t>
            </a:r>
            <a:endParaRPr lang="bg-BG" altLang="bg-BG" sz="2600" dirty="0"/>
          </a:p>
          <a:p>
            <a:r>
              <a:rPr lang="bg-BG" altLang="bg-BG" sz="2600" dirty="0"/>
              <a:t>по дефиниция са </a:t>
            </a:r>
            <a:r>
              <a:rPr lang="bg-BG" altLang="bg-BG" sz="2600" dirty="0" smtClean="0"/>
              <a:t>различни;</a:t>
            </a:r>
            <a:endParaRPr lang="bg-BG" altLang="bg-BG" sz="2600" dirty="0"/>
          </a:p>
          <a:p>
            <a:r>
              <a:rPr lang="bg-BG" altLang="bg-BG" sz="2600" dirty="0"/>
              <a:t>на логическо ниво са идентични – съдържат едни и същи </a:t>
            </a:r>
            <a:r>
              <a:rPr lang="bg-BG" altLang="bg-BG" sz="2600" dirty="0" smtClean="0"/>
              <a:t>данни.</a:t>
            </a:r>
            <a:endParaRPr lang="bg-BG" altLang="bg-BG" sz="2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7A76-F44F-472E-B803-555CA2270DE4}" type="slidenum">
              <a:rPr lang="bg-BG" altLang="bg-BG"/>
              <a:pPr/>
              <a:t>11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332656"/>
            <a:ext cx="8243887" cy="653752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Основни понятия на релационния модел </a:t>
            </a:r>
          </a:p>
        </p:txBody>
      </p:sp>
      <p:sp>
        <p:nvSpPr>
          <p:cNvPr id="136195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052736"/>
            <a:ext cx="8229600" cy="3960440"/>
          </a:xfrm>
        </p:spPr>
        <p:txBody>
          <a:bodyPr>
            <a:normAutofit/>
          </a:bodyPr>
          <a:lstStyle/>
          <a:p>
            <a:pPr marL="609600" indent="-609600">
              <a:lnSpc>
                <a:spcPct val="90000"/>
              </a:lnSpc>
              <a:buFontTx/>
              <a:buAutoNum type="arabicPeriod" startAt="3"/>
            </a:pPr>
            <a:r>
              <a:rPr lang="bg-BG" altLang="bg-BG" dirty="0"/>
              <a:t>Стойностите в кортежите са атомарни – не съществуват:</a:t>
            </a:r>
          </a:p>
          <a:p>
            <a:pPr marL="990600" lvl="1" indent="-533400">
              <a:lnSpc>
                <a:spcPct val="90000"/>
              </a:lnSpc>
            </a:pPr>
            <a:r>
              <a:rPr lang="bg-BG" altLang="bg-BG" sz="2400" dirty="0"/>
              <a:t>сложни атрибути (масиви</a:t>
            </a:r>
            <a:r>
              <a:rPr lang="bg-BG" altLang="bg-BG" sz="2400" dirty="0" smtClean="0"/>
              <a:t>.....);</a:t>
            </a:r>
            <a:endParaRPr lang="bg-BG" altLang="bg-BG" sz="2400" dirty="0"/>
          </a:p>
          <a:p>
            <a:pPr marL="990600" lvl="1" indent="-533400">
              <a:lnSpc>
                <a:spcPct val="90000"/>
              </a:lnSpc>
            </a:pPr>
            <a:r>
              <a:rPr lang="bg-BG" altLang="bg-BG" sz="2400" dirty="0" smtClean="0"/>
              <a:t>многостойностни атрибути.</a:t>
            </a:r>
            <a:endParaRPr lang="bg-BG" altLang="bg-BG" sz="2400" dirty="0"/>
          </a:p>
          <a:p>
            <a:pPr marL="609600" indent="-609600">
              <a:lnSpc>
                <a:spcPct val="90000"/>
              </a:lnSpc>
              <a:buFontTx/>
              <a:buAutoNum type="arabicPeriod" startAt="3"/>
            </a:pPr>
            <a:r>
              <a:rPr lang="bg-BG" altLang="bg-BG" dirty="0"/>
              <a:t>Всяко отношение носи уникално име.</a:t>
            </a:r>
          </a:p>
          <a:p>
            <a:pPr marL="609600" indent="-609600">
              <a:lnSpc>
                <a:spcPct val="90000"/>
              </a:lnSpc>
              <a:buFontTx/>
              <a:buAutoNum type="arabicPeriod" startAt="3"/>
            </a:pPr>
            <a:r>
              <a:rPr lang="bg-BG" altLang="bg-BG" dirty="0"/>
              <a:t>Всеки атрибут носи уникално име в рамките на дадено отношение.</a:t>
            </a:r>
          </a:p>
          <a:p>
            <a:pPr marL="609600" indent="-609600">
              <a:lnSpc>
                <a:spcPct val="90000"/>
              </a:lnSpc>
              <a:buFontTx/>
              <a:buAutoNum type="arabicPeriod" startAt="3"/>
            </a:pPr>
            <a:r>
              <a:rPr lang="bg-BG" altLang="bg-BG" dirty="0"/>
              <a:t>Стойностите на даден атрибут принадлежат на един и същ домейн.</a:t>
            </a:r>
          </a:p>
          <a:p>
            <a:pPr marL="609600" indent="-609600">
              <a:lnSpc>
                <a:spcPct val="90000"/>
              </a:lnSpc>
              <a:buFontTx/>
              <a:buAutoNum type="arabicPeriod" startAt="3"/>
            </a:pPr>
            <a:r>
              <a:rPr lang="bg-BG" altLang="bg-BG" dirty="0"/>
              <a:t>Отношението не съдържа идентични кортежи.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57E29-D86C-4B24-8FE9-F70FD22EEDC4}" type="slidenum">
              <a:rPr lang="bg-BG" altLang="bg-BG"/>
              <a:pPr/>
              <a:t>12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6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6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36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6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6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6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6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6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6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6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6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6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6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6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6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6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6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6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6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6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6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6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36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36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4" grpId="0"/>
      <p:bldP spid="13619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404664"/>
            <a:ext cx="8243887" cy="652462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Основни понятия на релационния модел</a:t>
            </a:r>
            <a:r>
              <a:rPr lang="bg-BG" altLang="bg-BG" sz="3200" dirty="0"/>
              <a:t> 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96752"/>
            <a:ext cx="8229600" cy="4499521"/>
          </a:xfrm>
        </p:spPr>
        <p:txBody>
          <a:bodyPr>
            <a:normAutofit fontScale="92500"/>
          </a:bodyPr>
          <a:lstStyle/>
          <a:p>
            <a:pPr>
              <a:buFontTx/>
              <a:buNone/>
            </a:pPr>
            <a:r>
              <a:rPr lang="bg-BG" altLang="bg-BG" sz="2800" u="sng" dirty="0"/>
              <a:t>При релационния модел основна и единствена структура за представяне на данните в базата е </a:t>
            </a:r>
            <a:r>
              <a:rPr lang="bg-BG" altLang="bg-BG" sz="2800" i="1" u="sng" dirty="0">
                <a:solidFill>
                  <a:srgbClr val="C00000"/>
                </a:solidFill>
              </a:rPr>
              <a:t>отношението</a:t>
            </a:r>
            <a:r>
              <a:rPr lang="bg-BG" altLang="bg-BG" sz="2800" u="sng" dirty="0">
                <a:solidFill>
                  <a:srgbClr val="C00000"/>
                </a:solidFill>
              </a:rPr>
              <a:t>. </a:t>
            </a:r>
          </a:p>
          <a:p>
            <a:pPr>
              <a:buFontTx/>
              <a:buNone/>
            </a:pPr>
            <a:endParaRPr lang="bg-BG" altLang="bg-BG" sz="2400" dirty="0"/>
          </a:p>
          <a:p>
            <a:pPr>
              <a:buFontTx/>
              <a:buNone/>
            </a:pPr>
            <a:r>
              <a:rPr lang="en-US" altLang="bg-BG" sz="2400" u="sng" dirty="0"/>
              <a:t>Def.</a:t>
            </a:r>
            <a:r>
              <a:rPr lang="bg-BG" altLang="bg-BG" sz="2400" u="sng" dirty="0"/>
              <a:t>7</a:t>
            </a:r>
            <a:r>
              <a:rPr lang="bg-BG" altLang="bg-BG" sz="2400" dirty="0"/>
              <a:t> Множеството  от релационни схеми </a:t>
            </a:r>
          </a:p>
          <a:p>
            <a:pPr>
              <a:buFontTx/>
              <a:buNone/>
            </a:pPr>
            <a:r>
              <a:rPr lang="bg-BG" altLang="bg-BG" sz="2400" dirty="0"/>
              <a:t>и множеството от ограничения за цялостност</a:t>
            </a:r>
            <a:r>
              <a:rPr lang="bg-BG" altLang="bg-BG" sz="2400" i="1" dirty="0"/>
              <a:t> </a:t>
            </a:r>
            <a:r>
              <a:rPr lang="bg-BG" altLang="bg-BG" sz="2400" dirty="0"/>
              <a:t>се наричат </a:t>
            </a:r>
            <a:r>
              <a:rPr lang="bg-BG" altLang="bg-BG" sz="2400" dirty="0">
                <a:solidFill>
                  <a:srgbClr val="C00000"/>
                </a:solidFill>
              </a:rPr>
              <a:t>схема</a:t>
            </a:r>
            <a:r>
              <a:rPr lang="bg-BG" altLang="bg-BG" sz="2400" dirty="0">
                <a:solidFill>
                  <a:schemeClr val="accent1"/>
                </a:solidFill>
              </a:rPr>
              <a:t> </a:t>
            </a:r>
          </a:p>
          <a:p>
            <a:pPr>
              <a:buFontTx/>
              <a:buNone/>
            </a:pPr>
            <a:r>
              <a:rPr lang="bg-BG" altLang="bg-BG" sz="2400" dirty="0">
                <a:solidFill>
                  <a:srgbClr val="C00000"/>
                </a:solidFill>
              </a:rPr>
              <a:t>на релационна база от данни. </a:t>
            </a:r>
            <a:endParaRPr lang="en-US" altLang="bg-BG" sz="2400" dirty="0">
              <a:solidFill>
                <a:srgbClr val="C00000"/>
              </a:solidFill>
            </a:endParaRPr>
          </a:p>
          <a:p>
            <a:pPr>
              <a:buFontTx/>
              <a:buNone/>
            </a:pPr>
            <a:endParaRPr lang="bg-BG" altLang="bg-BG" sz="2400" dirty="0"/>
          </a:p>
          <a:p>
            <a:pPr>
              <a:buFontTx/>
              <a:buNone/>
            </a:pPr>
            <a:r>
              <a:rPr lang="en-US" altLang="bg-BG" sz="2400" u="sng" dirty="0"/>
              <a:t>Def.8</a:t>
            </a:r>
            <a:r>
              <a:rPr lang="en-US" altLang="bg-BG" sz="2400" dirty="0"/>
              <a:t> </a:t>
            </a:r>
            <a:r>
              <a:rPr lang="bg-BG" altLang="bg-BG" sz="2400" dirty="0"/>
              <a:t>Множеството  от отношения </a:t>
            </a:r>
            <a:endParaRPr lang="en-US" altLang="bg-BG" sz="2400" dirty="0" smtClean="0"/>
          </a:p>
          <a:p>
            <a:pPr>
              <a:buFontTx/>
              <a:buNone/>
            </a:pPr>
            <a:r>
              <a:rPr lang="bg-BG" altLang="bg-BG" sz="2400" dirty="0" smtClean="0"/>
              <a:t>се нарича </a:t>
            </a:r>
            <a:r>
              <a:rPr lang="bg-BG" altLang="bg-BG" sz="2400" dirty="0" smtClean="0">
                <a:solidFill>
                  <a:srgbClr val="C00000"/>
                </a:solidFill>
              </a:rPr>
              <a:t>състояние на релационната база </a:t>
            </a:r>
            <a:r>
              <a:rPr lang="bg-BG" altLang="bg-BG" sz="2400" dirty="0" smtClean="0"/>
              <a:t>от данни със схема </a:t>
            </a:r>
            <a:r>
              <a:rPr lang="bg-BG" altLang="bg-BG" sz="2400" i="1" dirty="0" smtClean="0"/>
              <a:t>S</a:t>
            </a:r>
            <a:r>
              <a:rPr lang="bg-BG" altLang="bg-BG" sz="2400" dirty="0" smtClean="0"/>
              <a:t>.</a:t>
            </a:r>
          </a:p>
          <a:p>
            <a:pPr>
              <a:buFontTx/>
              <a:buNone/>
            </a:pPr>
            <a:endParaRPr lang="bg-BG" altLang="bg-BG" sz="240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AA235-4400-48A8-966D-DA84AFF8B9EA}" type="slidenum">
              <a:rPr lang="bg-BG" altLang="bg-BG"/>
              <a:pPr/>
              <a:t>13</a:t>
            </a:fld>
            <a:endParaRPr lang="bg-BG" altLang="bg-BG"/>
          </a:p>
        </p:txBody>
      </p:sp>
      <p:sp>
        <p:nvSpPr>
          <p:cNvPr id="13722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graphicFrame>
        <p:nvGraphicFramePr>
          <p:cNvPr id="1372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9420333"/>
              </p:ext>
            </p:extLst>
          </p:nvPr>
        </p:nvGraphicFramePr>
        <p:xfrm>
          <a:off x="5796136" y="2708920"/>
          <a:ext cx="19335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316" name="Equation" r:id="rId3" imgW="1130300" imgH="228600" progId="Equation.3">
                  <p:embed/>
                </p:oleObj>
              </mc:Choice>
              <mc:Fallback>
                <p:oleObj name="Equation" r:id="rId3" imgW="11303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6136" y="2708920"/>
                        <a:ext cx="1933575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22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graphicFrame>
        <p:nvGraphicFramePr>
          <p:cNvPr id="1372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2253278"/>
              </p:ext>
            </p:extLst>
          </p:nvPr>
        </p:nvGraphicFramePr>
        <p:xfrm>
          <a:off x="4788024" y="4323851"/>
          <a:ext cx="1812925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317" name="Equation" r:id="rId5" imgW="1041400" imgH="228600" progId="Equation.3">
                  <p:embed/>
                </p:oleObj>
              </mc:Choice>
              <mc:Fallback>
                <p:oleObj name="Equation" r:id="rId5" imgW="10414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8024" y="4323851"/>
                        <a:ext cx="1812925" cy="398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332656"/>
            <a:ext cx="8243887" cy="652462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Релационни ограничения</a:t>
            </a:r>
          </a:p>
        </p:txBody>
      </p:sp>
      <p:sp>
        <p:nvSpPr>
          <p:cNvPr id="188419" name="Rectangle 3"/>
          <p:cNvSpPr>
            <a:spLocks noGrp="1" noChangeArrowheads="1"/>
          </p:cNvSpPr>
          <p:nvPr>
            <p:ph idx="1"/>
          </p:nvPr>
        </p:nvSpPr>
        <p:spPr>
          <a:xfrm>
            <a:off x="392797" y="1055401"/>
            <a:ext cx="8229600" cy="5028681"/>
          </a:xfrm>
        </p:spPr>
        <p:txBody>
          <a:bodyPr>
            <a:noAutofit/>
          </a:bodyPr>
          <a:lstStyle/>
          <a:p>
            <a:pPr marL="533400" indent="-533400">
              <a:lnSpc>
                <a:spcPct val="80000"/>
              </a:lnSpc>
              <a:spcBef>
                <a:spcPts val="600"/>
              </a:spcBef>
              <a:buFont typeface="Arial" charset="0"/>
              <a:buAutoNum type="arabicPeriod"/>
            </a:pPr>
            <a:r>
              <a:rPr lang="bg-BG" altLang="bg-BG" dirty="0"/>
              <a:t>Ограниченията са условия, които са в сила каквито и данни да съдържа отношението (валидни са за всяко състояние).</a:t>
            </a:r>
            <a:endParaRPr lang="en-US" altLang="bg-BG" dirty="0"/>
          </a:p>
          <a:p>
            <a:pPr marL="533400" indent="-533400">
              <a:lnSpc>
                <a:spcPct val="80000"/>
              </a:lnSpc>
              <a:spcBef>
                <a:spcPts val="600"/>
              </a:spcBef>
              <a:buFont typeface="Arial" charset="0"/>
              <a:buAutoNum type="arabicPeriod"/>
            </a:pPr>
            <a:r>
              <a:rPr lang="bg-BG" altLang="bg-BG" dirty="0" smtClean="0"/>
              <a:t>Ограниченията </a:t>
            </a:r>
            <a:r>
              <a:rPr lang="bg-BG" altLang="bg-BG" dirty="0"/>
              <a:t>са условия, които произлизат от семантиката (значението) на предметната област.</a:t>
            </a:r>
            <a:endParaRPr lang="en-US" altLang="bg-BG" dirty="0"/>
          </a:p>
          <a:p>
            <a:pPr marL="533400" indent="-533400">
              <a:lnSpc>
                <a:spcPct val="80000"/>
              </a:lnSpc>
              <a:spcBef>
                <a:spcPts val="600"/>
              </a:spcBef>
              <a:buFont typeface="Arial" charset="0"/>
              <a:buAutoNum type="arabicPeriod"/>
            </a:pPr>
            <a:r>
              <a:rPr lang="bg-BG" altLang="bg-BG" dirty="0"/>
              <a:t>На релационния модел са присъщи (</a:t>
            </a:r>
            <a:r>
              <a:rPr lang="bg-BG" altLang="bg-BG" dirty="0">
                <a:solidFill>
                  <a:srgbClr val="C00000"/>
                </a:solidFill>
              </a:rPr>
              <a:t>вградени в него</a:t>
            </a:r>
            <a:r>
              <a:rPr lang="bg-BG" altLang="bg-BG" dirty="0"/>
              <a:t>) няколко основни типа ограничения:</a:t>
            </a:r>
            <a:endParaRPr lang="en-US" altLang="bg-BG" dirty="0"/>
          </a:p>
          <a:p>
            <a:pPr marL="1257300" lvl="2" indent="-342900">
              <a:lnSpc>
                <a:spcPct val="80000"/>
              </a:lnSpc>
              <a:spcBef>
                <a:spcPts val="550"/>
              </a:spcBef>
            </a:pPr>
            <a:r>
              <a:rPr lang="bg-BG" altLang="bg-BG" sz="2400" dirty="0"/>
              <a:t>о</a:t>
            </a:r>
            <a:r>
              <a:rPr lang="bg-BG" altLang="bg-BG" sz="2400" dirty="0" smtClean="0"/>
              <a:t>граничения </a:t>
            </a:r>
            <a:r>
              <a:rPr lang="bg-BG" altLang="bg-BG" sz="2400" dirty="0"/>
              <a:t>върху ключа (</a:t>
            </a:r>
            <a:r>
              <a:rPr lang="en-US" altLang="bg-BG" sz="2400" dirty="0"/>
              <a:t>key constraints</a:t>
            </a:r>
            <a:r>
              <a:rPr lang="en-US" altLang="bg-BG" sz="2400" dirty="0" smtClean="0"/>
              <a:t>)</a:t>
            </a:r>
            <a:r>
              <a:rPr lang="bg-BG" altLang="bg-BG" sz="2400" dirty="0" smtClean="0"/>
              <a:t>;</a:t>
            </a:r>
            <a:endParaRPr lang="en-US" altLang="bg-BG" sz="2400" dirty="0"/>
          </a:p>
          <a:p>
            <a:pPr marL="1257300" lvl="2" indent="-342900">
              <a:lnSpc>
                <a:spcPct val="80000"/>
              </a:lnSpc>
              <a:spcBef>
                <a:spcPts val="550"/>
              </a:spcBef>
            </a:pPr>
            <a:r>
              <a:rPr lang="bg-BG" altLang="bg-BG" sz="2400" dirty="0"/>
              <a:t>о</a:t>
            </a:r>
            <a:r>
              <a:rPr lang="bg-BG" altLang="bg-BG" sz="2400" dirty="0" smtClean="0"/>
              <a:t>граничения </a:t>
            </a:r>
            <a:r>
              <a:rPr lang="bg-BG" altLang="bg-BG" sz="2400" dirty="0"/>
              <a:t>за цялостност на обекта (</a:t>
            </a:r>
            <a:r>
              <a:rPr lang="en-US" altLang="bg-BG" sz="2400" dirty="0"/>
              <a:t>entity integrity constraints</a:t>
            </a:r>
            <a:r>
              <a:rPr lang="bg-BG" altLang="bg-BG" sz="2400" dirty="0" smtClean="0"/>
              <a:t>);</a:t>
            </a:r>
            <a:endParaRPr lang="en-US" altLang="bg-BG" sz="2400" dirty="0"/>
          </a:p>
          <a:p>
            <a:pPr marL="1257300" lvl="2" indent="-342900">
              <a:lnSpc>
                <a:spcPct val="80000"/>
              </a:lnSpc>
              <a:spcBef>
                <a:spcPts val="550"/>
              </a:spcBef>
            </a:pPr>
            <a:r>
              <a:rPr lang="bg-BG" altLang="bg-BG" sz="2400" dirty="0"/>
              <a:t>о</a:t>
            </a:r>
            <a:r>
              <a:rPr lang="bg-BG" altLang="bg-BG" sz="2400" dirty="0" smtClean="0"/>
              <a:t>граничения </a:t>
            </a:r>
            <a:r>
              <a:rPr lang="bg-BG" altLang="bg-BG" sz="2400" dirty="0"/>
              <a:t>за цялостност на връзките </a:t>
            </a:r>
            <a:r>
              <a:rPr lang="bg-BG" altLang="bg-BG" sz="2400" dirty="0" smtClean="0"/>
              <a:t>(</a:t>
            </a:r>
            <a:r>
              <a:rPr lang="en-US" altLang="bg-BG" sz="2400" dirty="0" smtClean="0"/>
              <a:t>referential </a:t>
            </a:r>
            <a:r>
              <a:rPr lang="en-US" altLang="bg-BG" sz="2400" dirty="0"/>
              <a:t>integrity constraints</a:t>
            </a:r>
            <a:r>
              <a:rPr lang="bg-BG" altLang="bg-BG" sz="2400" dirty="0" smtClean="0"/>
              <a:t>);</a:t>
            </a:r>
            <a:endParaRPr lang="bg-BG" altLang="bg-BG" sz="2400" dirty="0"/>
          </a:p>
          <a:p>
            <a:pPr marL="1257300" lvl="2" indent="-342900">
              <a:lnSpc>
                <a:spcPct val="80000"/>
              </a:lnSpc>
              <a:spcBef>
                <a:spcPts val="550"/>
              </a:spcBef>
            </a:pPr>
            <a:r>
              <a:rPr lang="bg-BG" altLang="bg-BG" sz="2400" dirty="0"/>
              <a:t>о</a:t>
            </a:r>
            <a:r>
              <a:rPr lang="bg-BG" altLang="bg-BG" sz="2400" dirty="0" smtClean="0"/>
              <a:t>граничения </a:t>
            </a:r>
            <a:r>
              <a:rPr lang="bg-BG" altLang="bg-BG" sz="2400" dirty="0"/>
              <a:t>върху </a:t>
            </a:r>
            <a:r>
              <a:rPr lang="bg-BG" altLang="bg-BG" sz="2400" dirty="0" smtClean="0"/>
              <a:t>домейните</a:t>
            </a:r>
            <a:r>
              <a:rPr lang="en-US" altLang="bg-BG" sz="2400" dirty="0" smtClean="0"/>
              <a:t> (domain constraint);</a:t>
            </a:r>
          </a:p>
          <a:p>
            <a:pPr marL="1257300" lvl="2" indent="-342900">
              <a:lnSpc>
                <a:spcPct val="80000"/>
              </a:lnSpc>
              <a:spcBef>
                <a:spcPts val="550"/>
              </a:spcBef>
            </a:pPr>
            <a:r>
              <a:rPr lang="bg-BG" altLang="bg-BG" sz="2400" dirty="0"/>
              <a:t>о</a:t>
            </a:r>
            <a:r>
              <a:rPr lang="bg-BG" altLang="bg-BG" sz="2400" dirty="0" smtClean="0"/>
              <a:t>граничения за идентитет на кортежите </a:t>
            </a:r>
            <a:r>
              <a:rPr lang="en-US" altLang="bg-BG" sz="2400" dirty="0" smtClean="0"/>
              <a:t>(tuple uniqueness constraint)</a:t>
            </a:r>
            <a:r>
              <a:rPr lang="bg-BG" altLang="bg-BG" sz="2400" dirty="0" smtClean="0"/>
              <a:t> .</a:t>
            </a:r>
            <a:endParaRPr lang="en-US" altLang="bg-BG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2232-D018-4CEA-AB67-0A505DE4B58E}" type="slidenum">
              <a:rPr lang="bg-BG" altLang="bg-BG"/>
              <a:pPr/>
              <a:t>14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332656"/>
            <a:ext cx="8243887" cy="652462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Релационни ограничения</a:t>
            </a:r>
          </a:p>
        </p:txBody>
      </p:sp>
      <p:sp>
        <p:nvSpPr>
          <p:cNvPr id="188419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023860"/>
            <a:ext cx="8229600" cy="4752528"/>
          </a:xfr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spcBef>
                <a:spcPts val="600"/>
              </a:spcBef>
              <a:buNone/>
            </a:pPr>
            <a:endParaRPr lang="bg-BG" altLang="bg-BG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2232-D018-4CEA-AB67-0A505DE4B58E}" type="slidenum">
              <a:rPr lang="bg-BG" altLang="bg-BG"/>
              <a:pPr/>
              <a:t>15</a:t>
            </a:fld>
            <a:endParaRPr lang="bg-BG" altLang="bg-BG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542458"/>
            <a:ext cx="6021780" cy="3579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69598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404664"/>
            <a:ext cx="8243887" cy="508447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Релационни ограничения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idx="1"/>
          </p:nvPr>
        </p:nvSpPr>
        <p:spPr>
          <a:xfrm>
            <a:off x="683568" y="908720"/>
            <a:ext cx="8280920" cy="4752528"/>
          </a:xfrm>
        </p:spPr>
        <p:txBody>
          <a:bodyPr>
            <a:normAutofit fontScale="92500" lnSpcReduction="20000"/>
          </a:bodyPr>
          <a:lstStyle/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bg-BG" altLang="bg-BG" sz="2800" dirty="0"/>
              <a:t>Ограничения върху домейните – стойностите им са </a:t>
            </a:r>
            <a:r>
              <a:rPr lang="bg-BG" altLang="bg-BG" sz="2800" dirty="0" smtClean="0"/>
              <a:t>неделими.</a:t>
            </a:r>
            <a:endParaRPr lang="bg-BG" altLang="bg-BG" sz="2800" dirty="0"/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bg-BG" altLang="bg-BG" sz="2800" dirty="0"/>
              <a:t>Ограничения върху ключа - не се допуска съществуването на два абсолютно идентични </a:t>
            </a:r>
            <a:r>
              <a:rPr lang="bg-BG" altLang="bg-BG" sz="2800" dirty="0" smtClean="0"/>
              <a:t>кортежа. </a:t>
            </a:r>
            <a:r>
              <a:rPr lang="bg-BG" altLang="bg-BG" sz="2600" dirty="0" smtClean="0"/>
              <a:t> </a:t>
            </a:r>
            <a:endParaRPr lang="bg-BG" altLang="bg-BG" sz="2600" dirty="0"/>
          </a:p>
          <a:p>
            <a:pPr marL="0" indent="0">
              <a:lnSpc>
                <a:spcPct val="90000"/>
              </a:lnSpc>
              <a:buNone/>
            </a:pPr>
            <a:r>
              <a:rPr lang="bg-BG" altLang="bg-BG" sz="2800" u="sng" dirty="0"/>
              <a:t>Def.9</a:t>
            </a:r>
            <a:r>
              <a:rPr lang="bg-BG" altLang="bg-BG" sz="2800" dirty="0"/>
              <a:t> </a:t>
            </a:r>
            <a:r>
              <a:rPr lang="bg-BG" altLang="bg-BG" sz="2800" dirty="0">
                <a:solidFill>
                  <a:srgbClr val="C00000"/>
                </a:solidFill>
              </a:rPr>
              <a:t>Суперключ </a:t>
            </a:r>
            <a:r>
              <a:rPr lang="bg-BG" altLang="bg-BG" sz="2800" i="1" dirty="0">
                <a:solidFill>
                  <a:srgbClr val="C00000"/>
                </a:solidFill>
              </a:rPr>
              <a:t>SK </a:t>
            </a:r>
            <a:r>
              <a:rPr lang="bg-BG" altLang="bg-BG" sz="2800" dirty="0"/>
              <a:t>на релационната схема </a:t>
            </a:r>
            <a:endParaRPr lang="bg-BG" altLang="bg-BG" sz="2800" i="1" dirty="0"/>
          </a:p>
          <a:p>
            <a:pPr marL="0" indent="0">
              <a:lnSpc>
                <a:spcPct val="90000"/>
              </a:lnSpc>
              <a:buNone/>
            </a:pPr>
            <a:r>
              <a:rPr lang="bg-BG" altLang="bg-BG" sz="2800" dirty="0"/>
              <a:t>се нарича произволно подмножество 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bg-BG" altLang="bg-BG" sz="2800" dirty="0"/>
              <a:t>на множеството от атрибути  </a:t>
            </a:r>
            <a:r>
              <a:rPr lang="bg-BG" altLang="bg-BG" sz="2800" dirty="0" smtClean="0"/>
              <a:t>                 , такова </a:t>
            </a:r>
            <a:r>
              <a:rPr lang="bg-BG" altLang="bg-BG" sz="2800" dirty="0"/>
              <a:t>че </a:t>
            </a:r>
            <a:r>
              <a:rPr lang="bg-BG" altLang="bg-BG" sz="2800" dirty="0" smtClean="0"/>
              <a:t>за всяка двойка </a:t>
            </a:r>
            <a:r>
              <a:rPr lang="bg-BG" altLang="bg-BG" sz="2800" dirty="0"/>
              <a:t>различни </a:t>
            </a:r>
            <a:r>
              <a:rPr lang="bg-BG" altLang="bg-BG" sz="2800" dirty="0" smtClean="0"/>
              <a:t>кортежи          от </a:t>
            </a:r>
            <a:r>
              <a:rPr lang="bg-BG" altLang="bg-BG" sz="2800" dirty="0"/>
              <a:t>отношението </a:t>
            </a:r>
            <a:r>
              <a:rPr lang="bg-BG" altLang="bg-BG" sz="2800" i="1" dirty="0"/>
              <a:t>r,</a:t>
            </a:r>
            <a:r>
              <a:rPr lang="bg-BG" altLang="bg-BG" sz="2800" dirty="0"/>
              <a:t> </a:t>
            </a:r>
            <a:r>
              <a:rPr lang="bg-BG" altLang="bg-BG" sz="2800" dirty="0" smtClean="0"/>
              <a:t>стойностите на </a:t>
            </a:r>
            <a:r>
              <a:rPr lang="bg-BG" altLang="bg-BG" sz="2800" dirty="0"/>
              <a:t>атрибутите от множеството                         </a:t>
            </a:r>
            <a:r>
              <a:rPr lang="bg-BG" altLang="bg-BG" sz="2800" dirty="0" smtClean="0"/>
              <a:t>са </a:t>
            </a:r>
            <a:r>
              <a:rPr lang="bg-BG" altLang="bg-BG" sz="2800" dirty="0"/>
              <a:t>различни, т.е. </a:t>
            </a:r>
            <a:r>
              <a:rPr lang="bg-BG" altLang="bg-BG" sz="2800" dirty="0" smtClean="0"/>
              <a:t>                      .</a:t>
            </a:r>
            <a:endParaRPr lang="bg-BG" altLang="bg-BG" sz="2800" dirty="0"/>
          </a:p>
          <a:p>
            <a:pPr marL="609600" indent="-609600">
              <a:lnSpc>
                <a:spcPct val="90000"/>
              </a:lnSpc>
              <a:buFontTx/>
              <a:buNone/>
            </a:pPr>
            <a:endParaRPr lang="bg-BG" altLang="bg-BG" sz="1900" dirty="0"/>
          </a:p>
          <a:p>
            <a:pPr marL="0" indent="0">
              <a:lnSpc>
                <a:spcPct val="90000"/>
              </a:lnSpc>
              <a:buNone/>
            </a:pPr>
            <a:r>
              <a:rPr lang="bg-BG" altLang="bg-BG" sz="2800" dirty="0"/>
              <a:t>Суперключът има </a:t>
            </a:r>
            <a:r>
              <a:rPr lang="bg-BG" altLang="bg-BG" sz="2800" dirty="0">
                <a:solidFill>
                  <a:srgbClr val="C00000"/>
                </a:solidFill>
              </a:rPr>
              <a:t>излишество</a:t>
            </a:r>
            <a:r>
              <a:rPr lang="bg-BG" altLang="bg-BG" sz="2800" dirty="0"/>
              <a:t> по отношение на изграждащите го атрибути. </a:t>
            </a:r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65FFE-0173-47C1-956A-4210E9B1D122}" type="slidenum">
              <a:rPr lang="bg-BG" altLang="bg-BG"/>
              <a:pPr/>
              <a:t>16</a:t>
            </a:fld>
            <a:endParaRPr lang="bg-BG" altLang="bg-BG"/>
          </a:p>
        </p:txBody>
      </p:sp>
      <p:sp>
        <p:nvSpPr>
          <p:cNvPr id="13824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graphicFrame>
        <p:nvGraphicFramePr>
          <p:cNvPr id="1382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2468923"/>
              </p:ext>
            </p:extLst>
          </p:nvPr>
        </p:nvGraphicFramePr>
        <p:xfrm>
          <a:off x="6948264" y="2636912"/>
          <a:ext cx="170815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544" name="Equation" r:id="rId3" imgW="1002865" imgH="228501" progId="Equation.3">
                  <p:embed/>
                </p:oleObj>
              </mc:Choice>
              <mc:Fallback>
                <p:oleObj name="Equation" r:id="rId3" imgW="1002865" imgH="22850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264" y="2636912"/>
                        <a:ext cx="1708150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4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graphicFrame>
        <p:nvGraphicFramePr>
          <p:cNvPr id="1382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2246408"/>
              </p:ext>
            </p:extLst>
          </p:nvPr>
        </p:nvGraphicFramePr>
        <p:xfrm>
          <a:off x="5940152" y="2924944"/>
          <a:ext cx="1665287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545" name="Equation" r:id="rId5" imgW="901309" imgH="228501" progId="Equation.3">
                  <p:embed/>
                </p:oleObj>
              </mc:Choice>
              <mc:Fallback>
                <p:oleObj name="Equation" r:id="rId5" imgW="901309" imgH="22850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152" y="2924944"/>
                        <a:ext cx="1665287" cy="420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4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graphicFrame>
        <p:nvGraphicFramePr>
          <p:cNvPr id="1382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1684216"/>
              </p:ext>
            </p:extLst>
          </p:nvPr>
        </p:nvGraphicFramePr>
        <p:xfrm>
          <a:off x="4932040" y="3356992"/>
          <a:ext cx="14224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546" name="Equation" r:id="rId7" imgW="863280" imgH="228600" progId="Equation.3">
                  <p:embed/>
                </p:oleObj>
              </mc:Choice>
              <mc:Fallback>
                <p:oleObj name="Equation" r:id="rId7" imgW="86328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0" y="3356992"/>
                        <a:ext cx="1422400" cy="374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5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graphicFrame>
        <p:nvGraphicFramePr>
          <p:cNvPr id="13825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3888797"/>
              </p:ext>
            </p:extLst>
          </p:nvPr>
        </p:nvGraphicFramePr>
        <p:xfrm>
          <a:off x="5364088" y="3573016"/>
          <a:ext cx="779462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547" name="Equation" r:id="rId9" imgW="393529" imgH="241195" progId="Equation.3">
                  <p:embed/>
                </p:oleObj>
              </mc:Choice>
              <mc:Fallback>
                <p:oleObj name="Equation" r:id="rId9" imgW="393529" imgH="24119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088" y="3573016"/>
                        <a:ext cx="779462" cy="474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53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graphicFrame>
        <p:nvGraphicFramePr>
          <p:cNvPr id="13825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2843932"/>
              </p:ext>
            </p:extLst>
          </p:nvPr>
        </p:nvGraphicFramePr>
        <p:xfrm>
          <a:off x="6948264" y="3933056"/>
          <a:ext cx="1946275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548" name="Equation" r:id="rId11" imgW="1244600" imgH="228600" progId="Equation.3">
                  <p:embed/>
                </p:oleObj>
              </mc:Choice>
              <mc:Fallback>
                <p:oleObj name="Equation" r:id="rId11" imgW="1244600" imgH="228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264" y="3933056"/>
                        <a:ext cx="1946275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55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graphicFrame>
        <p:nvGraphicFramePr>
          <p:cNvPr id="13825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6187978"/>
              </p:ext>
            </p:extLst>
          </p:nvPr>
        </p:nvGraphicFramePr>
        <p:xfrm>
          <a:off x="3131840" y="4149080"/>
          <a:ext cx="1843088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549" name="Equation" r:id="rId13" imgW="990170" imgH="241195" progId="Equation.3">
                  <p:embed/>
                </p:oleObj>
              </mc:Choice>
              <mc:Fallback>
                <p:oleObj name="Equation" r:id="rId13" imgW="990170" imgH="241195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4149080"/>
                        <a:ext cx="1843088" cy="442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404664"/>
            <a:ext cx="6709792" cy="504056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Релационни </a:t>
            </a:r>
            <a:r>
              <a:rPr lang="bg-BG" altLang="bg-BG" sz="3200" dirty="0" smtClean="0">
                <a:solidFill>
                  <a:schemeClr val="accent1"/>
                </a:solidFill>
              </a:rPr>
              <a:t>ограничения</a:t>
            </a:r>
            <a:endParaRPr lang="bg-BG" altLang="bg-BG" sz="3200" dirty="0">
              <a:solidFill>
                <a:schemeClr val="accent1"/>
              </a:solidFill>
            </a:endParaRPr>
          </a:p>
        </p:txBody>
      </p:sp>
      <p:sp>
        <p:nvSpPr>
          <p:cNvPr id="139267" name="Rectangle 3"/>
          <p:cNvSpPr>
            <a:spLocks noGrp="1" noChangeArrowheads="1"/>
          </p:cNvSpPr>
          <p:nvPr>
            <p:ph idx="1"/>
          </p:nvPr>
        </p:nvSpPr>
        <p:spPr>
          <a:xfrm>
            <a:off x="800100" y="0"/>
            <a:ext cx="7660332" cy="5949280"/>
          </a:xfrm>
        </p:spPr>
        <p:txBody>
          <a:bodyPr>
            <a:normAutofit/>
          </a:bodyPr>
          <a:lstStyle/>
          <a:p>
            <a:pPr marL="609600" indent="-609600">
              <a:buFontTx/>
              <a:buNone/>
            </a:pPr>
            <a:r>
              <a:rPr lang="bg-BG" altLang="bg-BG" sz="2400" u="sng" dirty="0"/>
              <a:t>Def.10</a:t>
            </a:r>
            <a:r>
              <a:rPr lang="bg-BG" altLang="bg-BG" sz="2400" dirty="0"/>
              <a:t> </a:t>
            </a:r>
            <a:r>
              <a:rPr lang="bg-BG" altLang="bg-BG" sz="2400" dirty="0" smtClean="0"/>
              <a:t>Минималният </a:t>
            </a:r>
            <a:r>
              <a:rPr lang="bg-BG" altLang="bg-BG" sz="2400" dirty="0"/>
              <a:t>суперключ на релационната схема </a:t>
            </a:r>
          </a:p>
          <a:p>
            <a:pPr marL="609600" indent="-609600">
              <a:buFontTx/>
              <a:buNone/>
            </a:pPr>
            <a:r>
              <a:rPr lang="bg-BG" altLang="bg-BG" sz="2400" dirty="0" smtClean="0"/>
              <a:t>                         се </a:t>
            </a:r>
            <a:r>
              <a:rPr lang="bg-BG" altLang="bg-BG" sz="2400" dirty="0"/>
              <a:t>нарича </a:t>
            </a:r>
            <a:r>
              <a:rPr lang="bg-BG" altLang="bg-BG" sz="2400" dirty="0">
                <a:solidFill>
                  <a:srgbClr val="C00000"/>
                </a:solidFill>
              </a:rPr>
              <a:t>ключ</a:t>
            </a:r>
            <a:r>
              <a:rPr lang="bg-BG" altLang="bg-BG" sz="2400" dirty="0"/>
              <a:t> (</a:t>
            </a:r>
            <a:r>
              <a:rPr lang="en-US" altLang="bg-BG" sz="2400" dirty="0"/>
              <a:t>key</a:t>
            </a:r>
            <a:r>
              <a:rPr lang="bg-BG" altLang="bg-BG" sz="2400" dirty="0"/>
              <a:t>).</a:t>
            </a:r>
          </a:p>
          <a:p>
            <a:pPr marL="609600" indent="-609600">
              <a:buFontTx/>
              <a:buNone/>
            </a:pPr>
            <a:r>
              <a:rPr lang="bg-BG" altLang="bg-BG" sz="2400" dirty="0"/>
              <a:t>Видове ключове:</a:t>
            </a:r>
          </a:p>
          <a:p>
            <a:pPr marL="1264920" lvl="2" indent="-533400">
              <a:buFontTx/>
              <a:buChar char="•"/>
            </a:pPr>
            <a:r>
              <a:rPr lang="bg-BG" altLang="bg-BG" sz="2400" dirty="0"/>
              <a:t>к</a:t>
            </a:r>
            <a:r>
              <a:rPr lang="bg-BG" altLang="bg-BG" sz="2400" dirty="0" smtClean="0"/>
              <a:t>андидат </a:t>
            </a:r>
            <a:r>
              <a:rPr lang="bg-BG" altLang="bg-BG" sz="2400" dirty="0"/>
              <a:t>– </a:t>
            </a:r>
            <a:r>
              <a:rPr lang="bg-BG" altLang="bg-BG" sz="2400" dirty="0" smtClean="0"/>
              <a:t>ключ;</a:t>
            </a:r>
            <a:endParaRPr lang="bg-BG" altLang="bg-BG" sz="2400" dirty="0"/>
          </a:p>
          <a:p>
            <a:pPr marL="1264920" lvl="2" indent="-533400">
              <a:buFontTx/>
              <a:buChar char="•"/>
            </a:pPr>
            <a:r>
              <a:rPr lang="bg-BG" altLang="bg-BG" sz="2400" dirty="0"/>
              <a:t>г</a:t>
            </a:r>
            <a:r>
              <a:rPr lang="bg-BG" altLang="bg-BG" sz="2400" dirty="0" smtClean="0"/>
              <a:t>лавен ключ;</a:t>
            </a:r>
            <a:endParaRPr lang="bg-BG" altLang="bg-BG" sz="2400" dirty="0"/>
          </a:p>
          <a:p>
            <a:pPr marL="1264920" lvl="2" indent="-533400">
              <a:buFontTx/>
              <a:buChar char="•"/>
            </a:pPr>
            <a:r>
              <a:rPr lang="bg-BG" altLang="bg-BG" sz="2400" dirty="0"/>
              <a:t>п</a:t>
            </a:r>
            <a:r>
              <a:rPr lang="bg-BG" altLang="bg-BG" sz="2400" dirty="0" smtClean="0"/>
              <a:t>рост ключ;</a:t>
            </a:r>
            <a:endParaRPr lang="bg-BG" altLang="bg-BG" sz="2400" dirty="0"/>
          </a:p>
          <a:p>
            <a:pPr marL="1264920" lvl="2" indent="-533400">
              <a:buFontTx/>
              <a:buChar char="•"/>
            </a:pPr>
            <a:r>
              <a:rPr lang="bg-BG" altLang="bg-BG" sz="2400" dirty="0"/>
              <a:t>с</a:t>
            </a:r>
            <a:r>
              <a:rPr lang="bg-BG" altLang="bg-BG" sz="2400" dirty="0" smtClean="0"/>
              <a:t>ъставен ключ.</a:t>
            </a:r>
            <a:endParaRPr lang="bg-BG" altLang="bg-BG" sz="2400" dirty="0"/>
          </a:p>
          <a:p>
            <a:pPr marL="457200" indent="-457200">
              <a:buFont typeface="+mj-lt"/>
              <a:buAutoNum type="arabicPeriod" startAt="3"/>
            </a:pPr>
            <a:r>
              <a:rPr lang="bg-BG" altLang="bg-BG" sz="2400" dirty="0"/>
              <a:t>Ограничения върху </a:t>
            </a:r>
            <a:r>
              <a:rPr lang="en-US" altLang="bg-BG" sz="2400" dirty="0"/>
              <a:t>Null </a:t>
            </a:r>
            <a:r>
              <a:rPr lang="bg-BG" altLang="bg-BG" sz="2400" dirty="0"/>
              <a:t>стойностите – </a:t>
            </a:r>
            <a:r>
              <a:rPr lang="en-US" altLang="bg-BG" sz="2400" dirty="0"/>
              <a:t>Not </a:t>
            </a:r>
            <a:r>
              <a:rPr lang="en-US" altLang="bg-BG" sz="2400" dirty="0" smtClean="0"/>
              <a:t>Null</a:t>
            </a:r>
            <a:r>
              <a:rPr lang="bg-BG" altLang="bg-BG" sz="2400" dirty="0" smtClean="0"/>
              <a:t>.</a:t>
            </a:r>
            <a:endParaRPr lang="en-US" altLang="bg-BG" sz="2400" dirty="0"/>
          </a:p>
          <a:p>
            <a:pPr marL="457200" indent="-457200">
              <a:buFont typeface="+mj-lt"/>
              <a:buAutoNum type="arabicPeriod" startAt="3"/>
            </a:pPr>
            <a:r>
              <a:rPr lang="bg-BG" altLang="bg-BG" sz="2400" dirty="0"/>
              <a:t>Ограничения за цялостност на обекта</a:t>
            </a:r>
            <a:r>
              <a:rPr lang="en-US" altLang="bg-BG" sz="2400" dirty="0"/>
              <a:t> – </a:t>
            </a:r>
            <a:r>
              <a:rPr lang="bg-BG" altLang="bg-BG" sz="2400" dirty="0"/>
              <a:t>ключът не може да при</a:t>
            </a:r>
            <a:r>
              <a:rPr lang="en-US" altLang="bg-BG" sz="2400" dirty="0"/>
              <a:t>e</a:t>
            </a:r>
            <a:r>
              <a:rPr lang="bg-BG" altLang="bg-BG" sz="2400" dirty="0"/>
              <a:t>ма стойности </a:t>
            </a:r>
            <a:r>
              <a:rPr lang="en-US" altLang="bg-BG" sz="2400" dirty="0" smtClean="0"/>
              <a:t>Null</a:t>
            </a:r>
            <a:r>
              <a:rPr lang="bg-BG" altLang="bg-BG" sz="2400" dirty="0" smtClean="0"/>
              <a:t>. </a:t>
            </a:r>
            <a:endParaRPr lang="bg-BG" altLang="bg-BG" sz="240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79EED-FC40-4FBD-A7D4-D200B5F6495E}" type="slidenum">
              <a:rPr lang="bg-BG" altLang="bg-BG"/>
              <a:pPr/>
              <a:t>17</a:t>
            </a:fld>
            <a:endParaRPr lang="bg-BG" altLang="bg-BG"/>
          </a:p>
        </p:txBody>
      </p:sp>
      <p:sp>
        <p:nvSpPr>
          <p:cNvPr id="13927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graphicFrame>
        <p:nvGraphicFramePr>
          <p:cNvPr id="1392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9024638"/>
              </p:ext>
            </p:extLst>
          </p:nvPr>
        </p:nvGraphicFramePr>
        <p:xfrm>
          <a:off x="1115616" y="1346040"/>
          <a:ext cx="1506538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21" name="Equation" r:id="rId3" imgW="1002865" imgH="228501" progId="Equation.3">
                  <p:embed/>
                </p:oleObj>
              </mc:Choice>
              <mc:Fallback>
                <p:oleObj name="Equation" r:id="rId3" imgW="1002865" imgH="22850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1346040"/>
                        <a:ext cx="1506538" cy="344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7213" y="2302540"/>
            <a:ext cx="3876675" cy="13442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608" y="404664"/>
            <a:ext cx="6781800" cy="582960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Релационни </a:t>
            </a:r>
            <a:r>
              <a:rPr lang="bg-BG" altLang="bg-BG" sz="3200" dirty="0" smtClean="0">
                <a:solidFill>
                  <a:schemeClr val="accent1"/>
                </a:solidFill>
              </a:rPr>
              <a:t>ограничения</a:t>
            </a:r>
            <a:endParaRPr lang="bg-BG" altLang="bg-BG" sz="3200" dirty="0">
              <a:solidFill>
                <a:schemeClr val="accent1"/>
              </a:solidFill>
            </a:endParaRPr>
          </a:p>
        </p:txBody>
      </p:sp>
      <p:sp>
        <p:nvSpPr>
          <p:cNvPr id="140291" name="Rectangle 3"/>
          <p:cNvSpPr>
            <a:spLocks noGrp="1" noChangeArrowheads="1"/>
          </p:cNvSpPr>
          <p:nvPr>
            <p:ph idx="1"/>
          </p:nvPr>
        </p:nvSpPr>
        <p:spPr>
          <a:xfrm>
            <a:off x="761999" y="836712"/>
            <a:ext cx="7543800" cy="3493524"/>
          </a:xfrm>
        </p:spPr>
        <p:txBody>
          <a:bodyPr/>
          <a:lstStyle/>
          <a:p>
            <a:pPr marL="609600" indent="-609600">
              <a:buFontTx/>
              <a:buAutoNum type="arabicPeriod" startAt="5"/>
            </a:pPr>
            <a:r>
              <a:rPr lang="bg-BG" altLang="bg-BG" sz="2400" dirty="0"/>
              <a:t>Ограничения за цялостност на връзките </a:t>
            </a:r>
            <a:endParaRPr lang="en-US" altLang="bg-BG" sz="2400" dirty="0"/>
          </a:p>
          <a:p>
            <a:pPr marL="990600" lvl="1" indent="-533400">
              <a:buFontTx/>
              <a:buChar char="•"/>
            </a:pPr>
            <a:r>
              <a:rPr lang="bg-BG" altLang="bg-BG" sz="2400" dirty="0"/>
              <a:t>задават между две </a:t>
            </a:r>
            <a:r>
              <a:rPr lang="bg-BG" altLang="bg-BG" sz="2400" dirty="0" smtClean="0"/>
              <a:t>отношения; </a:t>
            </a:r>
            <a:endParaRPr lang="en-US" altLang="bg-BG" sz="2400" dirty="0"/>
          </a:p>
          <a:p>
            <a:pPr marL="990600" lvl="1" indent="-533400">
              <a:buFontTx/>
              <a:buChar char="•"/>
            </a:pPr>
            <a:r>
              <a:rPr lang="bg-BG" altLang="bg-BG" sz="2400" dirty="0"/>
              <a:t>използуват се за поддържането на непротиворечиви данни между кортежите </a:t>
            </a:r>
            <a:r>
              <a:rPr lang="bg-BG" altLang="bg-BG" sz="2400" dirty="0" smtClean="0"/>
              <a:t>им;</a:t>
            </a:r>
            <a:endParaRPr lang="en-US" altLang="bg-BG" sz="2400" dirty="0"/>
          </a:p>
          <a:p>
            <a:pPr marL="990600" lvl="1" indent="-533400">
              <a:buFontTx/>
              <a:buChar char="•"/>
            </a:pPr>
            <a:r>
              <a:rPr lang="bg-BG" altLang="bg-BG" sz="2400" dirty="0"/>
              <a:t>свързани са с понятието чужд </a:t>
            </a:r>
            <a:r>
              <a:rPr lang="bg-BG" altLang="bg-BG" sz="2400" dirty="0" smtClean="0"/>
              <a:t>ключ</a:t>
            </a:r>
            <a:r>
              <a:rPr lang="bg-BG" altLang="bg-BG" sz="2400" dirty="0" smtClean="0"/>
              <a:t>.</a:t>
            </a:r>
            <a:endParaRPr lang="bg-BG" altLang="bg-BG" sz="1800" dirty="0"/>
          </a:p>
          <a:p>
            <a:pPr marL="609600" indent="-609600">
              <a:buFontTx/>
              <a:buNone/>
            </a:pPr>
            <a:r>
              <a:rPr lang="bg-BG" altLang="bg-BG" sz="2800" dirty="0">
                <a:solidFill>
                  <a:srgbClr val="C00000"/>
                </a:solidFill>
              </a:rPr>
              <a:t>Неформално: чуждият ключ в една таблица е главен ключ на друга!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8FB90-2D15-463B-87F1-4430032CB70F}" type="slidenum">
              <a:rPr lang="bg-BG" altLang="bg-BG"/>
              <a:pPr/>
              <a:t>18</a:t>
            </a:fld>
            <a:endParaRPr lang="bg-BG" altLang="bg-BG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627" y="4147149"/>
            <a:ext cx="4896544" cy="1983586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608" y="404664"/>
            <a:ext cx="6781800" cy="582960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Релационни </a:t>
            </a:r>
            <a:r>
              <a:rPr lang="bg-BG" altLang="bg-BG" sz="3200" dirty="0" smtClean="0">
                <a:solidFill>
                  <a:schemeClr val="accent1"/>
                </a:solidFill>
              </a:rPr>
              <a:t>ограничения</a:t>
            </a:r>
            <a:endParaRPr lang="bg-BG" altLang="bg-BG" sz="3200" dirty="0">
              <a:solidFill>
                <a:schemeClr val="accent1"/>
              </a:solidFill>
            </a:endParaRPr>
          </a:p>
        </p:txBody>
      </p:sp>
      <p:sp>
        <p:nvSpPr>
          <p:cNvPr id="140291" name="Rectangle 3"/>
          <p:cNvSpPr>
            <a:spLocks noGrp="1" noChangeArrowheads="1"/>
          </p:cNvSpPr>
          <p:nvPr>
            <p:ph idx="1"/>
          </p:nvPr>
        </p:nvSpPr>
        <p:spPr>
          <a:xfrm>
            <a:off x="476013" y="1121700"/>
            <a:ext cx="7543800" cy="1450050"/>
          </a:xfrm>
        </p:spPr>
        <p:txBody>
          <a:bodyPr/>
          <a:lstStyle/>
          <a:p>
            <a:pPr marL="0" indent="0">
              <a:buNone/>
            </a:pPr>
            <a:r>
              <a:rPr lang="bg-BG" altLang="bg-BG" sz="2400" dirty="0"/>
              <a:t>Ограничения за цялостност на връзките </a:t>
            </a:r>
            <a:endParaRPr lang="en-US" altLang="bg-BG" sz="2400" dirty="0"/>
          </a:p>
          <a:p>
            <a:pPr marL="609600" indent="-609600">
              <a:buFontTx/>
              <a:buNone/>
            </a:pPr>
            <a:r>
              <a:rPr lang="bg-BG" altLang="bg-BG" sz="2800" dirty="0" smtClean="0">
                <a:solidFill>
                  <a:srgbClr val="C00000"/>
                </a:solidFill>
              </a:rPr>
              <a:t>Неформално</a:t>
            </a:r>
            <a:r>
              <a:rPr lang="bg-BG" altLang="bg-BG" sz="2800" dirty="0">
                <a:solidFill>
                  <a:srgbClr val="C00000"/>
                </a:solidFill>
              </a:rPr>
              <a:t>: чуждият ключ в една таблица е главен ключ на друга!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8FB90-2D15-463B-87F1-4430032CB70F}" type="slidenum">
              <a:rPr lang="bg-BG" altLang="bg-BG"/>
              <a:pPr/>
              <a:t>19</a:t>
            </a:fld>
            <a:endParaRPr lang="bg-BG" altLang="bg-BG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013" y="2892401"/>
            <a:ext cx="7994836" cy="242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35567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333375"/>
            <a:ext cx="8243887" cy="581025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Релационни ограничения</a:t>
            </a:r>
          </a:p>
        </p:txBody>
      </p:sp>
      <p:sp>
        <p:nvSpPr>
          <p:cNvPr id="141320" name="Rectangle 8"/>
          <p:cNvSpPr>
            <a:spLocks noGrp="1" noChangeArrowheads="1"/>
          </p:cNvSpPr>
          <p:nvPr>
            <p:ph type="body" sz="half" idx="2"/>
          </p:nvPr>
        </p:nvSpPr>
        <p:spPr>
          <a:xfrm>
            <a:off x="468313" y="5517232"/>
            <a:ext cx="8229600" cy="648618"/>
          </a:xfrm>
        </p:spPr>
        <p:txBody>
          <a:bodyPr>
            <a:normAutofit fontScale="77500" lnSpcReduction="20000"/>
          </a:bodyPr>
          <a:lstStyle/>
          <a:p>
            <a:pPr algn="ctr">
              <a:lnSpc>
                <a:spcPct val="90000"/>
              </a:lnSpc>
              <a:buFontTx/>
              <a:buNone/>
            </a:pPr>
            <a:endParaRPr lang="bg-BG" altLang="bg-BG" sz="2400" dirty="0"/>
          </a:p>
          <a:p>
            <a:pPr algn="ctr">
              <a:lnSpc>
                <a:spcPct val="90000"/>
              </a:lnSpc>
              <a:buFontTx/>
              <a:buNone/>
            </a:pPr>
            <a:r>
              <a:rPr lang="bg-BG" altLang="bg-BG" sz="3100" dirty="0">
                <a:solidFill>
                  <a:srgbClr val="C00000"/>
                </a:solidFill>
              </a:rPr>
              <a:t>Пример: база от данни “Предприятие”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34C0F-FC35-4037-B464-1A281C3893D5}" type="slidenum">
              <a:rPr lang="bg-BG" altLang="bg-BG"/>
              <a:pPr/>
              <a:t>20</a:t>
            </a:fld>
            <a:endParaRPr lang="bg-BG" altLang="bg-BG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03647" y="914400"/>
            <a:ext cx="6766721" cy="4818856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333375"/>
            <a:ext cx="8243887" cy="581025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Релационни ограничения</a:t>
            </a:r>
          </a:p>
        </p:txBody>
      </p:sp>
      <p:sp>
        <p:nvSpPr>
          <p:cNvPr id="141320" name="Rectangle 8"/>
          <p:cNvSpPr>
            <a:spLocks noGrp="1" noChangeArrowheads="1"/>
          </p:cNvSpPr>
          <p:nvPr>
            <p:ph type="body" sz="half" idx="2"/>
          </p:nvPr>
        </p:nvSpPr>
        <p:spPr>
          <a:xfrm>
            <a:off x="468313" y="5517232"/>
            <a:ext cx="8229600" cy="648618"/>
          </a:xfrm>
        </p:spPr>
        <p:txBody>
          <a:bodyPr>
            <a:normAutofit fontScale="62500" lnSpcReduction="20000"/>
          </a:bodyPr>
          <a:lstStyle/>
          <a:p>
            <a:pPr algn="ctr">
              <a:lnSpc>
                <a:spcPct val="90000"/>
              </a:lnSpc>
              <a:buFontTx/>
              <a:buNone/>
            </a:pPr>
            <a:endParaRPr lang="bg-BG" altLang="bg-BG" sz="2400" dirty="0"/>
          </a:p>
          <a:p>
            <a:pPr algn="ctr">
              <a:lnSpc>
                <a:spcPct val="90000"/>
              </a:lnSpc>
              <a:buFontTx/>
              <a:buNone/>
            </a:pPr>
            <a:r>
              <a:rPr lang="bg-BG" altLang="bg-BG" sz="3100" dirty="0">
                <a:solidFill>
                  <a:srgbClr val="C00000"/>
                </a:solidFill>
              </a:rPr>
              <a:t>Пример: </a:t>
            </a:r>
            <a:r>
              <a:rPr lang="bg-BG" altLang="bg-BG" sz="3100" dirty="0" smtClean="0">
                <a:solidFill>
                  <a:srgbClr val="C00000"/>
                </a:solidFill>
              </a:rPr>
              <a:t>Част от схемата на база </a:t>
            </a:r>
            <a:r>
              <a:rPr lang="bg-BG" altLang="bg-BG" sz="3100" dirty="0">
                <a:solidFill>
                  <a:srgbClr val="C00000"/>
                </a:solidFill>
              </a:rPr>
              <a:t>от данни </a:t>
            </a:r>
            <a:r>
              <a:rPr lang="en-US" altLang="bg-BG" sz="3100" dirty="0" smtClean="0">
                <a:solidFill>
                  <a:srgbClr val="C00000"/>
                </a:solidFill>
              </a:rPr>
              <a:t>Northwind Traders – Access 2016</a:t>
            </a:r>
            <a:endParaRPr lang="bg-BG" altLang="bg-BG" sz="3100" dirty="0">
              <a:solidFill>
                <a:srgbClr val="C00000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34C0F-FC35-4037-B464-1A281C3893D5}" type="slidenum">
              <a:rPr lang="bg-BG" altLang="bg-BG"/>
              <a:pPr/>
              <a:t>21</a:t>
            </a:fld>
            <a:endParaRPr lang="bg-BG" altLang="bg-BG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7200" y="1602835"/>
            <a:ext cx="8229600" cy="214579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1124744"/>
            <a:ext cx="7317546" cy="446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09875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332656"/>
            <a:ext cx="8243887" cy="581744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Релационни операции</a:t>
            </a:r>
          </a:p>
        </p:txBody>
      </p:sp>
      <p:sp>
        <p:nvSpPr>
          <p:cNvPr id="142339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052736"/>
            <a:ext cx="8229600" cy="4859338"/>
          </a:xfrm>
        </p:spPr>
        <p:txBody>
          <a:bodyPr>
            <a:normAutofit/>
          </a:bodyPr>
          <a:lstStyle/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bg-BG" altLang="bg-BG" sz="2800" dirty="0"/>
              <a:t>Операции за обновяване на </a:t>
            </a:r>
            <a:r>
              <a:rPr lang="bg-BG" altLang="bg-BG" sz="2800" dirty="0" smtClean="0"/>
              <a:t>базата.</a:t>
            </a:r>
            <a:endParaRPr lang="bg-BG" altLang="bg-BG" sz="2800" dirty="0"/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bg-BG" altLang="bg-BG" sz="2800" dirty="0"/>
              <a:t>Операции за извличане на </a:t>
            </a:r>
            <a:r>
              <a:rPr lang="bg-BG" altLang="bg-BG" sz="2800" dirty="0" smtClean="0"/>
              <a:t>данни.</a:t>
            </a:r>
            <a:endParaRPr lang="bg-BG" altLang="bg-BG" sz="2800" dirty="0"/>
          </a:p>
          <a:p>
            <a:pPr marL="990600" lvl="1" indent="-533400">
              <a:lnSpc>
                <a:spcPct val="90000"/>
              </a:lnSpc>
              <a:buFontTx/>
              <a:buChar char="•"/>
            </a:pPr>
            <a:r>
              <a:rPr lang="bg-BG" altLang="bg-BG" sz="2400" dirty="0"/>
              <a:t>р</a:t>
            </a:r>
            <a:r>
              <a:rPr lang="bg-BG" altLang="bg-BG" sz="2400" dirty="0" smtClean="0"/>
              <a:t>елационна алгебра;</a:t>
            </a:r>
            <a:endParaRPr lang="bg-BG" altLang="bg-BG" sz="2400" dirty="0"/>
          </a:p>
          <a:p>
            <a:pPr marL="990600" lvl="1" indent="-533400">
              <a:lnSpc>
                <a:spcPct val="90000"/>
              </a:lnSpc>
              <a:buFontTx/>
              <a:buChar char="•"/>
            </a:pPr>
            <a:r>
              <a:rPr lang="bg-BG" altLang="bg-BG" sz="2400" dirty="0"/>
              <a:t>р</a:t>
            </a:r>
            <a:r>
              <a:rPr lang="bg-BG" altLang="bg-BG" sz="2400" dirty="0" smtClean="0"/>
              <a:t>елационно смятане.</a:t>
            </a:r>
            <a:endParaRPr lang="bg-BG" altLang="bg-BG" sz="2400" dirty="0"/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bg-BG" altLang="bg-BG" sz="2800" dirty="0"/>
              <a:t>Трудни за използване</a:t>
            </a:r>
            <a:r>
              <a:rPr lang="bg-BG" altLang="bg-BG" sz="2800" dirty="0" smtClean="0"/>
              <a:t>.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bg-BG" altLang="bg-BG" sz="900" dirty="0" smtClean="0"/>
              <a:t> 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bg-BG" altLang="bg-BG" sz="2800" dirty="0" smtClean="0"/>
              <a:t>Затова </a:t>
            </a:r>
            <a:r>
              <a:rPr lang="bg-BG" altLang="bg-BG" sz="2800" dirty="0"/>
              <a:t>се разработват</a:t>
            </a:r>
            <a:r>
              <a:rPr lang="bg-BG" altLang="bg-BG" sz="2800" dirty="0" smtClean="0"/>
              <a:t>:</a:t>
            </a:r>
            <a:endParaRPr lang="bg-BG" altLang="bg-BG" sz="2800" dirty="0"/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bg-BG" altLang="bg-BG" sz="2800" dirty="0"/>
              <a:t>Езици, ориентирани към трансформация  - </a:t>
            </a:r>
            <a:r>
              <a:rPr lang="en-US" altLang="bg-BG" sz="2800" dirty="0" smtClean="0"/>
              <a:t>SQL</a:t>
            </a:r>
            <a:r>
              <a:rPr lang="bg-BG" altLang="bg-BG" sz="2800" dirty="0" smtClean="0"/>
              <a:t>.</a:t>
            </a:r>
            <a:endParaRPr lang="bg-BG" altLang="bg-BG" sz="2800" dirty="0"/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bg-BG" altLang="bg-BG" sz="2800" dirty="0"/>
              <a:t>Графични езици – </a:t>
            </a:r>
            <a:r>
              <a:rPr lang="en-US" altLang="bg-BG" sz="2800" dirty="0" smtClean="0"/>
              <a:t>QBE</a:t>
            </a:r>
            <a:r>
              <a:rPr lang="bg-BG" altLang="bg-BG" sz="2800" dirty="0" smtClean="0"/>
              <a:t>.</a:t>
            </a:r>
            <a:endParaRPr lang="bg-BG" altLang="bg-BG" sz="2800" dirty="0"/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endParaRPr lang="bg-BG" altLang="bg-BG" sz="800" dirty="0"/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bg-BG" altLang="bg-BG" sz="2800" dirty="0"/>
              <a:t>Релационната алгебра определя възможните операции над базата.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dirty="0" smtClean="0">
                <a:latin typeface="+mn-lt"/>
              </a:rPr>
              <a:t>CSCB405- </a:t>
            </a:r>
            <a:r>
              <a:rPr lang="bg-BG" altLang="bg-BG" dirty="0" smtClean="0">
                <a:latin typeface="+mn-lt"/>
              </a:rPr>
              <a:t>модул 3-1</a:t>
            </a:r>
            <a:endParaRPr lang="bg-BG" altLang="bg-BG" dirty="0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C9759-93D5-4FBC-B9A3-B62E04CABB5B}" type="slidenum">
              <a:rPr lang="bg-BG" altLang="bg-BG"/>
              <a:pPr/>
              <a:t>22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332656"/>
            <a:ext cx="6781800" cy="582960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Релационни операции</a:t>
            </a:r>
            <a:endParaRPr lang="bg-BG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803802"/>
            <a:ext cx="8208912" cy="5228048"/>
          </a:xfrm>
        </p:spPr>
        <p:txBody>
          <a:bodyPr>
            <a:normAutofit fontScale="850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bg-BG" dirty="0" smtClean="0"/>
              <a:t>Операции за обновяване на базата</a:t>
            </a:r>
          </a:p>
          <a:p>
            <a:pPr lvl="1"/>
            <a:r>
              <a:rPr lang="bg-BG" dirty="0"/>
              <a:t>в</a:t>
            </a:r>
            <a:r>
              <a:rPr lang="bg-BG" dirty="0" smtClean="0"/>
              <a:t>ъвеждане на кортеж;</a:t>
            </a:r>
          </a:p>
          <a:p>
            <a:pPr lvl="1"/>
            <a:r>
              <a:rPr lang="bg-BG" dirty="0"/>
              <a:t>и</a:t>
            </a:r>
            <a:r>
              <a:rPr lang="bg-BG" dirty="0" smtClean="0"/>
              <a:t>зтриване на кортеж;</a:t>
            </a:r>
          </a:p>
          <a:p>
            <a:pPr lvl="1"/>
            <a:r>
              <a:rPr lang="bg-BG" dirty="0"/>
              <a:t>а</a:t>
            </a:r>
            <a:r>
              <a:rPr lang="bg-BG" dirty="0" smtClean="0"/>
              <a:t>ктуализиране на кортеж.</a:t>
            </a:r>
          </a:p>
          <a:p>
            <a:pPr marL="457200" indent="-457200">
              <a:buFont typeface="+mj-lt"/>
              <a:buAutoNum type="arabicPeriod"/>
            </a:pPr>
            <a:r>
              <a:rPr lang="bg-BG" dirty="0" smtClean="0"/>
              <a:t>Ограниченията за цялостност (интегритет) не бива да се нарушават.</a:t>
            </a:r>
          </a:p>
          <a:p>
            <a:pPr marL="457200" indent="-457200">
              <a:buFont typeface="+mj-lt"/>
              <a:buAutoNum type="arabicPeriod"/>
            </a:pPr>
            <a:r>
              <a:rPr lang="bg-BG" dirty="0" smtClean="0"/>
              <a:t>Може да се наложи групирането на няколко операции за обновяване за да се запази интегритета на базата. </a:t>
            </a:r>
          </a:p>
          <a:p>
            <a:pPr marL="457200" indent="-457200">
              <a:buFont typeface="+mj-lt"/>
              <a:buAutoNum type="arabicPeriod"/>
            </a:pPr>
            <a:r>
              <a:rPr lang="bg-BG" dirty="0" smtClean="0"/>
              <a:t>При нарушаване на ограниченията за цялостност СУБД предприема някое от следните действия:</a:t>
            </a:r>
          </a:p>
          <a:p>
            <a:pPr lvl="1"/>
            <a:r>
              <a:rPr lang="bg-BG" dirty="0"/>
              <a:t>прекратява </a:t>
            </a:r>
            <a:r>
              <a:rPr lang="bg-BG" dirty="0" smtClean="0"/>
              <a:t>операцията, която нарушава ограниченията за цялостност;</a:t>
            </a:r>
          </a:p>
          <a:p>
            <a:pPr lvl="1"/>
            <a:r>
              <a:rPr lang="bg-BG" dirty="0"/>
              <a:t>и</a:t>
            </a:r>
            <a:r>
              <a:rPr lang="bg-BG" dirty="0" smtClean="0"/>
              <a:t>зпълнява операцията, но предупреждава потребителя за нарушаването на интегритета;</a:t>
            </a:r>
          </a:p>
          <a:p>
            <a:pPr lvl="1"/>
            <a:r>
              <a:rPr lang="bg-BG" dirty="0"/>
              <a:t>и</a:t>
            </a:r>
            <a:r>
              <a:rPr lang="bg-BG" dirty="0" smtClean="0"/>
              <a:t>зпълнява специална потребителска програма за корекция на грешката;</a:t>
            </a:r>
          </a:p>
          <a:p>
            <a:pPr lvl="1"/>
            <a:r>
              <a:rPr lang="bg-BG" dirty="0"/>
              <a:t>и</a:t>
            </a:r>
            <a:r>
              <a:rPr lang="bg-BG" dirty="0" smtClean="0"/>
              <a:t>зпълнява допълнителни актуализации, за да бъде зададената операция изпълнена коректно.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54E65-57A1-4CEB-BF9A-AE0208A91E59}" type="slidenum">
              <a:rPr lang="bg-BG" altLang="bg-BG" smtClean="0"/>
              <a:pPr/>
              <a:t>23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20311270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397768"/>
            <a:ext cx="6781800" cy="582960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Релационни операции</a:t>
            </a:r>
            <a:endParaRPr lang="bg-BG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576" y="980728"/>
            <a:ext cx="7543800" cy="5040560"/>
          </a:xfrm>
        </p:spPr>
        <p:txBody>
          <a:bodyPr>
            <a:normAutofit/>
          </a:bodyPr>
          <a:lstStyle/>
          <a:p>
            <a:pPr marL="320040" lvl="1" indent="0" algn="ctr">
              <a:buNone/>
            </a:pPr>
            <a:r>
              <a:rPr lang="bg-BG" sz="2400" dirty="0">
                <a:solidFill>
                  <a:srgbClr val="C00000"/>
                </a:solidFill>
              </a:rPr>
              <a:t>В</a:t>
            </a:r>
            <a:r>
              <a:rPr lang="bg-BG" sz="2400" dirty="0" smtClean="0">
                <a:solidFill>
                  <a:srgbClr val="C00000"/>
                </a:solidFill>
              </a:rPr>
              <a:t>ъвеждане на кортеж </a:t>
            </a:r>
          </a:p>
          <a:p>
            <a:pPr marL="320040" lvl="1" indent="0">
              <a:buNone/>
            </a:pPr>
            <a:r>
              <a:rPr lang="en-US" dirty="0"/>
              <a:t>INSERT </a:t>
            </a:r>
            <a:r>
              <a:rPr lang="bg-BG" dirty="0" smtClean="0"/>
              <a:t>може да наруши всеки вид ограничение:</a:t>
            </a:r>
          </a:p>
          <a:p>
            <a:pPr lvl="1"/>
            <a:r>
              <a:rPr lang="ru-RU" dirty="0" smtClean="0"/>
              <a:t>ограничения </a:t>
            </a:r>
            <a:r>
              <a:rPr lang="ru-RU" dirty="0"/>
              <a:t>върху ключа (key constraints) – ако стойността на ключа в новия кортеж вече съществува в друг кортеж, т.е. има повторение в стойността на ключа;</a:t>
            </a:r>
          </a:p>
          <a:p>
            <a:pPr lvl="1"/>
            <a:r>
              <a:rPr lang="ru-RU" dirty="0"/>
              <a:t>ограничения за цялостност на обекта (entity integrity constraints) – ако стойността на ключа не е въведена, т.е. е null;</a:t>
            </a:r>
          </a:p>
          <a:p>
            <a:pPr lvl="1"/>
            <a:r>
              <a:rPr lang="ru-RU" dirty="0"/>
              <a:t>ограничения за цялостност на връзките </a:t>
            </a:r>
            <a:r>
              <a:rPr lang="ru-RU" dirty="0" smtClean="0"/>
              <a:t>(referential </a:t>
            </a:r>
            <a:r>
              <a:rPr lang="ru-RU" dirty="0"/>
              <a:t>integrity constraints) -  ако на стойността на чуждия ключ не отговаря стойност на главния ключ;</a:t>
            </a:r>
          </a:p>
          <a:p>
            <a:pPr lvl="1"/>
            <a:r>
              <a:rPr lang="ru-RU" dirty="0"/>
              <a:t>ограничения върху домейните – при несъвпадение на въведените стойности със съответния им домейн.</a:t>
            </a:r>
          </a:p>
          <a:p>
            <a:pPr lvl="1"/>
            <a:endParaRPr lang="bg-B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54E65-57A1-4CEB-BF9A-AE0208A91E59}" type="slidenum">
              <a:rPr lang="bg-BG" altLang="bg-BG" smtClean="0"/>
              <a:pPr/>
              <a:t>24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94241583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260648"/>
            <a:ext cx="6781800" cy="582960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Релационни операции</a:t>
            </a:r>
            <a:endParaRPr lang="bg-BG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600" y="808176"/>
            <a:ext cx="7509792" cy="5400600"/>
          </a:xfrm>
        </p:spPr>
        <p:txBody>
          <a:bodyPr>
            <a:noAutofit/>
          </a:bodyPr>
          <a:lstStyle/>
          <a:p>
            <a:pPr marL="320040" lvl="1" indent="0" algn="ctr">
              <a:buNone/>
            </a:pPr>
            <a:r>
              <a:rPr lang="bg-BG" sz="2400" dirty="0" smtClean="0">
                <a:solidFill>
                  <a:srgbClr val="C00000"/>
                </a:solidFill>
              </a:rPr>
              <a:t>Изтриване на кортеж</a:t>
            </a:r>
            <a:r>
              <a:rPr lang="bg-BG" dirty="0" smtClean="0">
                <a:solidFill>
                  <a:srgbClr val="C00000"/>
                </a:solidFill>
              </a:rPr>
              <a:t> </a:t>
            </a:r>
          </a:p>
          <a:p>
            <a:pPr marL="320040" lvl="1" indent="0">
              <a:buNone/>
            </a:pPr>
            <a:r>
              <a:rPr lang="en-US" dirty="0" smtClean="0"/>
              <a:t>DELETE </a:t>
            </a:r>
            <a:r>
              <a:rPr lang="bg-BG" dirty="0" smtClean="0"/>
              <a:t>може да наруши само:</a:t>
            </a:r>
            <a:endParaRPr lang="ru-RU" dirty="0" smtClean="0"/>
          </a:p>
          <a:p>
            <a:pPr lvl="1"/>
            <a:r>
              <a:rPr lang="ru-RU" dirty="0" smtClean="0"/>
              <a:t>ограничения </a:t>
            </a:r>
            <a:r>
              <a:rPr lang="ru-RU" dirty="0"/>
              <a:t>за цялостност на връзките </a:t>
            </a:r>
            <a:r>
              <a:rPr lang="ru-RU" dirty="0" smtClean="0"/>
              <a:t>(referential </a:t>
            </a:r>
            <a:r>
              <a:rPr lang="ru-RU" dirty="0"/>
              <a:t>integrity constraints) -  ако </a:t>
            </a:r>
            <a:r>
              <a:rPr lang="ru-RU" dirty="0" smtClean="0"/>
              <a:t>към </a:t>
            </a:r>
            <a:r>
              <a:rPr lang="ru-RU" dirty="0"/>
              <a:t>стойността на </a:t>
            </a:r>
            <a:r>
              <a:rPr lang="ru-RU" dirty="0" smtClean="0"/>
              <a:t>главния </a:t>
            </a:r>
            <a:r>
              <a:rPr lang="ru-RU" dirty="0"/>
              <a:t>ключ </a:t>
            </a:r>
            <a:r>
              <a:rPr lang="ru-RU" dirty="0" smtClean="0"/>
              <a:t>на изтрития кортеж има препратка от други кортежи в базата;</a:t>
            </a:r>
          </a:p>
          <a:p>
            <a:pPr lvl="1"/>
            <a:r>
              <a:rPr lang="ru-RU" dirty="0" smtClean="0"/>
              <a:t>средства за защита: действия</a:t>
            </a:r>
            <a:r>
              <a:rPr lang="en-US" dirty="0" smtClean="0"/>
              <a:t> </a:t>
            </a:r>
            <a:r>
              <a:rPr lang="en-US" dirty="0"/>
              <a:t>RESTRICT, CASCADE, SET NULL </a:t>
            </a:r>
            <a:r>
              <a:rPr lang="bg-BG" dirty="0" smtClean="0"/>
              <a:t>– вж. </a:t>
            </a:r>
            <a:r>
              <a:rPr lang="en-US" dirty="0" smtClean="0"/>
              <a:t>SQL</a:t>
            </a:r>
            <a:endParaRPr lang="bg-BG" dirty="0" smtClean="0"/>
          </a:p>
          <a:p>
            <a:pPr lvl="2"/>
            <a:r>
              <a:rPr lang="en-US" sz="2200" dirty="0" smtClean="0"/>
              <a:t>RESTRICT:</a:t>
            </a:r>
            <a:r>
              <a:rPr lang="bg-BG" sz="2200" dirty="0" smtClean="0"/>
              <a:t> отменя изтриването;</a:t>
            </a:r>
            <a:endParaRPr lang="en-US" sz="2200" dirty="0"/>
          </a:p>
          <a:p>
            <a:pPr lvl="2"/>
            <a:r>
              <a:rPr lang="en-US" sz="2200" dirty="0" smtClean="0"/>
              <a:t>CASCADE: </a:t>
            </a:r>
            <a:r>
              <a:rPr lang="bg-BG" sz="2200" dirty="0" smtClean="0"/>
              <a:t>разпространява стойността на новия главен ключ в съответните чужди ключове;</a:t>
            </a:r>
          </a:p>
          <a:p>
            <a:pPr lvl="2"/>
            <a:r>
              <a:rPr lang="en-US" sz="2200" dirty="0" smtClean="0"/>
              <a:t>SET NULL: </a:t>
            </a:r>
            <a:r>
              <a:rPr lang="bg-BG" sz="2200" dirty="0" smtClean="0"/>
              <a:t>записва стойност </a:t>
            </a:r>
            <a:r>
              <a:rPr lang="en-US" sz="2200" dirty="0" smtClean="0"/>
              <a:t>NULL</a:t>
            </a:r>
            <a:r>
              <a:rPr lang="bg-BG" sz="2200" dirty="0" smtClean="0"/>
              <a:t> в съответните чужди ключове.</a:t>
            </a:r>
            <a:endParaRPr lang="en-US" sz="2200" dirty="0"/>
          </a:p>
          <a:p>
            <a:pPr marL="640080" lvl="2" indent="0">
              <a:buNone/>
            </a:pPr>
            <a:r>
              <a:rPr lang="bg-BG" dirty="0" smtClean="0">
                <a:solidFill>
                  <a:srgbClr val="C00000"/>
                </a:solidFill>
              </a:rPr>
              <a:t>Указва се една от горните опции при проектирането на базата.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54E65-57A1-4CEB-BF9A-AE0208A91E59}" type="slidenum">
              <a:rPr lang="bg-BG" altLang="bg-BG" smtClean="0"/>
              <a:pPr/>
              <a:t>25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63744830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332656"/>
            <a:ext cx="6781800" cy="582960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rgbClr val="006699"/>
                </a:solidFill>
              </a:rPr>
              <a:t>Релационни операции</a:t>
            </a:r>
            <a:endParaRPr lang="bg-BG" dirty="0">
              <a:solidFill>
                <a:srgbClr val="006699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584" y="764704"/>
            <a:ext cx="7543800" cy="3960440"/>
          </a:xfrm>
        </p:spPr>
        <p:txBody>
          <a:bodyPr>
            <a:noAutofit/>
          </a:bodyPr>
          <a:lstStyle/>
          <a:p>
            <a:pPr marL="320040" lvl="1" indent="0" algn="ctr">
              <a:buNone/>
            </a:pPr>
            <a:r>
              <a:rPr lang="bg-BG" sz="2400" dirty="0" smtClean="0">
                <a:solidFill>
                  <a:srgbClr val="C00000"/>
                </a:solidFill>
              </a:rPr>
              <a:t>Актуализиране на кортеж </a:t>
            </a:r>
          </a:p>
          <a:p>
            <a:pPr marL="320040" lvl="1" indent="0">
              <a:buNone/>
            </a:pPr>
            <a:r>
              <a:rPr lang="en-US" altLang="bg-BG" sz="2400" dirty="0" smtClean="0">
                <a:ea typeface="ＭＳ Ｐゴシック" pitchFamily="34" charset="-128"/>
              </a:rPr>
              <a:t>UPDATE</a:t>
            </a:r>
            <a:r>
              <a:rPr lang="en-US" sz="2400" dirty="0" smtClean="0"/>
              <a:t> </a:t>
            </a:r>
            <a:r>
              <a:rPr lang="bg-BG" sz="2400" dirty="0" smtClean="0"/>
              <a:t>може да наруши:</a:t>
            </a:r>
            <a:endParaRPr lang="ru-RU" sz="2400" dirty="0" smtClean="0"/>
          </a:p>
          <a:p>
            <a:pPr lvl="1"/>
            <a:r>
              <a:rPr lang="bg-BG" sz="2400" dirty="0"/>
              <a:t>ограничения върху домейните и </a:t>
            </a:r>
            <a:r>
              <a:rPr lang="bg-BG" sz="2400" dirty="0" smtClean="0"/>
              <a:t>ограничения </a:t>
            </a:r>
            <a:r>
              <a:rPr lang="bg-BG" sz="2400" dirty="0"/>
              <a:t>върху </a:t>
            </a:r>
            <a:r>
              <a:rPr lang="en-US" sz="2400" dirty="0"/>
              <a:t>Null </a:t>
            </a:r>
            <a:r>
              <a:rPr lang="bg-BG" sz="2400" dirty="0"/>
              <a:t>стойностите </a:t>
            </a:r>
            <a:r>
              <a:rPr lang="bg-BG" sz="2400" dirty="0" smtClean="0"/>
              <a:t>на актуализирания атрибут;</a:t>
            </a:r>
          </a:p>
          <a:p>
            <a:pPr lvl="1"/>
            <a:r>
              <a:rPr lang="bg-BG" sz="2400" dirty="0"/>
              <a:t>п</a:t>
            </a:r>
            <a:r>
              <a:rPr lang="bg-BG" sz="2400" dirty="0" smtClean="0"/>
              <a:t>роизволно друго ограничение в зависимост от това кой атрибут се обновява (дали е ключ или не)!</a:t>
            </a:r>
          </a:p>
          <a:p>
            <a:pPr marL="0" indent="0">
              <a:buNone/>
            </a:pPr>
            <a:endParaRPr lang="bg-BG" altLang="bg-BG" dirty="0" smtClean="0">
              <a:ea typeface="ＭＳ Ｐゴシック" pitchFamily="34" charset="-128"/>
            </a:endParaRPr>
          </a:p>
          <a:p>
            <a:pPr marL="640080" lvl="2" indent="0">
              <a:buNone/>
            </a:pPr>
            <a:endParaRPr lang="bg-BG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54E65-57A1-4CEB-BF9A-AE0208A91E59}" type="slidenum">
              <a:rPr lang="bg-BG" altLang="bg-BG" smtClean="0"/>
              <a:pPr/>
              <a:t>26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115158613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332656"/>
            <a:ext cx="6781800" cy="582960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Релационни операции</a:t>
            </a:r>
            <a:endParaRPr lang="bg-BG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908720"/>
            <a:ext cx="7992888" cy="5256584"/>
          </a:xfrm>
        </p:spPr>
        <p:txBody>
          <a:bodyPr>
            <a:noAutofit/>
          </a:bodyPr>
          <a:lstStyle/>
          <a:p>
            <a:pPr marL="320040" lvl="1" indent="0" algn="ctr">
              <a:buNone/>
            </a:pPr>
            <a:r>
              <a:rPr lang="bg-BG" sz="2400" dirty="0" smtClean="0">
                <a:solidFill>
                  <a:srgbClr val="C00000"/>
                </a:solidFill>
              </a:rPr>
              <a:t>Потребителски представи - </a:t>
            </a:r>
            <a:r>
              <a:rPr lang="en-US" sz="2400" dirty="0" smtClean="0">
                <a:solidFill>
                  <a:srgbClr val="C00000"/>
                </a:solidFill>
              </a:rPr>
              <a:t>Views</a:t>
            </a:r>
            <a:endParaRPr lang="en-US" sz="2400" dirty="0">
              <a:solidFill>
                <a:srgbClr val="C0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bg-BG" sz="2100" dirty="0" smtClean="0"/>
              <a:t>В базата от данни се пазят два вида отношения:</a:t>
            </a:r>
          </a:p>
          <a:p>
            <a:pPr lvl="1"/>
            <a:r>
              <a:rPr lang="bg-BG" sz="2100" dirty="0"/>
              <a:t>б</a:t>
            </a:r>
            <a:r>
              <a:rPr lang="bg-BG" sz="2100" dirty="0" smtClean="0"/>
              <a:t>азови (</a:t>
            </a:r>
            <a:r>
              <a:rPr lang="en-US" sz="2100" dirty="0" smtClean="0"/>
              <a:t>base relation</a:t>
            </a:r>
            <a:r>
              <a:rPr lang="bg-BG" sz="2100" dirty="0" smtClean="0"/>
              <a:t>) – кортежите им физически се съхраняват в базата;</a:t>
            </a:r>
          </a:p>
          <a:p>
            <a:pPr lvl="1"/>
            <a:r>
              <a:rPr lang="bg-BG" sz="2100" dirty="0"/>
              <a:t>п</a:t>
            </a:r>
            <a:r>
              <a:rPr lang="bg-BG" sz="2100" dirty="0" smtClean="0"/>
              <a:t>отребителски представи – виртуални отношения, съдържат резултати от операции върху базови отношения, не се пазят в базата.</a:t>
            </a:r>
          </a:p>
          <a:p>
            <a:pPr marL="514350" indent="-514350">
              <a:buFont typeface="+mj-lt"/>
              <a:buAutoNum type="arabicPeriod"/>
            </a:pPr>
            <a:r>
              <a:rPr lang="bg-BG" sz="2100" dirty="0" smtClean="0"/>
              <a:t>Съдържанието на потребителската представа се определя като заявка към базата и е </a:t>
            </a:r>
            <a:r>
              <a:rPr lang="bg-BG" sz="2100" dirty="0" smtClean="0">
                <a:solidFill>
                  <a:srgbClr val="C00000"/>
                </a:solidFill>
              </a:rPr>
              <a:t>динамично</a:t>
            </a:r>
            <a:r>
              <a:rPr lang="bg-BG" sz="2100" dirty="0" smtClean="0"/>
              <a:t>, т.е. </a:t>
            </a:r>
            <a:r>
              <a:rPr lang="bg-BG" sz="2100" dirty="0"/>
              <a:t>п</a:t>
            </a:r>
            <a:r>
              <a:rPr lang="bg-BG" sz="2100" dirty="0" smtClean="0"/>
              <a:t>ромени в участвуващите базови отношения се разнасят веднага в него.</a:t>
            </a:r>
          </a:p>
          <a:p>
            <a:pPr marL="514350" indent="-514350">
              <a:buFont typeface="+mj-lt"/>
              <a:buAutoNum type="arabicPeriod"/>
            </a:pPr>
            <a:r>
              <a:rPr lang="bg-BG" sz="2100" dirty="0" smtClean="0"/>
              <a:t>Предназначение:</a:t>
            </a:r>
          </a:p>
          <a:p>
            <a:pPr lvl="1"/>
            <a:r>
              <a:rPr lang="bg-BG" sz="2100" dirty="0" smtClean="0"/>
              <a:t>ограничава достъпа до базата на определени потребители;</a:t>
            </a:r>
          </a:p>
          <a:p>
            <a:pPr lvl="1"/>
            <a:r>
              <a:rPr lang="bg-BG" sz="2100" dirty="0" smtClean="0"/>
              <a:t>осигурява по едно и също време персонализиран достъп на отделните потребители до базата;</a:t>
            </a:r>
          </a:p>
          <a:p>
            <a:pPr lvl="1"/>
            <a:r>
              <a:rPr lang="bg-BG" sz="2100" dirty="0"/>
              <a:t>о</a:t>
            </a:r>
            <a:r>
              <a:rPr lang="bg-BG" sz="2100" dirty="0" smtClean="0"/>
              <a:t>простява сложни операции върху базовите отношения.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smtClean="0"/>
              <a:t>CSCB405- </a:t>
            </a:r>
            <a:r>
              <a:rPr lang="bg-BG" altLang="bg-BG" smtClean="0"/>
              <a:t>модул 3-1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54E65-57A1-4CEB-BF9A-AE0208A91E59}" type="slidenum">
              <a:rPr lang="bg-BG" altLang="bg-BG" smtClean="0"/>
              <a:pPr/>
              <a:t>27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281916177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332656"/>
            <a:ext cx="6781800" cy="582960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Релационни операции</a:t>
            </a:r>
            <a:endParaRPr lang="bg-BG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908720"/>
            <a:ext cx="7992888" cy="5040560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bg-BG" dirty="0" smtClean="0">
                <a:solidFill>
                  <a:schemeClr val="tx1"/>
                </a:solidFill>
              </a:rPr>
              <a:t>Обновяване на потребителски представи</a:t>
            </a:r>
          </a:p>
          <a:p>
            <a:pPr lvl="1"/>
            <a:r>
              <a:rPr lang="bg-BG" dirty="0">
                <a:solidFill>
                  <a:schemeClr val="tx1"/>
                </a:solidFill>
              </a:rPr>
              <a:t>в</a:t>
            </a:r>
            <a:r>
              <a:rPr lang="bg-BG" dirty="0" smtClean="0">
                <a:solidFill>
                  <a:schemeClr val="tx1"/>
                </a:solidFill>
              </a:rPr>
              <a:t>сички обновявания на базово отношение незабавно се отразяват във всички представи където това отношение участва;</a:t>
            </a:r>
          </a:p>
          <a:p>
            <a:pPr lvl="1"/>
            <a:r>
              <a:rPr lang="bg-BG" dirty="0">
                <a:solidFill>
                  <a:schemeClr val="tx1"/>
                </a:solidFill>
              </a:rPr>
              <a:t>а</a:t>
            </a:r>
            <a:r>
              <a:rPr lang="bg-BG" dirty="0" smtClean="0">
                <a:solidFill>
                  <a:schemeClr val="tx1"/>
                </a:solidFill>
              </a:rPr>
              <a:t>ко потребителската представа се обнови, промените се отразяват в базовите отношения.</a:t>
            </a:r>
          </a:p>
          <a:p>
            <a:pPr marL="457200" indent="-457200">
              <a:buFont typeface="+mj-lt"/>
              <a:buAutoNum type="arabicPeriod" startAt="5"/>
            </a:pPr>
            <a:r>
              <a:rPr lang="bg-BG" sz="2100" dirty="0" smtClean="0">
                <a:solidFill>
                  <a:schemeClr val="tx1"/>
                </a:solidFill>
              </a:rPr>
              <a:t>Ограничения при обновяването на потребителски представи:</a:t>
            </a:r>
          </a:p>
          <a:p>
            <a:pPr lvl="1"/>
            <a:r>
              <a:rPr lang="bg-BG" dirty="0">
                <a:solidFill>
                  <a:schemeClr val="tx1"/>
                </a:solidFill>
              </a:rPr>
              <a:t>о</a:t>
            </a:r>
            <a:r>
              <a:rPr lang="bg-BG" dirty="0" smtClean="0">
                <a:solidFill>
                  <a:schemeClr val="tx1"/>
                </a:solidFill>
              </a:rPr>
              <a:t>бновяванията са разрешени само ако в заявката участва едно базово отношение и се използва негов кандидат ключ;</a:t>
            </a:r>
          </a:p>
          <a:p>
            <a:pPr lvl="1"/>
            <a:r>
              <a:rPr lang="bg-BG" dirty="0">
                <a:solidFill>
                  <a:schemeClr val="tx1"/>
                </a:solidFill>
              </a:rPr>
              <a:t>з</a:t>
            </a:r>
            <a:r>
              <a:rPr lang="bg-BG" dirty="0" smtClean="0">
                <a:solidFill>
                  <a:schemeClr val="tx1"/>
                </a:solidFill>
              </a:rPr>
              <a:t>абранено е обновяването на няколко базови отношения едновременно;</a:t>
            </a:r>
          </a:p>
          <a:p>
            <a:pPr lvl="1"/>
            <a:r>
              <a:rPr lang="bg-BG" dirty="0">
                <a:solidFill>
                  <a:schemeClr val="tx1"/>
                </a:solidFill>
              </a:rPr>
              <a:t>з</a:t>
            </a:r>
            <a:r>
              <a:rPr lang="bg-BG" dirty="0" smtClean="0">
                <a:solidFill>
                  <a:schemeClr val="tx1"/>
                </a:solidFill>
              </a:rPr>
              <a:t>абранено е използването на агрегатни и групиращи функции.</a:t>
            </a:r>
          </a:p>
          <a:p>
            <a:pPr marL="457200" indent="-457200">
              <a:buFont typeface="+mj-lt"/>
              <a:buAutoNum type="arabicPeriod" startAt="5"/>
            </a:pPr>
            <a:endParaRPr lang="bg-BG" sz="2100" dirty="0" smtClean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bg-BG" dirty="0" smtClean="0"/>
              <a:t>CSCB405- </a:t>
            </a:r>
            <a:r>
              <a:rPr lang="bg-BG" altLang="bg-BG" dirty="0" smtClean="0"/>
              <a:t>модул 3-1</a:t>
            </a:r>
            <a:endParaRPr lang="bg-BG" altLang="bg-B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54E65-57A1-4CEB-BF9A-AE0208A91E59}" type="slidenum">
              <a:rPr lang="bg-BG" altLang="bg-BG" smtClean="0"/>
              <a:pPr/>
              <a:t>28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308461782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wsPrin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16098</TotalTime>
  <Words>1717</Words>
  <Application>Microsoft Office PowerPoint</Application>
  <PresentationFormat>On-screen Show (4:3)</PresentationFormat>
  <Paragraphs>302</Paragraphs>
  <Slides>28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ＭＳ Ｐゴシック</vt:lpstr>
      <vt:lpstr>Arial</vt:lpstr>
      <vt:lpstr>Arial Narrow</vt:lpstr>
      <vt:lpstr>Impact</vt:lpstr>
      <vt:lpstr>Symbol</vt:lpstr>
      <vt:lpstr>Times New Roman</vt:lpstr>
      <vt:lpstr>NewsPrint</vt:lpstr>
      <vt:lpstr>Equation</vt:lpstr>
      <vt:lpstr>CSCB405 Бази от данни и СУБД   Модул 3: Релационен модел – част 1 </vt:lpstr>
      <vt:lpstr>Съдържание </vt:lpstr>
      <vt:lpstr>Основни понятия на релационния модел</vt:lpstr>
      <vt:lpstr>Основни понятия на релационния модел</vt:lpstr>
      <vt:lpstr>Основни понятия на релационния модел</vt:lpstr>
      <vt:lpstr>Основни понятия на релационния модел </vt:lpstr>
      <vt:lpstr>Основни понятия на релационния модел </vt:lpstr>
      <vt:lpstr>Основни понятия на релационния модел </vt:lpstr>
      <vt:lpstr>Основни понятия на релационния модел </vt:lpstr>
      <vt:lpstr>Основни понятия на релационния модел </vt:lpstr>
      <vt:lpstr>Основни понятия на релационния модел </vt:lpstr>
      <vt:lpstr>Основни понятия на релационния модел </vt:lpstr>
      <vt:lpstr>Основни понятия на релационния модел </vt:lpstr>
      <vt:lpstr>Релационни ограничения</vt:lpstr>
      <vt:lpstr>Релационни ограничения</vt:lpstr>
      <vt:lpstr>Релационни ограничения</vt:lpstr>
      <vt:lpstr>Релационни ограничения</vt:lpstr>
      <vt:lpstr>Релационни ограничения</vt:lpstr>
      <vt:lpstr>Релационни ограничения</vt:lpstr>
      <vt:lpstr>Релационни ограничения</vt:lpstr>
      <vt:lpstr>Релационни ограничения</vt:lpstr>
      <vt:lpstr>Релационни операции</vt:lpstr>
      <vt:lpstr>Релационни операции</vt:lpstr>
      <vt:lpstr>Релационни операции</vt:lpstr>
      <vt:lpstr>Релационни операции</vt:lpstr>
      <vt:lpstr>Релационни операции</vt:lpstr>
      <vt:lpstr>Релационни операции</vt:lpstr>
      <vt:lpstr>Релационни операции</vt:lpstr>
    </vt:vector>
  </TitlesOfParts>
  <Company>NBU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INFB586 Module 1</dc:title>
  <dc:subject>Files&amp;databases</dc:subject>
  <dc:creator>July Peneva</dc:creator>
  <cp:lastModifiedBy>Windows User</cp:lastModifiedBy>
  <cp:revision>144</cp:revision>
  <dcterms:created xsi:type="dcterms:W3CDTF">2006-09-20T15:43:40Z</dcterms:created>
  <dcterms:modified xsi:type="dcterms:W3CDTF">2018-10-23T02:34:40Z</dcterms:modified>
</cp:coreProperties>
</file>