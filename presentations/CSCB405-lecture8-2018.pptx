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2" r:id="rId1"/>
  </p:sldMasterIdLst>
  <p:notesMasterIdLst>
    <p:notesMasterId r:id="rId63"/>
  </p:notesMasterIdLst>
  <p:handoutMasterIdLst>
    <p:handoutMasterId r:id="rId64"/>
  </p:handoutMasterIdLst>
  <p:sldIdLst>
    <p:sldId id="256" r:id="rId2"/>
    <p:sldId id="257" r:id="rId3"/>
    <p:sldId id="328" r:id="rId4"/>
    <p:sldId id="329" r:id="rId5"/>
    <p:sldId id="354" r:id="rId6"/>
    <p:sldId id="330" r:id="rId7"/>
    <p:sldId id="319" r:id="rId8"/>
    <p:sldId id="263" r:id="rId9"/>
    <p:sldId id="259" r:id="rId10"/>
    <p:sldId id="312" r:id="rId11"/>
    <p:sldId id="355" r:id="rId12"/>
    <p:sldId id="313" r:id="rId13"/>
    <p:sldId id="356" r:id="rId14"/>
    <p:sldId id="357" r:id="rId15"/>
    <p:sldId id="264" r:id="rId16"/>
    <p:sldId id="317" r:id="rId17"/>
    <p:sldId id="286" r:id="rId18"/>
    <p:sldId id="318" r:id="rId19"/>
    <p:sldId id="315" r:id="rId20"/>
    <p:sldId id="331" r:id="rId21"/>
    <p:sldId id="282" r:id="rId22"/>
    <p:sldId id="284" r:id="rId23"/>
    <p:sldId id="314" r:id="rId24"/>
    <p:sldId id="283" r:id="rId25"/>
    <p:sldId id="321" r:id="rId26"/>
    <p:sldId id="322" r:id="rId27"/>
    <p:sldId id="359" r:id="rId28"/>
    <p:sldId id="360" r:id="rId29"/>
    <p:sldId id="287" r:id="rId30"/>
    <p:sldId id="361" r:id="rId31"/>
    <p:sldId id="323" r:id="rId32"/>
    <p:sldId id="358" r:id="rId33"/>
    <p:sldId id="363" r:id="rId34"/>
    <p:sldId id="332" r:id="rId35"/>
    <p:sldId id="333" r:id="rId36"/>
    <p:sldId id="362" r:id="rId37"/>
    <p:sldId id="334" r:id="rId38"/>
    <p:sldId id="335" r:id="rId39"/>
    <p:sldId id="336" r:id="rId40"/>
    <p:sldId id="337" r:id="rId41"/>
    <p:sldId id="342" r:id="rId42"/>
    <p:sldId id="343" r:id="rId43"/>
    <p:sldId id="338" r:id="rId44"/>
    <p:sldId id="364" r:id="rId45"/>
    <p:sldId id="339" r:id="rId46"/>
    <p:sldId id="340" r:id="rId47"/>
    <p:sldId id="341" r:id="rId48"/>
    <p:sldId id="344" r:id="rId49"/>
    <p:sldId id="345" r:id="rId50"/>
    <p:sldId id="346" r:id="rId51"/>
    <p:sldId id="365" r:id="rId52"/>
    <p:sldId id="347" r:id="rId53"/>
    <p:sldId id="349" r:id="rId54"/>
    <p:sldId id="366" r:id="rId55"/>
    <p:sldId id="367" r:id="rId56"/>
    <p:sldId id="368" r:id="rId57"/>
    <p:sldId id="350" r:id="rId58"/>
    <p:sldId id="369" r:id="rId59"/>
    <p:sldId id="351" r:id="rId60"/>
    <p:sldId id="352" r:id="rId61"/>
    <p:sldId id="353" r:id="rId62"/>
  </p:sldIdLst>
  <p:sldSz cx="9144000" cy="6858000" type="screen4x3"/>
  <p:notesSz cx="6858000" cy="9144000"/>
  <p:defaultTextStyle>
    <a:defPPr>
      <a:defRPr lang="bg-BG"/>
    </a:defPPr>
    <a:lvl1pPr algn="r" rtl="0" fontAlgn="base">
      <a:spcBef>
        <a:spcPct val="0"/>
      </a:spcBef>
      <a:spcAft>
        <a:spcPct val="0"/>
      </a:spcAft>
      <a:defRPr sz="3200" kern="1200">
        <a:solidFill>
          <a:schemeClr val="tx1"/>
        </a:solidFill>
        <a:latin typeface="Arial Narrow" pitchFamily="34" charset="0"/>
        <a:ea typeface="+mn-ea"/>
        <a:cs typeface="+mn-cs"/>
      </a:defRPr>
    </a:lvl1pPr>
    <a:lvl2pPr marL="457200" algn="r" rtl="0" fontAlgn="base">
      <a:spcBef>
        <a:spcPct val="0"/>
      </a:spcBef>
      <a:spcAft>
        <a:spcPct val="0"/>
      </a:spcAft>
      <a:defRPr sz="3200" kern="1200">
        <a:solidFill>
          <a:schemeClr val="tx1"/>
        </a:solidFill>
        <a:latin typeface="Arial Narrow" pitchFamily="34" charset="0"/>
        <a:ea typeface="+mn-ea"/>
        <a:cs typeface="+mn-cs"/>
      </a:defRPr>
    </a:lvl2pPr>
    <a:lvl3pPr marL="914400" algn="r" rtl="0" fontAlgn="base">
      <a:spcBef>
        <a:spcPct val="0"/>
      </a:spcBef>
      <a:spcAft>
        <a:spcPct val="0"/>
      </a:spcAft>
      <a:defRPr sz="3200" kern="1200">
        <a:solidFill>
          <a:schemeClr val="tx1"/>
        </a:solidFill>
        <a:latin typeface="Arial Narrow" pitchFamily="34" charset="0"/>
        <a:ea typeface="+mn-ea"/>
        <a:cs typeface="+mn-cs"/>
      </a:defRPr>
    </a:lvl3pPr>
    <a:lvl4pPr marL="1371600" algn="r" rtl="0" fontAlgn="base">
      <a:spcBef>
        <a:spcPct val="0"/>
      </a:spcBef>
      <a:spcAft>
        <a:spcPct val="0"/>
      </a:spcAft>
      <a:defRPr sz="3200" kern="1200">
        <a:solidFill>
          <a:schemeClr val="tx1"/>
        </a:solidFill>
        <a:latin typeface="Arial Narrow" pitchFamily="34" charset="0"/>
        <a:ea typeface="+mn-ea"/>
        <a:cs typeface="+mn-cs"/>
      </a:defRPr>
    </a:lvl4pPr>
    <a:lvl5pPr marL="1828800" algn="r" rtl="0" fontAlgn="base">
      <a:spcBef>
        <a:spcPct val="0"/>
      </a:spcBef>
      <a:spcAft>
        <a:spcPct val="0"/>
      </a:spcAft>
      <a:defRPr sz="3200" kern="1200">
        <a:solidFill>
          <a:schemeClr val="tx1"/>
        </a:solidFill>
        <a:latin typeface="Arial Narrow" pitchFamily="34" charset="0"/>
        <a:ea typeface="+mn-ea"/>
        <a:cs typeface="+mn-cs"/>
      </a:defRPr>
    </a:lvl5pPr>
    <a:lvl6pPr marL="2286000" algn="l" defTabSz="914400" rtl="0" eaLnBrk="1" latinLnBrk="0" hangingPunct="1">
      <a:defRPr sz="3200" kern="1200">
        <a:solidFill>
          <a:schemeClr val="tx1"/>
        </a:solidFill>
        <a:latin typeface="Arial Narrow" pitchFamily="34" charset="0"/>
        <a:ea typeface="+mn-ea"/>
        <a:cs typeface="+mn-cs"/>
      </a:defRPr>
    </a:lvl6pPr>
    <a:lvl7pPr marL="2743200" algn="l" defTabSz="914400" rtl="0" eaLnBrk="1" latinLnBrk="0" hangingPunct="1">
      <a:defRPr sz="3200" kern="1200">
        <a:solidFill>
          <a:schemeClr val="tx1"/>
        </a:solidFill>
        <a:latin typeface="Arial Narrow" pitchFamily="34" charset="0"/>
        <a:ea typeface="+mn-ea"/>
        <a:cs typeface="+mn-cs"/>
      </a:defRPr>
    </a:lvl7pPr>
    <a:lvl8pPr marL="3200400" algn="l" defTabSz="914400" rtl="0" eaLnBrk="1" latinLnBrk="0" hangingPunct="1">
      <a:defRPr sz="3200" kern="1200">
        <a:solidFill>
          <a:schemeClr val="tx1"/>
        </a:solidFill>
        <a:latin typeface="Arial Narrow" pitchFamily="34" charset="0"/>
        <a:ea typeface="+mn-ea"/>
        <a:cs typeface="+mn-cs"/>
      </a:defRPr>
    </a:lvl8pPr>
    <a:lvl9pPr marL="3657600" algn="l" defTabSz="914400" rtl="0" eaLnBrk="1" latinLnBrk="0" hangingPunct="1">
      <a:defRPr sz="3200" kern="1200">
        <a:solidFill>
          <a:schemeClr val="tx1"/>
        </a:solidFill>
        <a:latin typeface="Arial Narrow"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66"/>
    <a:srgbClr val="0066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85" autoAdjust="0"/>
    <p:restoredTop sz="94636" autoAdjust="0"/>
  </p:normalViewPr>
  <p:slideViewPr>
    <p:cSldViewPr>
      <p:cViewPr varScale="1">
        <p:scale>
          <a:sx n="106" d="100"/>
          <a:sy n="106" d="100"/>
        </p:scale>
        <p:origin x="972" y="11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83" d="100"/>
          <a:sy n="83" d="100"/>
        </p:scale>
        <p:origin x="-1422"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981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a:latin typeface="Arial" charset="0"/>
              </a:defRPr>
            </a:lvl1pPr>
          </a:lstStyle>
          <a:p>
            <a:endParaRPr lang="bg-BG" altLang="bg-BG"/>
          </a:p>
        </p:txBody>
      </p:sp>
      <p:sp>
        <p:nvSpPr>
          <p:cNvPr id="119811" name="Rectangle 3"/>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atin typeface="Arial" charset="0"/>
              </a:defRPr>
            </a:lvl1pPr>
          </a:lstStyle>
          <a:p>
            <a:endParaRPr lang="bg-BG" altLang="bg-BG"/>
          </a:p>
        </p:txBody>
      </p:sp>
      <p:sp>
        <p:nvSpPr>
          <p:cNvPr id="119812" name="Rectangle 4"/>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a:latin typeface="Arial" charset="0"/>
              </a:defRPr>
            </a:lvl1pPr>
          </a:lstStyle>
          <a:p>
            <a:endParaRPr lang="bg-BG" altLang="bg-BG"/>
          </a:p>
        </p:txBody>
      </p:sp>
      <p:sp>
        <p:nvSpPr>
          <p:cNvPr id="119813" name="Rectangle 5"/>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atin typeface="Arial" charset="0"/>
              </a:defRPr>
            </a:lvl1pPr>
          </a:lstStyle>
          <a:p>
            <a:fld id="{D57701BC-30D6-4A44-83F0-9D15A93590CD}" type="slidenum">
              <a:rPr lang="bg-BG" altLang="bg-BG"/>
              <a:pPr/>
              <a:t>‹#›</a:t>
            </a:fld>
            <a:endParaRPr lang="bg-BG" altLang="bg-BG"/>
          </a:p>
        </p:txBody>
      </p:sp>
    </p:spTree>
    <p:extLst>
      <p:ext uri="{BB962C8B-B14F-4D97-AF65-F5344CB8AC3E}">
        <p14:creationId xmlns:p14="http://schemas.microsoft.com/office/powerpoint/2010/main" val="368246300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830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a:latin typeface="Arial" charset="0"/>
              </a:defRPr>
            </a:lvl1pPr>
          </a:lstStyle>
          <a:p>
            <a:endParaRPr lang="bg-BG" altLang="bg-BG"/>
          </a:p>
        </p:txBody>
      </p:sp>
      <p:sp>
        <p:nvSpPr>
          <p:cNvPr id="98307"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atin typeface="Arial" charset="0"/>
              </a:defRPr>
            </a:lvl1pPr>
          </a:lstStyle>
          <a:p>
            <a:endParaRPr lang="bg-BG" altLang="bg-BG"/>
          </a:p>
        </p:txBody>
      </p:sp>
      <p:sp>
        <p:nvSpPr>
          <p:cNvPr id="9830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98309"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bg-BG" altLang="bg-BG" smtClean="0"/>
              <a:t>Click to edit Master text styles</a:t>
            </a:r>
          </a:p>
          <a:p>
            <a:pPr lvl="1"/>
            <a:r>
              <a:rPr lang="bg-BG" altLang="bg-BG" smtClean="0"/>
              <a:t>Second level</a:t>
            </a:r>
          </a:p>
          <a:p>
            <a:pPr lvl="2"/>
            <a:r>
              <a:rPr lang="bg-BG" altLang="bg-BG" smtClean="0"/>
              <a:t>Third level</a:t>
            </a:r>
          </a:p>
          <a:p>
            <a:pPr lvl="3"/>
            <a:r>
              <a:rPr lang="bg-BG" altLang="bg-BG" smtClean="0"/>
              <a:t>Fourth level</a:t>
            </a:r>
          </a:p>
          <a:p>
            <a:pPr lvl="4"/>
            <a:r>
              <a:rPr lang="bg-BG" altLang="bg-BG" smtClean="0"/>
              <a:t>Fifth level</a:t>
            </a:r>
          </a:p>
        </p:txBody>
      </p:sp>
      <p:sp>
        <p:nvSpPr>
          <p:cNvPr id="98310"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a:latin typeface="Arial" charset="0"/>
              </a:defRPr>
            </a:lvl1pPr>
          </a:lstStyle>
          <a:p>
            <a:endParaRPr lang="bg-BG" altLang="bg-BG"/>
          </a:p>
        </p:txBody>
      </p:sp>
      <p:sp>
        <p:nvSpPr>
          <p:cNvPr id="98311"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atin typeface="Arial" charset="0"/>
              </a:defRPr>
            </a:lvl1pPr>
          </a:lstStyle>
          <a:p>
            <a:fld id="{14E14C77-E44B-40CB-BFD0-423CB7587FB8}" type="slidenum">
              <a:rPr lang="bg-BG" altLang="bg-BG"/>
              <a:pPr/>
              <a:t>‹#›</a:t>
            </a:fld>
            <a:endParaRPr lang="bg-BG" altLang="bg-BG"/>
          </a:p>
        </p:txBody>
      </p:sp>
    </p:spTree>
    <p:extLst>
      <p:ext uri="{BB962C8B-B14F-4D97-AF65-F5344CB8AC3E}">
        <p14:creationId xmlns:p14="http://schemas.microsoft.com/office/powerpoint/2010/main" val="1717730639"/>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Rectangle 7"/>
          <p:cNvSpPr/>
          <p:nvPr/>
        </p:nvSpPr>
        <p:spPr>
          <a:xfrm>
            <a:off x="777240" y="0"/>
            <a:ext cx="7543800" cy="304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762000" y="3200400"/>
            <a:ext cx="7543800" cy="1524000"/>
          </a:xfrm>
        </p:spPr>
        <p:txBody>
          <a:bodyPr>
            <a:noAutofit/>
          </a:bodyPr>
          <a:lstStyle>
            <a:lvl1pPr>
              <a:defRPr sz="8000"/>
            </a:lvl1pPr>
          </a:lstStyle>
          <a:p>
            <a:r>
              <a:rPr lang="en-US" smtClean="0"/>
              <a:t>Click to edit Master title style</a:t>
            </a:r>
            <a:endParaRPr lang="en-US" dirty="0"/>
          </a:p>
        </p:txBody>
      </p:sp>
      <p:sp>
        <p:nvSpPr>
          <p:cNvPr id="3" name="Subtitle 2"/>
          <p:cNvSpPr>
            <a:spLocks noGrp="1"/>
          </p:cNvSpPr>
          <p:nvPr>
            <p:ph type="subTitle" idx="1"/>
          </p:nvPr>
        </p:nvSpPr>
        <p:spPr>
          <a:xfrm>
            <a:off x="762000" y="4724400"/>
            <a:ext cx="6858000" cy="990600"/>
          </a:xfrm>
        </p:spPr>
        <p:txBody>
          <a:bodyPr anchor="t" anchorCtr="0">
            <a:normAutofit/>
          </a:bodyPr>
          <a:lstStyle>
            <a:lvl1pPr marL="0" indent="0" algn="l">
              <a:buNone/>
              <a:defRPr sz="28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r>
              <a:rPr lang="bg-BG" altLang="bg-BG" smtClean="0"/>
              <a:t>Юлиана Пенева</a:t>
            </a:r>
            <a:endParaRPr lang="bg-BG" altLang="bg-BG"/>
          </a:p>
        </p:txBody>
      </p:sp>
      <p:sp>
        <p:nvSpPr>
          <p:cNvPr id="5" name="Footer Placeholder 4"/>
          <p:cNvSpPr>
            <a:spLocks noGrp="1"/>
          </p:cNvSpPr>
          <p:nvPr>
            <p:ph type="ftr" sz="quarter" idx="11"/>
          </p:nvPr>
        </p:nvSpPr>
        <p:spPr/>
        <p:txBody>
          <a:bodyPr/>
          <a:lstStyle/>
          <a:p>
            <a:r>
              <a:rPr lang="en-US" altLang="bg-BG" smtClean="0"/>
              <a:t>CSCB405 - </a:t>
            </a:r>
            <a:r>
              <a:rPr lang="bg-BG" altLang="bg-BG" smtClean="0"/>
              <a:t>модул 8</a:t>
            </a:r>
            <a:endParaRPr lang="bg-BG" altLang="bg-BG"/>
          </a:p>
        </p:txBody>
      </p:sp>
      <p:sp>
        <p:nvSpPr>
          <p:cNvPr id="6" name="Slide Number Placeholder 5"/>
          <p:cNvSpPr>
            <a:spLocks noGrp="1"/>
          </p:cNvSpPr>
          <p:nvPr>
            <p:ph type="sldNum" sz="quarter" idx="12"/>
          </p:nvPr>
        </p:nvSpPr>
        <p:spPr/>
        <p:txBody>
          <a:bodyPr/>
          <a:lstStyle/>
          <a:p>
            <a:fld id="{E12EB01D-E7DC-4DF6-8B76-00859902057C}" type="slidenum">
              <a:rPr lang="bg-BG" altLang="bg-BG" smtClean="0"/>
              <a:pPr/>
              <a:t>‹#›</a:t>
            </a:fld>
            <a:endParaRPr lang="bg-BG" altLang="bg-BG"/>
          </a:p>
        </p:txBody>
      </p:sp>
      <p:sp>
        <p:nvSpPr>
          <p:cNvPr id="7" name="Rectangle 6"/>
          <p:cNvSpPr/>
          <p:nvPr/>
        </p:nvSpPr>
        <p:spPr>
          <a:xfrm>
            <a:off x="777240" y="6172200"/>
            <a:ext cx="7543800" cy="274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ppt_x</p:attrName>
                                        </p:attrNameLst>
                                      </p:cBhvr>
                                      <p:tavLst>
                                        <p:tav tm="0">
                                          <p:val>
                                            <p:strVal val="#ppt_x-.2"/>
                                          </p:val>
                                        </p:tav>
                                        <p:tav tm="100000">
                                          <p:val>
                                            <p:strVal val="#ppt_x"/>
                                          </p:val>
                                        </p:tav>
                                      </p:tavLst>
                                    </p:anim>
                                    <p:anim calcmode="lin" valueType="num">
                                      <p:cBhvr>
                                        <p:cTn id="8" dur="1000" fill="hold"/>
                                        <p:tgtEl>
                                          <p:spTgt spid="2"/>
                                        </p:tgtEl>
                                        <p:attrNameLst>
                                          <p:attrName>ppt_y</p:attrName>
                                        </p:attrNameLst>
                                      </p:cBhvr>
                                      <p:tavLst>
                                        <p:tav tm="0">
                                          <p:val>
                                            <p:strVal val="#ppt_y"/>
                                          </p:val>
                                        </p:tav>
                                        <p:tav tm="100000">
                                          <p:val>
                                            <p:strVal val="#ppt_y"/>
                                          </p:val>
                                        </p:tav>
                                      </p:tavLst>
                                    </p:anim>
                                    <p:animEffect transition="in" filter="wipe(right)" prLst="gradientSize: 0.1">
                                      <p:cBhvr>
                                        <p:cTn id="9" dur="10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44"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500"/>
                                        <p:tgtEl>
                                          <p:spTgt spid="3">
                                            <p:txEl>
                                              <p:pRg st="0" end="0"/>
                                            </p:txEl>
                                          </p:spTgt>
                                        </p:tgtEl>
                                      </p:cBhvr>
                                    </p:animEffect>
                                    <p:anim calcmode="lin" valueType="num">
                                      <p:cBhvr>
                                        <p:cTn id="15"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500" fill="hold"/>
                                        <p:tgtEl>
                                          <p:spTgt spid="3">
                                            <p:txEl>
                                              <p:pRg st="0" end="0"/>
                                            </p:txEl>
                                          </p:spTgt>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r>
              <a:rPr lang="bg-BG" altLang="bg-BG" smtClean="0"/>
              <a:t>Юлиана Пенева</a:t>
            </a:r>
            <a:endParaRPr lang="bg-BG" altLang="bg-BG"/>
          </a:p>
        </p:txBody>
      </p:sp>
      <p:sp>
        <p:nvSpPr>
          <p:cNvPr id="5" name="Footer Placeholder 4"/>
          <p:cNvSpPr>
            <a:spLocks noGrp="1"/>
          </p:cNvSpPr>
          <p:nvPr>
            <p:ph type="ftr" sz="quarter" idx="11"/>
          </p:nvPr>
        </p:nvSpPr>
        <p:spPr/>
        <p:txBody>
          <a:bodyPr/>
          <a:lstStyle/>
          <a:p>
            <a:r>
              <a:rPr lang="en-US" altLang="bg-BG" smtClean="0"/>
              <a:t>CSCB405 - </a:t>
            </a:r>
            <a:r>
              <a:rPr lang="bg-BG" altLang="bg-BG" smtClean="0"/>
              <a:t>модул 8</a:t>
            </a:r>
            <a:endParaRPr lang="bg-BG" altLang="bg-BG"/>
          </a:p>
        </p:txBody>
      </p:sp>
      <p:sp>
        <p:nvSpPr>
          <p:cNvPr id="6" name="Slide Number Placeholder 5"/>
          <p:cNvSpPr>
            <a:spLocks noGrp="1"/>
          </p:cNvSpPr>
          <p:nvPr>
            <p:ph type="sldNum" sz="quarter" idx="12"/>
          </p:nvPr>
        </p:nvSpPr>
        <p:spPr/>
        <p:txBody>
          <a:bodyPr/>
          <a:lstStyle/>
          <a:p>
            <a:fld id="{74EE3BFA-F3F3-428D-9946-02BF70619056}" type="slidenum">
              <a:rPr lang="bg-BG" altLang="bg-BG" smtClean="0"/>
              <a:pPr/>
              <a:t>‹#›</a:t>
            </a:fld>
            <a:endParaRPr lang="bg-BG" altLang="bg-BG"/>
          </a:p>
        </p:txBody>
      </p:sp>
    </p:spTree>
  </p:cSld>
  <p:clrMapOvr>
    <a:masterClrMapping/>
  </p:clrMapOvr>
  <p:transition>
    <p:fade/>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777240" y="0"/>
            <a:ext cx="7543800" cy="304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62000" y="3276600"/>
            <a:ext cx="7543800" cy="1676400"/>
          </a:xfrm>
        </p:spPr>
        <p:txBody>
          <a:bodyPr anchor="b" anchorCtr="0"/>
          <a:lstStyle>
            <a:lvl1pPr algn="l">
              <a:defRPr sz="54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762000" y="4953000"/>
            <a:ext cx="6858000" cy="914400"/>
          </a:xfrm>
        </p:spPr>
        <p:txBody>
          <a:bodyPr anchor="t" anchorCtr="0">
            <a:normAutofit/>
          </a:bodyPr>
          <a:lstStyle>
            <a:lvl1pPr marL="0" indent="0">
              <a:buNone/>
              <a:defRPr sz="28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r>
              <a:rPr lang="bg-BG" altLang="bg-BG" smtClean="0"/>
              <a:t>Юлиана Пенева</a:t>
            </a:r>
            <a:endParaRPr lang="bg-BG" altLang="bg-BG"/>
          </a:p>
        </p:txBody>
      </p:sp>
      <p:sp>
        <p:nvSpPr>
          <p:cNvPr id="5" name="Footer Placeholder 4"/>
          <p:cNvSpPr>
            <a:spLocks noGrp="1"/>
          </p:cNvSpPr>
          <p:nvPr>
            <p:ph type="ftr" sz="quarter" idx="11"/>
          </p:nvPr>
        </p:nvSpPr>
        <p:spPr/>
        <p:txBody>
          <a:bodyPr/>
          <a:lstStyle/>
          <a:p>
            <a:r>
              <a:rPr lang="en-US" altLang="bg-BG" smtClean="0"/>
              <a:t>CSCB405 - </a:t>
            </a:r>
            <a:r>
              <a:rPr lang="bg-BG" altLang="bg-BG" smtClean="0"/>
              <a:t>модул 8</a:t>
            </a:r>
            <a:endParaRPr lang="bg-BG" altLang="bg-BG"/>
          </a:p>
        </p:txBody>
      </p:sp>
      <p:sp>
        <p:nvSpPr>
          <p:cNvPr id="6" name="Slide Number Placeholder 5"/>
          <p:cNvSpPr>
            <a:spLocks noGrp="1"/>
          </p:cNvSpPr>
          <p:nvPr>
            <p:ph type="sldNum" sz="quarter" idx="12"/>
          </p:nvPr>
        </p:nvSpPr>
        <p:spPr/>
        <p:txBody>
          <a:bodyPr/>
          <a:lstStyle/>
          <a:p>
            <a:fld id="{4DD4CE2E-9796-4084-B601-91A26A5D88DA}" type="slidenum">
              <a:rPr lang="bg-BG" altLang="bg-BG" smtClean="0"/>
              <a:pPr/>
              <a:t>‹#›</a:t>
            </a:fld>
            <a:endParaRPr lang="bg-BG" altLang="bg-BG"/>
          </a:p>
        </p:txBody>
      </p:sp>
      <p:sp>
        <p:nvSpPr>
          <p:cNvPr id="8" name="Rectangle 7"/>
          <p:cNvSpPr/>
          <p:nvPr/>
        </p:nvSpPr>
        <p:spPr>
          <a:xfrm>
            <a:off x="777240" y="6172200"/>
            <a:ext cx="7543800" cy="274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p:fade/>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762000" y="609601"/>
            <a:ext cx="3657600" cy="376732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609601"/>
            <a:ext cx="3657600" cy="376732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r>
              <a:rPr lang="bg-BG" altLang="bg-BG" smtClean="0"/>
              <a:t>Юлиана Пенева</a:t>
            </a:r>
            <a:endParaRPr lang="bg-BG" altLang="bg-BG"/>
          </a:p>
        </p:txBody>
      </p:sp>
      <p:sp>
        <p:nvSpPr>
          <p:cNvPr id="6" name="Footer Placeholder 5"/>
          <p:cNvSpPr>
            <a:spLocks noGrp="1"/>
          </p:cNvSpPr>
          <p:nvPr>
            <p:ph type="ftr" sz="quarter" idx="11"/>
          </p:nvPr>
        </p:nvSpPr>
        <p:spPr/>
        <p:txBody>
          <a:bodyPr/>
          <a:lstStyle/>
          <a:p>
            <a:r>
              <a:rPr lang="en-US" altLang="bg-BG" smtClean="0"/>
              <a:t>CSCB405 - </a:t>
            </a:r>
            <a:r>
              <a:rPr lang="bg-BG" altLang="bg-BG" smtClean="0"/>
              <a:t>модул 8</a:t>
            </a:r>
            <a:endParaRPr lang="bg-BG" altLang="bg-BG"/>
          </a:p>
        </p:txBody>
      </p:sp>
      <p:sp>
        <p:nvSpPr>
          <p:cNvPr id="7" name="Slide Number Placeholder 6"/>
          <p:cNvSpPr>
            <a:spLocks noGrp="1"/>
          </p:cNvSpPr>
          <p:nvPr>
            <p:ph type="sldNum" sz="quarter" idx="12"/>
          </p:nvPr>
        </p:nvSpPr>
        <p:spPr/>
        <p:txBody>
          <a:bodyPr/>
          <a:lstStyle/>
          <a:p>
            <a:fld id="{A040A848-D8DB-4165-8FD0-989C53FCBF79}" type="slidenum">
              <a:rPr lang="bg-BG" altLang="bg-BG" smtClean="0"/>
              <a:pPr/>
              <a:t>‹#›</a:t>
            </a:fld>
            <a:endParaRPr lang="bg-BG" altLang="bg-BG"/>
          </a:p>
        </p:txBody>
      </p:sp>
    </p:spTree>
  </p:cSld>
  <p:clrMapOvr>
    <a:masterClrMapping/>
  </p:clrMapOvr>
  <p:transition>
    <p:fade/>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758952" y="609600"/>
            <a:ext cx="3657600" cy="639762"/>
          </a:xfrm>
        </p:spPr>
        <p:txBody>
          <a:bodyPr anchor="b">
            <a:noAutofit/>
          </a:bodyPr>
          <a:lstStyle>
            <a:lvl1pPr marL="0" indent="0">
              <a:buNone/>
              <a:defRPr sz="28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758952" y="1329264"/>
            <a:ext cx="3657600" cy="3048000"/>
          </a:xfrm>
        </p:spPr>
        <p:txBody>
          <a:bodyPr anchor="t" anchorCtr="0"/>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152" y="609600"/>
            <a:ext cx="3657600" cy="639762"/>
          </a:xfrm>
        </p:spPr>
        <p:txBody>
          <a:bodyPr anchor="b">
            <a:noAutofit/>
          </a:bodyPr>
          <a:lstStyle>
            <a:lvl1pPr marL="0" indent="0">
              <a:buNone/>
              <a:defRPr sz="28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152" y="1329264"/>
            <a:ext cx="3657600" cy="3048000"/>
          </a:xfrm>
        </p:spPr>
        <p:txBody>
          <a:bodyPr anchor="t" anchorCtr="0"/>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r>
              <a:rPr lang="bg-BG" altLang="bg-BG" smtClean="0"/>
              <a:t>Юлиана Пенева</a:t>
            </a:r>
            <a:endParaRPr lang="bg-BG" altLang="bg-BG"/>
          </a:p>
        </p:txBody>
      </p:sp>
      <p:sp>
        <p:nvSpPr>
          <p:cNvPr id="8" name="Footer Placeholder 7"/>
          <p:cNvSpPr>
            <a:spLocks noGrp="1"/>
          </p:cNvSpPr>
          <p:nvPr>
            <p:ph type="ftr" sz="quarter" idx="11"/>
          </p:nvPr>
        </p:nvSpPr>
        <p:spPr/>
        <p:txBody>
          <a:bodyPr/>
          <a:lstStyle/>
          <a:p>
            <a:r>
              <a:rPr lang="en-US" altLang="bg-BG" smtClean="0"/>
              <a:t>CSCB405 - </a:t>
            </a:r>
            <a:r>
              <a:rPr lang="bg-BG" altLang="bg-BG" smtClean="0"/>
              <a:t>модул 8</a:t>
            </a:r>
            <a:endParaRPr lang="bg-BG" altLang="bg-BG"/>
          </a:p>
        </p:txBody>
      </p:sp>
      <p:sp>
        <p:nvSpPr>
          <p:cNvPr id="9" name="Slide Number Placeholder 8"/>
          <p:cNvSpPr>
            <a:spLocks noGrp="1"/>
          </p:cNvSpPr>
          <p:nvPr>
            <p:ph type="sldNum" sz="quarter" idx="12"/>
          </p:nvPr>
        </p:nvSpPr>
        <p:spPr/>
        <p:txBody>
          <a:bodyPr/>
          <a:lstStyle/>
          <a:p>
            <a:fld id="{E9DFA84E-6781-41F2-9A02-414763C89487}" type="slidenum">
              <a:rPr lang="bg-BG" altLang="bg-BG" smtClean="0"/>
              <a:pPr/>
              <a:t>‹#›</a:t>
            </a:fld>
            <a:endParaRPr lang="bg-BG" altLang="bg-BG"/>
          </a:p>
        </p:txBody>
      </p:sp>
      <p:cxnSp>
        <p:nvCxnSpPr>
          <p:cNvPr id="11" name="Straight Connector 10"/>
          <p:cNvCxnSpPr/>
          <p:nvPr/>
        </p:nvCxnSpPr>
        <p:spPr>
          <a:xfrm>
            <a:off x="758952" y="1249362"/>
            <a:ext cx="36576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4645152" y="1249362"/>
            <a:ext cx="3657600" cy="1588"/>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ransition>
    <p:fade/>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r>
              <a:rPr lang="bg-BG" altLang="bg-BG" smtClean="0"/>
              <a:t>Юлиана Пенева</a:t>
            </a:r>
            <a:endParaRPr lang="bg-BG" altLang="bg-BG"/>
          </a:p>
        </p:txBody>
      </p:sp>
      <p:sp>
        <p:nvSpPr>
          <p:cNvPr id="4" name="Footer Placeholder 3"/>
          <p:cNvSpPr>
            <a:spLocks noGrp="1"/>
          </p:cNvSpPr>
          <p:nvPr>
            <p:ph type="ftr" sz="quarter" idx="11"/>
          </p:nvPr>
        </p:nvSpPr>
        <p:spPr/>
        <p:txBody>
          <a:bodyPr/>
          <a:lstStyle/>
          <a:p>
            <a:r>
              <a:rPr lang="en-US" altLang="bg-BG" smtClean="0"/>
              <a:t>CSCB405 - </a:t>
            </a:r>
            <a:r>
              <a:rPr lang="bg-BG" altLang="bg-BG" smtClean="0"/>
              <a:t>модул 8</a:t>
            </a:r>
            <a:endParaRPr lang="bg-BG" altLang="bg-BG"/>
          </a:p>
        </p:txBody>
      </p:sp>
      <p:sp>
        <p:nvSpPr>
          <p:cNvPr id="5" name="Slide Number Placeholder 4"/>
          <p:cNvSpPr>
            <a:spLocks noGrp="1"/>
          </p:cNvSpPr>
          <p:nvPr>
            <p:ph type="sldNum" sz="quarter" idx="12"/>
          </p:nvPr>
        </p:nvSpPr>
        <p:spPr/>
        <p:txBody>
          <a:bodyPr/>
          <a:lstStyle/>
          <a:p>
            <a:fld id="{05EAB2F6-4AF9-4785-B28E-CE3D5506B386}" type="slidenum">
              <a:rPr lang="bg-BG" altLang="bg-BG" smtClean="0"/>
              <a:pPr/>
              <a:t>‹#›</a:t>
            </a:fld>
            <a:endParaRPr lang="bg-BG" altLang="bg-BG"/>
          </a:p>
        </p:txBody>
      </p:sp>
    </p:spTree>
  </p:cSld>
  <p:clrMapOvr>
    <a:masterClrMapping/>
  </p:clrMapOvr>
  <p:transition>
    <p:fade/>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bg-BG" altLang="bg-BG" smtClean="0"/>
              <a:t>Юлиана Пенева</a:t>
            </a:r>
            <a:endParaRPr lang="bg-BG" altLang="bg-BG"/>
          </a:p>
        </p:txBody>
      </p:sp>
      <p:sp>
        <p:nvSpPr>
          <p:cNvPr id="3" name="Footer Placeholder 2"/>
          <p:cNvSpPr>
            <a:spLocks noGrp="1"/>
          </p:cNvSpPr>
          <p:nvPr>
            <p:ph type="ftr" sz="quarter" idx="11"/>
          </p:nvPr>
        </p:nvSpPr>
        <p:spPr/>
        <p:txBody>
          <a:bodyPr/>
          <a:lstStyle/>
          <a:p>
            <a:r>
              <a:rPr lang="en-US" altLang="bg-BG" smtClean="0"/>
              <a:t>CSCB405 - </a:t>
            </a:r>
            <a:r>
              <a:rPr lang="bg-BG" altLang="bg-BG" smtClean="0"/>
              <a:t>модул 8</a:t>
            </a:r>
            <a:endParaRPr lang="bg-BG" altLang="bg-BG"/>
          </a:p>
        </p:txBody>
      </p:sp>
      <p:sp>
        <p:nvSpPr>
          <p:cNvPr id="4" name="Slide Number Placeholder 3"/>
          <p:cNvSpPr>
            <a:spLocks noGrp="1"/>
          </p:cNvSpPr>
          <p:nvPr>
            <p:ph type="sldNum" sz="quarter" idx="12"/>
          </p:nvPr>
        </p:nvSpPr>
        <p:spPr/>
        <p:txBody>
          <a:bodyPr/>
          <a:lstStyle/>
          <a:p>
            <a:fld id="{9A3DE240-1B33-444C-8C21-DFE53EF3D49D}" type="slidenum">
              <a:rPr lang="bg-BG" altLang="bg-BG" smtClean="0"/>
              <a:pPr/>
              <a:t>‹#›</a:t>
            </a:fld>
            <a:endParaRPr lang="bg-BG" altLang="bg-BG"/>
          </a:p>
        </p:txBody>
      </p:sp>
    </p:spTree>
  </p:cSld>
  <p:clrMapOvr>
    <a:masterClrMapping/>
  </p:clrMapOvr>
  <p:transition>
    <p:fade/>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62000" y="4572000"/>
            <a:ext cx="6784848" cy="1600200"/>
          </a:xfrm>
        </p:spPr>
        <p:txBody>
          <a:bodyPr anchor="b">
            <a:normAutofit/>
          </a:bodyPr>
          <a:lstStyle>
            <a:lvl1pPr algn="l">
              <a:defRPr sz="5400" b="0"/>
            </a:lvl1pPr>
          </a:lstStyle>
          <a:p>
            <a:r>
              <a:rPr lang="en-US" smtClean="0"/>
              <a:t>Click to edit Master title style</a:t>
            </a:r>
            <a:endParaRPr lang="en-US"/>
          </a:p>
        </p:txBody>
      </p:sp>
      <p:sp>
        <p:nvSpPr>
          <p:cNvPr id="3" name="Content Placeholder 2"/>
          <p:cNvSpPr>
            <a:spLocks noGrp="1"/>
          </p:cNvSpPr>
          <p:nvPr>
            <p:ph idx="1"/>
          </p:nvPr>
        </p:nvSpPr>
        <p:spPr>
          <a:xfrm>
            <a:off x="3710866" y="457200"/>
            <a:ext cx="4594934" cy="4114799"/>
          </a:xfrm>
        </p:spPr>
        <p:txBody>
          <a:bodyPr/>
          <a:lstStyle>
            <a:lvl1pPr>
              <a:defRPr sz="2400"/>
            </a:lvl1pPr>
            <a:lvl2pPr>
              <a:defRPr sz="22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762001" y="457200"/>
            <a:ext cx="2673657" cy="4114800"/>
          </a:xfrm>
        </p:spPr>
        <p:txBody>
          <a:bodyPr>
            <a:normAutofit/>
          </a:bodyPr>
          <a:lstStyle>
            <a:lvl1pPr marL="0" indent="0">
              <a:buNone/>
              <a:defRPr sz="21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r>
              <a:rPr lang="bg-BG" altLang="bg-BG" smtClean="0"/>
              <a:t>Юлиана Пенева</a:t>
            </a:r>
            <a:endParaRPr lang="bg-BG" altLang="bg-BG"/>
          </a:p>
        </p:txBody>
      </p:sp>
      <p:sp>
        <p:nvSpPr>
          <p:cNvPr id="6" name="Footer Placeholder 5"/>
          <p:cNvSpPr>
            <a:spLocks noGrp="1"/>
          </p:cNvSpPr>
          <p:nvPr>
            <p:ph type="ftr" sz="quarter" idx="11"/>
          </p:nvPr>
        </p:nvSpPr>
        <p:spPr/>
        <p:txBody>
          <a:bodyPr/>
          <a:lstStyle/>
          <a:p>
            <a:r>
              <a:rPr lang="en-US" altLang="bg-BG" smtClean="0"/>
              <a:t>CSCB405 - </a:t>
            </a:r>
            <a:r>
              <a:rPr lang="bg-BG" altLang="bg-BG" smtClean="0"/>
              <a:t>модул 8</a:t>
            </a:r>
            <a:endParaRPr lang="bg-BG" altLang="bg-BG"/>
          </a:p>
        </p:txBody>
      </p:sp>
      <p:sp>
        <p:nvSpPr>
          <p:cNvPr id="7" name="Slide Number Placeholder 6"/>
          <p:cNvSpPr>
            <a:spLocks noGrp="1"/>
          </p:cNvSpPr>
          <p:nvPr>
            <p:ph type="sldNum" sz="quarter" idx="12"/>
          </p:nvPr>
        </p:nvSpPr>
        <p:spPr/>
        <p:txBody>
          <a:bodyPr/>
          <a:lstStyle/>
          <a:p>
            <a:fld id="{4BC6FE1C-1EB2-4916-B325-86DA12063627}" type="slidenum">
              <a:rPr lang="bg-BG" altLang="bg-BG" smtClean="0"/>
              <a:pPr/>
              <a:t>‹#›</a:t>
            </a:fld>
            <a:endParaRPr lang="bg-BG" altLang="bg-BG"/>
          </a:p>
        </p:txBody>
      </p:sp>
      <p:cxnSp>
        <p:nvCxnSpPr>
          <p:cNvPr id="10" name="Straight Connector 9"/>
          <p:cNvCxnSpPr/>
          <p:nvPr/>
        </p:nvCxnSpPr>
        <p:spPr>
          <a:xfrm rot="5400000">
            <a:off x="1677194" y="2514600"/>
            <a:ext cx="3810000" cy="1588"/>
          </a:xfrm>
          <a:prstGeom prst="line">
            <a:avLst/>
          </a:prstGeom>
          <a:ln>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fade/>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58952" y="4572000"/>
            <a:ext cx="6784848" cy="1600200"/>
          </a:xfrm>
        </p:spPr>
        <p:txBody>
          <a:bodyPr anchor="b">
            <a:normAutofit/>
          </a:bodyPr>
          <a:lstStyle>
            <a:lvl1pPr algn="l">
              <a:defRPr sz="5400" b="0"/>
            </a:lvl1pPr>
          </a:lstStyle>
          <a:p>
            <a:r>
              <a:rPr lang="en-US" smtClean="0"/>
              <a:t>Click to edit Master title style</a:t>
            </a:r>
            <a:endParaRPr lang="en-US" dirty="0"/>
          </a:p>
        </p:txBody>
      </p:sp>
      <p:sp>
        <p:nvSpPr>
          <p:cNvPr id="3" name="Picture Placeholder 2"/>
          <p:cNvSpPr>
            <a:spLocks noGrp="1"/>
          </p:cNvSpPr>
          <p:nvPr>
            <p:ph type="pic" idx="1"/>
          </p:nvPr>
        </p:nvSpPr>
        <p:spPr>
          <a:xfrm>
            <a:off x="777240" y="457200"/>
            <a:ext cx="7543800" cy="2895600"/>
          </a:xfrm>
          <a:ln w="6350">
            <a:solidFill>
              <a:schemeClr val="tx2"/>
            </a:solidFill>
          </a:ln>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850392" y="3505200"/>
            <a:ext cx="7391400" cy="804862"/>
          </a:xfrm>
        </p:spPr>
        <p:txBody>
          <a:bodyPr anchor="t" anchorCtr="0">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r>
              <a:rPr lang="bg-BG" altLang="bg-BG" smtClean="0"/>
              <a:t>Юлиана Пенева</a:t>
            </a:r>
            <a:endParaRPr lang="bg-BG" altLang="bg-BG"/>
          </a:p>
        </p:txBody>
      </p:sp>
      <p:sp>
        <p:nvSpPr>
          <p:cNvPr id="6" name="Footer Placeholder 5"/>
          <p:cNvSpPr>
            <a:spLocks noGrp="1"/>
          </p:cNvSpPr>
          <p:nvPr>
            <p:ph type="ftr" sz="quarter" idx="11"/>
          </p:nvPr>
        </p:nvSpPr>
        <p:spPr/>
        <p:txBody>
          <a:bodyPr/>
          <a:lstStyle/>
          <a:p>
            <a:r>
              <a:rPr lang="en-US" altLang="bg-BG" smtClean="0"/>
              <a:t>CSCB405 - </a:t>
            </a:r>
            <a:r>
              <a:rPr lang="bg-BG" altLang="bg-BG" smtClean="0"/>
              <a:t>модул 8</a:t>
            </a:r>
            <a:endParaRPr lang="bg-BG" altLang="bg-BG"/>
          </a:p>
        </p:txBody>
      </p:sp>
      <p:sp>
        <p:nvSpPr>
          <p:cNvPr id="7" name="Slide Number Placeholder 6"/>
          <p:cNvSpPr>
            <a:spLocks noGrp="1"/>
          </p:cNvSpPr>
          <p:nvPr>
            <p:ph type="sldNum" sz="quarter" idx="12"/>
          </p:nvPr>
        </p:nvSpPr>
        <p:spPr/>
        <p:txBody>
          <a:bodyPr/>
          <a:lstStyle/>
          <a:p>
            <a:fld id="{F00461F4-4564-42B6-B642-CA2EE53B9EAE}" type="slidenum">
              <a:rPr lang="bg-BG" altLang="bg-BG" smtClean="0"/>
              <a:pPr/>
              <a:t>‹#›</a:t>
            </a:fld>
            <a:endParaRPr lang="bg-BG" altLang="bg-BG"/>
          </a:p>
        </p:txBody>
      </p:sp>
    </p:spTree>
  </p:cSld>
  <p:clrMapOvr>
    <a:masterClrMapping/>
  </p:clrMapOvr>
  <p:transition>
    <p:fade/>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14400" y="685800"/>
            <a:ext cx="7239000" cy="3886200"/>
          </a:xfrm>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r>
              <a:rPr lang="bg-BG" altLang="bg-BG" smtClean="0"/>
              <a:t>Юлиана Пенева</a:t>
            </a:r>
            <a:endParaRPr lang="bg-BG" altLang="bg-BG"/>
          </a:p>
        </p:txBody>
      </p:sp>
      <p:sp>
        <p:nvSpPr>
          <p:cNvPr id="5" name="Footer Placeholder 4"/>
          <p:cNvSpPr>
            <a:spLocks noGrp="1"/>
          </p:cNvSpPr>
          <p:nvPr>
            <p:ph type="ftr" sz="quarter" idx="11"/>
          </p:nvPr>
        </p:nvSpPr>
        <p:spPr/>
        <p:txBody>
          <a:bodyPr/>
          <a:lstStyle/>
          <a:p>
            <a:r>
              <a:rPr lang="en-US" altLang="bg-BG" smtClean="0"/>
              <a:t>CSCB405 - </a:t>
            </a:r>
            <a:r>
              <a:rPr lang="bg-BG" altLang="bg-BG" smtClean="0"/>
              <a:t>модул 8</a:t>
            </a:r>
            <a:endParaRPr lang="bg-BG" altLang="bg-BG"/>
          </a:p>
        </p:txBody>
      </p:sp>
      <p:sp>
        <p:nvSpPr>
          <p:cNvPr id="6" name="Slide Number Placeholder 5"/>
          <p:cNvSpPr>
            <a:spLocks noGrp="1"/>
          </p:cNvSpPr>
          <p:nvPr>
            <p:ph type="sldNum" sz="quarter" idx="12"/>
          </p:nvPr>
        </p:nvSpPr>
        <p:spPr/>
        <p:txBody>
          <a:bodyPr/>
          <a:lstStyle/>
          <a:p>
            <a:fld id="{37A4D3F7-058F-498B-B389-149A9CA78C36}" type="slidenum">
              <a:rPr lang="bg-BG" altLang="bg-BG" smtClean="0"/>
              <a:pPr/>
              <a:t>‹#›</a:t>
            </a:fld>
            <a:endParaRPr lang="bg-BG" altLang="bg-BG"/>
          </a:p>
        </p:txBody>
      </p:sp>
    </p:spTree>
  </p:cSld>
  <p:clrMapOvr>
    <a:masterClrMapping/>
  </p:clrMapOvr>
  <p:transition>
    <p:fade/>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62000" y="685801"/>
            <a:ext cx="1828800" cy="5410199"/>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90800" y="685801"/>
            <a:ext cx="5715000" cy="4876800"/>
          </a:xfrm>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r>
              <a:rPr lang="bg-BG" altLang="bg-BG" smtClean="0"/>
              <a:t>Юлиана Пенева</a:t>
            </a:r>
            <a:endParaRPr lang="bg-BG" altLang="bg-BG"/>
          </a:p>
        </p:txBody>
      </p:sp>
      <p:sp>
        <p:nvSpPr>
          <p:cNvPr id="5" name="Footer Placeholder 4"/>
          <p:cNvSpPr>
            <a:spLocks noGrp="1"/>
          </p:cNvSpPr>
          <p:nvPr>
            <p:ph type="ftr" sz="quarter" idx="11"/>
          </p:nvPr>
        </p:nvSpPr>
        <p:spPr/>
        <p:txBody>
          <a:bodyPr/>
          <a:lstStyle/>
          <a:p>
            <a:r>
              <a:rPr lang="en-US" altLang="bg-BG" smtClean="0"/>
              <a:t>CSCB405 - </a:t>
            </a:r>
            <a:r>
              <a:rPr lang="bg-BG" altLang="bg-BG" smtClean="0"/>
              <a:t>модул 8</a:t>
            </a:r>
            <a:endParaRPr lang="bg-BG" altLang="bg-BG"/>
          </a:p>
        </p:txBody>
      </p:sp>
      <p:sp>
        <p:nvSpPr>
          <p:cNvPr id="6" name="Slide Number Placeholder 5"/>
          <p:cNvSpPr>
            <a:spLocks noGrp="1"/>
          </p:cNvSpPr>
          <p:nvPr>
            <p:ph type="sldNum" sz="quarter" idx="12"/>
          </p:nvPr>
        </p:nvSpPr>
        <p:spPr/>
        <p:txBody>
          <a:bodyPr/>
          <a:lstStyle/>
          <a:p>
            <a:fld id="{3D795A5B-038C-4461-87C1-E4EEC5ACD0F2}" type="slidenum">
              <a:rPr lang="bg-BG" altLang="bg-BG" smtClean="0"/>
              <a:pPr/>
              <a:t>‹#›</a:t>
            </a:fld>
            <a:endParaRPr lang="bg-BG" altLang="bg-BG"/>
          </a:p>
        </p:txBody>
      </p:sp>
    </p:spTree>
  </p:cSld>
  <p:clrMapOvr>
    <a:masterClrMapping/>
  </p:clrMapOvr>
  <p:transition>
    <p:fade/>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2000" y="4572000"/>
            <a:ext cx="6781800" cy="1600200"/>
          </a:xfrm>
          <a:prstGeom prst="rect">
            <a:avLst/>
          </a:prstGeom>
        </p:spPr>
        <p:txBody>
          <a:bodyPr vert="horz" lIns="91440" tIns="45720" rIns="91440" bIns="45720" rtlCol="0" anchor="b" anchorCtr="0">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762000" y="685800"/>
            <a:ext cx="7543800" cy="3886200"/>
          </a:xfrm>
          <a:prstGeom prst="rect">
            <a:avLst/>
          </a:prstGeom>
        </p:spPr>
        <p:txBody>
          <a:bodyPr vert="horz" lIns="91440" tIns="45720" rIns="91440" bIns="45720" rtlCol="0" anchor="ctr" anchorCtr="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248400" y="6208776"/>
            <a:ext cx="2133600" cy="365125"/>
          </a:xfrm>
          <a:prstGeom prst="rect">
            <a:avLst/>
          </a:prstGeom>
        </p:spPr>
        <p:txBody>
          <a:bodyPr vert="horz" lIns="91440" tIns="45720" rIns="91440" bIns="45720" rtlCol="0" anchor="ctr"/>
          <a:lstStyle>
            <a:lvl1pPr algn="r">
              <a:defRPr sz="1200" b="1">
                <a:solidFill>
                  <a:schemeClr val="tx2">
                    <a:lumMod val="90000"/>
                    <a:lumOff val="10000"/>
                  </a:schemeClr>
                </a:solidFill>
                <a:latin typeface="+mn-lt"/>
              </a:defRPr>
            </a:lvl1pPr>
          </a:lstStyle>
          <a:p>
            <a:r>
              <a:rPr lang="bg-BG" altLang="bg-BG" smtClean="0"/>
              <a:t>Юлиана Пенева</a:t>
            </a:r>
            <a:endParaRPr lang="bg-BG" altLang="bg-BG"/>
          </a:p>
        </p:txBody>
      </p:sp>
      <p:sp>
        <p:nvSpPr>
          <p:cNvPr id="5" name="Footer Placeholder 4"/>
          <p:cNvSpPr>
            <a:spLocks noGrp="1"/>
          </p:cNvSpPr>
          <p:nvPr>
            <p:ph type="ftr" sz="quarter" idx="3"/>
          </p:nvPr>
        </p:nvSpPr>
        <p:spPr>
          <a:xfrm>
            <a:off x="761999" y="6208776"/>
            <a:ext cx="4873869" cy="365125"/>
          </a:xfrm>
          <a:prstGeom prst="rect">
            <a:avLst/>
          </a:prstGeom>
        </p:spPr>
        <p:txBody>
          <a:bodyPr vert="horz" lIns="91440" tIns="45720" rIns="91440" bIns="45720" rtlCol="0" anchor="ctr"/>
          <a:lstStyle>
            <a:lvl1pPr algn="l">
              <a:defRPr sz="1200" b="1">
                <a:solidFill>
                  <a:schemeClr val="tx2">
                    <a:lumMod val="90000"/>
                    <a:lumOff val="10000"/>
                  </a:schemeClr>
                </a:solidFill>
              </a:defRPr>
            </a:lvl1pPr>
          </a:lstStyle>
          <a:p>
            <a:r>
              <a:rPr lang="en-US" altLang="bg-BG" smtClean="0"/>
              <a:t>CSCB405 - </a:t>
            </a:r>
            <a:r>
              <a:rPr lang="bg-BG" altLang="bg-BG" smtClean="0"/>
              <a:t>модул 8</a:t>
            </a:r>
            <a:endParaRPr lang="bg-BG" altLang="bg-BG"/>
          </a:p>
        </p:txBody>
      </p:sp>
      <p:sp>
        <p:nvSpPr>
          <p:cNvPr id="6" name="Slide Number Placeholder 5"/>
          <p:cNvSpPr>
            <a:spLocks noGrp="1"/>
          </p:cNvSpPr>
          <p:nvPr>
            <p:ph type="sldNum" sz="quarter" idx="4"/>
          </p:nvPr>
        </p:nvSpPr>
        <p:spPr>
          <a:xfrm>
            <a:off x="7620000" y="5687568"/>
            <a:ext cx="762000" cy="365125"/>
          </a:xfrm>
          <a:prstGeom prst="rect">
            <a:avLst/>
          </a:prstGeom>
        </p:spPr>
        <p:txBody>
          <a:bodyPr vert="horz" lIns="91440" tIns="45720" rIns="91440" bIns="45720" rtlCol="0" anchor="ctr"/>
          <a:lstStyle>
            <a:lvl1pPr algn="r">
              <a:defRPr sz="2400">
                <a:solidFill>
                  <a:schemeClr val="tx1">
                    <a:lumMod val="85000"/>
                    <a:lumOff val="15000"/>
                  </a:schemeClr>
                </a:solidFill>
                <a:latin typeface="+mj-lt"/>
              </a:defRPr>
            </a:lvl1pPr>
          </a:lstStyle>
          <a:p>
            <a:fld id="{5DBAEB82-483D-4E26-AAB3-1A41788B7078}" type="slidenum">
              <a:rPr lang="bg-BG" altLang="bg-BG" smtClean="0"/>
              <a:pPr/>
              <a:t>‹#›</a:t>
            </a:fld>
            <a:endParaRPr lang="bg-BG" altLang="bg-BG"/>
          </a:p>
        </p:txBody>
      </p:sp>
      <p:sp>
        <p:nvSpPr>
          <p:cNvPr id="8" name="Rectangle 7"/>
          <p:cNvSpPr/>
          <p:nvPr/>
        </p:nvSpPr>
        <p:spPr>
          <a:xfrm>
            <a:off x="777240" y="0"/>
            <a:ext cx="7543800"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777240" y="6172200"/>
            <a:ext cx="7543800" cy="274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ppt_x</p:attrName>
                                        </p:attrNameLst>
                                      </p:cBhvr>
                                      <p:tavLst>
                                        <p:tav tm="0">
                                          <p:val>
                                            <p:strVal val="#ppt_x-.2"/>
                                          </p:val>
                                        </p:tav>
                                        <p:tav tm="100000">
                                          <p:val>
                                            <p:strVal val="#ppt_x"/>
                                          </p:val>
                                        </p:tav>
                                      </p:tavLst>
                                    </p:anim>
                                    <p:anim calcmode="lin" valueType="num">
                                      <p:cBhvr>
                                        <p:cTn id="8" dur="1000" fill="hold"/>
                                        <p:tgtEl>
                                          <p:spTgt spid="2"/>
                                        </p:tgtEl>
                                        <p:attrNameLst>
                                          <p:attrName>ppt_y</p:attrName>
                                        </p:attrNameLst>
                                      </p:cBhvr>
                                      <p:tavLst>
                                        <p:tav tm="0">
                                          <p:val>
                                            <p:strVal val="#ppt_y"/>
                                          </p:val>
                                        </p:tav>
                                        <p:tav tm="100000">
                                          <p:val>
                                            <p:strVal val="#ppt_y"/>
                                          </p:val>
                                        </p:tav>
                                      </p:tavLst>
                                    </p:anim>
                                    <p:animEffect transition="in" filter="wipe(right)" prLst="gradientSize: 0.1">
                                      <p:cBhvr>
                                        <p:cTn id="9" dur="10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44"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500"/>
                                        <p:tgtEl>
                                          <p:spTgt spid="3">
                                            <p:txEl>
                                              <p:pRg st="0" end="0"/>
                                            </p:txEl>
                                          </p:spTgt>
                                        </p:tgtEl>
                                      </p:cBhvr>
                                    </p:animEffect>
                                    <p:anim calcmode="lin" valueType="num">
                                      <p:cBhvr>
                                        <p:cTn id="15"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500" fill="hold"/>
                                        <p:tgtEl>
                                          <p:spTgt spid="3">
                                            <p:txEl>
                                              <p:pRg st="0" end="0"/>
                                            </p:txEl>
                                          </p:spTgt>
                                        </p:tgtEl>
                                        <p:attrNameLst>
                                          <p:attrName>ppt_y</p:attrName>
                                        </p:attrNameLst>
                                      </p:cBhvr>
                                      <p:tavLst>
                                        <p:tav tm="0">
                                          <p:val>
                                            <p:strVal val="#ppt_y+.05"/>
                                          </p:val>
                                        </p:tav>
                                        <p:tav tm="100000">
                                          <p:val>
                                            <p:strVal val="#ppt_y"/>
                                          </p:val>
                                        </p:tav>
                                      </p:tavLst>
                                    </p:anim>
                                  </p:childTnLst>
                                </p:cTn>
                              </p:par>
                              <p:par>
                                <p:cTn id="17" presetID="44" presetClass="entr" presetSubtype="0" fill="hold" grpId="0" nodeType="with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500"/>
                                        <p:tgtEl>
                                          <p:spTgt spid="3">
                                            <p:txEl>
                                              <p:pRg st="1" end="1"/>
                                            </p:txEl>
                                          </p:spTgt>
                                        </p:tgtEl>
                                      </p:cBhvr>
                                    </p:animEffect>
                                    <p:anim calcmode="lin" valueType="num">
                                      <p:cBhvr>
                                        <p:cTn id="20"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1" dur="500" fill="hold"/>
                                        <p:tgtEl>
                                          <p:spTgt spid="3">
                                            <p:txEl>
                                              <p:pRg st="1" end="1"/>
                                            </p:txEl>
                                          </p:spTgt>
                                        </p:tgtEl>
                                        <p:attrNameLst>
                                          <p:attrName>ppt_y</p:attrName>
                                        </p:attrNameLst>
                                      </p:cBhvr>
                                      <p:tavLst>
                                        <p:tav tm="0">
                                          <p:val>
                                            <p:strVal val="#ppt_y+.05"/>
                                          </p:val>
                                        </p:tav>
                                        <p:tav tm="100000">
                                          <p:val>
                                            <p:strVal val="#ppt_y"/>
                                          </p:val>
                                        </p:tav>
                                      </p:tavLst>
                                    </p:anim>
                                  </p:childTnLst>
                                </p:cTn>
                              </p:par>
                              <p:par>
                                <p:cTn id="22" presetID="44" presetClass="entr" presetSubtype="0" fill="hold" grpId="0" nodeType="with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Effect transition="in" filter="fade">
                                      <p:cBhvr>
                                        <p:cTn id="24" dur="500"/>
                                        <p:tgtEl>
                                          <p:spTgt spid="3">
                                            <p:txEl>
                                              <p:pRg st="2" end="2"/>
                                            </p:txEl>
                                          </p:spTgt>
                                        </p:tgtEl>
                                      </p:cBhvr>
                                    </p:animEffect>
                                    <p:anim calcmode="lin" valueType="num">
                                      <p:cBhvr>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6" dur="500" fill="hold"/>
                                        <p:tgtEl>
                                          <p:spTgt spid="3">
                                            <p:txEl>
                                              <p:pRg st="2" end="2"/>
                                            </p:txEl>
                                          </p:spTgt>
                                        </p:tgtEl>
                                        <p:attrNameLst>
                                          <p:attrName>ppt_y</p:attrName>
                                        </p:attrNameLst>
                                      </p:cBhvr>
                                      <p:tavLst>
                                        <p:tav tm="0">
                                          <p:val>
                                            <p:strVal val="#ppt_y+.05"/>
                                          </p:val>
                                        </p:tav>
                                        <p:tav tm="100000">
                                          <p:val>
                                            <p:strVal val="#ppt_y"/>
                                          </p:val>
                                        </p:tav>
                                      </p:tavLst>
                                    </p:anim>
                                  </p:childTnLst>
                                </p:cTn>
                              </p:par>
                              <p:par>
                                <p:cTn id="27" presetID="44" presetClass="entr" presetSubtype="0" fill="hold" grpId="0" nodeType="with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Effect transition="in" filter="fade">
                                      <p:cBhvr>
                                        <p:cTn id="29" dur="500"/>
                                        <p:tgtEl>
                                          <p:spTgt spid="3">
                                            <p:txEl>
                                              <p:pRg st="3" end="3"/>
                                            </p:txEl>
                                          </p:spTgt>
                                        </p:tgtEl>
                                      </p:cBhvr>
                                    </p:animEffect>
                                    <p:anim calcmode="lin" valueType="num">
                                      <p:cBhvr>
                                        <p:cTn id="30"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1" dur="500" fill="hold"/>
                                        <p:tgtEl>
                                          <p:spTgt spid="3">
                                            <p:txEl>
                                              <p:pRg st="3" end="3"/>
                                            </p:txEl>
                                          </p:spTgt>
                                        </p:tgtEl>
                                        <p:attrNameLst>
                                          <p:attrName>ppt_y</p:attrName>
                                        </p:attrNameLst>
                                      </p:cBhvr>
                                      <p:tavLst>
                                        <p:tav tm="0">
                                          <p:val>
                                            <p:strVal val="#ppt_y+.05"/>
                                          </p:val>
                                        </p:tav>
                                        <p:tav tm="100000">
                                          <p:val>
                                            <p:strVal val="#ppt_y"/>
                                          </p:val>
                                        </p:tav>
                                      </p:tavLst>
                                    </p:anim>
                                  </p:childTnLst>
                                </p:cTn>
                              </p:par>
                              <p:par>
                                <p:cTn id="32" presetID="44" presetClass="entr" presetSubtype="0" fill="hold" grpId="0" nodeType="withEffect">
                                  <p:stCondLst>
                                    <p:cond delay="0"/>
                                  </p:stCondLst>
                                  <p:childTnLst>
                                    <p:set>
                                      <p:cBhvr>
                                        <p:cTn id="33" dur="1" fill="hold">
                                          <p:stCondLst>
                                            <p:cond delay="0"/>
                                          </p:stCondLst>
                                        </p:cTn>
                                        <p:tgtEl>
                                          <p:spTgt spid="3">
                                            <p:txEl>
                                              <p:pRg st="4" end="4"/>
                                            </p:txEl>
                                          </p:spTgt>
                                        </p:tgtEl>
                                        <p:attrNameLst>
                                          <p:attrName>style.visibility</p:attrName>
                                        </p:attrNameLst>
                                      </p:cBhvr>
                                      <p:to>
                                        <p:strVal val="visible"/>
                                      </p:to>
                                    </p:set>
                                    <p:animEffect transition="in" filter="fade">
                                      <p:cBhvr>
                                        <p:cTn id="34" dur="500"/>
                                        <p:tgtEl>
                                          <p:spTgt spid="3">
                                            <p:txEl>
                                              <p:pRg st="4" end="4"/>
                                            </p:txEl>
                                          </p:spTgt>
                                        </p:tgtEl>
                                      </p:cBhvr>
                                    </p:animEffect>
                                    <p:anim calcmode="lin" valueType="num">
                                      <p:cBhvr>
                                        <p:cTn id="3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6" dur="500" fill="hold"/>
                                        <p:tgtEl>
                                          <p:spTgt spid="3">
                                            <p:txEl>
                                              <p:pRg st="4" end="4"/>
                                            </p:txEl>
                                          </p:spTgt>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hf hdr="0"/>
  <p:txStyles>
    <p:titleStyle>
      <a:lvl1pPr algn="l" defTabSz="914400" rtl="0" eaLnBrk="1" latinLnBrk="0" hangingPunct="1">
        <a:spcBef>
          <a:spcPct val="0"/>
        </a:spcBef>
        <a:buNone/>
        <a:defRPr sz="54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Font typeface="Arial" pitchFamily="34" charset="0"/>
        <a:buChar char="•"/>
        <a:defRPr sz="2400" kern="1200">
          <a:solidFill>
            <a:schemeClr val="tx2"/>
          </a:solidFill>
          <a:latin typeface="+mn-lt"/>
          <a:ea typeface="+mn-ea"/>
          <a:cs typeface="+mn-cs"/>
        </a:defRPr>
      </a:lvl1pPr>
      <a:lvl2pPr marL="594360" indent="-274320" algn="l" defTabSz="914400" rtl="0" eaLnBrk="1" latinLnBrk="0" hangingPunct="1">
        <a:spcBef>
          <a:spcPct val="20000"/>
        </a:spcBef>
        <a:buClr>
          <a:schemeClr val="accent1"/>
        </a:buClr>
        <a:buFont typeface="Arial" pitchFamily="34" charset="0"/>
        <a:buChar char="•"/>
        <a:defRPr sz="2200" kern="1200">
          <a:solidFill>
            <a:schemeClr val="tx2"/>
          </a:solidFill>
          <a:latin typeface="+mn-lt"/>
          <a:ea typeface="+mn-ea"/>
          <a:cs typeface="+mn-cs"/>
        </a:defRPr>
      </a:lvl2pPr>
      <a:lvl3pPr marL="868680" indent="-228600" algn="l" defTabSz="914400" rtl="0" eaLnBrk="1" latinLnBrk="0" hangingPunct="1">
        <a:spcBef>
          <a:spcPct val="20000"/>
        </a:spcBef>
        <a:buClr>
          <a:schemeClr val="accent1"/>
        </a:buClr>
        <a:buFont typeface="Arial" pitchFamily="34" charset="0"/>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Font typeface="Arial" pitchFamily="34" charset="0"/>
        <a:buChar char="•"/>
        <a:defRPr sz="1800" kern="1200">
          <a:solidFill>
            <a:schemeClr val="tx2"/>
          </a:solidFill>
          <a:latin typeface="+mn-lt"/>
          <a:ea typeface="+mn-ea"/>
          <a:cs typeface="+mn-cs"/>
        </a:defRPr>
      </a:lvl4pPr>
      <a:lvl5pPr marL="1371600" indent="-228600" algn="l" defTabSz="914400" rtl="0" eaLnBrk="1" latinLnBrk="0" hangingPunct="1">
        <a:spcBef>
          <a:spcPct val="20000"/>
        </a:spcBef>
        <a:buClr>
          <a:schemeClr val="accent1"/>
        </a:buClr>
        <a:buFont typeface="Arial" pitchFamily="34" charset="0"/>
        <a:buChar char="•"/>
        <a:defRPr sz="1800" kern="1200" baseline="0">
          <a:solidFill>
            <a:schemeClr val="tx2"/>
          </a:solidFill>
          <a:latin typeface="+mn-lt"/>
          <a:ea typeface="+mn-ea"/>
          <a:cs typeface="+mn-cs"/>
        </a:defRPr>
      </a:lvl5pPr>
      <a:lvl6pPr marL="164592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6pPr>
      <a:lvl7pPr marL="1901952"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7pPr>
      <a:lvl8pPr marL="219456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8pPr>
      <a:lvl9pPr marL="246888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jpe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2.gif"/><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827584" y="548680"/>
            <a:ext cx="7543800" cy="2231504"/>
          </a:xfrm>
        </p:spPr>
        <p:txBody>
          <a:bodyPr/>
          <a:lstStyle/>
          <a:p>
            <a:r>
              <a:rPr lang="en-US" altLang="bg-BG" sz="2700" dirty="0">
                <a:solidFill>
                  <a:srgbClr val="FF0000"/>
                </a:solidFill>
              </a:rPr>
              <a:t>CSCB405 </a:t>
            </a:r>
            <a:r>
              <a:rPr lang="bg-BG" altLang="bg-BG" sz="2700" dirty="0">
                <a:solidFill>
                  <a:srgbClr val="FF0000"/>
                </a:solidFill>
              </a:rPr>
              <a:t>Бази от данни и СУБД</a:t>
            </a:r>
            <a:br>
              <a:rPr lang="bg-BG" altLang="bg-BG" sz="2700" dirty="0">
                <a:solidFill>
                  <a:srgbClr val="FF0000"/>
                </a:solidFill>
              </a:rPr>
            </a:br>
            <a:r>
              <a:rPr lang="bg-BG" altLang="bg-BG" sz="2700" dirty="0"/>
              <a:t/>
            </a:r>
            <a:br>
              <a:rPr lang="bg-BG" altLang="bg-BG" sz="2700" dirty="0"/>
            </a:br>
            <a:r>
              <a:rPr lang="bg-BG" altLang="bg-BG" sz="2700" dirty="0" smtClean="0"/>
              <a:t>Модул 8</a:t>
            </a:r>
            <a:r>
              <a:rPr lang="bg-BG" altLang="bg-BG" sz="2700" dirty="0"/>
              <a:t>: Физическа организация на базите от </a:t>
            </a:r>
            <a:r>
              <a:rPr lang="bg-BG" altLang="bg-BG" sz="2700" dirty="0" smtClean="0"/>
              <a:t>данни</a:t>
            </a:r>
            <a:endParaRPr lang="bg-BG" altLang="bg-BG" sz="2700" dirty="0"/>
          </a:p>
        </p:txBody>
      </p:sp>
      <p:sp>
        <p:nvSpPr>
          <p:cNvPr id="2051" name="Rectangle 3"/>
          <p:cNvSpPr>
            <a:spLocks noGrp="1" noChangeArrowheads="1"/>
          </p:cNvSpPr>
          <p:nvPr>
            <p:ph type="subTitle" idx="1"/>
          </p:nvPr>
        </p:nvSpPr>
        <p:spPr>
          <a:xfrm>
            <a:off x="1187624" y="3356992"/>
            <a:ext cx="6858000" cy="1224136"/>
          </a:xfrm>
        </p:spPr>
        <p:txBody>
          <a:bodyPr>
            <a:noAutofit/>
          </a:bodyPr>
          <a:lstStyle/>
          <a:p>
            <a:pPr>
              <a:lnSpc>
                <a:spcPct val="90000"/>
              </a:lnSpc>
            </a:pPr>
            <a:r>
              <a:rPr lang="bg-BG" altLang="bg-BG" sz="2400" dirty="0"/>
              <a:t>Юлиана Пенева</a:t>
            </a:r>
          </a:p>
          <a:p>
            <a:pPr>
              <a:lnSpc>
                <a:spcPct val="90000"/>
              </a:lnSpc>
            </a:pPr>
            <a:r>
              <a:rPr lang="bg-BG" altLang="bg-BG" sz="2400" dirty="0"/>
              <a:t>Департамент “Информатика”</a:t>
            </a:r>
          </a:p>
          <a:p>
            <a:pPr>
              <a:lnSpc>
                <a:spcPct val="90000"/>
              </a:lnSpc>
            </a:pPr>
            <a:r>
              <a:rPr lang="en-US" altLang="bg-BG" sz="2400" dirty="0"/>
              <a:t>july_peneva@abv.bg</a:t>
            </a:r>
            <a:endParaRPr lang="bg-BG" altLang="bg-BG" sz="24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76056" y="4437112"/>
            <a:ext cx="3161862" cy="1631602"/>
          </a:xfrm>
          <a:prstGeom prst="rect">
            <a:avLst/>
          </a:prstGeom>
        </p:spPr>
      </p:pic>
    </p:spTree>
  </p:cSld>
  <p:clrMapOvr>
    <a:masterClrMapping/>
  </p:clrMapOvr>
  <p:transition>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1043608" y="382102"/>
            <a:ext cx="6781800" cy="582960"/>
          </a:xfrm>
        </p:spPr>
        <p:txBody>
          <a:bodyPr>
            <a:noAutofit/>
          </a:bodyPr>
          <a:lstStyle/>
          <a:p>
            <a:pPr algn="ctr"/>
            <a:r>
              <a:rPr lang="bg-BG" altLang="bg-BG" sz="3200" b="1" dirty="0">
                <a:solidFill>
                  <a:schemeClr val="accent1"/>
                </a:solidFill>
              </a:rPr>
              <a:t>Съдържание</a:t>
            </a:r>
            <a:r>
              <a:rPr lang="bg-BG" altLang="bg-BG" sz="3200" dirty="0">
                <a:solidFill>
                  <a:schemeClr val="accent1"/>
                </a:solidFill>
              </a:rPr>
              <a:t> </a:t>
            </a:r>
          </a:p>
        </p:txBody>
      </p:sp>
      <p:sp>
        <p:nvSpPr>
          <p:cNvPr id="7171" name="Rectangle 3"/>
          <p:cNvSpPr>
            <a:spLocks noGrp="1" noChangeArrowheads="1"/>
          </p:cNvSpPr>
          <p:nvPr>
            <p:ph idx="1"/>
          </p:nvPr>
        </p:nvSpPr>
        <p:spPr>
          <a:xfrm>
            <a:off x="317104" y="1121145"/>
            <a:ext cx="8064896" cy="3892031"/>
          </a:xfrm>
        </p:spPr>
        <p:txBody>
          <a:bodyPr>
            <a:noAutofit/>
          </a:bodyPr>
          <a:lstStyle/>
          <a:p>
            <a:pPr marL="914400" lvl="1" indent="-514350">
              <a:buFont typeface="+mj-lt"/>
              <a:buAutoNum type="arabicPeriod"/>
            </a:pPr>
            <a:r>
              <a:rPr lang="bg-BG" sz="2400" dirty="0" smtClean="0"/>
              <a:t>Процесът „проектиране на физическата база“.</a:t>
            </a:r>
          </a:p>
          <a:p>
            <a:pPr marL="914400" lvl="1" indent="-514350">
              <a:buFont typeface="+mj-lt"/>
              <a:buAutoNum type="arabicPeriod"/>
            </a:pPr>
            <a:r>
              <a:rPr lang="bg-BG" sz="2400" dirty="0" smtClean="0">
                <a:latin typeface="Times New Roman" panose="02020603050405020304" pitchFamily="18" charset="0"/>
                <a:ea typeface="Times New Roman" panose="02020603050405020304" pitchFamily="18" charset="0"/>
              </a:rPr>
              <a:t>Елементи на физическата база от данни.</a:t>
            </a:r>
            <a:endParaRPr lang="bg-BG" sz="2400" dirty="0" smtClean="0"/>
          </a:p>
          <a:p>
            <a:pPr marL="914400" lvl="1" indent="-514350">
              <a:buFont typeface="+mj-lt"/>
              <a:buAutoNum type="arabicPeriod"/>
            </a:pPr>
            <a:r>
              <a:rPr lang="bg-BG" sz="2400" dirty="0" smtClean="0"/>
              <a:t>Видове файлови организации.</a:t>
            </a:r>
          </a:p>
          <a:p>
            <a:pPr marL="914400" lvl="1" indent="-514350">
              <a:buFont typeface="+mj-lt"/>
              <a:buAutoNum type="arabicPeriod"/>
            </a:pPr>
            <a:r>
              <a:rPr lang="bg-BG" sz="2400" dirty="0" smtClean="0"/>
              <a:t>Методи за проектиране на физическата база.</a:t>
            </a:r>
          </a:p>
          <a:p>
            <a:pPr marL="914400" lvl="1" indent="-514350">
              <a:buFont typeface="+mj-lt"/>
              <a:buAutoNum type="arabicPeriod"/>
            </a:pPr>
            <a:r>
              <a:rPr lang="bg-BG" sz="2400" dirty="0" smtClean="0"/>
              <a:t>Фактори при проектиране на физическата база.</a:t>
            </a:r>
          </a:p>
          <a:p>
            <a:pPr marL="914400" lvl="1" indent="-514350">
              <a:buFont typeface="+mj-lt"/>
              <a:buAutoNum type="arabicPeriod"/>
            </a:pPr>
            <a:endParaRPr lang="bg-BG" altLang="bg-BG" sz="800" dirty="0"/>
          </a:p>
          <a:p>
            <a:pPr marL="990600" lvl="1" indent="-533400">
              <a:lnSpc>
                <a:spcPct val="90000"/>
              </a:lnSpc>
              <a:buFontTx/>
              <a:buNone/>
            </a:pPr>
            <a:r>
              <a:rPr lang="bg-BG" altLang="bg-BG" sz="2400" dirty="0"/>
              <a:t>Трябва да са усвоени</a:t>
            </a:r>
            <a:r>
              <a:rPr lang="bg-BG" altLang="bg-BG" sz="2400" dirty="0" smtClean="0"/>
              <a:t>: </a:t>
            </a:r>
          </a:p>
          <a:p>
            <a:pPr marL="1264920" lvl="2" indent="-533400">
              <a:lnSpc>
                <a:spcPct val="90000"/>
              </a:lnSpc>
              <a:buFontTx/>
              <a:buNone/>
            </a:pPr>
            <a:r>
              <a:rPr lang="bg-BG" altLang="bg-BG" sz="2400" dirty="0" smtClean="0"/>
              <a:t>Модул 7: Проектиране и администриране на базите от данни </a:t>
            </a:r>
            <a:endParaRPr lang="bg-BG" altLang="bg-BG" sz="2400" dirty="0"/>
          </a:p>
        </p:txBody>
      </p:sp>
      <p:sp>
        <p:nvSpPr>
          <p:cNvPr id="4" name="Date Placeholder 3"/>
          <p:cNvSpPr>
            <a:spLocks noGrp="1"/>
          </p:cNvSpPr>
          <p:nvPr>
            <p:ph type="dt" sz="half" idx="10"/>
          </p:nvPr>
        </p:nvSpPr>
        <p:spPr/>
        <p:txBody>
          <a:bodyPr/>
          <a:lstStyle/>
          <a:p>
            <a:r>
              <a:rPr lang="bg-BG" altLang="bg-BG" smtClean="0"/>
              <a:t>Юлиана Пенева</a:t>
            </a:r>
            <a:endParaRPr lang="bg-BG" altLang="bg-BG"/>
          </a:p>
        </p:txBody>
      </p:sp>
      <p:sp>
        <p:nvSpPr>
          <p:cNvPr id="5" name="Footer Placeholder 4"/>
          <p:cNvSpPr>
            <a:spLocks noGrp="1"/>
          </p:cNvSpPr>
          <p:nvPr>
            <p:ph type="ftr" sz="quarter" idx="11"/>
          </p:nvPr>
        </p:nvSpPr>
        <p:spPr/>
        <p:txBody>
          <a:bodyPr/>
          <a:lstStyle/>
          <a:p>
            <a:r>
              <a:rPr lang="en-US" altLang="bg-BG" smtClean="0"/>
              <a:t>CSCB405 - </a:t>
            </a:r>
            <a:r>
              <a:rPr lang="bg-BG" altLang="bg-BG" smtClean="0"/>
              <a:t>модул 8</a:t>
            </a:r>
            <a:endParaRPr lang="bg-BG" altLang="bg-BG"/>
          </a:p>
        </p:txBody>
      </p:sp>
      <p:sp>
        <p:nvSpPr>
          <p:cNvPr id="6" name="Slide Number Placeholder 5"/>
          <p:cNvSpPr>
            <a:spLocks noGrp="1"/>
          </p:cNvSpPr>
          <p:nvPr>
            <p:ph type="sldNum" sz="quarter" idx="12"/>
          </p:nvPr>
        </p:nvSpPr>
        <p:spPr/>
        <p:txBody>
          <a:bodyPr/>
          <a:lstStyle/>
          <a:p>
            <a:fld id="{5871B340-4D66-4CDA-A1DD-7B8A1A6A278F}" type="slidenum">
              <a:rPr lang="bg-BG" altLang="bg-BG"/>
              <a:pPr/>
              <a:t>2</a:t>
            </a:fld>
            <a:endParaRPr lang="bg-BG" altLang="bg-BG"/>
          </a:p>
        </p:txBody>
      </p:sp>
    </p:spTree>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179512" y="464961"/>
            <a:ext cx="8791400" cy="504056"/>
          </a:xfrm>
        </p:spPr>
        <p:txBody>
          <a:bodyPr>
            <a:noAutofit/>
          </a:bodyPr>
          <a:lstStyle/>
          <a:p>
            <a:pPr algn="ctr"/>
            <a:r>
              <a:rPr lang="bg-BG" altLang="bg-BG" sz="3200" b="1" dirty="0" smtClean="0">
                <a:solidFill>
                  <a:schemeClr val="accent1"/>
                </a:solidFill>
              </a:rPr>
              <a:t>Процесът „проектиране на физическата база“</a:t>
            </a:r>
            <a:endParaRPr lang="bg-BG" altLang="bg-BG" sz="3200" b="1" dirty="0">
              <a:solidFill>
                <a:schemeClr val="accent1"/>
              </a:solidFill>
            </a:endParaRPr>
          </a:p>
        </p:txBody>
      </p:sp>
      <p:sp>
        <p:nvSpPr>
          <p:cNvPr id="7171" name="Rectangle 3"/>
          <p:cNvSpPr>
            <a:spLocks noGrp="1" noChangeArrowheads="1"/>
          </p:cNvSpPr>
          <p:nvPr>
            <p:ph idx="1"/>
          </p:nvPr>
        </p:nvSpPr>
        <p:spPr>
          <a:xfrm>
            <a:off x="362744" y="1087511"/>
            <a:ext cx="8424936" cy="5121265"/>
          </a:xfrm>
        </p:spPr>
        <p:txBody>
          <a:bodyPr>
            <a:noAutofit/>
          </a:bodyPr>
          <a:lstStyle/>
          <a:p>
            <a:pPr marL="857250" lvl="1" indent="-457200">
              <a:buFont typeface="+mj-lt"/>
              <a:buAutoNum type="arabicPeriod"/>
            </a:pPr>
            <a:r>
              <a:rPr lang="bg-BG" sz="2100" dirty="0" smtClean="0"/>
              <a:t>Управляваните от СУБД данни са </a:t>
            </a:r>
            <a:r>
              <a:rPr lang="bg-BG" sz="2100" dirty="0" smtClean="0">
                <a:solidFill>
                  <a:srgbClr val="FF0000"/>
                </a:solidFill>
              </a:rPr>
              <a:t>устойчиви</a:t>
            </a:r>
            <a:r>
              <a:rPr lang="bg-BG" sz="2100" dirty="0" smtClean="0"/>
              <a:t> - съществуват независимо дали с тях работи някакво приложение</a:t>
            </a:r>
            <a:r>
              <a:rPr lang="en-US" sz="2100" dirty="0" smtClean="0"/>
              <a:t> </a:t>
            </a:r>
            <a:r>
              <a:rPr lang="bg-BG" sz="2100" dirty="0" smtClean="0"/>
              <a:t>или </a:t>
            </a:r>
            <a:r>
              <a:rPr lang="bg-BG" sz="2100" dirty="0"/>
              <a:t>не . </a:t>
            </a:r>
            <a:endParaRPr lang="bg-BG" sz="2100" dirty="0" smtClean="0"/>
          </a:p>
          <a:p>
            <a:pPr marL="857250" lvl="1" indent="-457200">
              <a:buFont typeface="+mj-lt"/>
              <a:buAutoNum type="arabicPeriod"/>
            </a:pPr>
            <a:r>
              <a:rPr lang="bg-BG" sz="2100" dirty="0" smtClean="0"/>
              <a:t>Данните не могат да се съхраняват изцяло в оперативната памет на компютъра поради нейната енергозависимост и ограничен обем. </a:t>
            </a:r>
          </a:p>
          <a:p>
            <a:pPr marL="857250" lvl="1" indent="-457200">
              <a:buFont typeface="+mj-lt"/>
              <a:buAutoNum type="arabicPeriod"/>
            </a:pPr>
            <a:r>
              <a:rPr lang="bg-BG" sz="2100" dirty="0" smtClean="0"/>
              <a:t>Обичайно СУБД обработва данните в оперативната памет, а ги съхранява на външна памет, като осъществява обмена чрез услугите на операционната система.  </a:t>
            </a:r>
            <a:r>
              <a:rPr lang="bg-BG" sz="2100" dirty="0"/>
              <a:t>Н</a:t>
            </a:r>
            <a:r>
              <a:rPr lang="bg-BG" sz="2100" dirty="0" smtClean="0"/>
              <a:t>апоследък се предлагат решения – например HANA  на SAP и </a:t>
            </a:r>
            <a:r>
              <a:rPr lang="bg-BG" sz="2100" dirty="0" err="1" smtClean="0"/>
              <a:t>TimesTen</a:t>
            </a:r>
            <a:r>
              <a:rPr lang="bg-BG" sz="2100" dirty="0" smtClean="0"/>
              <a:t>  на </a:t>
            </a:r>
            <a:r>
              <a:rPr lang="bg-BG" sz="2100" dirty="0" err="1" smtClean="0"/>
              <a:t>Oracle</a:t>
            </a:r>
            <a:r>
              <a:rPr lang="bg-BG" sz="2100" dirty="0" smtClean="0"/>
              <a:t>, при които базата се разполага изцяло в оперативната памет на компютъра. </a:t>
            </a:r>
          </a:p>
          <a:p>
            <a:pPr marL="857250" lvl="1" indent="-457200">
              <a:buFont typeface="+mj-lt"/>
              <a:buAutoNum type="arabicPeriod"/>
            </a:pPr>
            <a:r>
              <a:rPr lang="bg-BG" sz="2100" dirty="0" smtClean="0"/>
              <a:t>Всяка готова СУБД предлага различни възможности за организация на данните. </a:t>
            </a:r>
            <a:r>
              <a:rPr lang="bg-BG" sz="2100" dirty="0" smtClean="0">
                <a:solidFill>
                  <a:srgbClr val="C00000"/>
                </a:solidFill>
              </a:rPr>
              <a:t>Проектантът на базата </a:t>
            </a:r>
            <a:r>
              <a:rPr lang="bg-BG" sz="2100" dirty="0" smtClean="0"/>
              <a:t>избира от тях за да осигури ефективност на предполагаемите преобладаващи операции с базата.</a:t>
            </a:r>
          </a:p>
          <a:p>
            <a:pPr marL="914400" lvl="1" indent="-514350">
              <a:buFont typeface="+mj-lt"/>
              <a:buAutoNum type="arabicPeriod"/>
            </a:pPr>
            <a:endParaRPr lang="bg-BG" sz="2000" dirty="0" smtClean="0"/>
          </a:p>
        </p:txBody>
      </p:sp>
      <p:sp>
        <p:nvSpPr>
          <p:cNvPr id="4" name="Date Placeholder 3"/>
          <p:cNvSpPr>
            <a:spLocks noGrp="1"/>
          </p:cNvSpPr>
          <p:nvPr>
            <p:ph type="dt" sz="half" idx="10"/>
          </p:nvPr>
        </p:nvSpPr>
        <p:spPr/>
        <p:txBody>
          <a:bodyPr/>
          <a:lstStyle/>
          <a:p>
            <a:r>
              <a:rPr lang="bg-BG" altLang="bg-BG" smtClean="0"/>
              <a:t>Юлиана Пенева</a:t>
            </a:r>
            <a:endParaRPr lang="bg-BG" altLang="bg-BG"/>
          </a:p>
        </p:txBody>
      </p:sp>
      <p:sp>
        <p:nvSpPr>
          <p:cNvPr id="5" name="Footer Placeholder 4"/>
          <p:cNvSpPr>
            <a:spLocks noGrp="1"/>
          </p:cNvSpPr>
          <p:nvPr>
            <p:ph type="ftr" sz="quarter" idx="11"/>
          </p:nvPr>
        </p:nvSpPr>
        <p:spPr/>
        <p:txBody>
          <a:bodyPr/>
          <a:lstStyle/>
          <a:p>
            <a:r>
              <a:rPr lang="en-US" altLang="bg-BG" smtClean="0"/>
              <a:t>CSCB405 - </a:t>
            </a:r>
            <a:r>
              <a:rPr lang="bg-BG" altLang="bg-BG" smtClean="0"/>
              <a:t>модул 8</a:t>
            </a:r>
            <a:endParaRPr lang="bg-BG" altLang="bg-BG"/>
          </a:p>
        </p:txBody>
      </p:sp>
      <p:sp>
        <p:nvSpPr>
          <p:cNvPr id="6" name="Slide Number Placeholder 5"/>
          <p:cNvSpPr>
            <a:spLocks noGrp="1"/>
          </p:cNvSpPr>
          <p:nvPr>
            <p:ph type="sldNum" sz="quarter" idx="12"/>
          </p:nvPr>
        </p:nvSpPr>
        <p:spPr/>
        <p:txBody>
          <a:bodyPr/>
          <a:lstStyle/>
          <a:p>
            <a:fld id="{5871B340-4D66-4CDA-A1DD-7B8A1A6A278F}" type="slidenum">
              <a:rPr lang="bg-BG" altLang="bg-BG"/>
              <a:pPr/>
              <a:t>3</a:t>
            </a:fld>
            <a:endParaRPr lang="bg-BG" altLang="bg-BG"/>
          </a:p>
        </p:txBody>
      </p:sp>
    </p:spTree>
    <p:extLst>
      <p:ext uri="{BB962C8B-B14F-4D97-AF65-F5344CB8AC3E}">
        <p14:creationId xmlns:p14="http://schemas.microsoft.com/office/powerpoint/2010/main" val="2546073974"/>
      </p:ext>
    </p:extLst>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179512" y="464961"/>
            <a:ext cx="8791400" cy="504056"/>
          </a:xfrm>
        </p:spPr>
        <p:txBody>
          <a:bodyPr>
            <a:noAutofit/>
          </a:bodyPr>
          <a:lstStyle/>
          <a:p>
            <a:pPr algn="ctr"/>
            <a:r>
              <a:rPr lang="bg-BG" altLang="bg-BG" sz="3200" b="1" dirty="0" smtClean="0">
                <a:solidFill>
                  <a:schemeClr val="accent1"/>
                </a:solidFill>
              </a:rPr>
              <a:t>Процесът „проектиране на физическата база“</a:t>
            </a:r>
            <a:endParaRPr lang="bg-BG" altLang="bg-BG" sz="3200" b="1" dirty="0">
              <a:solidFill>
                <a:schemeClr val="accent1"/>
              </a:solidFill>
            </a:endParaRPr>
          </a:p>
        </p:txBody>
      </p:sp>
      <p:sp>
        <p:nvSpPr>
          <p:cNvPr id="7171" name="Rectangle 3"/>
          <p:cNvSpPr>
            <a:spLocks noGrp="1" noChangeArrowheads="1"/>
          </p:cNvSpPr>
          <p:nvPr>
            <p:ph idx="1"/>
          </p:nvPr>
        </p:nvSpPr>
        <p:spPr>
          <a:xfrm>
            <a:off x="317104" y="1121145"/>
            <a:ext cx="8359352" cy="4828135"/>
          </a:xfrm>
        </p:spPr>
        <p:txBody>
          <a:bodyPr>
            <a:noAutofit/>
          </a:bodyPr>
          <a:lstStyle/>
          <a:p>
            <a:pPr marL="857250" lvl="1" indent="-457200">
              <a:buFont typeface="+mj-lt"/>
              <a:buAutoNum type="arabicPeriod" startAt="5"/>
            </a:pPr>
            <a:r>
              <a:rPr lang="bg-BG" sz="2400" dirty="0" smtClean="0"/>
              <a:t>„Проектиране на физическата база" -  </a:t>
            </a:r>
            <a:r>
              <a:rPr lang="bg-BG" sz="2400" dirty="0" smtClean="0">
                <a:solidFill>
                  <a:srgbClr val="FF0000"/>
                </a:solidFill>
              </a:rPr>
              <a:t>избор </a:t>
            </a:r>
            <a:r>
              <a:rPr lang="bg-BG" sz="2400" dirty="0" smtClean="0"/>
              <a:t>на най-подходящите за дадено приложение методи за организация на данните. </a:t>
            </a:r>
          </a:p>
          <a:p>
            <a:pPr marL="857250" lvl="1" indent="-457200">
              <a:buFont typeface="+mj-lt"/>
              <a:buAutoNum type="arabicPeriod" startAt="5"/>
            </a:pPr>
            <a:r>
              <a:rPr lang="bg-BG" sz="2400" dirty="0" smtClean="0"/>
              <a:t>Извършва </a:t>
            </a:r>
            <a:r>
              <a:rPr lang="bg-BG" sz="2400" dirty="0" smtClean="0">
                <a:solidFill>
                  <a:srgbClr val="C00000"/>
                </a:solidFill>
              </a:rPr>
              <a:t>след проектирането на схемата </a:t>
            </a:r>
            <a:r>
              <a:rPr lang="bg-BG" sz="2400" dirty="0" smtClean="0"/>
              <a:t>и обхваща определянето на пътища за ефективен достъп до данните, задаването на системни параметри като размер на блока, буферите, протокол за възстановяване на данните при софтуерни и хардуерни повреди и др.</a:t>
            </a:r>
          </a:p>
          <a:p>
            <a:pPr marL="857250" lvl="1" indent="-457200">
              <a:buFont typeface="+mj-lt"/>
              <a:buAutoNum type="arabicPeriod" startAt="5"/>
            </a:pPr>
            <a:r>
              <a:rPr lang="bg-BG" sz="2400" dirty="0" smtClean="0"/>
              <a:t>Кое налага внимателно проектиране на физическата база – бързото нарастване на структурираните (релационни кортежи), полуструктурираните (XML) и неструктурирани данни (аудио и видео).</a:t>
            </a:r>
            <a:endParaRPr lang="bg-BG" sz="2400" dirty="0"/>
          </a:p>
        </p:txBody>
      </p:sp>
      <p:sp>
        <p:nvSpPr>
          <p:cNvPr id="4" name="Date Placeholder 3"/>
          <p:cNvSpPr>
            <a:spLocks noGrp="1"/>
          </p:cNvSpPr>
          <p:nvPr>
            <p:ph type="dt" sz="half" idx="10"/>
          </p:nvPr>
        </p:nvSpPr>
        <p:spPr/>
        <p:txBody>
          <a:bodyPr/>
          <a:lstStyle/>
          <a:p>
            <a:r>
              <a:rPr lang="bg-BG" altLang="bg-BG" smtClean="0"/>
              <a:t>Юлиана Пенева</a:t>
            </a:r>
            <a:endParaRPr lang="bg-BG" altLang="bg-BG"/>
          </a:p>
        </p:txBody>
      </p:sp>
      <p:sp>
        <p:nvSpPr>
          <p:cNvPr id="5" name="Footer Placeholder 4"/>
          <p:cNvSpPr>
            <a:spLocks noGrp="1"/>
          </p:cNvSpPr>
          <p:nvPr>
            <p:ph type="ftr" sz="quarter" idx="11"/>
          </p:nvPr>
        </p:nvSpPr>
        <p:spPr/>
        <p:txBody>
          <a:bodyPr/>
          <a:lstStyle/>
          <a:p>
            <a:r>
              <a:rPr lang="en-US" altLang="bg-BG" smtClean="0"/>
              <a:t>CSCB405 - </a:t>
            </a:r>
            <a:r>
              <a:rPr lang="bg-BG" altLang="bg-BG" smtClean="0"/>
              <a:t>модул 8</a:t>
            </a:r>
            <a:endParaRPr lang="bg-BG" altLang="bg-BG"/>
          </a:p>
        </p:txBody>
      </p:sp>
      <p:sp>
        <p:nvSpPr>
          <p:cNvPr id="6" name="Slide Number Placeholder 5"/>
          <p:cNvSpPr>
            <a:spLocks noGrp="1"/>
          </p:cNvSpPr>
          <p:nvPr>
            <p:ph type="sldNum" sz="quarter" idx="12"/>
          </p:nvPr>
        </p:nvSpPr>
        <p:spPr/>
        <p:txBody>
          <a:bodyPr/>
          <a:lstStyle/>
          <a:p>
            <a:fld id="{5871B340-4D66-4CDA-A1DD-7B8A1A6A278F}" type="slidenum">
              <a:rPr lang="bg-BG" altLang="bg-BG"/>
              <a:pPr/>
              <a:t>4</a:t>
            </a:fld>
            <a:endParaRPr lang="bg-BG" altLang="bg-BG"/>
          </a:p>
        </p:txBody>
      </p:sp>
    </p:spTree>
    <p:extLst>
      <p:ext uri="{BB962C8B-B14F-4D97-AF65-F5344CB8AC3E}">
        <p14:creationId xmlns:p14="http://schemas.microsoft.com/office/powerpoint/2010/main" val="723952225"/>
      </p:ext>
    </p:extLst>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179512" y="464961"/>
            <a:ext cx="8791400" cy="504056"/>
          </a:xfrm>
        </p:spPr>
        <p:txBody>
          <a:bodyPr>
            <a:noAutofit/>
          </a:bodyPr>
          <a:lstStyle/>
          <a:p>
            <a:pPr algn="ctr"/>
            <a:r>
              <a:rPr lang="bg-BG" altLang="bg-BG" sz="3200" b="1" dirty="0" smtClean="0">
                <a:solidFill>
                  <a:schemeClr val="accent1"/>
                </a:solidFill>
              </a:rPr>
              <a:t>Процесът „проектиране на физическата база“</a:t>
            </a:r>
            <a:endParaRPr lang="bg-BG" altLang="bg-BG" sz="3200" b="1" dirty="0">
              <a:solidFill>
                <a:schemeClr val="accent1"/>
              </a:solidFill>
            </a:endParaRPr>
          </a:p>
        </p:txBody>
      </p:sp>
      <p:pic>
        <p:nvPicPr>
          <p:cNvPr id="2" name="Content Placeholder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55762" y="1006855"/>
            <a:ext cx="6438900" cy="4829175"/>
          </a:xfrm>
        </p:spPr>
      </p:pic>
      <p:sp>
        <p:nvSpPr>
          <p:cNvPr id="4" name="Date Placeholder 3"/>
          <p:cNvSpPr>
            <a:spLocks noGrp="1"/>
          </p:cNvSpPr>
          <p:nvPr>
            <p:ph type="dt" sz="half" idx="10"/>
          </p:nvPr>
        </p:nvSpPr>
        <p:spPr/>
        <p:txBody>
          <a:bodyPr/>
          <a:lstStyle/>
          <a:p>
            <a:r>
              <a:rPr lang="bg-BG" altLang="bg-BG" smtClean="0"/>
              <a:t>Юлиана Пенева</a:t>
            </a:r>
            <a:endParaRPr lang="bg-BG" altLang="bg-BG"/>
          </a:p>
        </p:txBody>
      </p:sp>
      <p:sp>
        <p:nvSpPr>
          <p:cNvPr id="5" name="Footer Placeholder 4"/>
          <p:cNvSpPr>
            <a:spLocks noGrp="1"/>
          </p:cNvSpPr>
          <p:nvPr>
            <p:ph type="ftr" sz="quarter" idx="11"/>
          </p:nvPr>
        </p:nvSpPr>
        <p:spPr/>
        <p:txBody>
          <a:bodyPr/>
          <a:lstStyle/>
          <a:p>
            <a:r>
              <a:rPr lang="en-US" altLang="bg-BG" smtClean="0"/>
              <a:t>CSCB405 - </a:t>
            </a:r>
            <a:r>
              <a:rPr lang="bg-BG" altLang="bg-BG" smtClean="0"/>
              <a:t>модул 8</a:t>
            </a:r>
            <a:endParaRPr lang="bg-BG" altLang="bg-BG"/>
          </a:p>
        </p:txBody>
      </p:sp>
      <p:sp>
        <p:nvSpPr>
          <p:cNvPr id="6" name="Slide Number Placeholder 5"/>
          <p:cNvSpPr>
            <a:spLocks noGrp="1"/>
          </p:cNvSpPr>
          <p:nvPr>
            <p:ph type="sldNum" sz="quarter" idx="12"/>
          </p:nvPr>
        </p:nvSpPr>
        <p:spPr/>
        <p:txBody>
          <a:bodyPr/>
          <a:lstStyle/>
          <a:p>
            <a:fld id="{5871B340-4D66-4CDA-A1DD-7B8A1A6A278F}" type="slidenum">
              <a:rPr lang="bg-BG" altLang="bg-BG"/>
              <a:pPr/>
              <a:t>5</a:t>
            </a:fld>
            <a:endParaRPr lang="bg-BG" altLang="bg-BG"/>
          </a:p>
        </p:txBody>
      </p:sp>
    </p:spTree>
    <p:extLst>
      <p:ext uri="{BB962C8B-B14F-4D97-AF65-F5344CB8AC3E}">
        <p14:creationId xmlns:p14="http://schemas.microsoft.com/office/powerpoint/2010/main" val="1202694868"/>
      </p:ext>
    </p:extLst>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179512" y="464961"/>
            <a:ext cx="8791400" cy="504056"/>
          </a:xfrm>
        </p:spPr>
        <p:txBody>
          <a:bodyPr>
            <a:noAutofit/>
          </a:bodyPr>
          <a:lstStyle/>
          <a:p>
            <a:pPr algn="ctr"/>
            <a:r>
              <a:rPr lang="bg-BG" altLang="bg-BG" sz="3200" b="1" dirty="0" smtClean="0">
                <a:solidFill>
                  <a:schemeClr val="accent1"/>
                </a:solidFill>
              </a:rPr>
              <a:t>Процесът „проектиране на физическата база“</a:t>
            </a:r>
            <a:endParaRPr lang="bg-BG" altLang="bg-BG" sz="3200" b="1" dirty="0">
              <a:solidFill>
                <a:schemeClr val="accent1"/>
              </a:solidFill>
            </a:endParaRPr>
          </a:p>
        </p:txBody>
      </p:sp>
      <p:sp>
        <p:nvSpPr>
          <p:cNvPr id="7171" name="Rectangle 3"/>
          <p:cNvSpPr>
            <a:spLocks noGrp="1" noChangeArrowheads="1"/>
          </p:cNvSpPr>
          <p:nvPr>
            <p:ph idx="1"/>
          </p:nvPr>
        </p:nvSpPr>
        <p:spPr>
          <a:xfrm>
            <a:off x="611560" y="1196752"/>
            <a:ext cx="8287344" cy="3096344"/>
          </a:xfrm>
        </p:spPr>
        <p:txBody>
          <a:bodyPr>
            <a:noAutofit/>
          </a:bodyPr>
          <a:lstStyle/>
          <a:p>
            <a:pPr marL="0" lvl="0" indent="0" algn="ctr">
              <a:buClr>
                <a:srgbClr val="AD0101"/>
              </a:buClr>
              <a:buNone/>
            </a:pPr>
            <a:r>
              <a:rPr lang="bg-BG" sz="2800" dirty="0">
                <a:solidFill>
                  <a:srgbClr val="AD0101"/>
                </a:solidFill>
              </a:rPr>
              <a:t>Основни </a:t>
            </a:r>
            <a:r>
              <a:rPr lang="bg-BG" sz="2800" dirty="0" smtClean="0">
                <a:solidFill>
                  <a:srgbClr val="AD0101"/>
                </a:solidFill>
              </a:rPr>
              <a:t>стъпки при проектирането </a:t>
            </a:r>
            <a:r>
              <a:rPr lang="bg-BG" sz="2800" dirty="0">
                <a:solidFill>
                  <a:srgbClr val="AD0101"/>
                </a:solidFill>
              </a:rPr>
              <a:t>на база от данни</a:t>
            </a:r>
          </a:p>
          <a:p>
            <a:pPr marL="0" lvl="0" indent="0" algn="ctr">
              <a:buClr>
                <a:srgbClr val="AD0101"/>
              </a:buClr>
              <a:buNone/>
            </a:pPr>
            <a:endParaRPr lang="bg-BG" sz="700" dirty="0">
              <a:solidFill>
                <a:srgbClr val="303030"/>
              </a:solidFill>
            </a:endParaRPr>
          </a:p>
          <a:p>
            <a:pPr marL="914400" lvl="1" indent="-514350">
              <a:buClr>
                <a:srgbClr val="AD0101"/>
              </a:buClr>
              <a:buFont typeface="+mj-lt"/>
              <a:buAutoNum type="arabicPeriod"/>
            </a:pPr>
            <a:r>
              <a:rPr lang="bg-BG" sz="2800" dirty="0">
                <a:solidFill>
                  <a:srgbClr val="303030"/>
                </a:solidFill>
              </a:rPr>
              <a:t>Анализ на изискванията.</a:t>
            </a:r>
          </a:p>
          <a:p>
            <a:pPr marL="914400" lvl="1" indent="-514350">
              <a:buClr>
                <a:srgbClr val="AD0101"/>
              </a:buClr>
              <a:buFont typeface="+mj-lt"/>
              <a:buAutoNum type="arabicPeriod"/>
            </a:pPr>
            <a:r>
              <a:rPr lang="bg-BG" sz="2800" dirty="0">
                <a:solidFill>
                  <a:srgbClr val="303030"/>
                </a:solidFill>
              </a:rPr>
              <a:t>Проектиране на логическата база.</a:t>
            </a:r>
          </a:p>
          <a:p>
            <a:pPr marL="914400" lvl="1" indent="-514350">
              <a:buClr>
                <a:srgbClr val="AD0101"/>
              </a:buClr>
              <a:buFont typeface="+mj-lt"/>
              <a:buAutoNum type="arabicPeriod"/>
            </a:pPr>
            <a:r>
              <a:rPr lang="bg-BG" sz="2800" dirty="0">
                <a:solidFill>
                  <a:srgbClr val="303030"/>
                </a:solidFill>
              </a:rPr>
              <a:t>Проектиране на физическата база.</a:t>
            </a:r>
          </a:p>
          <a:p>
            <a:pPr marL="914400" lvl="1" indent="-514350">
              <a:buClr>
                <a:srgbClr val="AD0101"/>
              </a:buClr>
              <a:buFont typeface="+mj-lt"/>
              <a:buAutoNum type="arabicPeriod"/>
            </a:pPr>
            <a:r>
              <a:rPr lang="bg-BG" sz="2800" dirty="0">
                <a:solidFill>
                  <a:srgbClr val="303030"/>
                </a:solidFill>
              </a:rPr>
              <a:t>Реализация на базата, мониторинг и настройване.</a:t>
            </a:r>
            <a:endParaRPr lang="bg-BG" sz="2400" dirty="0" smtClean="0"/>
          </a:p>
        </p:txBody>
      </p:sp>
      <p:sp>
        <p:nvSpPr>
          <p:cNvPr id="4" name="Date Placeholder 3"/>
          <p:cNvSpPr>
            <a:spLocks noGrp="1"/>
          </p:cNvSpPr>
          <p:nvPr>
            <p:ph type="dt" sz="half" idx="10"/>
          </p:nvPr>
        </p:nvSpPr>
        <p:spPr/>
        <p:txBody>
          <a:bodyPr/>
          <a:lstStyle/>
          <a:p>
            <a:r>
              <a:rPr lang="bg-BG" altLang="bg-BG" smtClean="0"/>
              <a:t>Юлиана Пенева</a:t>
            </a:r>
            <a:endParaRPr lang="bg-BG" altLang="bg-BG"/>
          </a:p>
        </p:txBody>
      </p:sp>
      <p:sp>
        <p:nvSpPr>
          <p:cNvPr id="5" name="Footer Placeholder 4"/>
          <p:cNvSpPr>
            <a:spLocks noGrp="1"/>
          </p:cNvSpPr>
          <p:nvPr>
            <p:ph type="ftr" sz="quarter" idx="11"/>
          </p:nvPr>
        </p:nvSpPr>
        <p:spPr/>
        <p:txBody>
          <a:bodyPr/>
          <a:lstStyle/>
          <a:p>
            <a:r>
              <a:rPr lang="en-US" altLang="bg-BG" smtClean="0"/>
              <a:t>CSCB405 - </a:t>
            </a:r>
            <a:r>
              <a:rPr lang="bg-BG" altLang="bg-BG" smtClean="0"/>
              <a:t>модул 8</a:t>
            </a:r>
            <a:endParaRPr lang="bg-BG" altLang="bg-BG"/>
          </a:p>
        </p:txBody>
      </p:sp>
      <p:sp>
        <p:nvSpPr>
          <p:cNvPr id="6" name="Slide Number Placeholder 5"/>
          <p:cNvSpPr>
            <a:spLocks noGrp="1"/>
          </p:cNvSpPr>
          <p:nvPr>
            <p:ph type="sldNum" sz="quarter" idx="12"/>
          </p:nvPr>
        </p:nvSpPr>
        <p:spPr/>
        <p:txBody>
          <a:bodyPr/>
          <a:lstStyle/>
          <a:p>
            <a:fld id="{5871B340-4D66-4CDA-A1DD-7B8A1A6A278F}" type="slidenum">
              <a:rPr lang="bg-BG" altLang="bg-BG"/>
              <a:pPr/>
              <a:t>6</a:t>
            </a:fld>
            <a:endParaRPr lang="bg-BG" altLang="bg-BG"/>
          </a:p>
        </p:txBody>
      </p:sp>
    </p:spTree>
    <p:extLst>
      <p:ext uri="{BB962C8B-B14F-4D97-AF65-F5344CB8AC3E}">
        <p14:creationId xmlns:p14="http://schemas.microsoft.com/office/powerpoint/2010/main" val="205612172"/>
      </p:ext>
    </p:extLst>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4440" y="404664"/>
            <a:ext cx="8496944" cy="576064"/>
          </a:xfrm>
        </p:spPr>
        <p:txBody>
          <a:bodyPr>
            <a:noAutofit/>
          </a:bodyPr>
          <a:lstStyle/>
          <a:p>
            <a:pPr algn="ctr"/>
            <a:r>
              <a:rPr lang="bg-BG" sz="3200" dirty="0" smtClean="0">
                <a:solidFill>
                  <a:schemeClr val="accent1"/>
                </a:solidFill>
              </a:rPr>
              <a:t>Процесът „проектиране на физическата база“</a:t>
            </a:r>
            <a:endParaRPr lang="bg-BG" sz="3200" dirty="0">
              <a:solidFill>
                <a:schemeClr val="accent1"/>
              </a:solidFill>
            </a:endParaRPr>
          </a:p>
        </p:txBody>
      </p:sp>
      <p:sp>
        <p:nvSpPr>
          <p:cNvPr id="4" name="Date Placeholder 3"/>
          <p:cNvSpPr>
            <a:spLocks noGrp="1"/>
          </p:cNvSpPr>
          <p:nvPr>
            <p:ph type="dt" sz="half" idx="10"/>
          </p:nvPr>
        </p:nvSpPr>
        <p:spPr/>
        <p:txBody>
          <a:bodyPr/>
          <a:lstStyle/>
          <a:p>
            <a:r>
              <a:rPr lang="bg-BG" altLang="bg-BG" smtClean="0"/>
              <a:t>Юлиана Пенева</a:t>
            </a:r>
            <a:endParaRPr lang="bg-BG" altLang="bg-BG"/>
          </a:p>
        </p:txBody>
      </p:sp>
      <p:sp>
        <p:nvSpPr>
          <p:cNvPr id="5" name="Footer Placeholder 4"/>
          <p:cNvSpPr>
            <a:spLocks noGrp="1"/>
          </p:cNvSpPr>
          <p:nvPr>
            <p:ph type="ftr" sz="quarter" idx="11"/>
          </p:nvPr>
        </p:nvSpPr>
        <p:spPr/>
        <p:txBody>
          <a:bodyPr/>
          <a:lstStyle/>
          <a:p>
            <a:r>
              <a:rPr lang="en-US" altLang="bg-BG" smtClean="0"/>
              <a:t>CSCB405 - </a:t>
            </a:r>
            <a:r>
              <a:rPr lang="bg-BG" altLang="bg-BG" smtClean="0"/>
              <a:t>модул 8</a:t>
            </a:r>
            <a:endParaRPr lang="bg-BG" altLang="bg-BG"/>
          </a:p>
        </p:txBody>
      </p:sp>
      <p:sp>
        <p:nvSpPr>
          <p:cNvPr id="6" name="Slide Number Placeholder 5"/>
          <p:cNvSpPr>
            <a:spLocks noGrp="1"/>
          </p:cNvSpPr>
          <p:nvPr>
            <p:ph type="sldNum" sz="quarter" idx="12"/>
          </p:nvPr>
        </p:nvSpPr>
        <p:spPr/>
        <p:txBody>
          <a:bodyPr/>
          <a:lstStyle/>
          <a:p>
            <a:fld id="{74EE3BFA-F3F3-428D-9946-02BF70619056}" type="slidenum">
              <a:rPr lang="bg-BG" altLang="bg-BG" smtClean="0"/>
              <a:pPr/>
              <a:t>7</a:t>
            </a:fld>
            <a:endParaRPr lang="bg-BG" altLang="bg-BG"/>
          </a:p>
        </p:txBody>
      </p:sp>
      <p:pic>
        <p:nvPicPr>
          <p:cNvPr id="7" name="Content Placeholder 6"/>
          <p:cNvPicPr>
            <a:picLocks noGrp="1" noChangeAspect="1"/>
          </p:cNvPicPr>
          <p:nvPr>
            <p:ph idx="1"/>
          </p:nvPr>
        </p:nvPicPr>
        <p:blipFill>
          <a:blip r:embed="rId2"/>
          <a:stretch>
            <a:fillRect/>
          </a:stretch>
        </p:blipFill>
        <p:spPr>
          <a:xfrm>
            <a:off x="2130624" y="1215158"/>
            <a:ext cx="5184576" cy="4934948"/>
          </a:xfrm>
          <a:prstGeom prst="rect">
            <a:avLst/>
          </a:prstGeom>
          <a:ln w="19050">
            <a:solidFill>
              <a:srgbClr val="C00000"/>
            </a:solidFill>
          </a:ln>
        </p:spPr>
      </p:pic>
    </p:spTree>
    <p:extLst>
      <p:ext uri="{BB962C8B-B14F-4D97-AF65-F5344CB8AC3E}">
        <p14:creationId xmlns:p14="http://schemas.microsoft.com/office/powerpoint/2010/main" val="1890362455"/>
      </p:ext>
    </p:extLst>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a:xfrm>
            <a:off x="450056" y="332656"/>
            <a:ext cx="8243887" cy="580926"/>
          </a:xfrm>
        </p:spPr>
        <p:txBody>
          <a:bodyPr>
            <a:noAutofit/>
          </a:bodyPr>
          <a:lstStyle/>
          <a:p>
            <a:pPr marL="685800" indent="-685800" algn="ctr"/>
            <a:r>
              <a:rPr lang="bg-BG" altLang="bg-BG" sz="3200" dirty="0" smtClean="0">
                <a:solidFill>
                  <a:schemeClr val="accent1"/>
                </a:solidFill>
              </a:rPr>
              <a:t>Елементи на физическата база от данни</a:t>
            </a:r>
            <a:endParaRPr lang="bg-BG" altLang="bg-BG" sz="3200" dirty="0">
              <a:solidFill>
                <a:schemeClr val="accent1"/>
              </a:solidFill>
            </a:endParaRPr>
          </a:p>
        </p:txBody>
      </p:sp>
      <p:sp>
        <p:nvSpPr>
          <p:cNvPr id="66595" name="Rectangle 35"/>
          <p:cNvSpPr>
            <a:spLocks noGrp="1" noChangeArrowheads="1"/>
          </p:cNvSpPr>
          <p:nvPr>
            <p:ph idx="1"/>
          </p:nvPr>
        </p:nvSpPr>
        <p:spPr>
          <a:xfrm>
            <a:off x="457200" y="980728"/>
            <a:ext cx="8229600" cy="5075585"/>
          </a:xfrm>
        </p:spPr>
        <p:txBody>
          <a:bodyPr>
            <a:normAutofit lnSpcReduction="10000"/>
          </a:bodyPr>
          <a:lstStyle/>
          <a:p>
            <a:pPr marL="457200" indent="-457200">
              <a:buFont typeface="+mj-lt"/>
              <a:buAutoNum type="arabicPeriod"/>
            </a:pPr>
            <a:r>
              <a:rPr lang="bg-BG" sz="2400" dirty="0"/>
              <a:t>Обикновено данните се съхраняват като файлове със записи. Физическата база от данни представлява множество от взаимно свързани записи от различен тип, групирани във файлове. Записът е съвкупност от свързани полета с данни, които описват обектите с техните атрибути и връзки. </a:t>
            </a:r>
            <a:endParaRPr lang="bg-BG" sz="2400" dirty="0" smtClean="0"/>
          </a:p>
          <a:p>
            <a:pPr marL="457200" indent="-457200">
              <a:buFont typeface="+mj-lt"/>
              <a:buAutoNum type="arabicPeriod"/>
            </a:pPr>
            <a:r>
              <a:rPr lang="bg-BG" sz="2400" dirty="0" smtClean="0"/>
              <a:t>Множеството </a:t>
            </a:r>
            <a:r>
              <a:rPr lang="bg-BG" sz="2400" dirty="0"/>
              <a:t>от имената на полетата заедно със съответствуващия им тип </a:t>
            </a:r>
            <a:r>
              <a:rPr lang="bg-BG" sz="2400" dirty="0" smtClean="0"/>
              <a:t>образуват </a:t>
            </a:r>
            <a:r>
              <a:rPr lang="bg-BG" sz="2400" dirty="0" smtClean="0">
                <a:solidFill>
                  <a:srgbClr val="C00000"/>
                </a:solidFill>
              </a:rPr>
              <a:t>форм</a:t>
            </a:r>
            <a:r>
              <a:rPr lang="en-US" sz="2400" dirty="0" smtClean="0">
                <a:solidFill>
                  <a:srgbClr val="C00000"/>
                </a:solidFill>
                <a:latin typeface="Times New Roman"/>
                <a:cs typeface="Times New Roman"/>
              </a:rPr>
              <a:t>à</a:t>
            </a:r>
            <a:r>
              <a:rPr lang="bg-BG" sz="2400" dirty="0" smtClean="0">
                <a:solidFill>
                  <a:srgbClr val="C00000"/>
                </a:solidFill>
              </a:rPr>
              <a:t>та </a:t>
            </a:r>
            <a:r>
              <a:rPr lang="bg-BG" sz="2400" dirty="0"/>
              <a:t>на записа. </a:t>
            </a:r>
            <a:endParaRPr lang="bg-BG" sz="2400" dirty="0" smtClean="0"/>
          </a:p>
          <a:p>
            <a:pPr marL="457200" indent="-457200">
              <a:buFont typeface="+mj-lt"/>
              <a:buAutoNum type="arabicPeriod"/>
            </a:pPr>
            <a:r>
              <a:rPr lang="bg-BG" sz="2400" dirty="0" smtClean="0"/>
              <a:t>Освен </a:t>
            </a:r>
            <a:r>
              <a:rPr lang="bg-BG" sz="2400" dirty="0"/>
              <a:t>специфичните за дадено приложение данни, записът съдържа указатели и служебна информация, необходима за идентифицирането и обработването му от СУБД</a:t>
            </a:r>
            <a:r>
              <a:rPr lang="bg-BG" sz="2400" dirty="0" smtClean="0"/>
              <a:t>.</a:t>
            </a:r>
          </a:p>
          <a:p>
            <a:pPr marL="457200" indent="-457200">
              <a:buFont typeface="+mj-lt"/>
              <a:buAutoNum type="arabicPeriod"/>
            </a:pPr>
            <a:r>
              <a:rPr lang="bg-BG" sz="2400" dirty="0" smtClean="0"/>
              <a:t>От </a:t>
            </a:r>
            <a:r>
              <a:rPr lang="bg-BG" sz="2400" dirty="0"/>
              <a:t>разположението на записите върху диска зависи ефективен ли е достъпът на СУБД до тях.</a:t>
            </a:r>
          </a:p>
          <a:p>
            <a:pPr marL="609600" indent="-609600">
              <a:lnSpc>
                <a:spcPct val="90000"/>
              </a:lnSpc>
              <a:buFontTx/>
              <a:buAutoNum type="arabicPeriod"/>
            </a:pPr>
            <a:endParaRPr lang="bg-BG" altLang="bg-BG" sz="2400" dirty="0"/>
          </a:p>
        </p:txBody>
      </p:sp>
      <p:sp>
        <p:nvSpPr>
          <p:cNvPr id="10" name="Date Placeholder 3"/>
          <p:cNvSpPr>
            <a:spLocks noGrp="1"/>
          </p:cNvSpPr>
          <p:nvPr>
            <p:ph type="dt" sz="half" idx="10"/>
          </p:nvPr>
        </p:nvSpPr>
        <p:spPr/>
        <p:txBody>
          <a:bodyPr/>
          <a:lstStyle/>
          <a:p>
            <a:r>
              <a:rPr lang="bg-BG" altLang="bg-BG" smtClean="0"/>
              <a:t>Юлиана Пенева</a:t>
            </a:r>
            <a:endParaRPr lang="bg-BG" altLang="bg-BG"/>
          </a:p>
        </p:txBody>
      </p:sp>
      <p:sp>
        <p:nvSpPr>
          <p:cNvPr id="11" name="Footer Placeholder 4"/>
          <p:cNvSpPr>
            <a:spLocks noGrp="1"/>
          </p:cNvSpPr>
          <p:nvPr>
            <p:ph type="ftr" sz="quarter" idx="11"/>
          </p:nvPr>
        </p:nvSpPr>
        <p:spPr/>
        <p:txBody>
          <a:bodyPr/>
          <a:lstStyle/>
          <a:p>
            <a:r>
              <a:rPr lang="en-US" altLang="bg-BG" smtClean="0"/>
              <a:t>CSCB405 - </a:t>
            </a:r>
            <a:r>
              <a:rPr lang="bg-BG" altLang="bg-BG" smtClean="0"/>
              <a:t>модул 8</a:t>
            </a:r>
            <a:endParaRPr lang="bg-BG" altLang="bg-BG"/>
          </a:p>
        </p:txBody>
      </p:sp>
      <p:sp>
        <p:nvSpPr>
          <p:cNvPr id="12" name="Slide Number Placeholder 5"/>
          <p:cNvSpPr>
            <a:spLocks noGrp="1"/>
          </p:cNvSpPr>
          <p:nvPr>
            <p:ph type="sldNum" sz="quarter" idx="12"/>
          </p:nvPr>
        </p:nvSpPr>
        <p:spPr/>
        <p:txBody>
          <a:bodyPr/>
          <a:lstStyle/>
          <a:p>
            <a:fld id="{48E16813-5F84-4EBD-BCFE-7A632A4F2298}" type="slidenum">
              <a:rPr lang="bg-BG" altLang="bg-BG"/>
              <a:pPr/>
              <a:t>8</a:t>
            </a:fld>
            <a:endParaRPr lang="bg-BG" altLang="bg-BG"/>
          </a:p>
        </p:txBody>
      </p:sp>
      <p:sp>
        <p:nvSpPr>
          <p:cNvPr id="66573" name="Rectangle 13"/>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bg-BG"/>
          </a:p>
        </p:txBody>
      </p:sp>
      <p:sp>
        <p:nvSpPr>
          <p:cNvPr id="66575" name="Rectangle 1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bg-BG"/>
          </a:p>
        </p:txBody>
      </p:sp>
      <p:sp>
        <p:nvSpPr>
          <p:cNvPr id="66583" name="Rectangle 23"/>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bg-BG"/>
          </a:p>
        </p:txBody>
      </p:sp>
      <p:sp>
        <p:nvSpPr>
          <p:cNvPr id="66585" name="Rectangle 2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bg-BG"/>
          </a:p>
        </p:txBody>
      </p:sp>
      <p:sp>
        <p:nvSpPr>
          <p:cNvPr id="66587" name="Rectangle 2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bg-BG"/>
          </a:p>
        </p:txBody>
      </p:sp>
      <p:sp>
        <p:nvSpPr>
          <p:cNvPr id="66589" name="Rectangle 2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bg-BG"/>
          </a:p>
        </p:txBody>
      </p:sp>
    </p:spTree>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457200" y="260648"/>
            <a:ext cx="8243887" cy="652041"/>
          </a:xfrm>
        </p:spPr>
        <p:txBody>
          <a:bodyPr>
            <a:noAutofit/>
          </a:bodyPr>
          <a:lstStyle/>
          <a:p>
            <a:pPr marL="685800" indent="-685800" algn="ctr"/>
            <a:r>
              <a:rPr lang="bg-BG" altLang="bg-BG" sz="3200" dirty="0" smtClean="0">
                <a:solidFill>
                  <a:schemeClr val="accent1"/>
                </a:solidFill>
              </a:rPr>
              <a:t>Елементи на физическата база от данни</a:t>
            </a:r>
            <a:endParaRPr lang="bg-BG" altLang="bg-BG" sz="3200" dirty="0">
              <a:solidFill>
                <a:schemeClr val="accent1"/>
              </a:solidFill>
            </a:endParaRPr>
          </a:p>
        </p:txBody>
      </p:sp>
      <p:sp>
        <p:nvSpPr>
          <p:cNvPr id="54275" name="Rectangle 3"/>
          <p:cNvSpPr>
            <a:spLocks noGrp="1" noChangeArrowheads="1"/>
          </p:cNvSpPr>
          <p:nvPr>
            <p:ph idx="1"/>
          </p:nvPr>
        </p:nvSpPr>
        <p:spPr>
          <a:xfrm>
            <a:off x="457200" y="764704"/>
            <a:ext cx="8229600" cy="5401146"/>
          </a:xfrm>
        </p:spPr>
        <p:txBody>
          <a:bodyPr>
            <a:normAutofit lnSpcReduction="10000"/>
          </a:bodyPr>
          <a:lstStyle/>
          <a:p>
            <a:pPr marL="457200" indent="-457200">
              <a:buFont typeface="+mj-lt"/>
              <a:buAutoNum type="arabicPeriod"/>
            </a:pPr>
            <a:r>
              <a:rPr lang="bg-BG" sz="2400" dirty="0"/>
              <a:t>При обработка на данни съществена е разликата между </a:t>
            </a:r>
            <a:r>
              <a:rPr lang="bg-BG" sz="2400" dirty="0">
                <a:solidFill>
                  <a:srgbClr val="FF0000"/>
                </a:solidFill>
              </a:rPr>
              <a:t>физически</a:t>
            </a:r>
            <a:r>
              <a:rPr lang="bg-BG" sz="2400" dirty="0"/>
              <a:t> и </a:t>
            </a:r>
            <a:r>
              <a:rPr lang="bg-BG" sz="2400" dirty="0">
                <a:solidFill>
                  <a:srgbClr val="FF0000"/>
                </a:solidFill>
              </a:rPr>
              <a:t>логически</a:t>
            </a:r>
            <a:r>
              <a:rPr lang="bg-BG" sz="2400" dirty="0"/>
              <a:t> аспект на данните. </a:t>
            </a:r>
            <a:endParaRPr lang="bg-BG" sz="2400" dirty="0" smtClean="0"/>
          </a:p>
          <a:p>
            <a:pPr lvl="1"/>
            <a:r>
              <a:rPr lang="bg-BG" sz="2400" dirty="0" smtClean="0">
                <a:solidFill>
                  <a:srgbClr val="FF0000"/>
                </a:solidFill>
              </a:rPr>
              <a:t>Логическият </a:t>
            </a:r>
            <a:r>
              <a:rPr lang="bg-BG" sz="2400" dirty="0">
                <a:solidFill>
                  <a:srgbClr val="FF0000"/>
                </a:solidFill>
              </a:rPr>
              <a:t>аспект </a:t>
            </a:r>
            <a:r>
              <a:rPr lang="bg-BG" sz="2400" dirty="0"/>
              <a:t>отразява естеството на данните, независимо от физическите подробности на съхраняването и представянето им. </a:t>
            </a:r>
            <a:endParaRPr lang="bg-BG" sz="2400" dirty="0" smtClean="0"/>
          </a:p>
          <a:p>
            <a:pPr lvl="1"/>
            <a:r>
              <a:rPr lang="bg-BG" sz="2400" dirty="0" smtClean="0">
                <a:solidFill>
                  <a:srgbClr val="FF0000"/>
                </a:solidFill>
              </a:rPr>
              <a:t>Физическият </a:t>
            </a:r>
            <a:r>
              <a:rPr lang="bg-BG" sz="2400" dirty="0">
                <a:solidFill>
                  <a:srgbClr val="FF0000"/>
                </a:solidFill>
              </a:rPr>
              <a:t>аспект </a:t>
            </a:r>
            <a:r>
              <a:rPr lang="bg-BG" sz="2400" dirty="0"/>
              <a:t>изразява начина на съхраняването и представянето им върху определен носител.</a:t>
            </a:r>
          </a:p>
          <a:p>
            <a:pPr marL="457200" indent="-457200">
              <a:buFont typeface="+mj-lt"/>
              <a:buAutoNum type="arabicPeriod"/>
            </a:pPr>
            <a:r>
              <a:rPr lang="bg-BG" sz="2400" dirty="0">
                <a:solidFill>
                  <a:srgbClr val="0070C0"/>
                </a:solidFill>
              </a:rPr>
              <a:t>Логически запис </a:t>
            </a:r>
            <a:r>
              <a:rPr lang="bg-BG" sz="2400" dirty="0" smtClean="0"/>
              <a:t>- множеството </a:t>
            </a:r>
            <a:r>
              <a:rPr lang="bg-BG" sz="2400" dirty="0"/>
              <a:t>от данни, което представлява едно цяло за потребителя, т.е. това е съвкупността от полетата на записа. </a:t>
            </a:r>
            <a:endParaRPr lang="bg-BG" sz="2400" dirty="0" smtClean="0"/>
          </a:p>
          <a:p>
            <a:pPr marL="457200" indent="-457200">
              <a:buFont typeface="+mj-lt"/>
              <a:buAutoNum type="arabicPeriod"/>
            </a:pPr>
            <a:r>
              <a:rPr lang="bg-BG" sz="2400" dirty="0" smtClean="0">
                <a:solidFill>
                  <a:srgbClr val="0070C0"/>
                </a:solidFill>
              </a:rPr>
              <a:t>Физически </a:t>
            </a:r>
            <a:r>
              <a:rPr lang="bg-BG" sz="2400" dirty="0">
                <a:solidFill>
                  <a:srgbClr val="0070C0"/>
                </a:solidFill>
              </a:rPr>
              <a:t>запис </a:t>
            </a:r>
            <a:r>
              <a:rPr lang="bg-BG" sz="2400" dirty="0" smtClean="0"/>
              <a:t>- единицата </a:t>
            </a:r>
            <a:r>
              <a:rPr lang="bg-BG" sz="2400" dirty="0"/>
              <a:t>информация, която реално се чете от едно устройство или се записва на </a:t>
            </a:r>
            <a:r>
              <a:rPr lang="bg-BG" sz="2400" dirty="0" smtClean="0"/>
              <a:t>него или най-малкият </a:t>
            </a:r>
            <a:r>
              <a:rPr lang="bg-BG" sz="2400" dirty="0"/>
              <a:t>обем данни, </a:t>
            </a:r>
            <a:r>
              <a:rPr lang="bg-BG" sz="2400" dirty="0" smtClean="0"/>
              <a:t>предаван </a:t>
            </a:r>
            <a:r>
              <a:rPr lang="bg-BG" sz="2400" dirty="0"/>
              <a:t>между паметта и диска при обработката на </a:t>
            </a:r>
            <a:r>
              <a:rPr lang="bg-BG" sz="2400" dirty="0" smtClean="0"/>
              <a:t>данните -  синоними :  </a:t>
            </a:r>
            <a:r>
              <a:rPr lang="bg-BG" sz="2400" dirty="0"/>
              <a:t>“блок” или “страница”.</a:t>
            </a:r>
          </a:p>
        </p:txBody>
      </p:sp>
      <p:sp>
        <p:nvSpPr>
          <p:cNvPr id="4" name="Date Placeholder 3"/>
          <p:cNvSpPr>
            <a:spLocks noGrp="1"/>
          </p:cNvSpPr>
          <p:nvPr>
            <p:ph type="dt" sz="half" idx="10"/>
          </p:nvPr>
        </p:nvSpPr>
        <p:spPr/>
        <p:txBody>
          <a:bodyPr/>
          <a:lstStyle/>
          <a:p>
            <a:r>
              <a:rPr lang="bg-BG" altLang="bg-BG" smtClean="0"/>
              <a:t>Юлиана Пенева</a:t>
            </a:r>
            <a:endParaRPr lang="bg-BG" altLang="bg-BG"/>
          </a:p>
        </p:txBody>
      </p:sp>
      <p:sp>
        <p:nvSpPr>
          <p:cNvPr id="5" name="Footer Placeholder 4"/>
          <p:cNvSpPr>
            <a:spLocks noGrp="1"/>
          </p:cNvSpPr>
          <p:nvPr>
            <p:ph type="ftr" sz="quarter" idx="11"/>
          </p:nvPr>
        </p:nvSpPr>
        <p:spPr/>
        <p:txBody>
          <a:bodyPr/>
          <a:lstStyle/>
          <a:p>
            <a:r>
              <a:rPr lang="en-US" altLang="bg-BG" smtClean="0"/>
              <a:t>CSCB405 - </a:t>
            </a:r>
            <a:r>
              <a:rPr lang="bg-BG" altLang="bg-BG" smtClean="0"/>
              <a:t>модул 8</a:t>
            </a:r>
            <a:endParaRPr lang="bg-BG" altLang="bg-BG"/>
          </a:p>
        </p:txBody>
      </p:sp>
      <p:sp>
        <p:nvSpPr>
          <p:cNvPr id="6" name="Slide Number Placeholder 5"/>
          <p:cNvSpPr>
            <a:spLocks noGrp="1"/>
          </p:cNvSpPr>
          <p:nvPr>
            <p:ph type="sldNum" sz="quarter" idx="12"/>
          </p:nvPr>
        </p:nvSpPr>
        <p:spPr/>
        <p:txBody>
          <a:bodyPr/>
          <a:lstStyle/>
          <a:p>
            <a:fld id="{7B17A3EB-5D89-474B-B48E-30B3425A49CC}" type="slidenum">
              <a:rPr lang="bg-BG" altLang="bg-BG"/>
              <a:pPr/>
              <a:t>9</a:t>
            </a:fld>
            <a:endParaRPr lang="bg-BG" altLang="bg-BG"/>
          </a:p>
        </p:txBody>
      </p:sp>
    </p:spTree>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2"/>
          <p:cNvSpPr>
            <a:spLocks noGrp="1" noChangeArrowheads="1"/>
          </p:cNvSpPr>
          <p:nvPr>
            <p:ph type="title"/>
          </p:nvPr>
        </p:nvSpPr>
        <p:spPr>
          <a:xfrm>
            <a:off x="467544" y="332656"/>
            <a:ext cx="8243887" cy="580926"/>
          </a:xfrm>
        </p:spPr>
        <p:txBody>
          <a:bodyPr>
            <a:noAutofit/>
          </a:bodyPr>
          <a:lstStyle/>
          <a:p>
            <a:pPr marL="685800" indent="-685800" algn="ctr"/>
            <a:r>
              <a:rPr lang="bg-BG" altLang="bg-BG" sz="3200" dirty="0" smtClean="0">
                <a:solidFill>
                  <a:schemeClr val="accent1"/>
                </a:solidFill>
              </a:rPr>
              <a:t>Елементи на физическата база от данни</a:t>
            </a:r>
            <a:endParaRPr lang="bg-BG" altLang="bg-BG" sz="3200" dirty="0">
              <a:solidFill>
                <a:schemeClr val="accent1"/>
              </a:solidFill>
            </a:endParaRPr>
          </a:p>
        </p:txBody>
      </p:sp>
      <p:sp>
        <p:nvSpPr>
          <p:cNvPr id="187403" name="Rectangle 11"/>
          <p:cNvSpPr>
            <a:spLocks noGrp="1" noChangeArrowheads="1"/>
          </p:cNvSpPr>
          <p:nvPr>
            <p:ph idx="1"/>
          </p:nvPr>
        </p:nvSpPr>
        <p:spPr>
          <a:xfrm>
            <a:off x="457200" y="836712"/>
            <a:ext cx="8229600" cy="5219601"/>
          </a:xfrm>
        </p:spPr>
        <p:txBody>
          <a:bodyPr/>
          <a:lstStyle/>
          <a:p>
            <a:pPr marL="457200" indent="-457200">
              <a:buFont typeface="+mj-lt"/>
              <a:buAutoNum type="arabicPeriod"/>
            </a:pPr>
            <a:r>
              <a:rPr lang="bg-BG" altLang="bg-BG" sz="2000" dirty="0" smtClean="0"/>
              <a:t> </a:t>
            </a:r>
            <a:r>
              <a:rPr lang="bg-BG" sz="2400" dirty="0"/>
              <a:t>Файловете </a:t>
            </a:r>
            <a:r>
              <a:rPr lang="bg-BG" sz="2400" dirty="0" smtClean="0"/>
              <a:t>биват:</a:t>
            </a:r>
            <a:endParaRPr lang="bg-BG" sz="2400" dirty="0"/>
          </a:p>
          <a:p>
            <a:pPr lvl="1"/>
            <a:r>
              <a:rPr lang="bg-BG" sz="2400" dirty="0"/>
              <a:t>с неблокувани записи; </a:t>
            </a:r>
            <a:r>
              <a:rPr lang="bg-BG" sz="2400" dirty="0" smtClean="0"/>
              <a:t>физически запис </a:t>
            </a:r>
            <a:r>
              <a:rPr lang="bg-BG" sz="2400" dirty="0"/>
              <a:t>=</a:t>
            </a:r>
            <a:r>
              <a:rPr lang="bg-BG" sz="2400" dirty="0" smtClean="0"/>
              <a:t> логически;</a:t>
            </a:r>
            <a:endParaRPr lang="bg-BG" sz="2400" dirty="0"/>
          </a:p>
          <a:p>
            <a:pPr lvl="1"/>
            <a:r>
              <a:rPr lang="bg-BG" sz="2400" dirty="0"/>
              <a:t>с блокувани записи; </a:t>
            </a:r>
            <a:r>
              <a:rPr lang="bg-BG" sz="2400" dirty="0" smtClean="0"/>
              <a:t>физически запис = няколко </a:t>
            </a:r>
            <a:r>
              <a:rPr lang="bg-BG" sz="2400" dirty="0"/>
              <a:t>логически </a:t>
            </a:r>
            <a:r>
              <a:rPr lang="bg-BG" sz="2400" dirty="0" smtClean="0"/>
              <a:t>записа.</a:t>
            </a:r>
          </a:p>
          <a:p>
            <a:pPr marL="457200" lvl="0" indent="-457200">
              <a:buFont typeface="+mj-lt"/>
              <a:buAutoNum type="arabicPeriod" startAt="2"/>
            </a:pPr>
            <a:r>
              <a:rPr lang="bg-BG" sz="2400" dirty="0" smtClean="0"/>
              <a:t>Освен </a:t>
            </a:r>
            <a:r>
              <a:rPr lang="bg-BG" sz="2400" dirty="0"/>
              <a:t>това във файла записите могат да бъдат:</a:t>
            </a:r>
          </a:p>
          <a:p>
            <a:pPr lvl="1"/>
            <a:r>
              <a:rPr lang="bg-BG" sz="2400" dirty="0"/>
              <a:t>с постоянна или фиксирана дължина;</a:t>
            </a:r>
          </a:p>
          <a:p>
            <a:pPr lvl="1"/>
            <a:r>
              <a:rPr lang="bg-BG" sz="2400" dirty="0"/>
              <a:t>с променлива дължина.</a:t>
            </a:r>
          </a:p>
          <a:p>
            <a:pPr marL="457200" indent="-457200">
              <a:buFont typeface="+mj-lt"/>
              <a:buAutoNum type="arabicPeriod" startAt="3"/>
            </a:pPr>
            <a:r>
              <a:rPr lang="bg-BG" sz="2400" dirty="0"/>
              <a:t>Физически файлът може да се съхранява на диска </a:t>
            </a:r>
            <a:r>
              <a:rPr lang="bg-BG" sz="2400" dirty="0" smtClean="0"/>
              <a:t>в</a:t>
            </a:r>
          </a:p>
          <a:p>
            <a:pPr lvl="1"/>
            <a:r>
              <a:rPr lang="bg-BG" sz="2400" dirty="0" smtClean="0"/>
              <a:t>последователни </a:t>
            </a:r>
            <a:r>
              <a:rPr lang="bg-BG" sz="2400" dirty="0"/>
              <a:t>блокове;</a:t>
            </a:r>
          </a:p>
          <a:p>
            <a:pPr lvl="1"/>
            <a:r>
              <a:rPr lang="bg-BG" sz="2400" dirty="0" smtClean="0"/>
              <a:t> </a:t>
            </a:r>
            <a:r>
              <a:rPr lang="bg-BG" sz="2400" dirty="0"/>
              <a:t>свързани чрез указатели блокове;</a:t>
            </a:r>
          </a:p>
          <a:p>
            <a:pPr lvl="1"/>
            <a:r>
              <a:rPr lang="bg-BG" sz="2400" dirty="0" smtClean="0"/>
              <a:t> </a:t>
            </a:r>
            <a:r>
              <a:rPr lang="bg-BG" sz="2400" dirty="0"/>
              <a:t>клъстери.</a:t>
            </a:r>
          </a:p>
          <a:p>
            <a:pPr marL="0" indent="0">
              <a:lnSpc>
                <a:spcPct val="90000"/>
              </a:lnSpc>
              <a:buNone/>
            </a:pPr>
            <a:endParaRPr lang="bg-BG" altLang="bg-BG" dirty="0"/>
          </a:p>
        </p:txBody>
      </p:sp>
      <p:sp>
        <p:nvSpPr>
          <p:cNvPr id="4" name="Date Placeholder 3"/>
          <p:cNvSpPr>
            <a:spLocks noGrp="1"/>
          </p:cNvSpPr>
          <p:nvPr>
            <p:ph type="dt" sz="half" idx="10"/>
          </p:nvPr>
        </p:nvSpPr>
        <p:spPr/>
        <p:txBody>
          <a:bodyPr/>
          <a:lstStyle/>
          <a:p>
            <a:r>
              <a:rPr lang="bg-BG" altLang="bg-BG" smtClean="0"/>
              <a:t>Юлиана Пенева</a:t>
            </a:r>
            <a:endParaRPr lang="bg-BG" altLang="bg-BG"/>
          </a:p>
        </p:txBody>
      </p:sp>
      <p:sp>
        <p:nvSpPr>
          <p:cNvPr id="5" name="Footer Placeholder 4"/>
          <p:cNvSpPr>
            <a:spLocks noGrp="1"/>
          </p:cNvSpPr>
          <p:nvPr>
            <p:ph type="ftr" sz="quarter" idx="11"/>
          </p:nvPr>
        </p:nvSpPr>
        <p:spPr/>
        <p:txBody>
          <a:bodyPr/>
          <a:lstStyle/>
          <a:p>
            <a:r>
              <a:rPr lang="en-US" altLang="bg-BG" smtClean="0"/>
              <a:t>CSCB405 - </a:t>
            </a:r>
            <a:r>
              <a:rPr lang="bg-BG" altLang="bg-BG" smtClean="0"/>
              <a:t>модул 8</a:t>
            </a:r>
            <a:endParaRPr lang="bg-BG" altLang="bg-BG"/>
          </a:p>
        </p:txBody>
      </p:sp>
      <p:sp>
        <p:nvSpPr>
          <p:cNvPr id="6" name="Slide Number Placeholder 5"/>
          <p:cNvSpPr>
            <a:spLocks noGrp="1"/>
          </p:cNvSpPr>
          <p:nvPr>
            <p:ph type="sldNum" sz="quarter" idx="12"/>
          </p:nvPr>
        </p:nvSpPr>
        <p:spPr/>
        <p:txBody>
          <a:bodyPr/>
          <a:lstStyle/>
          <a:p>
            <a:fld id="{9A4EECC8-0DA1-4119-A364-8E2C4F154216}" type="slidenum">
              <a:rPr lang="bg-BG" altLang="bg-BG"/>
              <a:pPr/>
              <a:t>10</a:t>
            </a:fld>
            <a:endParaRPr lang="bg-BG" altLang="bg-BG"/>
          </a:p>
        </p:txBody>
      </p:sp>
    </p:spTree>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2"/>
          <p:cNvSpPr>
            <a:spLocks noGrp="1" noChangeArrowheads="1"/>
          </p:cNvSpPr>
          <p:nvPr>
            <p:ph type="title"/>
          </p:nvPr>
        </p:nvSpPr>
        <p:spPr>
          <a:xfrm>
            <a:off x="467544" y="332656"/>
            <a:ext cx="8243887" cy="580926"/>
          </a:xfrm>
        </p:spPr>
        <p:txBody>
          <a:bodyPr>
            <a:noAutofit/>
          </a:bodyPr>
          <a:lstStyle/>
          <a:p>
            <a:pPr marL="685800" indent="-685800" algn="ctr"/>
            <a:r>
              <a:rPr lang="bg-BG" altLang="bg-BG" sz="3200" dirty="0" smtClean="0">
                <a:solidFill>
                  <a:schemeClr val="accent1"/>
                </a:solidFill>
              </a:rPr>
              <a:t>Елементи на физическата база от данни</a:t>
            </a:r>
            <a:endParaRPr lang="bg-BG" altLang="bg-BG" sz="3200" dirty="0">
              <a:solidFill>
                <a:schemeClr val="accent1"/>
              </a:solidFill>
            </a:endParaRPr>
          </a:p>
        </p:txBody>
      </p:sp>
      <p:sp>
        <p:nvSpPr>
          <p:cNvPr id="187403" name="Rectangle 11"/>
          <p:cNvSpPr>
            <a:spLocks noGrp="1" noChangeArrowheads="1"/>
          </p:cNvSpPr>
          <p:nvPr>
            <p:ph idx="1"/>
          </p:nvPr>
        </p:nvSpPr>
        <p:spPr>
          <a:xfrm>
            <a:off x="457200" y="836712"/>
            <a:ext cx="8229600" cy="5219601"/>
          </a:xfrm>
        </p:spPr>
        <p:txBody>
          <a:bodyPr/>
          <a:lstStyle/>
          <a:p>
            <a:pPr marL="457200" indent="-457200">
              <a:buFont typeface="+mj-lt"/>
              <a:buAutoNum type="arabicPeriod"/>
            </a:pPr>
            <a:endParaRPr lang="en-US" altLang="bg-BG" sz="2000" dirty="0" smtClean="0"/>
          </a:p>
          <a:p>
            <a:pPr marL="0" indent="0">
              <a:lnSpc>
                <a:spcPct val="90000"/>
              </a:lnSpc>
              <a:buNone/>
            </a:pPr>
            <a:endParaRPr lang="bg-BG" altLang="bg-BG" dirty="0"/>
          </a:p>
        </p:txBody>
      </p:sp>
      <p:sp>
        <p:nvSpPr>
          <p:cNvPr id="4" name="Date Placeholder 3"/>
          <p:cNvSpPr>
            <a:spLocks noGrp="1"/>
          </p:cNvSpPr>
          <p:nvPr>
            <p:ph type="dt" sz="half" idx="10"/>
          </p:nvPr>
        </p:nvSpPr>
        <p:spPr/>
        <p:txBody>
          <a:bodyPr/>
          <a:lstStyle/>
          <a:p>
            <a:r>
              <a:rPr lang="bg-BG" altLang="bg-BG" smtClean="0"/>
              <a:t>Юлиана Пенева</a:t>
            </a:r>
            <a:endParaRPr lang="bg-BG" altLang="bg-BG"/>
          </a:p>
        </p:txBody>
      </p:sp>
      <p:sp>
        <p:nvSpPr>
          <p:cNvPr id="5" name="Footer Placeholder 4"/>
          <p:cNvSpPr>
            <a:spLocks noGrp="1"/>
          </p:cNvSpPr>
          <p:nvPr>
            <p:ph type="ftr" sz="quarter" idx="11"/>
          </p:nvPr>
        </p:nvSpPr>
        <p:spPr/>
        <p:txBody>
          <a:bodyPr/>
          <a:lstStyle/>
          <a:p>
            <a:r>
              <a:rPr lang="en-US" altLang="bg-BG" smtClean="0"/>
              <a:t>CSCB405 - </a:t>
            </a:r>
            <a:r>
              <a:rPr lang="bg-BG" altLang="bg-BG" smtClean="0"/>
              <a:t>модул 8</a:t>
            </a:r>
            <a:endParaRPr lang="bg-BG" altLang="bg-BG"/>
          </a:p>
        </p:txBody>
      </p:sp>
      <p:sp>
        <p:nvSpPr>
          <p:cNvPr id="6" name="Slide Number Placeholder 5"/>
          <p:cNvSpPr>
            <a:spLocks noGrp="1"/>
          </p:cNvSpPr>
          <p:nvPr>
            <p:ph type="sldNum" sz="quarter" idx="12"/>
          </p:nvPr>
        </p:nvSpPr>
        <p:spPr/>
        <p:txBody>
          <a:bodyPr/>
          <a:lstStyle/>
          <a:p>
            <a:fld id="{9A4EECC8-0DA1-4119-A364-8E2C4F154216}" type="slidenum">
              <a:rPr lang="bg-BG" altLang="bg-BG"/>
              <a:pPr/>
              <a:t>11</a:t>
            </a:fld>
            <a:endParaRPr lang="bg-BG" altLang="bg-BG"/>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42395" y="1698798"/>
            <a:ext cx="3818198" cy="2863649"/>
          </a:xfrm>
          <a:prstGeom prst="rect">
            <a:avLst/>
          </a:prstGeom>
          <a:ln w="19050">
            <a:solidFill>
              <a:srgbClr val="C00000"/>
            </a:solidFill>
          </a:ln>
        </p:spPr>
      </p:pic>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03764" y="1691841"/>
            <a:ext cx="3897002" cy="2922752"/>
          </a:xfrm>
          <a:prstGeom prst="rect">
            <a:avLst/>
          </a:prstGeom>
          <a:ln w="19050">
            <a:solidFill>
              <a:srgbClr val="C00000"/>
            </a:solidFill>
          </a:ln>
        </p:spPr>
      </p:pic>
      <p:sp>
        <p:nvSpPr>
          <p:cNvPr id="12" name="TextBox 11"/>
          <p:cNvSpPr txBox="1"/>
          <p:nvPr/>
        </p:nvSpPr>
        <p:spPr>
          <a:xfrm>
            <a:off x="2906884" y="948503"/>
            <a:ext cx="2507418" cy="584775"/>
          </a:xfrm>
          <a:prstGeom prst="rect">
            <a:avLst/>
          </a:prstGeom>
          <a:noFill/>
        </p:spPr>
        <p:txBody>
          <a:bodyPr wrap="none" rtlCol="0">
            <a:spAutoFit/>
          </a:bodyPr>
          <a:lstStyle/>
          <a:p>
            <a:r>
              <a:rPr lang="bg-BG" dirty="0" smtClean="0">
                <a:solidFill>
                  <a:srgbClr val="FF0000"/>
                </a:solidFill>
              </a:rPr>
              <a:t>Видове записи</a:t>
            </a:r>
            <a:endParaRPr lang="en-US" dirty="0">
              <a:solidFill>
                <a:srgbClr val="FF0000"/>
              </a:solidFill>
            </a:endParaRPr>
          </a:p>
        </p:txBody>
      </p:sp>
    </p:spTree>
    <p:extLst>
      <p:ext uri="{BB962C8B-B14F-4D97-AF65-F5344CB8AC3E}">
        <p14:creationId xmlns:p14="http://schemas.microsoft.com/office/powerpoint/2010/main" val="1920872306"/>
      </p:ext>
    </p:extLst>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p:cNvSpPr>
            <a:spLocks noGrp="1" noChangeArrowheads="1"/>
          </p:cNvSpPr>
          <p:nvPr>
            <p:ph type="title"/>
          </p:nvPr>
        </p:nvSpPr>
        <p:spPr>
          <a:xfrm>
            <a:off x="467544" y="188640"/>
            <a:ext cx="8243887" cy="652934"/>
          </a:xfrm>
        </p:spPr>
        <p:txBody>
          <a:bodyPr>
            <a:noAutofit/>
          </a:bodyPr>
          <a:lstStyle/>
          <a:p>
            <a:pPr marL="685800" indent="-685800" algn="ctr"/>
            <a:r>
              <a:rPr lang="ru-RU" altLang="bg-BG" sz="3200" dirty="0" err="1">
                <a:solidFill>
                  <a:schemeClr val="accent1"/>
                </a:solidFill>
              </a:rPr>
              <a:t>Елементи</a:t>
            </a:r>
            <a:r>
              <a:rPr lang="ru-RU" altLang="bg-BG" sz="3200" dirty="0">
                <a:solidFill>
                  <a:schemeClr val="accent1"/>
                </a:solidFill>
              </a:rPr>
              <a:t> на </a:t>
            </a:r>
            <a:r>
              <a:rPr lang="ru-RU" altLang="bg-BG" sz="3200" dirty="0" err="1">
                <a:solidFill>
                  <a:schemeClr val="accent1"/>
                </a:solidFill>
              </a:rPr>
              <a:t>физическата</a:t>
            </a:r>
            <a:r>
              <a:rPr lang="ru-RU" altLang="bg-BG" sz="3200" dirty="0">
                <a:solidFill>
                  <a:schemeClr val="accent1"/>
                </a:solidFill>
              </a:rPr>
              <a:t> база от </a:t>
            </a:r>
            <a:r>
              <a:rPr lang="ru-RU" altLang="bg-BG" sz="3200" dirty="0" err="1">
                <a:solidFill>
                  <a:schemeClr val="accent1"/>
                </a:solidFill>
              </a:rPr>
              <a:t>данни</a:t>
            </a:r>
            <a:endParaRPr lang="bg-BG" altLang="bg-BG" sz="3200" dirty="0">
              <a:solidFill>
                <a:schemeClr val="accent1"/>
              </a:solidFill>
            </a:endParaRPr>
          </a:p>
        </p:txBody>
      </p:sp>
      <p:sp>
        <p:nvSpPr>
          <p:cNvPr id="188423" name="Rectangle 7"/>
          <p:cNvSpPr>
            <a:spLocks noGrp="1" noChangeArrowheads="1"/>
          </p:cNvSpPr>
          <p:nvPr>
            <p:ph idx="1"/>
          </p:nvPr>
        </p:nvSpPr>
        <p:spPr>
          <a:xfrm>
            <a:off x="467544" y="836712"/>
            <a:ext cx="8229600" cy="5400600"/>
          </a:xfrm>
        </p:spPr>
        <p:txBody>
          <a:bodyPr>
            <a:normAutofit/>
          </a:bodyPr>
          <a:lstStyle/>
          <a:p>
            <a:pPr marL="457200" indent="-457200">
              <a:buFont typeface="+mj-lt"/>
              <a:buAutoNum type="arabicPeriod"/>
            </a:pPr>
            <a:r>
              <a:rPr lang="bg-BG" sz="2200" dirty="0" smtClean="0"/>
              <a:t>Файлове на базата =  </a:t>
            </a:r>
            <a:r>
              <a:rPr lang="bg-BG" sz="2200" dirty="0"/>
              <a:t>множества от еднотипни записи с постоянна или променлива дължина. </a:t>
            </a:r>
            <a:endParaRPr lang="bg-BG" sz="2200" dirty="0" smtClean="0"/>
          </a:p>
          <a:p>
            <a:pPr marL="457200" indent="-457200">
              <a:buFont typeface="+mj-lt"/>
              <a:buAutoNum type="arabicPeriod"/>
            </a:pPr>
            <a:r>
              <a:rPr lang="bg-BG" sz="2200" dirty="0" smtClean="0"/>
              <a:t>Записите </a:t>
            </a:r>
            <a:r>
              <a:rPr lang="bg-BG" sz="2200" dirty="0"/>
              <a:t>се групират съобразно блоковете на диска като в един блок се поместват по няколко записа в зависимост от дължината им. Блоков фактор се нарича числото bfr = [B/R], където B е размерът на блока, а R - дължина на записа. </a:t>
            </a:r>
            <a:endParaRPr lang="bg-BG" sz="2200" dirty="0" smtClean="0"/>
          </a:p>
          <a:p>
            <a:pPr marL="457200" indent="-457200">
              <a:buFont typeface="+mj-lt"/>
              <a:buAutoNum type="arabicPeriod"/>
            </a:pPr>
            <a:r>
              <a:rPr lang="bg-BG" sz="2200" dirty="0" smtClean="0"/>
              <a:t>Файлът </a:t>
            </a:r>
            <a:r>
              <a:rPr lang="bg-BG" sz="2200" dirty="0"/>
              <a:t>може да се съхранява на диска в последователни или свързани чрез указатели блокове. </a:t>
            </a:r>
            <a:endParaRPr lang="bg-BG" sz="2200" dirty="0" smtClean="0"/>
          </a:p>
          <a:p>
            <a:pPr marL="457200" indent="-457200">
              <a:buFont typeface="+mj-lt"/>
              <a:buAutoNum type="arabicPeriod"/>
            </a:pPr>
            <a:r>
              <a:rPr lang="bg-BG" sz="2200" dirty="0" smtClean="0"/>
              <a:t>Клъстерите </a:t>
            </a:r>
            <a:r>
              <a:rPr lang="bg-BG" sz="2200" dirty="0"/>
              <a:t>представляват комбинация от двата начина на съхранение</a:t>
            </a:r>
            <a:r>
              <a:rPr lang="bg-BG" sz="2200" dirty="0" smtClean="0"/>
              <a:t>.</a:t>
            </a:r>
          </a:p>
          <a:p>
            <a:pPr marL="457200" indent="-457200">
              <a:buFont typeface="+mj-lt"/>
              <a:buAutoNum type="arabicPeriod"/>
            </a:pPr>
            <a:r>
              <a:rPr lang="bg-BG" sz="2200" dirty="0" smtClean="0"/>
              <a:t> </a:t>
            </a:r>
            <a:r>
              <a:rPr lang="bg-BG" sz="2200" dirty="0"/>
              <a:t>Всеки файл е снабден с челен блок (хедър), който съдържа информация за адресите на блоковете и </a:t>
            </a:r>
            <a:r>
              <a:rPr lang="bg-BG" sz="2200" dirty="0" smtClean="0"/>
              <a:t>форм</a:t>
            </a:r>
            <a:r>
              <a:rPr lang="en-US" sz="2200" dirty="0" smtClean="0">
                <a:latin typeface="Times New Roman"/>
                <a:cs typeface="Times New Roman"/>
              </a:rPr>
              <a:t>à</a:t>
            </a:r>
            <a:r>
              <a:rPr lang="bg-BG" sz="2200" dirty="0" smtClean="0"/>
              <a:t>та </a:t>
            </a:r>
            <a:r>
              <a:rPr lang="bg-BG" sz="2200" dirty="0"/>
              <a:t>на записа (дължина на полетата, наредба, начин на запис в блока, дали е с фиксирана дължина или не и др</a:t>
            </a:r>
            <a:r>
              <a:rPr lang="bg-BG" sz="2200" dirty="0" smtClean="0"/>
              <a:t>.).</a:t>
            </a:r>
            <a:endParaRPr lang="bg-BG" altLang="bg-BG" sz="2400" dirty="0"/>
          </a:p>
          <a:p>
            <a:pPr marL="609600" indent="-609600">
              <a:spcBef>
                <a:spcPct val="0"/>
              </a:spcBef>
              <a:buFontTx/>
              <a:buAutoNum type="arabicPeriod"/>
            </a:pPr>
            <a:endParaRPr lang="bg-BG" altLang="bg-BG" sz="2400" dirty="0"/>
          </a:p>
        </p:txBody>
      </p:sp>
      <p:sp>
        <p:nvSpPr>
          <p:cNvPr id="4" name="Date Placeholder 3"/>
          <p:cNvSpPr>
            <a:spLocks noGrp="1"/>
          </p:cNvSpPr>
          <p:nvPr>
            <p:ph type="dt" sz="half" idx="10"/>
          </p:nvPr>
        </p:nvSpPr>
        <p:spPr/>
        <p:txBody>
          <a:bodyPr/>
          <a:lstStyle/>
          <a:p>
            <a:r>
              <a:rPr lang="bg-BG" altLang="bg-BG" smtClean="0"/>
              <a:t>Юлиана Пенева</a:t>
            </a:r>
            <a:endParaRPr lang="bg-BG" altLang="bg-BG"/>
          </a:p>
        </p:txBody>
      </p:sp>
      <p:sp>
        <p:nvSpPr>
          <p:cNvPr id="5" name="Footer Placeholder 4"/>
          <p:cNvSpPr>
            <a:spLocks noGrp="1"/>
          </p:cNvSpPr>
          <p:nvPr>
            <p:ph type="ftr" sz="quarter" idx="11"/>
          </p:nvPr>
        </p:nvSpPr>
        <p:spPr/>
        <p:txBody>
          <a:bodyPr/>
          <a:lstStyle/>
          <a:p>
            <a:r>
              <a:rPr lang="en-US" altLang="bg-BG" smtClean="0"/>
              <a:t>CSCB405 - </a:t>
            </a:r>
            <a:r>
              <a:rPr lang="bg-BG" altLang="bg-BG" smtClean="0"/>
              <a:t>модул 8</a:t>
            </a:r>
            <a:endParaRPr lang="bg-BG" altLang="bg-BG"/>
          </a:p>
        </p:txBody>
      </p:sp>
      <p:sp>
        <p:nvSpPr>
          <p:cNvPr id="6" name="Slide Number Placeholder 5"/>
          <p:cNvSpPr>
            <a:spLocks noGrp="1"/>
          </p:cNvSpPr>
          <p:nvPr>
            <p:ph type="sldNum" sz="quarter" idx="12"/>
          </p:nvPr>
        </p:nvSpPr>
        <p:spPr/>
        <p:txBody>
          <a:bodyPr/>
          <a:lstStyle/>
          <a:p>
            <a:fld id="{35EFEF1D-8679-4A0C-9777-93CB70738A01}" type="slidenum">
              <a:rPr lang="bg-BG" altLang="bg-BG"/>
              <a:pPr/>
              <a:t>12</a:t>
            </a:fld>
            <a:endParaRPr lang="bg-BG" altLang="bg-BG"/>
          </a:p>
        </p:txBody>
      </p:sp>
    </p:spTree>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2"/>
          <p:cNvSpPr>
            <a:spLocks noGrp="1" noChangeArrowheads="1"/>
          </p:cNvSpPr>
          <p:nvPr>
            <p:ph type="title"/>
          </p:nvPr>
        </p:nvSpPr>
        <p:spPr>
          <a:xfrm>
            <a:off x="467544" y="332656"/>
            <a:ext cx="8243887" cy="580926"/>
          </a:xfrm>
        </p:spPr>
        <p:txBody>
          <a:bodyPr>
            <a:noAutofit/>
          </a:bodyPr>
          <a:lstStyle/>
          <a:p>
            <a:pPr marL="685800" indent="-685800" algn="ctr"/>
            <a:r>
              <a:rPr lang="bg-BG" altLang="bg-BG" sz="3200" dirty="0" smtClean="0">
                <a:solidFill>
                  <a:schemeClr val="accent1"/>
                </a:solidFill>
              </a:rPr>
              <a:t>Елементи на физическата база от данни</a:t>
            </a:r>
            <a:endParaRPr lang="bg-BG" altLang="bg-BG" sz="3200" dirty="0">
              <a:solidFill>
                <a:schemeClr val="accent1"/>
              </a:solidFill>
            </a:endParaRPr>
          </a:p>
        </p:txBody>
      </p:sp>
      <p:sp>
        <p:nvSpPr>
          <p:cNvPr id="187403" name="Rectangle 11"/>
          <p:cNvSpPr>
            <a:spLocks noGrp="1" noChangeArrowheads="1"/>
          </p:cNvSpPr>
          <p:nvPr>
            <p:ph idx="1"/>
          </p:nvPr>
        </p:nvSpPr>
        <p:spPr>
          <a:xfrm>
            <a:off x="457200" y="836712"/>
            <a:ext cx="8229600" cy="5219601"/>
          </a:xfrm>
        </p:spPr>
        <p:txBody>
          <a:bodyPr/>
          <a:lstStyle/>
          <a:p>
            <a:pPr marL="457200" indent="-457200">
              <a:buFont typeface="+mj-lt"/>
              <a:buAutoNum type="arabicPeriod"/>
            </a:pPr>
            <a:endParaRPr lang="en-US" altLang="bg-BG" sz="2000" dirty="0" smtClean="0"/>
          </a:p>
          <a:p>
            <a:pPr marL="0" indent="0">
              <a:lnSpc>
                <a:spcPct val="90000"/>
              </a:lnSpc>
              <a:buNone/>
            </a:pPr>
            <a:endParaRPr lang="bg-BG" altLang="bg-BG" dirty="0"/>
          </a:p>
        </p:txBody>
      </p:sp>
      <p:sp>
        <p:nvSpPr>
          <p:cNvPr id="4" name="Date Placeholder 3"/>
          <p:cNvSpPr>
            <a:spLocks noGrp="1"/>
          </p:cNvSpPr>
          <p:nvPr>
            <p:ph type="dt" sz="half" idx="10"/>
          </p:nvPr>
        </p:nvSpPr>
        <p:spPr/>
        <p:txBody>
          <a:bodyPr/>
          <a:lstStyle/>
          <a:p>
            <a:r>
              <a:rPr lang="bg-BG" altLang="bg-BG" smtClean="0"/>
              <a:t>Юлиана Пенева</a:t>
            </a:r>
            <a:endParaRPr lang="bg-BG" altLang="bg-BG"/>
          </a:p>
        </p:txBody>
      </p:sp>
      <p:sp>
        <p:nvSpPr>
          <p:cNvPr id="5" name="Footer Placeholder 4"/>
          <p:cNvSpPr>
            <a:spLocks noGrp="1"/>
          </p:cNvSpPr>
          <p:nvPr>
            <p:ph type="ftr" sz="quarter" idx="11"/>
          </p:nvPr>
        </p:nvSpPr>
        <p:spPr/>
        <p:txBody>
          <a:bodyPr/>
          <a:lstStyle/>
          <a:p>
            <a:r>
              <a:rPr lang="en-US" altLang="bg-BG" smtClean="0"/>
              <a:t>CSCB405 - </a:t>
            </a:r>
            <a:r>
              <a:rPr lang="bg-BG" altLang="bg-BG" smtClean="0"/>
              <a:t>модул 8</a:t>
            </a:r>
            <a:endParaRPr lang="bg-BG" altLang="bg-BG"/>
          </a:p>
        </p:txBody>
      </p:sp>
      <p:sp>
        <p:nvSpPr>
          <p:cNvPr id="6" name="Slide Number Placeholder 5"/>
          <p:cNvSpPr>
            <a:spLocks noGrp="1"/>
          </p:cNvSpPr>
          <p:nvPr>
            <p:ph type="sldNum" sz="quarter" idx="12"/>
          </p:nvPr>
        </p:nvSpPr>
        <p:spPr/>
        <p:txBody>
          <a:bodyPr/>
          <a:lstStyle/>
          <a:p>
            <a:fld id="{9A4EECC8-0DA1-4119-A364-8E2C4F154216}" type="slidenum">
              <a:rPr lang="bg-BG" altLang="bg-BG"/>
              <a:pPr/>
              <a:t>13</a:t>
            </a:fld>
            <a:endParaRPr lang="bg-BG" altLang="bg-BG"/>
          </a:p>
        </p:txBody>
      </p:sp>
      <p:sp>
        <p:nvSpPr>
          <p:cNvPr id="12" name="TextBox 11"/>
          <p:cNvSpPr txBox="1"/>
          <p:nvPr/>
        </p:nvSpPr>
        <p:spPr>
          <a:xfrm>
            <a:off x="1563496" y="936984"/>
            <a:ext cx="5740674" cy="584775"/>
          </a:xfrm>
          <a:prstGeom prst="rect">
            <a:avLst/>
          </a:prstGeom>
          <a:noFill/>
        </p:spPr>
        <p:txBody>
          <a:bodyPr wrap="none" rtlCol="0">
            <a:spAutoFit/>
          </a:bodyPr>
          <a:lstStyle/>
          <a:p>
            <a:r>
              <a:rPr lang="bg-BG" dirty="0" smtClean="0">
                <a:solidFill>
                  <a:srgbClr val="FF0000"/>
                </a:solidFill>
              </a:rPr>
              <a:t>Начин на съхраняване върху диска</a:t>
            </a:r>
            <a:endParaRPr lang="en-US" dirty="0">
              <a:solidFill>
                <a:srgbClr val="FF0000"/>
              </a:solidFill>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1999" y="1707848"/>
            <a:ext cx="3370404" cy="3528392"/>
          </a:xfrm>
          <a:prstGeom prst="rect">
            <a:avLst/>
          </a:prstGeom>
          <a:ln w="19050">
            <a:solidFill>
              <a:srgbClr val="C00000"/>
            </a:solidFill>
          </a:ln>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62363" y="1720307"/>
            <a:ext cx="3519637" cy="3519637"/>
          </a:xfrm>
          <a:prstGeom prst="rect">
            <a:avLst/>
          </a:prstGeom>
          <a:ln w="19050">
            <a:solidFill>
              <a:srgbClr val="C00000"/>
            </a:solidFill>
          </a:ln>
        </p:spPr>
      </p:pic>
    </p:spTree>
    <p:extLst>
      <p:ext uri="{BB962C8B-B14F-4D97-AF65-F5344CB8AC3E}">
        <p14:creationId xmlns:p14="http://schemas.microsoft.com/office/powerpoint/2010/main" val="3482691386"/>
      </p:ext>
    </p:extLst>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xfrm>
            <a:off x="395536" y="188640"/>
            <a:ext cx="8243887" cy="652934"/>
          </a:xfrm>
        </p:spPr>
        <p:txBody>
          <a:bodyPr>
            <a:noAutofit/>
          </a:bodyPr>
          <a:lstStyle/>
          <a:p>
            <a:pPr marL="685800" indent="-685800" algn="ctr"/>
            <a:r>
              <a:rPr lang="ru-RU" altLang="bg-BG" sz="3200" dirty="0" err="1">
                <a:solidFill>
                  <a:schemeClr val="accent1"/>
                </a:solidFill>
              </a:rPr>
              <a:t>Елементи</a:t>
            </a:r>
            <a:r>
              <a:rPr lang="ru-RU" altLang="bg-BG" sz="3200" dirty="0">
                <a:solidFill>
                  <a:schemeClr val="accent1"/>
                </a:solidFill>
              </a:rPr>
              <a:t> на </a:t>
            </a:r>
            <a:r>
              <a:rPr lang="ru-RU" altLang="bg-BG" sz="3200" dirty="0" err="1">
                <a:solidFill>
                  <a:schemeClr val="accent1"/>
                </a:solidFill>
              </a:rPr>
              <a:t>физическата</a:t>
            </a:r>
            <a:r>
              <a:rPr lang="ru-RU" altLang="bg-BG" sz="3200" dirty="0">
                <a:solidFill>
                  <a:schemeClr val="accent1"/>
                </a:solidFill>
              </a:rPr>
              <a:t> база от </a:t>
            </a:r>
            <a:r>
              <a:rPr lang="ru-RU" altLang="bg-BG" sz="3200" dirty="0" err="1">
                <a:solidFill>
                  <a:schemeClr val="accent1"/>
                </a:solidFill>
              </a:rPr>
              <a:t>данни</a:t>
            </a:r>
            <a:endParaRPr lang="bg-BG" altLang="bg-BG" sz="3200" dirty="0">
              <a:solidFill>
                <a:schemeClr val="accent1"/>
              </a:solidFill>
            </a:endParaRPr>
          </a:p>
        </p:txBody>
      </p:sp>
      <p:pic>
        <p:nvPicPr>
          <p:cNvPr id="2" name="Content Placeholder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11161" y="1040670"/>
            <a:ext cx="6612635" cy="4959477"/>
          </a:xfrm>
          <a:ln w="19050">
            <a:solidFill>
              <a:srgbClr val="C00000"/>
            </a:solidFill>
          </a:ln>
        </p:spPr>
      </p:pic>
      <p:sp>
        <p:nvSpPr>
          <p:cNvPr id="4" name="Date Placeholder 3"/>
          <p:cNvSpPr>
            <a:spLocks noGrp="1"/>
          </p:cNvSpPr>
          <p:nvPr>
            <p:ph type="dt" sz="half" idx="10"/>
          </p:nvPr>
        </p:nvSpPr>
        <p:spPr/>
        <p:txBody>
          <a:bodyPr/>
          <a:lstStyle/>
          <a:p>
            <a:r>
              <a:rPr lang="bg-BG" altLang="bg-BG" smtClean="0"/>
              <a:t>Юлиана Пенева</a:t>
            </a:r>
            <a:endParaRPr lang="bg-BG" altLang="bg-BG"/>
          </a:p>
        </p:txBody>
      </p:sp>
      <p:sp>
        <p:nvSpPr>
          <p:cNvPr id="5" name="Footer Placeholder 4"/>
          <p:cNvSpPr>
            <a:spLocks noGrp="1"/>
          </p:cNvSpPr>
          <p:nvPr>
            <p:ph type="ftr" sz="quarter" idx="11"/>
          </p:nvPr>
        </p:nvSpPr>
        <p:spPr/>
        <p:txBody>
          <a:bodyPr/>
          <a:lstStyle/>
          <a:p>
            <a:r>
              <a:rPr lang="en-US" altLang="bg-BG" smtClean="0"/>
              <a:t>CSCB405 - </a:t>
            </a:r>
            <a:r>
              <a:rPr lang="bg-BG" altLang="bg-BG" smtClean="0"/>
              <a:t>модул 8</a:t>
            </a:r>
            <a:endParaRPr lang="bg-BG" altLang="bg-BG"/>
          </a:p>
        </p:txBody>
      </p:sp>
      <p:sp>
        <p:nvSpPr>
          <p:cNvPr id="6" name="Slide Number Placeholder 5"/>
          <p:cNvSpPr>
            <a:spLocks noGrp="1"/>
          </p:cNvSpPr>
          <p:nvPr>
            <p:ph type="sldNum" sz="quarter" idx="12"/>
          </p:nvPr>
        </p:nvSpPr>
        <p:spPr/>
        <p:txBody>
          <a:bodyPr/>
          <a:lstStyle/>
          <a:p>
            <a:fld id="{4553A0A4-7573-4306-A97A-DF5AE6818510}" type="slidenum">
              <a:rPr lang="bg-BG" altLang="bg-BG"/>
              <a:pPr/>
              <a:t>14</a:t>
            </a:fld>
            <a:endParaRPr lang="bg-BG" altLang="bg-BG"/>
          </a:p>
        </p:txBody>
      </p:sp>
    </p:spTree>
    <p:extLst>
      <p:ext uri="{BB962C8B-B14F-4D97-AF65-F5344CB8AC3E}">
        <p14:creationId xmlns:p14="http://schemas.microsoft.com/office/powerpoint/2010/main" val="3728402933"/>
      </p:ext>
    </p:extLst>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xfrm>
            <a:off x="395536" y="188640"/>
            <a:ext cx="8243887" cy="652934"/>
          </a:xfrm>
        </p:spPr>
        <p:txBody>
          <a:bodyPr>
            <a:noAutofit/>
          </a:bodyPr>
          <a:lstStyle/>
          <a:p>
            <a:pPr marL="685800" indent="-685800" algn="ctr"/>
            <a:r>
              <a:rPr lang="ru-RU" altLang="bg-BG" sz="3200" dirty="0" err="1">
                <a:solidFill>
                  <a:schemeClr val="accent1"/>
                </a:solidFill>
              </a:rPr>
              <a:t>Елементи</a:t>
            </a:r>
            <a:r>
              <a:rPr lang="ru-RU" altLang="bg-BG" sz="3200" dirty="0">
                <a:solidFill>
                  <a:schemeClr val="accent1"/>
                </a:solidFill>
              </a:rPr>
              <a:t> на </a:t>
            </a:r>
            <a:r>
              <a:rPr lang="ru-RU" altLang="bg-BG" sz="3200" dirty="0" err="1">
                <a:solidFill>
                  <a:schemeClr val="accent1"/>
                </a:solidFill>
              </a:rPr>
              <a:t>физическата</a:t>
            </a:r>
            <a:r>
              <a:rPr lang="ru-RU" altLang="bg-BG" sz="3200" dirty="0">
                <a:solidFill>
                  <a:schemeClr val="accent1"/>
                </a:solidFill>
              </a:rPr>
              <a:t> база от </a:t>
            </a:r>
            <a:r>
              <a:rPr lang="ru-RU" altLang="bg-BG" sz="3200" dirty="0" err="1">
                <a:solidFill>
                  <a:schemeClr val="accent1"/>
                </a:solidFill>
              </a:rPr>
              <a:t>данни</a:t>
            </a:r>
            <a:endParaRPr lang="bg-BG" altLang="bg-BG" sz="3200" dirty="0">
              <a:solidFill>
                <a:schemeClr val="accent1"/>
              </a:solidFill>
            </a:endParaRPr>
          </a:p>
        </p:txBody>
      </p:sp>
      <p:sp>
        <p:nvSpPr>
          <p:cNvPr id="67599" name="Rectangle 15"/>
          <p:cNvSpPr>
            <a:spLocks noGrp="1" noChangeArrowheads="1"/>
          </p:cNvSpPr>
          <p:nvPr>
            <p:ph idx="1"/>
          </p:nvPr>
        </p:nvSpPr>
        <p:spPr>
          <a:xfrm>
            <a:off x="467544" y="764704"/>
            <a:ext cx="8229600" cy="4176464"/>
          </a:xfrm>
        </p:spPr>
        <p:txBody>
          <a:bodyPr/>
          <a:lstStyle/>
          <a:p>
            <a:pPr marL="0" indent="0" algn="ctr">
              <a:buNone/>
            </a:pPr>
            <a:r>
              <a:rPr lang="bg-BG" sz="2600" dirty="0">
                <a:solidFill>
                  <a:schemeClr val="accent1"/>
                </a:solidFill>
              </a:rPr>
              <a:t>От гледна точка на базите операциите върху файлове </a:t>
            </a:r>
            <a:r>
              <a:rPr lang="bg-BG" sz="2600" dirty="0" smtClean="0">
                <a:solidFill>
                  <a:schemeClr val="accent1"/>
                </a:solidFill>
              </a:rPr>
              <a:t>са:</a:t>
            </a:r>
            <a:endParaRPr lang="bg-BG" sz="2600" dirty="0">
              <a:solidFill>
                <a:schemeClr val="accent1"/>
              </a:solidFill>
            </a:endParaRPr>
          </a:p>
          <a:p>
            <a:pPr lvl="1"/>
            <a:r>
              <a:rPr lang="bg-BG" sz="2400" dirty="0" smtClean="0"/>
              <a:t>от </a:t>
            </a:r>
            <a:r>
              <a:rPr lang="bg-BG" sz="2400" dirty="0"/>
              <a:t>тип </a:t>
            </a:r>
            <a:r>
              <a:rPr lang="en-US" sz="2400" dirty="0" smtClean="0"/>
              <a:t>“</a:t>
            </a:r>
            <a:r>
              <a:rPr lang="bg-BG" sz="2400" dirty="0" smtClean="0"/>
              <a:t>търсене</a:t>
            </a:r>
            <a:r>
              <a:rPr lang="en-US" sz="2400" dirty="0" smtClean="0"/>
              <a:t>”</a:t>
            </a:r>
            <a:endParaRPr lang="bg-BG" sz="2400" dirty="0" smtClean="0"/>
          </a:p>
          <a:p>
            <a:pPr marL="857250" lvl="2" indent="0">
              <a:buNone/>
            </a:pPr>
            <a:r>
              <a:rPr lang="bg-BG" sz="2400" dirty="0" smtClean="0"/>
              <a:t>не </a:t>
            </a:r>
            <a:r>
              <a:rPr lang="bg-BG" sz="2400" dirty="0"/>
              <a:t>променят данните, а само намират определени записи, така че техните полета да се изследват и съдържанието им да се извежда.</a:t>
            </a:r>
          </a:p>
          <a:p>
            <a:pPr lvl="1">
              <a:buFont typeface="Arial" panose="020B0604020202020204" pitchFamily="34" charset="0"/>
              <a:buChar char="•"/>
            </a:pPr>
            <a:r>
              <a:rPr lang="bg-BG" sz="2400" dirty="0" smtClean="0"/>
              <a:t>от тип </a:t>
            </a:r>
            <a:r>
              <a:rPr lang="en-US" sz="2400" dirty="0" smtClean="0"/>
              <a:t>“</a:t>
            </a:r>
            <a:r>
              <a:rPr lang="bg-BG" sz="2400" dirty="0" smtClean="0"/>
              <a:t>обновяване</a:t>
            </a:r>
            <a:r>
              <a:rPr lang="en-US" sz="2400" dirty="0" smtClean="0"/>
              <a:t>”</a:t>
            </a:r>
            <a:endParaRPr lang="bg-BG" sz="2400" dirty="0" smtClean="0"/>
          </a:p>
          <a:p>
            <a:pPr marL="914400" lvl="2" indent="0">
              <a:buNone/>
            </a:pPr>
            <a:r>
              <a:rPr lang="bg-BG" sz="2400" dirty="0" smtClean="0"/>
              <a:t>променят </a:t>
            </a:r>
            <a:r>
              <a:rPr lang="bg-BG" sz="2400" dirty="0"/>
              <a:t>съдържанието на </a:t>
            </a:r>
            <a:r>
              <a:rPr lang="bg-BG" sz="2400" dirty="0" smtClean="0"/>
              <a:t>файла - въвеждане </a:t>
            </a:r>
            <a:r>
              <a:rPr lang="bg-BG" sz="2400" dirty="0"/>
              <a:t>на нов запис, изтриване на съществуващ запис, модификация стойностите на някои полета</a:t>
            </a:r>
            <a:r>
              <a:rPr lang="bg-BG" sz="2400" dirty="0" smtClean="0"/>
              <a:t>.</a:t>
            </a:r>
            <a:endParaRPr lang="bg-BG" sz="2400" dirty="0"/>
          </a:p>
        </p:txBody>
      </p:sp>
      <p:sp>
        <p:nvSpPr>
          <p:cNvPr id="4" name="Date Placeholder 3"/>
          <p:cNvSpPr>
            <a:spLocks noGrp="1"/>
          </p:cNvSpPr>
          <p:nvPr>
            <p:ph type="dt" sz="half" idx="10"/>
          </p:nvPr>
        </p:nvSpPr>
        <p:spPr/>
        <p:txBody>
          <a:bodyPr/>
          <a:lstStyle/>
          <a:p>
            <a:r>
              <a:rPr lang="bg-BG" altLang="bg-BG" smtClean="0"/>
              <a:t>Юлиана Пенева</a:t>
            </a:r>
            <a:endParaRPr lang="bg-BG" altLang="bg-BG"/>
          </a:p>
        </p:txBody>
      </p:sp>
      <p:sp>
        <p:nvSpPr>
          <p:cNvPr id="5" name="Footer Placeholder 4"/>
          <p:cNvSpPr>
            <a:spLocks noGrp="1"/>
          </p:cNvSpPr>
          <p:nvPr>
            <p:ph type="ftr" sz="quarter" idx="11"/>
          </p:nvPr>
        </p:nvSpPr>
        <p:spPr/>
        <p:txBody>
          <a:bodyPr/>
          <a:lstStyle/>
          <a:p>
            <a:r>
              <a:rPr lang="en-US" altLang="bg-BG" smtClean="0"/>
              <a:t>CSCB405 - </a:t>
            </a:r>
            <a:r>
              <a:rPr lang="bg-BG" altLang="bg-BG" smtClean="0"/>
              <a:t>модул 8</a:t>
            </a:r>
            <a:endParaRPr lang="bg-BG" altLang="bg-BG"/>
          </a:p>
        </p:txBody>
      </p:sp>
      <p:sp>
        <p:nvSpPr>
          <p:cNvPr id="6" name="Slide Number Placeholder 5"/>
          <p:cNvSpPr>
            <a:spLocks noGrp="1"/>
          </p:cNvSpPr>
          <p:nvPr>
            <p:ph type="sldNum" sz="quarter" idx="12"/>
          </p:nvPr>
        </p:nvSpPr>
        <p:spPr/>
        <p:txBody>
          <a:bodyPr/>
          <a:lstStyle/>
          <a:p>
            <a:fld id="{4553A0A4-7573-4306-A97A-DF5AE6818510}" type="slidenum">
              <a:rPr lang="bg-BG" altLang="bg-BG"/>
              <a:pPr/>
              <a:t>15</a:t>
            </a:fld>
            <a:endParaRPr lang="bg-BG" altLang="bg-BG"/>
          </a:p>
        </p:txBody>
      </p:sp>
    </p:spTree>
  </p:cSld>
  <p:clrMapOvr>
    <a:masterClrMapping/>
  </p:clrMapOvr>
  <p:transition>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noChangeArrowheads="1"/>
          </p:cNvSpPr>
          <p:nvPr>
            <p:ph type="title"/>
          </p:nvPr>
        </p:nvSpPr>
        <p:spPr>
          <a:xfrm>
            <a:off x="323528" y="378202"/>
            <a:ext cx="8243887" cy="508918"/>
          </a:xfrm>
        </p:spPr>
        <p:txBody>
          <a:bodyPr>
            <a:noAutofit/>
          </a:bodyPr>
          <a:lstStyle/>
          <a:p>
            <a:pPr marL="685800" indent="-685800" algn="ctr"/>
            <a:r>
              <a:rPr lang="bg-BG" altLang="bg-BG" sz="3200" dirty="0" smtClean="0">
                <a:solidFill>
                  <a:schemeClr val="accent1"/>
                </a:solidFill>
              </a:rPr>
              <a:t>Елементи на физическата база от данни</a:t>
            </a:r>
            <a:endParaRPr lang="bg-BG" altLang="bg-BG" sz="3200" dirty="0">
              <a:solidFill>
                <a:schemeClr val="accent1"/>
              </a:solidFill>
            </a:endParaRPr>
          </a:p>
        </p:txBody>
      </p:sp>
      <p:sp>
        <p:nvSpPr>
          <p:cNvPr id="192520" name="Rectangle 8"/>
          <p:cNvSpPr>
            <a:spLocks noGrp="1" noChangeArrowheads="1"/>
          </p:cNvSpPr>
          <p:nvPr>
            <p:ph idx="1"/>
          </p:nvPr>
        </p:nvSpPr>
        <p:spPr>
          <a:xfrm>
            <a:off x="457200" y="972108"/>
            <a:ext cx="8229600" cy="5291609"/>
          </a:xfrm>
        </p:spPr>
        <p:txBody>
          <a:bodyPr>
            <a:normAutofit lnSpcReduction="10000"/>
          </a:bodyPr>
          <a:lstStyle/>
          <a:p>
            <a:pPr marL="457200" indent="-457200" algn="ctr">
              <a:lnSpc>
                <a:spcPct val="80000"/>
              </a:lnSpc>
              <a:buFontTx/>
              <a:buNone/>
            </a:pPr>
            <a:r>
              <a:rPr lang="bg-BG" altLang="bg-BG" sz="2800" dirty="0" smtClean="0">
                <a:solidFill>
                  <a:srgbClr val="C00000"/>
                </a:solidFill>
              </a:rPr>
              <a:t>Критерий за търсене</a:t>
            </a:r>
            <a:endParaRPr lang="bg-BG" altLang="bg-BG" sz="2800" dirty="0">
              <a:solidFill>
                <a:srgbClr val="C00000"/>
              </a:solidFill>
            </a:endParaRPr>
          </a:p>
          <a:p>
            <a:pPr marL="457200" indent="-457200" algn="ctr">
              <a:lnSpc>
                <a:spcPct val="80000"/>
              </a:lnSpc>
              <a:buFontTx/>
              <a:buNone/>
            </a:pPr>
            <a:endParaRPr lang="bg-BG" altLang="bg-BG" sz="800" dirty="0"/>
          </a:p>
          <a:p>
            <a:pPr marL="514350" indent="-514350">
              <a:buFont typeface="+mj-lt"/>
              <a:buAutoNum type="arabicPeriod"/>
            </a:pPr>
            <a:r>
              <a:rPr lang="bg-BG" sz="2800" dirty="0" smtClean="0"/>
              <a:t>Определя </a:t>
            </a:r>
            <a:r>
              <a:rPr lang="bg-BG" sz="2800" dirty="0"/>
              <a:t>условията, които записите трябва да удовлетворяват</a:t>
            </a:r>
            <a:r>
              <a:rPr lang="bg-BG" sz="2800" dirty="0" smtClean="0"/>
              <a:t>.</a:t>
            </a:r>
          </a:p>
          <a:p>
            <a:pPr marL="514350" indent="-514350">
              <a:buFont typeface="+mj-lt"/>
              <a:buAutoNum type="arabicPeriod"/>
            </a:pPr>
            <a:r>
              <a:rPr lang="bg-BG" sz="2800" dirty="0" smtClean="0"/>
              <a:t>Просто условие за избор:</a:t>
            </a:r>
          </a:p>
          <a:p>
            <a:pPr marL="400050" lvl="1" indent="0">
              <a:lnSpc>
                <a:spcPct val="90000"/>
              </a:lnSpc>
              <a:buNone/>
            </a:pPr>
            <a:r>
              <a:rPr lang="bg-BG" altLang="bg-BG" sz="2400" dirty="0" smtClean="0"/>
              <a:t>&lt;име </a:t>
            </a:r>
            <a:r>
              <a:rPr lang="bg-BG" altLang="bg-BG" sz="2400" dirty="0"/>
              <a:t>на атрибут&gt; </a:t>
            </a:r>
            <a:r>
              <a:rPr lang="el-GR" altLang="bg-BG" sz="2400" dirty="0" smtClean="0"/>
              <a:t>Θ</a:t>
            </a:r>
            <a:r>
              <a:rPr lang="bg-BG" altLang="bg-BG" sz="2400" dirty="0" smtClean="0"/>
              <a:t> </a:t>
            </a:r>
            <a:r>
              <a:rPr lang="bg-BG" altLang="bg-BG" sz="2400" dirty="0"/>
              <a:t>&lt;константа</a:t>
            </a:r>
            <a:r>
              <a:rPr lang="bg-BG" altLang="bg-BG" sz="2400" dirty="0" smtClean="0"/>
              <a:t>&gt;, където</a:t>
            </a:r>
            <a:endParaRPr lang="bg-BG" altLang="bg-BG" sz="2400" dirty="0"/>
          </a:p>
          <a:p>
            <a:pPr marL="514350" indent="-514350">
              <a:buFont typeface="+mj-lt"/>
              <a:buAutoNum type="arabicPeriod"/>
            </a:pPr>
            <a:endParaRPr lang="bg-BG" sz="2800" dirty="0" smtClean="0"/>
          </a:p>
          <a:p>
            <a:pPr marL="514350" indent="-514350">
              <a:buFont typeface="+mj-lt"/>
              <a:buAutoNum type="arabicPeriod"/>
            </a:pPr>
            <a:r>
              <a:rPr lang="bg-BG" altLang="bg-BG" sz="2800" dirty="0" smtClean="0"/>
              <a:t>Условие </a:t>
            </a:r>
            <a:r>
              <a:rPr lang="bg-BG" altLang="bg-BG" sz="2800" dirty="0"/>
              <a:t>за избор от общ вид: отделните булеви изрази могат да бъдат свързани с and, or, not. </a:t>
            </a:r>
          </a:p>
          <a:p>
            <a:pPr marL="514350" indent="-514350">
              <a:buFont typeface="+mj-lt"/>
              <a:buAutoNum type="arabicPeriod"/>
            </a:pPr>
            <a:r>
              <a:rPr lang="bg-BG" sz="2800" dirty="0"/>
              <a:t>В общия случай може да се формулира сложно условие, съдържащо булев израз.</a:t>
            </a:r>
            <a:endParaRPr lang="bg-BG" sz="2800" dirty="0" smtClean="0"/>
          </a:p>
          <a:p>
            <a:pPr marL="514350" indent="-514350">
              <a:buFont typeface="+mj-lt"/>
              <a:buAutoNum type="arabicPeriod"/>
            </a:pPr>
            <a:r>
              <a:rPr lang="bg-BG" sz="2800" dirty="0" smtClean="0"/>
              <a:t>Използва се и при двата типа операции.</a:t>
            </a:r>
            <a:endParaRPr lang="bg-BG" sz="2800" dirty="0"/>
          </a:p>
          <a:p>
            <a:pPr marL="0" indent="0">
              <a:buNone/>
            </a:pPr>
            <a:endParaRPr lang="bg-BG" sz="2800" dirty="0" smtClean="0"/>
          </a:p>
        </p:txBody>
      </p:sp>
      <p:sp>
        <p:nvSpPr>
          <p:cNvPr id="4" name="Date Placeholder 3"/>
          <p:cNvSpPr>
            <a:spLocks noGrp="1"/>
          </p:cNvSpPr>
          <p:nvPr>
            <p:ph type="dt" sz="half" idx="10"/>
          </p:nvPr>
        </p:nvSpPr>
        <p:spPr/>
        <p:txBody>
          <a:bodyPr/>
          <a:lstStyle/>
          <a:p>
            <a:r>
              <a:rPr lang="bg-BG" altLang="bg-BG" smtClean="0"/>
              <a:t>Юлиана Пенева</a:t>
            </a:r>
            <a:endParaRPr lang="bg-BG" altLang="bg-BG"/>
          </a:p>
        </p:txBody>
      </p:sp>
      <p:sp>
        <p:nvSpPr>
          <p:cNvPr id="5" name="Footer Placeholder 4"/>
          <p:cNvSpPr>
            <a:spLocks noGrp="1"/>
          </p:cNvSpPr>
          <p:nvPr>
            <p:ph type="ftr" sz="quarter" idx="11"/>
          </p:nvPr>
        </p:nvSpPr>
        <p:spPr/>
        <p:txBody>
          <a:bodyPr/>
          <a:lstStyle/>
          <a:p>
            <a:r>
              <a:rPr lang="en-US" altLang="bg-BG" smtClean="0"/>
              <a:t>CSCB405 - </a:t>
            </a:r>
            <a:r>
              <a:rPr lang="bg-BG" altLang="bg-BG" smtClean="0"/>
              <a:t>модул 8</a:t>
            </a:r>
            <a:endParaRPr lang="bg-BG" altLang="bg-BG"/>
          </a:p>
        </p:txBody>
      </p:sp>
      <p:sp>
        <p:nvSpPr>
          <p:cNvPr id="6" name="Slide Number Placeholder 5"/>
          <p:cNvSpPr>
            <a:spLocks noGrp="1"/>
          </p:cNvSpPr>
          <p:nvPr>
            <p:ph type="sldNum" sz="quarter" idx="12"/>
          </p:nvPr>
        </p:nvSpPr>
        <p:spPr/>
        <p:txBody>
          <a:bodyPr/>
          <a:lstStyle/>
          <a:p>
            <a:fld id="{E4FEC3D7-7086-4C60-B774-70AA3ED06D12}" type="slidenum">
              <a:rPr lang="bg-BG" altLang="bg-BG"/>
              <a:pPr/>
              <a:t>16</a:t>
            </a:fld>
            <a:endParaRPr lang="bg-BG" altLang="bg-BG"/>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2350" y="3244850"/>
            <a:ext cx="2019300" cy="373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ChangeArrowheads="1"/>
          </p:cNvSpPr>
          <p:nvPr>
            <p:ph type="title"/>
          </p:nvPr>
        </p:nvSpPr>
        <p:spPr>
          <a:xfrm>
            <a:off x="467544" y="260648"/>
            <a:ext cx="8243887" cy="652934"/>
          </a:xfrm>
        </p:spPr>
        <p:txBody>
          <a:bodyPr>
            <a:noAutofit/>
          </a:bodyPr>
          <a:lstStyle/>
          <a:p>
            <a:pPr algn="ctr"/>
            <a:r>
              <a:rPr lang="bg-BG" altLang="bg-BG" sz="3200" dirty="0" smtClean="0">
                <a:solidFill>
                  <a:schemeClr val="accent1"/>
                </a:solidFill>
              </a:rPr>
              <a:t>Елементи на физическата база от данни</a:t>
            </a:r>
            <a:endParaRPr lang="bg-BG" altLang="bg-BG" sz="3200" dirty="0">
              <a:solidFill>
                <a:schemeClr val="accent1"/>
              </a:solidFill>
            </a:endParaRPr>
          </a:p>
        </p:txBody>
      </p:sp>
      <p:sp>
        <p:nvSpPr>
          <p:cNvPr id="140299" name="Rectangle 11"/>
          <p:cNvSpPr>
            <a:spLocks noGrp="1" noChangeArrowheads="1"/>
          </p:cNvSpPr>
          <p:nvPr>
            <p:ph idx="1"/>
          </p:nvPr>
        </p:nvSpPr>
        <p:spPr>
          <a:xfrm>
            <a:off x="467544" y="908720"/>
            <a:ext cx="8229600" cy="5041106"/>
          </a:xfrm>
        </p:spPr>
        <p:txBody>
          <a:bodyPr>
            <a:normAutofit fontScale="92500" lnSpcReduction="10000"/>
          </a:bodyPr>
          <a:lstStyle/>
          <a:p>
            <a:pPr marL="788670" indent="-514350" algn="just">
              <a:spcAft>
                <a:spcPts val="0"/>
              </a:spcAft>
              <a:buFont typeface="+mj-lt"/>
              <a:buAutoNum type="arabicPeriod"/>
            </a:pPr>
            <a:r>
              <a:rPr lang="bg-BG" sz="2800" dirty="0" smtClean="0">
                <a:solidFill>
                  <a:srgbClr val="C00000"/>
                </a:solidFill>
                <a:ea typeface="Times New Roman"/>
              </a:rPr>
              <a:t>Файлова система </a:t>
            </a:r>
            <a:r>
              <a:rPr lang="bg-BG" sz="2800" dirty="0" smtClean="0">
                <a:ea typeface="Times New Roman"/>
              </a:rPr>
              <a:t>- елемент </a:t>
            </a:r>
            <a:r>
              <a:rPr lang="bg-BG" sz="2800" dirty="0">
                <a:ea typeface="Times New Roman"/>
              </a:rPr>
              <a:t>от дадена операционна </a:t>
            </a:r>
            <a:r>
              <a:rPr lang="bg-BG" sz="2800" dirty="0" smtClean="0">
                <a:ea typeface="Times New Roman"/>
              </a:rPr>
              <a:t>система, която </a:t>
            </a:r>
            <a:r>
              <a:rPr lang="bg-BG" sz="2800" dirty="0">
                <a:ea typeface="Times New Roman"/>
              </a:rPr>
              <a:t>осигурява управление на файловете, свързани с отделните приложения. </a:t>
            </a:r>
            <a:endParaRPr lang="bg-BG" sz="2800" dirty="0" smtClean="0">
              <a:ea typeface="Times New Roman"/>
            </a:endParaRPr>
          </a:p>
          <a:p>
            <a:pPr marL="788670" indent="-514350" algn="just">
              <a:spcAft>
                <a:spcPts val="0"/>
              </a:spcAft>
              <a:buFont typeface="+mj-lt"/>
              <a:buAutoNum type="arabicPeriod"/>
            </a:pPr>
            <a:r>
              <a:rPr lang="bg-BG" sz="2800" dirty="0" smtClean="0">
                <a:ea typeface="Times New Roman"/>
              </a:rPr>
              <a:t>Предоставя </a:t>
            </a:r>
            <a:r>
              <a:rPr lang="bg-BG" sz="2800" dirty="0">
                <a:ea typeface="Times New Roman"/>
              </a:rPr>
              <a:t>контролиран достъп до файл по име, многопотребителска работа и стандартизирани входно/изходни процедури. </a:t>
            </a:r>
            <a:endParaRPr lang="bg-BG" sz="2800" dirty="0" smtClean="0">
              <a:ea typeface="Times New Roman"/>
            </a:endParaRPr>
          </a:p>
          <a:p>
            <a:pPr marL="788670" indent="-514350" algn="just">
              <a:spcAft>
                <a:spcPts val="0"/>
              </a:spcAft>
              <a:buFont typeface="+mj-lt"/>
              <a:buAutoNum type="arabicPeriod"/>
            </a:pPr>
            <a:r>
              <a:rPr lang="bg-BG" sz="2800" dirty="0" smtClean="0">
                <a:ea typeface="Times New Roman"/>
              </a:rPr>
              <a:t>Повечето </a:t>
            </a:r>
            <a:r>
              <a:rPr lang="bg-BG" sz="2800" dirty="0">
                <a:ea typeface="Times New Roman"/>
              </a:rPr>
              <a:t>файлови системи могат да намират запис, само ако критерия за търсене е просто условие</a:t>
            </a:r>
            <a:r>
              <a:rPr lang="bg-BG" sz="2800" dirty="0" smtClean="0">
                <a:ea typeface="Times New Roman"/>
              </a:rPr>
              <a:t>.</a:t>
            </a:r>
          </a:p>
          <a:p>
            <a:pPr marL="788670" indent="-514350" algn="just">
              <a:spcAft>
                <a:spcPts val="0"/>
              </a:spcAft>
              <a:buFont typeface="+mj-lt"/>
              <a:buAutoNum type="arabicPeriod"/>
            </a:pPr>
            <a:r>
              <a:rPr lang="bg-BG" sz="2800" dirty="0" smtClean="0">
                <a:ea typeface="Times New Roman"/>
              </a:rPr>
              <a:t>Сложното </a:t>
            </a:r>
            <a:r>
              <a:rPr lang="bg-BG" sz="2800" dirty="0">
                <a:ea typeface="Times New Roman"/>
              </a:rPr>
              <a:t>условие за избор обикновено се разлага от СУБД на прости подусловия, които се използуват за намиране на нужните записи. </a:t>
            </a:r>
            <a:endParaRPr lang="bg-BG" sz="1800" dirty="0">
              <a:effectLst/>
              <a:latin typeface="Times New Roman"/>
              <a:ea typeface="Times New Roman"/>
            </a:endParaRPr>
          </a:p>
        </p:txBody>
      </p:sp>
      <p:sp>
        <p:nvSpPr>
          <p:cNvPr id="4" name="Date Placeholder 3"/>
          <p:cNvSpPr>
            <a:spLocks noGrp="1"/>
          </p:cNvSpPr>
          <p:nvPr>
            <p:ph type="dt" sz="half" idx="10"/>
          </p:nvPr>
        </p:nvSpPr>
        <p:spPr/>
        <p:txBody>
          <a:bodyPr/>
          <a:lstStyle/>
          <a:p>
            <a:r>
              <a:rPr lang="bg-BG" altLang="bg-BG" smtClean="0"/>
              <a:t>Юлиана Пенева</a:t>
            </a:r>
            <a:endParaRPr lang="bg-BG" altLang="bg-BG"/>
          </a:p>
        </p:txBody>
      </p:sp>
      <p:sp>
        <p:nvSpPr>
          <p:cNvPr id="5" name="Footer Placeholder 4"/>
          <p:cNvSpPr>
            <a:spLocks noGrp="1"/>
          </p:cNvSpPr>
          <p:nvPr>
            <p:ph type="ftr" sz="quarter" idx="11"/>
          </p:nvPr>
        </p:nvSpPr>
        <p:spPr/>
        <p:txBody>
          <a:bodyPr/>
          <a:lstStyle/>
          <a:p>
            <a:r>
              <a:rPr lang="en-US" altLang="bg-BG" smtClean="0"/>
              <a:t>CSCB405 - </a:t>
            </a:r>
            <a:r>
              <a:rPr lang="bg-BG" altLang="bg-BG" smtClean="0"/>
              <a:t>модул 8</a:t>
            </a:r>
            <a:endParaRPr lang="bg-BG" altLang="bg-BG"/>
          </a:p>
        </p:txBody>
      </p:sp>
      <p:sp>
        <p:nvSpPr>
          <p:cNvPr id="6" name="Slide Number Placeholder 5"/>
          <p:cNvSpPr>
            <a:spLocks noGrp="1"/>
          </p:cNvSpPr>
          <p:nvPr>
            <p:ph type="sldNum" sz="quarter" idx="12"/>
          </p:nvPr>
        </p:nvSpPr>
        <p:spPr/>
        <p:txBody>
          <a:bodyPr/>
          <a:lstStyle/>
          <a:p>
            <a:fld id="{34EE235C-2670-4153-B2C4-C2E2451662DA}" type="slidenum">
              <a:rPr lang="bg-BG" altLang="bg-BG"/>
              <a:pPr/>
              <a:t>17</a:t>
            </a:fld>
            <a:endParaRPr lang="bg-BG" altLang="bg-BG"/>
          </a:p>
        </p:txBody>
      </p:sp>
    </p:spTree>
  </p:cSld>
  <p:clrMapOvr>
    <a:masterClrMapping/>
  </p:clrMapOvr>
  <p:transition>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p:cNvSpPr>
            <a:spLocks noGrp="1" noChangeArrowheads="1"/>
          </p:cNvSpPr>
          <p:nvPr>
            <p:ph type="title"/>
          </p:nvPr>
        </p:nvSpPr>
        <p:spPr>
          <a:xfrm>
            <a:off x="539552" y="332656"/>
            <a:ext cx="8243887" cy="652934"/>
          </a:xfrm>
        </p:spPr>
        <p:txBody>
          <a:bodyPr>
            <a:normAutofit fontScale="90000"/>
          </a:bodyPr>
          <a:lstStyle/>
          <a:p>
            <a:pPr marL="342900" lvl="0" algn="ctr">
              <a:lnSpc>
                <a:spcPct val="100000"/>
              </a:lnSpc>
              <a:spcBef>
                <a:spcPct val="20000"/>
              </a:spcBef>
              <a:spcAft>
                <a:spcPts val="0"/>
              </a:spcAft>
            </a:pPr>
            <a:r>
              <a:rPr lang="bg-BG" altLang="bg-BG" dirty="0"/>
              <a:t/>
            </a:r>
            <a:br>
              <a:rPr lang="bg-BG" altLang="bg-BG" dirty="0"/>
            </a:br>
            <a:r>
              <a:rPr lang="bg-BG" altLang="bg-BG" sz="3600" dirty="0" smtClean="0">
                <a:solidFill>
                  <a:schemeClr val="accent1"/>
                </a:solidFill>
              </a:rPr>
              <a:t>Елементи на физическата база от данни</a:t>
            </a:r>
            <a:endParaRPr lang="bg-BG" altLang="bg-BG" sz="3600" dirty="0">
              <a:solidFill>
                <a:schemeClr val="accent1"/>
              </a:solidFill>
            </a:endParaRPr>
          </a:p>
        </p:txBody>
      </p:sp>
      <p:sp>
        <p:nvSpPr>
          <p:cNvPr id="3" name="Content Placeholder 2"/>
          <p:cNvSpPr>
            <a:spLocks noGrp="1"/>
          </p:cNvSpPr>
          <p:nvPr>
            <p:ph idx="1"/>
          </p:nvPr>
        </p:nvSpPr>
        <p:spPr>
          <a:xfrm>
            <a:off x="467544" y="908720"/>
            <a:ext cx="8229600" cy="4536505"/>
          </a:xfrm>
        </p:spPr>
        <p:txBody>
          <a:bodyPr>
            <a:normAutofit lnSpcReduction="10000"/>
          </a:bodyPr>
          <a:lstStyle/>
          <a:p>
            <a:pPr marL="514350" lvl="0" indent="-514350">
              <a:buFont typeface="+mj-lt"/>
              <a:buAutoNum type="arabicPeriod" startAt="5"/>
            </a:pPr>
            <a:r>
              <a:rPr lang="bg-BG" sz="2800" dirty="0">
                <a:ea typeface="Times New Roman"/>
              </a:rPr>
              <a:t>Ако група от записи удовлетворяват един и същ критерий за търсене, то се намира само първия (има се предвид физическата им наредба върху диска). </a:t>
            </a:r>
          </a:p>
          <a:p>
            <a:pPr marL="514350" lvl="0" indent="-514350">
              <a:buFont typeface="+mj-lt"/>
              <a:buAutoNum type="arabicPeriod" startAt="5"/>
            </a:pPr>
            <a:r>
              <a:rPr lang="bg-BG" sz="2800" dirty="0" smtClean="0">
                <a:ea typeface="Times New Roman"/>
              </a:rPr>
              <a:t>Достъпът </a:t>
            </a:r>
            <a:r>
              <a:rPr lang="bg-BG" sz="2800" dirty="0">
                <a:ea typeface="Times New Roman"/>
              </a:rPr>
              <a:t>до останалите записи, които удовлетворяват същото условие се осъществява чрез допълнителни операции. </a:t>
            </a:r>
            <a:endParaRPr lang="bg-BG" sz="2800" dirty="0" smtClean="0">
              <a:ea typeface="Times New Roman"/>
            </a:endParaRPr>
          </a:p>
          <a:p>
            <a:pPr marL="514350" lvl="0" indent="-514350">
              <a:buFont typeface="+mj-lt"/>
              <a:buAutoNum type="arabicPeriod" startAt="5"/>
            </a:pPr>
            <a:r>
              <a:rPr lang="bg-BG" sz="2800" dirty="0" smtClean="0">
                <a:ea typeface="Times New Roman"/>
              </a:rPr>
              <a:t>Последният </a:t>
            </a:r>
            <a:r>
              <a:rPr lang="bg-BG" sz="2800" dirty="0">
                <a:ea typeface="Times New Roman"/>
              </a:rPr>
              <a:t>намерен запис се нарича "</a:t>
            </a:r>
            <a:r>
              <a:rPr lang="bg-BG" sz="2800" dirty="0">
                <a:solidFill>
                  <a:srgbClr val="C00000"/>
                </a:solidFill>
                <a:ea typeface="Times New Roman"/>
              </a:rPr>
              <a:t>текущ</a:t>
            </a:r>
            <a:r>
              <a:rPr lang="bg-BG" sz="2800" dirty="0">
                <a:ea typeface="Times New Roman"/>
              </a:rPr>
              <a:t>". </a:t>
            </a:r>
            <a:endParaRPr lang="bg-BG" sz="2800" dirty="0" smtClean="0">
              <a:ea typeface="Times New Roman"/>
            </a:endParaRPr>
          </a:p>
          <a:p>
            <a:pPr marL="514350" lvl="0" indent="-514350">
              <a:buFont typeface="+mj-lt"/>
              <a:buAutoNum type="arabicPeriod" startAt="5"/>
            </a:pPr>
            <a:r>
              <a:rPr lang="bg-BG" sz="2800" dirty="0" smtClean="0">
                <a:ea typeface="Times New Roman"/>
              </a:rPr>
              <a:t>Следващите </a:t>
            </a:r>
            <a:r>
              <a:rPr lang="bg-BG" sz="2800" dirty="0">
                <a:ea typeface="Times New Roman"/>
              </a:rPr>
              <a:t>операции към базата започват от последния текущ запис</a:t>
            </a:r>
            <a:r>
              <a:rPr lang="bg-BG" sz="2800" dirty="0" smtClean="0">
                <a:ea typeface="Times New Roman"/>
              </a:rPr>
              <a:t>.</a:t>
            </a:r>
            <a:endParaRPr lang="bg-BG" altLang="bg-BG" sz="2800" dirty="0"/>
          </a:p>
        </p:txBody>
      </p:sp>
      <p:sp>
        <p:nvSpPr>
          <p:cNvPr id="4" name="Date Placeholder 1"/>
          <p:cNvSpPr>
            <a:spLocks noGrp="1"/>
          </p:cNvSpPr>
          <p:nvPr>
            <p:ph type="dt" sz="half" idx="10"/>
          </p:nvPr>
        </p:nvSpPr>
        <p:spPr/>
        <p:txBody>
          <a:bodyPr/>
          <a:lstStyle/>
          <a:p>
            <a:r>
              <a:rPr lang="bg-BG" altLang="bg-BG" smtClean="0"/>
              <a:t>Юлиана Пенева</a:t>
            </a:r>
            <a:endParaRPr lang="bg-BG" altLang="bg-BG"/>
          </a:p>
        </p:txBody>
      </p:sp>
      <p:sp>
        <p:nvSpPr>
          <p:cNvPr id="5" name="Footer Placeholder 2"/>
          <p:cNvSpPr>
            <a:spLocks noGrp="1"/>
          </p:cNvSpPr>
          <p:nvPr>
            <p:ph type="ftr" sz="quarter" idx="11"/>
          </p:nvPr>
        </p:nvSpPr>
        <p:spPr/>
        <p:txBody>
          <a:bodyPr/>
          <a:lstStyle/>
          <a:p>
            <a:r>
              <a:rPr lang="en-US" altLang="bg-BG" smtClean="0"/>
              <a:t>CSCB405 - </a:t>
            </a:r>
            <a:r>
              <a:rPr lang="bg-BG" altLang="bg-BG" smtClean="0"/>
              <a:t>модул 8</a:t>
            </a:r>
            <a:endParaRPr lang="bg-BG" altLang="bg-BG"/>
          </a:p>
        </p:txBody>
      </p:sp>
      <p:sp>
        <p:nvSpPr>
          <p:cNvPr id="6" name="Slide Number Placeholder 3"/>
          <p:cNvSpPr>
            <a:spLocks noGrp="1"/>
          </p:cNvSpPr>
          <p:nvPr>
            <p:ph type="sldNum" sz="quarter" idx="12"/>
          </p:nvPr>
        </p:nvSpPr>
        <p:spPr/>
        <p:txBody>
          <a:bodyPr/>
          <a:lstStyle/>
          <a:p>
            <a:fld id="{057E6B4C-7060-46A6-B297-CBCAACC0502D}" type="slidenum">
              <a:rPr lang="bg-BG" altLang="bg-BG"/>
              <a:pPr/>
              <a:t>18</a:t>
            </a:fld>
            <a:endParaRPr lang="bg-BG" altLang="bg-BG"/>
          </a:p>
        </p:txBody>
      </p:sp>
    </p:spTree>
  </p:cSld>
  <p:clrMapOvr>
    <a:masterClrMapping/>
  </p:clrMapOvr>
  <p:transition>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72" name="Rectangle 8"/>
          <p:cNvSpPr>
            <a:spLocks noGrp="1" noChangeArrowheads="1"/>
          </p:cNvSpPr>
          <p:nvPr>
            <p:ph type="title"/>
          </p:nvPr>
        </p:nvSpPr>
        <p:spPr>
          <a:xfrm>
            <a:off x="467544" y="260648"/>
            <a:ext cx="8243887" cy="580926"/>
          </a:xfrm>
        </p:spPr>
        <p:txBody>
          <a:bodyPr>
            <a:noAutofit/>
          </a:bodyPr>
          <a:lstStyle/>
          <a:p>
            <a:pPr algn="ctr"/>
            <a:r>
              <a:rPr lang="ru-RU" altLang="bg-BG" sz="3200" dirty="0" err="1">
                <a:solidFill>
                  <a:schemeClr val="accent1"/>
                </a:solidFill>
              </a:rPr>
              <a:t>Елементи</a:t>
            </a:r>
            <a:r>
              <a:rPr lang="ru-RU" altLang="bg-BG" sz="3200" dirty="0">
                <a:solidFill>
                  <a:schemeClr val="accent1"/>
                </a:solidFill>
              </a:rPr>
              <a:t> на </a:t>
            </a:r>
            <a:r>
              <a:rPr lang="ru-RU" altLang="bg-BG" sz="3200" dirty="0" err="1">
                <a:solidFill>
                  <a:schemeClr val="accent1"/>
                </a:solidFill>
              </a:rPr>
              <a:t>физическата</a:t>
            </a:r>
            <a:r>
              <a:rPr lang="ru-RU" altLang="bg-BG" sz="3200" dirty="0">
                <a:solidFill>
                  <a:schemeClr val="accent1"/>
                </a:solidFill>
              </a:rPr>
              <a:t> база от </a:t>
            </a:r>
            <a:r>
              <a:rPr lang="ru-RU" altLang="bg-BG" sz="3200" dirty="0" err="1">
                <a:solidFill>
                  <a:schemeClr val="accent1"/>
                </a:solidFill>
              </a:rPr>
              <a:t>данни</a:t>
            </a:r>
            <a:endParaRPr lang="bg-BG" altLang="bg-BG" sz="3200" dirty="0">
              <a:solidFill>
                <a:schemeClr val="accent1"/>
              </a:solidFill>
            </a:endParaRPr>
          </a:p>
        </p:txBody>
      </p:sp>
      <p:sp>
        <p:nvSpPr>
          <p:cNvPr id="190486" name="Rectangle 22"/>
          <p:cNvSpPr>
            <a:spLocks noGrp="1" noChangeArrowheads="1"/>
          </p:cNvSpPr>
          <p:nvPr>
            <p:ph idx="1"/>
          </p:nvPr>
        </p:nvSpPr>
        <p:spPr>
          <a:xfrm>
            <a:off x="467544" y="836712"/>
            <a:ext cx="8229600" cy="4608513"/>
          </a:xfrm>
        </p:spPr>
        <p:txBody>
          <a:bodyPr/>
          <a:lstStyle/>
          <a:p>
            <a:pPr marL="457200" indent="-457200">
              <a:buFont typeface="+mj-lt"/>
              <a:buAutoNum type="arabicPeriod"/>
            </a:pPr>
            <a:r>
              <a:rPr lang="bg-BG" sz="2400" dirty="0"/>
              <a:t>Действителните операции върху файлове зависят от конкретната операционна система. </a:t>
            </a:r>
            <a:endParaRPr lang="bg-BG" sz="2400" dirty="0" smtClean="0"/>
          </a:p>
          <a:p>
            <a:pPr marL="457200" indent="-457200">
              <a:buFont typeface="+mj-lt"/>
              <a:buAutoNum type="arabicPeriod"/>
            </a:pPr>
            <a:r>
              <a:rPr lang="bg-BG" sz="2400" dirty="0" smtClean="0"/>
              <a:t>Видове: </a:t>
            </a:r>
            <a:endParaRPr lang="bg-BG" sz="2400" dirty="0"/>
          </a:p>
          <a:p>
            <a:pPr lvl="1"/>
            <a:r>
              <a:rPr lang="bg-BG" sz="2400" dirty="0" smtClean="0"/>
              <a:t>Операции</a:t>
            </a:r>
            <a:r>
              <a:rPr lang="bg-BG" sz="2400" dirty="0"/>
              <a:t>, работещи с файл като логическа единица:</a:t>
            </a:r>
          </a:p>
          <a:p>
            <a:pPr marL="800100" lvl="2" indent="0">
              <a:buNone/>
              <a:tabLst>
                <a:tab pos="2957513" algn="l"/>
              </a:tabLst>
            </a:pPr>
            <a:r>
              <a:rPr lang="bg-BG" sz="2400" dirty="0" smtClean="0">
                <a:solidFill>
                  <a:srgbClr val="C00000"/>
                </a:solidFill>
              </a:rPr>
              <a:t>open</a:t>
            </a:r>
            <a:r>
              <a:rPr lang="bg-BG" sz="2400" dirty="0">
                <a:solidFill>
                  <a:srgbClr val="C00000"/>
                </a:solidFill>
              </a:rPr>
              <a:t>, close, create, copy, rename, delete, type</a:t>
            </a:r>
          </a:p>
          <a:p>
            <a:pPr lvl="1"/>
            <a:r>
              <a:rPr lang="bg-BG" sz="2400" dirty="0"/>
              <a:t>Операции, работещи със записите в рамките на даден файл:</a:t>
            </a:r>
          </a:p>
          <a:p>
            <a:pPr marL="857250" lvl="2" indent="0">
              <a:buNone/>
            </a:pPr>
            <a:r>
              <a:rPr lang="bg-BG" sz="2400" dirty="0">
                <a:solidFill>
                  <a:srgbClr val="C00000"/>
                </a:solidFill>
              </a:rPr>
              <a:t>read, write, update, insert, delete</a:t>
            </a:r>
          </a:p>
          <a:p>
            <a:pPr marL="457200" indent="-457200">
              <a:buFont typeface="+mj-lt"/>
              <a:buAutoNum type="arabicPeriod" startAt="3"/>
            </a:pPr>
            <a:r>
              <a:rPr lang="bg-BG" sz="2400" dirty="0"/>
              <a:t>Начинът на съхранение и достъпът до записите в базата зависи от </a:t>
            </a:r>
            <a:r>
              <a:rPr lang="bg-BG" sz="2400" dirty="0">
                <a:solidFill>
                  <a:srgbClr val="C00000"/>
                </a:solidFill>
              </a:rPr>
              <a:t>файловата организация</a:t>
            </a:r>
            <a:r>
              <a:rPr lang="bg-BG" sz="2400" dirty="0" smtClean="0">
                <a:solidFill>
                  <a:srgbClr val="C00000"/>
                </a:solidFill>
              </a:rPr>
              <a:t>.</a:t>
            </a:r>
            <a:endParaRPr lang="bg-BG" sz="2400" dirty="0">
              <a:solidFill>
                <a:srgbClr val="C00000"/>
              </a:solidFill>
            </a:endParaRPr>
          </a:p>
        </p:txBody>
      </p:sp>
      <p:sp>
        <p:nvSpPr>
          <p:cNvPr id="4" name="Date Placeholder 3"/>
          <p:cNvSpPr>
            <a:spLocks noGrp="1"/>
          </p:cNvSpPr>
          <p:nvPr>
            <p:ph type="dt" sz="half" idx="10"/>
          </p:nvPr>
        </p:nvSpPr>
        <p:spPr/>
        <p:txBody>
          <a:bodyPr/>
          <a:lstStyle/>
          <a:p>
            <a:r>
              <a:rPr lang="bg-BG" altLang="bg-BG" smtClean="0"/>
              <a:t>Юлиана Пенева</a:t>
            </a:r>
            <a:endParaRPr lang="bg-BG" altLang="bg-BG"/>
          </a:p>
        </p:txBody>
      </p:sp>
      <p:sp>
        <p:nvSpPr>
          <p:cNvPr id="5" name="Footer Placeholder 4"/>
          <p:cNvSpPr>
            <a:spLocks noGrp="1"/>
          </p:cNvSpPr>
          <p:nvPr>
            <p:ph type="ftr" sz="quarter" idx="11"/>
          </p:nvPr>
        </p:nvSpPr>
        <p:spPr/>
        <p:txBody>
          <a:bodyPr/>
          <a:lstStyle/>
          <a:p>
            <a:r>
              <a:rPr lang="en-US" altLang="bg-BG" smtClean="0"/>
              <a:t>CSCB405 - </a:t>
            </a:r>
            <a:r>
              <a:rPr lang="bg-BG" altLang="bg-BG" smtClean="0"/>
              <a:t>модул 8</a:t>
            </a:r>
            <a:endParaRPr lang="bg-BG" altLang="bg-BG"/>
          </a:p>
        </p:txBody>
      </p:sp>
      <p:sp>
        <p:nvSpPr>
          <p:cNvPr id="6" name="Slide Number Placeholder 5"/>
          <p:cNvSpPr>
            <a:spLocks noGrp="1"/>
          </p:cNvSpPr>
          <p:nvPr>
            <p:ph type="sldNum" sz="quarter" idx="12"/>
          </p:nvPr>
        </p:nvSpPr>
        <p:spPr/>
        <p:txBody>
          <a:bodyPr/>
          <a:lstStyle/>
          <a:p>
            <a:fld id="{33171ED8-7E3B-4B52-9F4F-AB4FA1F1402B}" type="slidenum">
              <a:rPr lang="bg-BG" altLang="bg-BG"/>
              <a:pPr/>
              <a:t>19</a:t>
            </a:fld>
            <a:endParaRPr lang="bg-BG" altLang="bg-BG"/>
          </a:p>
        </p:txBody>
      </p:sp>
    </p:spTree>
  </p:cSld>
  <p:clrMapOvr>
    <a:masterClrMapping/>
  </p:clrMapOvr>
  <p:transition>
    <p:fad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72" name="Rectangle 8"/>
          <p:cNvSpPr>
            <a:spLocks noGrp="1" noChangeArrowheads="1"/>
          </p:cNvSpPr>
          <p:nvPr>
            <p:ph type="title"/>
          </p:nvPr>
        </p:nvSpPr>
        <p:spPr>
          <a:xfrm>
            <a:off x="467544" y="260648"/>
            <a:ext cx="8243887" cy="580926"/>
          </a:xfrm>
        </p:spPr>
        <p:txBody>
          <a:bodyPr>
            <a:noAutofit/>
          </a:bodyPr>
          <a:lstStyle/>
          <a:p>
            <a:pPr algn="ctr"/>
            <a:r>
              <a:rPr lang="bg-BG" altLang="bg-BG" sz="3200" dirty="0" smtClean="0">
                <a:solidFill>
                  <a:schemeClr val="accent1"/>
                </a:solidFill>
              </a:rPr>
              <a:t>Елементи на физическата база от данни</a:t>
            </a:r>
            <a:endParaRPr lang="bg-BG" altLang="bg-BG" sz="3200" dirty="0">
              <a:solidFill>
                <a:schemeClr val="accent1"/>
              </a:solidFill>
            </a:endParaRPr>
          </a:p>
        </p:txBody>
      </p:sp>
      <p:sp>
        <p:nvSpPr>
          <p:cNvPr id="190486" name="Rectangle 22"/>
          <p:cNvSpPr>
            <a:spLocks noGrp="1" noChangeArrowheads="1"/>
          </p:cNvSpPr>
          <p:nvPr>
            <p:ph idx="1"/>
          </p:nvPr>
        </p:nvSpPr>
        <p:spPr>
          <a:xfrm>
            <a:off x="467544" y="758671"/>
            <a:ext cx="8229600" cy="5372064"/>
          </a:xfrm>
        </p:spPr>
        <p:txBody>
          <a:bodyPr>
            <a:normAutofit fontScale="85000" lnSpcReduction="20000"/>
          </a:bodyPr>
          <a:lstStyle/>
          <a:p>
            <a:pPr marL="0" indent="0" algn="ctr">
              <a:buNone/>
            </a:pPr>
            <a:r>
              <a:rPr lang="bg-BG" sz="2800" dirty="0" smtClean="0">
                <a:solidFill>
                  <a:srgbClr val="C00000"/>
                </a:solidFill>
              </a:rPr>
              <a:t>Команди</a:t>
            </a:r>
            <a:r>
              <a:rPr lang="en-US" sz="2800" dirty="0" smtClean="0">
                <a:solidFill>
                  <a:srgbClr val="C00000"/>
                </a:solidFill>
              </a:rPr>
              <a:t> </a:t>
            </a:r>
            <a:r>
              <a:rPr lang="bg-BG" sz="2800" dirty="0" smtClean="0">
                <a:solidFill>
                  <a:srgbClr val="C00000"/>
                </a:solidFill>
              </a:rPr>
              <a:t>на</a:t>
            </a:r>
            <a:r>
              <a:rPr lang="en-US" sz="2800" dirty="0" smtClean="0">
                <a:solidFill>
                  <a:srgbClr val="C00000"/>
                </a:solidFill>
              </a:rPr>
              <a:t> </a:t>
            </a:r>
            <a:r>
              <a:rPr lang="bg-BG" sz="2800" dirty="0" smtClean="0">
                <a:solidFill>
                  <a:srgbClr val="C00000"/>
                </a:solidFill>
              </a:rPr>
              <a:t>СУБД за достъп до записите в базата </a:t>
            </a:r>
          </a:p>
          <a:p>
            <a:pPr marL="457200" indent="-457200">
              <a:buFont typeface="+mj-lt"/>
              <a:buAutoNum type="arabicPeriod"/>
            </a:pPr>
            <a:r>
              <a:rPr lang="bg-BG" dirty="0" err="1" smtClean="0">
                <a:solidFill>
                  <a:srgbClr val="C00000"/>
                </a:solidFill>
              </a:rPr>
              <a:t>Open</a:t>
            </a:r>
            <a:r>
              <a:rPr lang="bg-BG" dirty="0" smtClean="0"/>
              <a:t> – подготвя файла за четене или запис; запазва поне два буфера за прехвърляне на негови блокове; намира челния блок на файла и установява неговия указател към началото му.</a:t>
            </a:r>
          </a:p>
          <a:p>
            <a:pPr marL="457200" indent="-457200">
              <a:buFont typeface="+mj-lt"/>
              <a:buAutoNum type="arabicPeriod"/>
            </a:pPr>
            <a:r>
              <a:rPr lang="bg-BG" dirty="0" err="1" smtClean="0">
                <a:solidFill>
                  <a:srgbClr val="C00000"/>
                </a:solidFill>
              </a:rPr>
              <a:t>Reset</a:t>
            </a:r>
            <a:r>
              <a:rPr lang="bg-BG" dirty="0" smtClean="0"/>
              <a:t> – установява указателя на отворен файл към началото му.</a:t>
            </a:r>
          </a:p>
          <a:p>
            <a:pPr marL="457200" indent="-457200">
              <a:buFont typeface="+mj-lt"/>
              <a:buAutoNum type="arabicPeriod"/>
            </a:pPr>
            <a:r>
              <a:rPr lang="bg-BG" dirty="0" err="1" smtClean="0">
                <a:solidFill>
                  <a:srgbClr val="C00000"/>
                </a:solidFill>
              </a:rPr>
              <a:t>Find</a:t>
            </a:r>
            <a:r>
              <a:rPr lang="bg-BG" dirty="0" smtClean="0"/>
              <a:t> (или </a:t>
            </a:r>
            <a:r>
              <a:rPr lang="bg-BG" dirty="0" err="1" smtClean="0"/>
              <a:t>Locate</a:t>
            </a:r>
            <a:r>
              <a:rPr lang="bg-BG" dirty="0" smtClean="0"/>
              <a:t>) – намира първия запис във файла, който удовлетворява условието за търсене; прехвърля при необходимост съответния блок в буфер от главната памет и го прави </a:t>
            </a:r>
            <a:r>
              <a:rPr lang="bg-BG" dirty="0" smtClean="0">
                <a:solidFill>
                  <a:srgbClr val="C00000"/>
                </a:solidFill>
              </a:rPr>
              <a:t>текущ</a:t>
            </a:r>
            <a:r>
              <a:rPr lang="bg-BG" dirty="0" smtClean="0"/>
              <a:t> запис.</a:t>
            </a:r>
          </a:p>
          <a:p>
            <a:pPr marL="457200" indent="-457200">
              <a:buFont typeface="+mj-lt"/>
              <a:buAutoNum type="arabicPeriod"/>
            </a:pPr>
            <a:r>
              <a:rPr lang="bg-BG" dirty="0" err="1" smtClean="0">
                <a:solidFill>
                  <a:srgbClr val="C00000"/>
                </a:solidFill>
              </a:rPr>
              <a:t>Read</a:t>
            </a:r>
            <a:r>
              <a:rPr lang="bg-BG" dirty="0" smtClean="0"/>
              <a:t> (или </a:t>
            </a:r>
            <a:r>
              <a:rPr lang="bg-BG" dirty="0" err="1" smtClean="0"/>
              <a:t>Get</a:t>
            </a:r>
            <a:r>
              <a:rPr lang="bg-BG" dirty="0" smtClean="0"/>
              <a:t>) – копира текущия запис от буфера в програмни променливи.</a:t>
            </a:r>
          </a:p>
          <a:p>
            <a:pPr marL="457200" indent="-457200">
              <a:buFont typeface="+mj-lt"/>
              <a:buAutoNum type="arabicPeriod"/>
            </a:pPr>
            <a:r>
              <a:rPr lang="bg-BG" dirty="0" err="1" smtClean="0">
                <a:solidFill>
                  <a:srgbClr val="C00000"/>
                </a:solidFill>
              </a:rPr>
              <a:t>FindNext</a:t>
            </a:r>
            <a:r>
              <a:rPr lang="bg-BG" dirty="0" smtClean="0"/>
              <a:t> – намира следващия запис във файла, който удовлетворява условието за търсене; прехвърля при необходимост съответния блок в буфер от главната памет и го прави текущ запис.</a:t>
            </a:r>
          </a:p>
          <a:p>
            <a:pPr marL="457200" indent="-457200">
              <a:buFont typeface="+mj-lt"/>
              <a:buAutoNum type="arabicPeriod"/>
            </a:pPr>
            <a:r>
              <a:rPr lang="bg-BG" dirty="0" err="1" smtClean="0">
                <a:solidFill>
                  <a:srgbClr val="C00000"/>
                </a:solidFill>
              </a:rPr>
              <a:t>Delete</a:t>
            </a:r>
            <a:r>
              <a:rPr lang="bg-BG" dirty="0" smtClean="0"/>
              <a:t> – изтрива текущия запис.</a:t>
            </a:r>
          </a:p>
          <a:p>
            <a:pPr marL="457200" indent="-457200">
              <a:buFont typeface="+mj-lt"/>
              <a:buAutoNum type="arabicPeriod"/>
            </a:pPr>
            <a:r>
              <a:rPr lang="bg-BG" dirty="0" err="1" smtClean="0">
                <a:solidFill>
                  <a:srgbClr val="C00000"/>
                </a:solidFill>
              </a:rPr>
              <a:t>Modify</a:t>
            </a:r>
            <a:r>
              <a:rPr lang="bg-BG" dirty="0" smtClean="0"/>
              <a:t> – актуализира съдържанието на някои от полетата в записа.</a:t>
            </a:r>
          </a:p>
          <a:p>
            <a:pPr marL="457200" indent="-457200">
              <a:buFont typeface="+mj-lt"/>
              <a:buAutoNum type="arabicPeriod"/>
            </a:pPr>
            <a:r>
              <a:rPr lang="bg-BG" dirty="0" err="1" smtClean="0">
                <a:solidFill>
                  <a:srgbClr val="C00000"/>
                </a:solidFill>
              </a:rPr>
              <a:t>Insert</a:t>
            </a:r>
            <a:r>
              <a:rPr lang="bg-BG" dirty="0" smtClean="0"/>
              <a:t> – вмъква нов запис във файла.</a:t>
            </a:r>
          </a:p>
          <a:p>
            <a:pPr marL="457200" indent="-457200">
              <a:buFont typeface="+mj-lt"/>
              <a:buAutoNum type="arabicPeriod"/>
            </a:pPr>
            <a:r>
              <a:rPr lang="bg-BG" dirty="0" err="1" smtClean="0">
                <a:solidFill>
                  <a:srgbClr val="C00000"/>
                </a:solidFill>
              </a:rPr>
              <a:t>Close</a:t>
            </a:r>
            <a:r>
              <a:rPr lang="bg-BG" dirty="0" smtClean="0"/>
              <a:t> – прекратява достъпа до файла чрез освобождаване на буферите и извършване на необходимите почистващи операции.</a:t>
            </a:r>
            <a:endParaRPr lang="bg-BG" dirty="0"/>
          </a:p>
        </p:txBody>
      </p:sp>
      <p:sp>
        <p:nvSpPr>
          <p:cNvPr id="4" name="Date Placeholder 3"/>
          <p:cNvSpPr>
            <a:spLocks noGrp="1"/>
          </p:cNvSpPr>
          <p:nvPr>
            <p:ph type="dt" sz="half" idx="10"/>
          </p:nvPr>
        </p:nvSpPr>
        <p:spPr/>
        <p:txBody>
          <a:bodyPr/>
          <a:lstStyle/>
          <a:p>
            <a:r>
              <a:rPr lang="bg-BG" altLang="bg-BG" smtClean="0"/>
              <a:t>Юлиана Пенева</a:t>
            </a:r>
            <a:endParaRPr lang="bg-BG" altLang="bg-BG"/>
          </a:p>
        </p:txBody>
      </p:sp>
      <p:sp>
        <p:nvSpPr>
          <p:cNvPr id="5" name="Footer Placeholder 4"/>
          <p:cNvSpPr>
            <a:spLocks noGrp="1"/>
          </p:cNvSpPr>
          <p:nvPr>
            <p:ph type="ftr" sz="quarter" idx="11"/>
          </p:nvPr>
        </p:nvSpPr>
        <p:spPr/>
        <p:txBody>
          <a:bodyPr/>
          <a:lstStyle/>
          <a:p>
            <a:r>
              <a:rPr lang="en-US" altLang="bg-BG" smtClean="0"/>
              <a:t>CSCB405 - </a:t>
            </a:r>
            <a:r>
              <a:rPr lang="bg-BG" altLang="bg-BG" smtClean="0"/>
              <a:t>модул 8</a:t>
            </a:r>
            <a:endParaRPr lang="bg-BG" altLang="bg-BG"/>
          </a:p>
        </p:txBody>
      </p:sp>
      <p:sp>
        <p:nvSpPr>
          <p:cNvPr id="6" name="Slide Number Placeholder 5"/>
          <p:cNvSpPr>
            <a:spLocks noGrp="1"/>
          </p:cNvSpPr>
          <p:nvPr>
            <p:ph type="sldNum" sz="quarter" idx="12"/>
          </p:nvPr>
        </p:nvSpPr>
        <p:spPr/>
        <p:txBody>
          <a:bodyPr/>
          <a:lstStyle/>
          <a:p>
            <a:fld id="{33171ED8-7E3B-4B52-9F4F-AB4FA1F1402B}" type="slidenum">
              <a:rPr lang="bg-BG" altLang="bg-BG"/>
              <a:pPr/>
              <a:t>20</a:t>
            </a:fld>
            <a:endParaRPr lang="bg-BG" altLang="bg-BG"/>
          </a:p>
        </p:txBody>
      </p:sp>
    </p:spTree>
    <p:extLst>
      <p:ext uri="{BB962C8B-B14F-4D97-AF65-F5344CB8AC3E}">
        <p14:creationId xmlns:p14="http://schemas.microsoft.com/office/powerpoint/2010/main" val="543531382"/>
      </p:ext>
    </p:extLst>
  </p:cSld>
  <p:clrMapOvr>
    <a:masterClrMapping/>
  </p:clrMapOvr>
  <p:transition>
    <p:fad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6" name="Rectangle 4"/>
          <p:cNvSpPr>
            <a:spLocks noGrp="1" noChangeArrowheads="1"/>
          </p:cNvSpPr>
          <p:nvPr>
            <p:ph type="title"/>
          </p:nvPr>
        </p:nvSpPr>
        <p:spPr>
          <a:xfrm>
            <a:off x="683568" y="332656"/>
            <a:ext cx="8243887" cy="652934"/>
          </a:xfrm>
        </p:spPr>
        <p:txBody>
          <a:bodyPr>
            <a:noAutofit/>
          </a:bodyPr>
          <a:lstStyle/>
          <a:p>
            <a:pPr algn="ctr"/>
            <a:r>
              <a:rPr lang="bg-BG" altLang="bg-BG" sz="3200" dirty="0" smtClean="0">
                <a:solidFill>
                  <a:schemeClr val="accent1"/>
                </a:solidFill>
              </a:rPr>
              <a:t>Видове файлови организации</a:t>
            </a:r>
            <a:endParaRPr lang="bg-BG" altLang="bg-BG" sz="3200" dirty="0">
              <a:solidFill>
                <a:schemeClr val="accent1"/>
              </a:solidFill>
            </a:endParaRPr>
          </a:p>
        </p:txBody>
      </p:sp>
      <p:sp>
        <p:nvSpPr>
          <p:cNvPr id="136197" name="Rectangle 5"/>
          <p:cNvSpPr>
            <a:spLocks noGrp="1" noChangeArrowheads="1"/>
          </p:cNvSpPr>
          <p:nvPr>
            <p:ph idx="1"/>
          </p:nvPr>
        </p:nvSpPr>
        <p:spPr>
          <a:xfrm>
            <a:off x="539552" y="985590"/>
            <a:ext cx="8229600" cy="4891681"/>
          </a:xfrm>
        </p:spPr>
        <p:txBody>
          <a:bodyPr>
            <a:normAutofit/>
          </a:bodyPr>
          <a:lstStyle/>
          <a:p>
            <a:pPr marL="857250" indent="-514350" algn="just">
              <a:spcAft>
                <a:spcPts val="0"/>
              </a:spcAft>
              <a:buFont typeface="+mj-lt"/>
              <a:buAutoNum type="arabicPeriod"/>
            </a:pPr>
            <a:r>
              <a:rPr lang="bg-BG" dirty="0">
                <a:ea typeface="Times New Roman"/>
              </a:rPr>
              <a:t>Файлова организация </a:t>
            </a:r>
            <a:r>
              <a:rPr lang="bg-BG" dirty="0" smtClean="0">
                <a:ea typeface="Times New Roman"/>
              </a:rPr>
              <a:t>= физическата </a:t>
            </a:r>
            <a:r>
              <a:rPr lang="bg-BG" dirty="0">
                <a:ea typeface="Times New Roman"/>
              </a:rPr>
              <a:t>организация на данните от файла в записи, блокове и структури за достъп. </a:t>
            </a:r>
            <a:r>
              <a:rPr lang="bg-BG" dirty="0" smtClean="0">
                <a:ea typeface="Times New Roman"/>
              </a:rPr>
              <a:t>Тя </a:t>
            </a:r>
            <a:r>
              <a:rPr lang="bg-BG" dirty="0">
                <a:ea typeface="Times New Roman"/>
              </a:rPr>
              <a:t>включва начина, по който записите са разпределени върху даден носител и са свързани помежду си. </a:t>
            </a:r>
            <a:endParaRPr lang="bg-BG" dirty="0">
              <a:latin typeface="Times New Roman"/>
              <a:ea typeface="Times New Roman"/>
            </a:endParaRPr>
          </a:p>
          <a:p>
            <a:pPr marL="857250" indent="-514350" algn="just">
              <a:spcAft>
                <a:spcPts val="0"/>
              </a:spcAft>
              <a:buFont typeface="+mj-lt"/>
              <a:buAutoNum type="arabicPeriod"/>
            </a:pPr>
            <a:r>
              <a:rPr lang="bg-BG" dirty="0">
                <a:ea typeface="Times New Roman"/>
              </a:rPr>
              <a:t>Съществуват три основни типа файлови организации:</a:t>
            </a:r>
            <a:endParaRPr lang="bg-BG" dirty="0">
              <a:latin typeface="Times New Roman"/>
              <a:ea typeface="Times New Roman"/>
            </a:endParaRPr>
          </a:p>
          <a:p>
            <a:pPr lvl="4" algn="just" defTabSz="949325">
              <a:tabLst>
                <a:tab pos="996950" algn="l"/>
                <a:tab pos="2600325" algn="l"/>
              </a:tabLst>
            </a:pPr>
            <a:r>
              <a:rPr lang="bg-BG" sz="2400" dirty="0">
                <a:ea typeface="Times New Roman"/>
              </a:rPr>
              <a:t>Неструктуриран файл </a:t>
            </a:r>
            <a:r>
              <a:rPr lang="en-US" sz="2400" dirty="0">
                <a:ea typeface="Times New Roman"/>
              </a:rPr>
              <a:t>(heap, sequential</a:t>
            </a:r>
            <a:r>
              <a:rPr lang="en-US" sz="2400" dirty="0" smtClean="0">
                <a:ea typeface="Times New Roman"/>
              </a:rPr>
              <a:t>);</a:t>
            </a:r>
            <a:endParaRPr lang="bg-BG" sz="2400" dirty="0">
              <a:ea typeface="Times New Roman"/>
            </a:endParaRPr>
          </a:p>
          <a:p>
            <a:pPr lvl="4" algn="just" defTabSz="949325">
              <a:tabLst>
                <a:tab pos="996950" algn="l"/>
                <a:tab pos="2600325" algn="l"/>
              </a:tabLst>
            </a:pPr>
            <a:r>
              <a:rPr lang="bg-BG" sz="2400" dirty="0">
                <a:ea typeface="Times New Roman"/>
              </a:rPr>
              <a:t>Подреден файл </a:t>
            </a:r>
            <a:r>
              <a:rPr lang="en-US" sz="2400" dirty="0">
                <a:ea typeface="Times New Roman"/>
              </a:rPr>
              <a:t>(ordered</a:t>
            </a:r>
            <a:r>
              <a:rPr lang="en-US" sz="2400" dirty="0" smtClean="0">
                <a:ea typeface="Times New Roman"/>
              </a:rPr>
              <a:t>);</a:t>
            </a:r>
            <a:endParaRPr lang="bg-BG" sz="2400" dirty="0">
              <a:ea typeface="Times New Roman"/>
            </a:endParaRPr>
          </a:p>
          <a:p>
            <a:pPr lvl="4" algn="just" defTabSz="949325">
              <a:tabLst>
                <a:tab pos="996950" algn="l"/>
                <a:tab pos="2600325" algn="l"/>
              </a:tabLst>
            </a:pPr>
            <a:r>
              <a:rPr lang="bg-BG" sz="2400" dirty="0">
                <a:ea typeface="Times New Roman"/>
              </a:rPr>
              <a:t>Директен файл </a:t>
            </a:r>
            <a:r>
              <a:rPr lang="en-US" sz="2400" dirty="0">
                <a:ea typeface="Times New Roman"/>
              </a:rPr>
              <a:t>(hash</a:t>
            </a:r>
            <a:r>
              <a:rPr lang="en-US" sz="2400" dirty="0" smtClean="0">
                <a:ea typeface="Times New Roman"/>
              </a:rPr>
              <a:t>).</a:t>
            </a:r>
            <a:endParaRPr lang="bg-BG" sz="2400" dirty="0">
              <a:ea typeface="Times New Roman"/>
            </a:endParaRPr>
          </a:p>
          <a:p>
            <a:pPr marL="857250" indent="-514350" algn="just">
              <a:spcAft>
                <a:spcPts val="0"/>
              </a:spcAft>
              <a:buFont typeface="+mj-lt"/>
              <a:buAutoNum type="arabicPeriod"/>
            </a:pPr>
            <a:r>
              <a:rPr lang="bg-BG" dirty="0">
                <a:ea typeface="Times New Roman"/>
              </a:rPr>
              <a:t>С всяка файлова организация се свързват определени методи за достъп</a:t>
            </a:r>
            <a:r>
              <a:rPr lang="bg-BG" dirty="0" smtClean="0">
                <a:ea typeface="Times New Roman"/>
              </a:rPr>
              <a:t>.</a:t>
            </a:r>
            <a:endParaRPr lang="bg-BG" sz="1600" dirty="0">
              <a:latin typeface="Times New Roman"/>
              <a:ea typeface="Times New Roman"/>
            </a:endParaRPr>
          </a:p>
        </p:txBody>
      </p:sp>
      <p:sp>
        <p:nvSpPr>
          <p:cNvPr id="4" name="Date Placeholder 3"/>
          <p:cNvSpPr>
            <a:spLocks noGrp="1"/>
          </p:cNvSpPr>
          <p:nvPr>
            <p:ph type="dt" sz="half" idx="10"/>
          </p:nvPr>
        </p:nvSpPr>
        <p:spPr/>
        <p:txBody>
          <a:bodyPr/>
          <a:lstStyle/>
          <a:p>
            <a:r>
              <a:rPr lang="bg-BG" altLang="bg-BG" smtClean="0"/>
              <a:t>Юлиана Пенева</a:t>
            </a:r>
            <a:endParaRPr lang="bg-BG" altLang="bg-BG"/>
          </a:p>
        </p:txBody>
      </p:sp>
      <p:sp>
        <p:nvSpPr>
          <p:cNvPr id="5" name="Footer Placeholder 4"/>
          <p:cNvSpPr>
            <a:spLocks noGrp="1"/>
          </p:cNvSpPr>
          <p:nvPr>
            <p:ph type="ftr" sz="quarter" idx="11"/>
          </p:nvPr>
        </p:nvSpPr>
        <p:spPr/>
        <p:txBody>
          <a:bodyPr/>
          <a:lstStyle/>
          <a:p>
            <a:r>
              <a:rPr lang="en-US" altLang="bg-BG" smtClean="0"/>
              <a:t>CSCB405 - </a:t>
            </a:r>
            <a:r>
              <a:rPr lang="bg-BG" altLang="bg-BG" smtClean="0"/>
              <a:t>модул 8</a:t>
            </a:r>
            <a:endParaRPr lang="bg-BG" altLang="bg-BG"/>
          </a:p>
        </p:txBody>
      </p:sp>
      <p:sp>
        <p:nvSpPr>
          <p:cNvPr id="6" name="Slide Number Placeholder 5"/>
          <p:cNvSpPr>
            <a:spLocks noGrp="1"/>
          </p:cNvSpPr>
          <p:nvPr>
            <p:ph type="sldNum" sz="quarter" idx="12"/>
          </p:nvPr>
        </p:nvSpPr>
        <p:spPr/>
        <p:txBody>
          <a:bodyPr/>
          <a:lstStyle/>
          <a:p>
            <a:fld id="{83B3257A-3680-489F-9501-F4842319FADF}" type="slidenum">
              <a:rPr lang="bg-BG" altLang="bg-BG"/>
              <a:pPr/>
              <a:t>21</a:t>
            </a:fld>
            <a:endParaRPr lang="bg-BG" altLang="bg-BG"/>
          </a:p>
        </p:txBody>
      </p:sp>
    </p:spTree>
  </p:cSld>
  <p:clrMapOvr>
    <a:masterClrMapping/>
  </p:clrMapOvr>
  <p:transition>
    <p:fad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ChangeArrowheads="1"/>
          </p:cNvSpPr>
          <p:nvPr>
            <p:ph type="title"/>
          </p:nvPr>
        </p:nvSpPr>
        <p:spPr>
          <a:xfrm>
            <a:off x="539552" y="297105"/>
            <a:ext cx="8243887" cy="576064"/>
          </a:xfrm>
        </p:spPr>
        <p:txBody>
          <a:bodyPr>
            <a:noAutofit/>
          </a:bodyPr>
          <a:lstStyle/>
          <a:p>
            <a:pPr algn="ctr"/>
            <a:r>
              <a:rPr lang="bg-BG" altLang="bg-BG" sz="3200" dirty="0">
                <a:solidFill>
                  <a:schemeClr val="accent1"/>
                </a:solidFill>
              </a:rPr>
              <a:t>Видове файлови организации</a:t>
            </a:r>
          </a:p>
        </p:txBody>
      </p:sp>
      <p:sp>
        <p:nvSpPr>
          <p:cNvPr id="138243" name="Rectangle 3"/>
          <p:cNvSpPr>
            <a:spLocks noGrp="1" noChangeArrowheads="1"/>
          </p:cNvSpPr>
          <p:nvPr>
            <p:ph idx="1"/>
          </p:nvPr>
        </p:nvSpPr>
        <p:spPr>
          <a:xfrm>
            <a:off x="457200" y="741220"/>
            <a:ext cx="8229600" cy="4930775"/>
          </a:xfrm>
        </p:spPr>
        <p:txBody>
          <a:bodyPr>
            <a:normAutofit lnSpcReduction="10000"/>
          </a:bodyPr>
          <a:lstStyle/>
          <a:p>
            <a:pPr marL="609600" indent="-609600">
              <a:lnSpc>
                <a:spcPct val="80000"/>
              </a:lnSpc>
              <a:buFont typeface="+mj-lt"/>
              <a:buAutoNum type="arabicPeriod"/>
            </a:pPr>
            <a:r>
              <a:rPr lang="bg-BG" sz="2400" dirty="0" smtClean="0">
                <a:ea typeface="Times New Roman"/>
              </a:rPr>
              <a:t>Метод </a:t>
            </a:r>
            <a:r>
              <a:rPr lang="bg-BG" sz="2400" dirty="0">
                <a:ea typeface="Times New Roman"/>
              </a:rPr>
              <a:t>за достъп </a:t>
            </a:r>
            <a:r>
              <a:rPr lang="bg-BG" sz="2400" dirty="0" smtClean="0">
                <a:ea typeface="Times New Roman"/>
              </a:rPr>
              <a:t>= </a:t>
            </a:r>
            <a:r>
              <a:rPr lang="bg-BG" sz="2400" dirty="0" smtClean="0">
                <a:solidFill>
                  <a:srgbClr val="FF0000"/>
                </a:solidFill>
                <a:ea typeface="Times New Roman"/>
              </a:rPr>
              <a:t>множество </a:t>
            </a:r>
            <a:r>
              <a:rPr lang="bg-BG" sz="2400" dirty="0">
                <a:solidFill>
                  <a:srgbClr val="FF0000"/>
                </a:solidFill>
                <a:ea typeface="Times New Roman"/>
              </a:rPr>
              <a:t>от програми</a:t>
            </a:r>
            <a:r>
              <a:rPr lang="bg-BG" sz="2400" dirty="0">
                <a:ea typeface="Times New Roman"/>
              </a:rPr>
              <a:t>, които позволяват </a:t>
            </a:r>
            <a:r>
              <a:rPr lang="bg-BG" sz="2400" dirty="0" smtClean="0">
                <a:ea typeface="Times New Roman"/>
              </a:rPr>
              <a:t>прилагането на операции </a:t>
            </a:r>
            <a:r>
              <a:rPr lang="en-US" sz="2400" dirty="0" smtClean="0">
                <a:ea typeface="Times New Roman"/>
              </a:rPr>
              <a:t>(read, write, open, close,….) </a:t>
            </a:r>
            <a:r>
              <a:rPr lang="bg-BG" sz="2400" dirty="0" smtClean="0">
                <a:ea typeface="Times New Roman"/>
              </a:rPr>
              <a:t>към </a:t>
            </a:r>
            <a:r>
              <a:rPr lang="bg-BG" sz="2400" dirty="0">
                <a:ea typeface="Times New Roman"/>
              </a:rPr>
              <a:t>даден файл</a:t>
            </a:r>
            <a:r>
              <a:rPr lang="bg-BG" sz="2400" dirty="0" smtClean="0">
                <a:ea typeface="Times New Roman"/>
              </a:rPr>
              <a:t>.</a:t>
            </a:r>
          </a:p>
          <a:p>
            <a:pPr marL="609600" indent="-609600">
              <a:lnSpc>
                <a:spcPct val="80000"/>
              </a:lnSpc>
              <a:buFont typeface="+mj-lt"/>
              <a:buAutoNum type="arabicPeriod"/>
            </a:pPr>
            <a:r>
              <a:rPr lang="bg-BG" sz="2400" dirty="0" smtClean="0">
                <a:ea typeface="Times New Roman"/>
              </a:rPr>
              <a:t>Методът </a:t>
            </a:r>
            <a:r>
              <a:rPr lang="bg-BG" sz="2400" dirty="0">
                <a:ea typeface="Times New Roman"/>
              </a:rPr>
              <a:t>за достъп се състои </a:t>
            </a:r>
            <a:r>
              <a:rPr lang="bg-BG" sz="2400" dirty="0" smtClean="0">
                <a:ea typeface="Times New Roman"/>
              </a:rPr>
              <a:t>от: </a:t>
            </a:r>
          </a:p>
          <a:p>
            <a:pPr lvl="1">
              <a:lnSpc>
                <a:spcPct val="80000"/>
              </a:lnSpc>
              <a:tabLst>
                <a:tab pos="2695575" algn="l"/>
              </a:tabLst>
            </a:pPr>
            <a:r>
              <a:rPr lang="bg-BG" sz="2400" dirty="0" smtClean="0">
                <a:ea typeface="Times New Roman"/>
              </a:rPr>
              <a:t>структура </a:t>
            </a:r>
            <a:r>
              <a:rPr lang="bg-BG" sz="2400" dirty="0">
                <a:ea typeface="Times New Roman"/>
              </a:rPr>
              <a:t>от данни </a:t>
            </a:r>
            <a:r>
              <a:rPr lang="en-US" sz="2400" dirty="0" smtClean="0">
                <a:ea typeface="Times New Roman"/>
              </a:rPr>
              <a:t>- </a:t>
            </a:r>
            <a:r>
              <a:rPr lang="bg-BG" sz="2400" dirty="0" smtClean="0">
                <a:ea typeface="Times New Roman"/>
              </a:rPr>
              <a:t>определя </a:t>
            </a:r>
            <a:r>
              <a:rPr lang="bg-BG" sz="2400" dirty="0">
                <a:ea typeface="Times New Roman"/>
              </a:rPr>
              <a:t>начина на съхранение на блоковете с данни и свързаните с тях допълнителни структури за достъп в </a:t>
            </a:r>
            <a:r>
              <a:rPr lang="bg-BG" sz="2400" dirty="0" smtClean="0">
                <a:ea typeface="Times New Roman"/>
              </a:rPr>
              <a:t>паметта</a:t>
            </a:r>
            <a:r>
              <a:rPr lang="en-US" sz="2400" dirty="0" smtClean="0">
                <a:ea typeface="Times New Roman"/>
              </a:rPr>
              <a:t>;</a:t>
            </a:r>
            <a:endParaRPr lang="bg-BG" sz="2400" dirty="0" smtClean="0">
              <a:ea typeface="Times New Roman"/>
            </a:endParaRPr>
          </a:p>
          <a:p>
            <a:pPr lvl="1">
              <a:lnSpc>
                <a:spcPct val="80000"/>
              </a:lnSpc>
              <a:tabLst>
                <a:tab pos="2695575" algn="l"/>
              </a:tabLst>
            </a:pPr>
            <a:r>
              <a:rPr lang="bg-BG" sz="2400" dirty="0" smtClean="0">
                <a:ea typeface="Times New Roman"/>
              </a:rPr>
              <a:t>механизъм </a:t>
            </a:r>
            <a:r>
              <a:rPr lang="bg-BG" sz="2400" dirty="0">
                <a:ea typeface="Times New Roman"/>
              </a:rPr>
              <a:t>за </a:t>
            </a:r>
            <a:r>
              <a:rPr lang="bg-BG" sz="2400" dirty="0" smtClean="0">
                <a:ea typeface="Times New Roman"/>
              </a:rPr>
              <a:t>търсене - определя </a:t>
            </a:r>
            <a:r>
              <a:rPr lang="bg-BG" sz="2400" dirty="0">
                <a:ea typeface="Times New Roman"/>
              </a:rPr>
              <a:t>пътя за достъп, т.е. начина за достигане до записите с нужната </a:t>
            </a:r>
            <a:r>
              <a:rPr lang="bg-BG" sz="2400" dirty="0" smtClean="0">
                <a:ea typeface="Times New Roman"/>
              </a:rPr>
              <a:t>информация, </a:t>
            </a:r>
            <a:r>
              <a:rPr lang="bg-BG" sz="2400" dirty="0" smtClean="0">
                <a:ea typeface="Times New Roman"/>
              </a:rPr>
              <a:t>напр. последователно </a:t>
            </a:r>
            <a:r>
              <a:rPr lang="bg-BG" sz="2400" dirty="0">
                <a:ea typeface="Times New Roman"/>
              </a:rPr>
              <a:t>търсене, двоично търсене, директно търсене</a:t>
            </a:r>
            <a:r>
              <a:rPr lang="bg-BG" sz="2400" dirty="0" smtClean="0">
                <a:ea typeface="Times New Roman"/>
              </a:rPr>
              <a:t>.</a:t>
            </a:r>
          </a:p>
          <a:p>
            <a:pPr marL="609600" indent="-609600">
              <a:lnSpc>
                <a:spcPct val="80000"/>
              </a:lnSpc>
              <a:buFont typeface="+mj-lt"/>
              <a:buAutoNum type="arabicPeriod"/>
            </a:pPr>
            <a:r>
              <a:rPr lang="bg-BG" sz="2400" dirty="0" smtClean="0">
                <a:ea typeface="Times New Roman"/>
              </a:rPr>
              <a:t>Всяка </a:t>
            </a:r>
            <a:r>
              <a:rPr lang="bg-BG" sz="2400" dirty="0">
                <a:ea typeface="Times New Roman"/>
              </a:rPr>
              <a:t>комбинация на структура от данни с механизъм за търсене дава различен метод за достъп. </a:t>
            </a:r>
            <a:endParaRPr lang="bg-BG" sz="2400" dirty="0" smtClean="0">
              <a:ea typeface="Times New Roman"/>
            </a:endParaRPr>
          </a:p>
          <a:p>
            <a:pPr marL="609600" indent="-609600">
              <a:lnSpc>
                <a:spcPct val="80000"/>
              </a:lnSpc>
              <a:buFont typeface="+mj-lt"/>
              <a:buAutoNum type="arabicPeriod"/>
            </a:pPr>
            <a:r>
              <a:rPr lang="bg-BG" sz="2400" dirty="0" smtClean="0">
                <a:ea typeface="Times New Roman"/>
              </a:rPr>
              <a:t>Следователно </a:t>
            </a:r>
            <a:r>
              <a:rPr lang="bg-BG" sz="2400" dirty="0">
                <a:ea typeface="Times New Roman"/>
              </a:rPr>
              <a:t>методът за достъп определя как се съхраняват и намират записите от файл с </a:t>
            </a:r>
            <a:r>
              <a:rPr lang="bg-BG" sz="2400" dirty="0" smtClean="0">
                <a:ea typeface="Times New Roman"/>
              </a:rPr>
              <a:t>определена файлова структура.</a:t>
            </a:r>
            <a:endParaRPr lang="bg-BG" altLang="bg-BG" sz="2400" dirty="0"/>
          </a:p>
        </p:txBody>
      </p:sp>
      <p:sp>
        <p:nvSpPr>
          <p:cNvPr id="10" name="Date Placeholder 3"/>
          <p:cNvSpPr>
            <a:spLocks noGrp="1"/>
          </p:cNvSpPr>
          <p:nvPr>
            <p:ph type="dt" sz="half" idx="10"/>
          </p:nvPr>
        </p:nvSpPr>
        <p:spPr/>
        <p:txBody>
          <a:bodyPr/>
          <a:lstStyle/>
          <a:p>
            <a:r>
              <a:rPr lang="bg-BG" altLang="bg-BG" smtClean="0"/>
              <a:t>Юлиана Пенева</a:t>
            </a:r>
            <a:endParaRPr lang="bg-BG" altLang="bg-BG"/>
          </a:p>
        </p:txBody>
      </p:sp>
      <p:sp>
        <p:nvSpPr>
          <p:cNvPr id="11" name="Footer Placeholder 4"/>
          <p:cNvSpPr>
            <a:spLocks noGrp="1"/>
          </p:cNvSpPr>
          <p:nvPr>
            <p:ph type="ftr" sz="quarter" idx="11"/>
          </p:nvPr>
        </p:nvSpPr>
        <p:spPr/>
        <p:txBody>
          <a:bodyPr/>
          <a:lstStyle/>
          <a:p>
            <a:r>
              <a:rPr lang="en-US" altLang="bg-BG" smtClean="0"/>
              <a:t>CSCB405 - </a:t>
            </a:r>
            <a:r>
              <a:rPr lang="bg-BG" altLang="bg-BG" smtClean="0"/>
              <a:t>модул 8</a:t>
            </a:r>
            <a:endParaRPr lang="bg-BG" altLang="bg-BG"/>
          </a:p>
        </p:txBody>
      </p:sp>
      <p:sp>
        <p:nvSpPr>
          <p:cNvPr id="12" name="Slide Number Placeholder 5"/>
          <p:cNvSpPr>
            <a:spLocks noGrp="1"/>
          </p:cNvSpPr>
          <p:nvPr>
            <p:ph type="sldNum" sz="quarter" idx="12"/>
          </p:nvPr>
        </p:nvSpPr>
        <p:spPr/>
        <p:txBody>
          <a:bodyPr/>
          <a:lstStyle/>
          <a:p>
            <a:fld id="{09EEDE94-D603-420F-9FF1-F95700230076}" type="slidenum">
              <a:rPr lang="bg-BG" altLang="bg-BG"/>
              <a:pPr/>
              <a:t>22</a:t>
            </a:fld>
            <a:endParaRPr lang="bg-BG" altLang="bg-BG"/>
          </a:p>
        </p:txBody>
      </p:sp>
      <p:sp>
        <p:nvSpPr>
          <p:cNvPr id="138245"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bg-BG"/>
          </a:p>
        </p:txBody>
      </p:sp>
      <p:sp>
        <p:nvSpPr>
          <p:cNvPr id="138247" name="Rectangle 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bg-BG"/>
          </a:p>
        </p:txBody>
      </p:sp>
      <p:sp>
        <p:nvSpPr>
          <p:cNvPr id="138249" name="Rectangle 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bg-BG"/>
          </a:p>
        </p:txBody>
      </p:sp>
      <p:sp>
        <p:nvSpPr>
          <p:cNvPr id="138251" name="Rectangle 1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bg-BG"/>
          </a:p>
        </p:txBody>
      </p:sp>
      <p:sp>
        <p:nvSpPr>
          <p:cNvPr id="138253" name="Rectangle 13"/>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bg-BG"/>
          </a:p>
        </p:txBody>
      </p:sp>
      <p:sp>
        <p:nvSpPr>
          <p:cNvPr id="138255" name="Rectangle 1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bg-BG"/>
          </a:p>
        </p:txBody>
      </p:sp>
    </p:spTree>
  </p:cSld>
  <p:clrMapOvr>
    <a:masterClrMapping/>
  </p:clrMapOvr>
  <p:transition>
    <p:fad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6" name="Rectangle 6"/>
          <p:cNvSpPr>
            <a:spLocks noGrp="1" noChangeArrowheads="1"/>
          </p:cNvSpPr>
          <p:nvPr>
            <p:ph type="title"/>
          </p:nvPr>
        </p:nvSpPr>
        <p:spPr>
          <a:xfrm>
            <a:off x="467544" y="404664"/>
            <a:ext cx="8243887" cy="652934"/>
          </a:xfrm>
        </p:spPr>
        <p:txBody>
          <a:bodyPr>
            <a:noAutofit/>
          </a:bodyPr>
          <a:lstStyle/>
          <a:p>
            <a:pPr algn="ctr"/>
            <a:r>
              <a:rPr lang="bg-BG" altLang="bg-BG" sz="3200" dirty="0">
                <a:solidFill>
                  <a:schemeClr val="accent1"/>
                </a:solidFill>
              </a:rPr>
              <a:t>Видове файлови организации</a:t>
            </a:r>
          </a:p>
        </p:txBody>
      </p:sp>
      <p:sp>
        <p:nvSpPr>
          <p:cNvPr id="189453" name="Rectangle 13"/>
          <p:cNvSpPr>
            <a:spLocks noGrp="1" noChangeArrowheads="1"/>
          </p:cNvSpPr>
          <p:nvPr>
            <p:ph idx="1"/>
          </p:nvPr>
        </p:nvSpPr>
        <p:spPr>
          <a:xfrm>
            <a:off x="251520" y="1196752"/>
            <a:ext cx="8229600" cy="3744416"/>
          </a:xfrm>
        </p:spPr>
        <p:txBody>
          <a:bodyPr>
            <a:noAutofit/>
          </a:bodyPr>
          <a:lstStyle/>
          <a:p>
            <a:pPr marL="457200" indent="-457200">
              <a:buFont typeface="+mj-lt"/>
              <a:buAutoNum type="arabicPeriod"/>
            </a:pPr>
            <a:r>
              <a:rPr lang="bg-BG" sz="2800" dirty="0" smtClean="0"/>
              <a:t>Командите </a:t>
            </a:r>
            <a:r>
              <a:rPr lang="bg-BG" sz="2800" dirty="0"/>
              <a:t>за обработка на базата </a:t>
            </a:r>
            <a:r>
              <a:rPr lang="bg-BG" sz="2800" dirty="0" smtClean="0"/>
              <a:t>биват: </a:t>
            </a:r>
            <a:endParaRPr lang="bg-BG" sz="2800" dirty="0"/>
          </a:p>
          <a:p>
            <a:pPr lvl="2">
              <a:buFont typeface="Arial" panose="020B0604020202020204" pitchFamily="34" charset="0"/>
              <a:buChar char="•"/>
            </a:pPr>
            <a:r>
              <a:rPr lang="bg-BG" sz="2400" dirty="0"/>
              <a:t>извличане на всички записи от даден тип (последователен достъп);</a:t>
            </a:r>
          </a:p>
          <a:p>
            <a:pPr lvl="2">
              <a:buFont typeface="Arial" panose="020B0604020202020204" pitchFamily="34" charset="0"/>
              <a:buChar char="•"/>
            </a:pPr>
            <a:r>
              <a:rPr lang="bg-BG" sz="2400" dirty="0"/>
              <a:t>избор на един запис от даден тип (директен достъп);</a:t>
            </a:r>
          </a:p>
          <a:p>
            <a:pPr lvl="2">
              <a:buFont typeface="Arial" panose="020B0604020202020204" pitchFamily="34" charset="0"/>
              <a:buChar char="•"/>
            </a:pPr>
            <a:r>
              <a:rPr lang="bg-BG" sz="2400" dirty="0"/>
              <a:t>избор на група от </a:t>
            </a:r>
            <a:r>
              <a:rPr lang="bg-BG" sz="2400" dirty="0" smtClean="0"/>
              <a:t>записи, </a:t>
            </a:r>
            <a:r>
              <a:rPr lang="bg-BG" sz="2400" dirty="0"/>
              <a:t>удовлетворяващи някакво условие (достъп с булева заявка).</a:t>
            </a:r>
          </a:p>
          <a:p>
            <a:pPr marL="457200" indent="-457200">
              <a:buFont typeface="+mj-lt"/>
              <a:buAutoNum type="arabicPeriod" startAt="2"/>
            </a:pPr>
            <a:r>
              <a:rPr lang="bg-BG" sz="2800" dirty="0"/>
              <a:t>С всеки тип обработка се свързват ефективни методи за достъп до данните</a:t>
            </a:r>
            <a:r>
              <a:rPr lang="bg-BG" sz="2800" dirty="0" smtClean="0"/>
              <a:t>.</a:t>
            </a:r>
            <a:endParaRPr lang="bg-BG" sz="2800" dirty="0"/>
          </a:p>
        </p:txBody>
      </p:sp>
      <p:sp>
        <p:nvSpPr>
          <p:cNvPr id="4" name="Date Placeholder 3"/>
          <p:cNvSpPr>
            <a:spLocks noGrp="1"/>
          </p:cNvSpPr>
          <p:nvPr>
            <p:ph type="dt" sz="half" idx="10"/>
          </p:nvPr>
        </p:nvSpPr>
        <p:spPr/>
        <p:txBody>
          <a:bodyPr/>
          <a:lstStyle/>
          <a:p>
            <a:r>
              <a:rPr lang="bg-BG" altLang="bg-BG" smtClean="0"/>
              <a:t>Юлиана Пенева</a:t>
            </a:r>
            <a:endParaRPr lang="bg-BG" altLang="bg-BG"/>
          </a:p>
        </p:txBody>
      </p:sp>
      <p:sp>
        <p:nvSpPr>
          <p:cNvPr id="5" name="Footer Placeholder 4"/>
          <p:cNvSpPr>
            <a:spLocks noGrp="1"/>
          </p:cNvSpPr>
          <p:nvPr>
            <p:ph type="ftr" sz="quarter" idx="11"/>
          </p:nvPr>
        </p:nvSpPr>
        <p:spPr/>
        <p:txBody>
          <a:bodyPr/>
          <a:lstStyle/>
          <a:p>
            <a:r>
              <a:rPr lang="en-US" altLang="bg-BG" smtClean="0"/>
              <a:t>CSCB405 - </a:t>
            </a:r>
            <a:r>
              <a:rPr lang="bg-BG" altLang="bg-BG" smtClean="0"/>
              <a:t>модул 8</a:t>
            </a:r>
            <a:endParaRPr lang="bg-BG" altLang="bg-BG"/>
          </a:p>
        </p:txBody>
      </p:sp>
      <p:sp>
        <p:nvSpPr>
          <p:cNvPr id="6" name="Slide Number Placeholder 5"/>
          <p:cNvSpPr>
            <a:spLocks noGrp="1"/>
          </p:cNvSpPr>
          <p:nvPr>
            <p:ph type="sldNum" sz="quarter" idx="12"/>
          </p:nvPr>
        </p:nvSpPr>
        <p:spPr/>
        <p:txBody>
          <a:bodyPr/>
          <a:lstStyle/>
          <a:p>
            <a:fld id="{30B784D1-3154-44BA-B1D4-6FD1AC0F5C4A}" type="slidenum">
              <a:rPr lang="bg-BG" altLang="bg-BG"/>
              <a:pPr/>
              <a:t>23</a:t>
            </a:fld>
            <a:endParaRPr lang="bg-BG" altLang="bg-BG"/>
          </a:p>
        </p:txBody>
      </p:sp>
    </p:spTree>
  </p:cSld>
  <p:clrMapOvr>
    <a:masterClrMapping/>
  </p:clrMapOvr>
  <p:transition>
    <p:fad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24" name="Rectangle 8"/>
          <p:cNvSpPr>
            <a:spLocks noGrp="1" noChangeArrowheads="1"/>
          </p:cNvSpPr>
          <p:nvPr>
            <p:ph type="title"/>
          </p:nvPr>
        </p:nvSpPr>
        <p:spPr>
          <a:xfrm>
            <a:off x="505527" y="260648"/>
            <a:ext cx="8243887" cy="652934"/>
          </a:xfrm>
        </p:spPr>
        <p:txBody>
          <a:bodyPr>
            <a:noAutofit/>
          </a:bodyPr>
          <a:lstStyle/>
          <a:p>
            <a:pPr algn="ctr"/>
            <a:r>
              <a:rPr lang="bg-BG" altLang="bg-BG" sz="3200" dirty="0">
                <a:solidFill>
                  <a:schemeClr val="accent1"/>
                </a:solidFill>
              </a:rPr>
              <a:t>Видове файлови организации</a:t>
            </a:r>
          </a:p>
        </p:txBody>
      </p:sp>
      <p:sp>
        <p:nvSpPr>
          <p:cNvPr id="137226" name="Rectangle 10"/>
          <p:cNvSpPr>
            <a:spLocks noGrp="1" noChangeArrowheads="1"/>
          </p:cNvSpPr>
          <p:nvPr>
            <p:ph idx="1"/>
          </p:nvPr>
        </p:nvSpPr>
        <p:spPr>
          <a:xfrm>
            <a:off x="457200" y="692696"/>
            <a:ext cx="8229600" cy="3744416"/>
          </a:xfrm>
        </p:spPr>
        <p:txBody>
          <a:bodyPr/>
          <a:lstStyle/>
          <a:p>
            <a:pPr marL="0" indent="0" algn="ctr">
              <a:buNone/>
            </a:pPr>
            <a:r>
              <a:rPr lang="bg-BG" sz="2800" u="sng" dirty="0">
                <a:solidFill>
                  <a:srgbClr val="C00000"/>
                </a:solidFill>
              </a:rPr>
              <a:t>Неструктуриран </a:t>
            </a:r>
            <a:r>
              <a:rPr lang="bg-BG" sz="2800" u="sng" dirty="0" smtClean="0">
                <a:solidFill>
                  <a:srgbClr val="C00000"/>
                </a:solidFill>
              </a:rPr>
              <a:t>(последователен) файл</a:t>
            </a:r>
          </a:p>
          <a:p>
            <a:pPr marL="0" indent="0" algn="ctr">
              <a:buNone/>
            </a:pPr>
            <a:endParaRPr lang="bg-BG" sz="800" dirty="0">
              <a:solidFill>
                <a:schemeClr val="accent1"/>
              </a:solidFill>
            </a:endParaRPr>
          </a:p>
          <a:p>
            <a:pPr marL="457200" indent="-457200">
              <a:buFont typeface="+mj-lt"/>
              <a:buAutoNum type="arabicPeriod"/>
            </a:pPr>
            <a:r>
              <a:rPr lang="bg-BG" sz="2200" dirty="0"/>
              <a:t>З</a:t>
            </a:r>
            <a:r>
              <a:rPr lang="bg-BG" sz="2200" dirty="0" smtClean="0"/>
              <a:t>аписите </a:t>
            </a:r>
            <a:r>
              <a:rPr lang="bg-BG" sz="2200" dirty="0"/>
              <a:t>се поместват така както са въведени </a:t>
            </a:r>
            <a:r>
              <a:rPr lang="bg-BG" sz="2200" dirty="0" smtClean="0"/>
              <a:t>физически. </a:t>
            </a:r>
          </a:p>
          <a:p>
            <a:pPr marL="457200" indent="-457200">
              <a:buFont typeface="+mj-lt"/>
              <a:buAutoNum type="arabicPeriod"/>
            </a:pPr>
            <a:r>
              <a:rPr lang="bg-BG" sz="2200" dirty="0" smtClean="0"/>
              <a:t>Нови </a:t>
            </a:r>
            <a:r>
              <a:rPr lang="bg-BG" sz="2200" dirty="0"/>
              <a:t>записи се добавят винаги в края на блока, а ако няма място се добавя нов блок. </a:t>
            </a:r>
            <a:endParaRPr lang="bg-BG" sz="2200" dirty="0" smtClean="0"/>
          </a:p>
          <a:p>
            <a:pPr marL="457200" indent="-457200">
              <a:buFont typeface="+mj-lt"/>
              <a:buAutoNum type="arabicPeriod"/>
            </a:pPr>
            <a:r>
              <a:rPr lang="bg-BG" sz="2200" dirty="0" smtClean="0"/>
              <a:t>Използва се когато </a:t>
            </a:r>
            <a:r>
              <a:rPr lang="bg-BG" sz="2200" dirty="0"/>
              <a:t>данните в базата се натрупват първоначално и още не е ясно какви обработки ще се изискват. </a:t>
            </a:r>
            <a:endParaRPr lang="bg-BG" sz="2200" dirty="0" smtClean="0"/>
          </a:p>
          <a:p>
            <a:pPr marL="457200" indent="-457200">
              <a:buFont typeface="+mj-lt"/>
              <a:buAutoNum type="arabicPeriod"/>
            </a:pPr>
            <a:r>
              <a:rPr lang="bg-BG" sz="2200" dirty="0" smtClean="0"/>
              <a:t>Добавянето </a:t>
            </a:r>
            <a:r>
              <a:rPr lang="bg-BG" sz="2200" dirty="0"/>
              <a:t>на нов запис е изключително ефективно. </a:t>
            </a:r>
            <a:endParaRPr lang="bg-BG" sz="2200" dirty="0" smtClean="0"/>
          </a:p>
          <a:p>
            <a:pPr marL="457200" indent="-457200">
              <a:buFont typeface="+mj-lt"/>
              <a:buAutoNum type="arabicPeriod"/>
            </a:pPr>
            <a:endParaRPr lang="bg-BG" sz="2400" dirty="0"/>
          </a:p>
        </p:txBody>
      </p:sp>
      <p:sp>
        <p:nvSpPr>
          <p:cNvPr id="6" name="Date Placeholder 3"/>
          <p:cNvSpPr>
            <a:spLocks noGrp="1"/>
          </p:cNvSpPr>
          <p:nvPr>
            <p:ph type="dt" sz="half" idx="10"/>
          </p:nvPr>
        </p:nvSpPr>
        <p:spPr/>
        <p:txBody>
          <a:bodyPr/>
          <a:lstStyle/>
          <a:p>
            <a:r>
              <a:rPr lang="bg-BG" altLang="bg-BG" smtClean="0"/>
              <a:t>Юлиана Пенева</a:t>
            </a:r>
            <a:endParaRPr lang="bg-BG" altLang="bg-BG"/>
          </a:p>
        </p:txBody>
      </p:sp>
      <p:sp>
        <p:nvSpPr>
          <p:cNvPr id="7" name="Footer Placeholder 4"/>
          <p:cNvSpPr>
            <a:spLocks noGrp="1"/>
          </p:cNvSpPr>
          <p:nvPr>
            <p:ph type="ftr" sz="quarter" idx="11"/>
          </p:nvPr>
        </p:nvSpPr>
        <p:spPr/>
        <p:txBody>
          <a:bodyPr/>
          <a:lstStyle/>
          <a:p>
            <a:r>
              <a:rPr lang="en-US" altLang="bg-BG" smtClean="0"/>
              <a:t>CSCB405 - </a:t>
            </a:r>
            <a:r>
              <a:rPr lang="bg-BG" altLang="bg-BG" smtClean="0"/>
              <a:t>модул 8</a:t>
            </a:r>
            <a:endParaRPr lang="bg-BG" altLang="bg-BG"/>
          </a:p>
        </p:txBody>
      </p:sp>
      <p:sp>
        <p:nvSpPr>
          <p:cNvPr id="8" name="Slide Number Placeholder 5"/>
          <p:cNvSpPr>
            <a:spLocks noGrp="1"/>
          </p:cNvSpPr>
          <p:nvPr>
            <p:ph type="sldNum" sz="quarter" idx="12"/>
          </p:nvPr>
        </p:nvSpPr>
        <p:spPr/>
        <p:txBody>
          <a:bodyPr/>
          <a:lstStyle/>
          <a:p>
            <a:fld id="{465E0254-989F-4654-B8D5-5CAF12BA6A86}" type="slidenum">
              <a:rPr lang="bg-BG" altLang="bg-BG"/>
              <a:pPr/>
              <a:t>24</a:t>
            </a:fld>
            <a:endParaRPr lang="bg-BG" altLang="bg-BG"/>
          </a:p>
        </p:txBody>
      </p:sp>
      <p:sp>
        <p:nvSpPr>
          <p:cNvPr id="137221"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bg-BG"/>
          </a:p>
        </p:txBody>
      </p:sp>
      <p:sp>
        <p:nvSpPr>
          <p:cNvPr id="137223" name="Rectangle 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bg-BG"/>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41684" y="3994603"/>
            <a:ext cx="5260632" cy="1879799"/>
          </a:xfrm>
          <a:prstGeom prst="rect">
            <a:avLst/>
          </a:prstGeom>
          <a:ln w="19050">
            <a:solidFill>
              <a:srgbClr val="C00000"/>
            </a:solidFill>
          </a:ln>
        </p:spPr>
      </p:pic>
    </p:spTree>
  </p:cSld>
  <p:clrMapOvr>
    <a:masterClrMapping/>
  </p:clrMapOvr>
  <p:transition>
    <p:fad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332656"/>
            <a:ext cx="8243887" cy="652934"/>
          </a:xfrm>
        </p:spPr>
        <p:txBody>
          <a:bodyPr>
            <a:noAutofit/>
          </a:bodyPr>
          <a:lstStyle/>
          <a:p>
            <a:pPr algn="ctr"/>
            <a:r>
              <a:rPr lang="bg-BG" altLang="bg-BG" sz="3200" dirty="0">
                <a:solidFill>
                  <a:schemeClr val="accent1"/>
                </a:solidFill>
              </a:rPr>
              <a:t>Видове файлови организации</a:t>
            </a:r>
            <a:endParaRPr lang="bg-BG" sz="3200" dirty="0">
              <a:solidFill>
                <a:schemeClr val="accent1"/>
              </a:solidFill>
            </a:endParaRPr>
          </a:p>
        </p:txBody>
      </p:sp>
      <p:sp>
        <p:nvSpPr>
          <p:cNvPr id="3" name="Content Placeholder 2"/>
          <p:cNvSpPr>
            <a:spLocks noGrp="1"/>
          </p:cNvSpPr>
          <p:nvPr>
            <p:ph idx="1"/>
          </p:nvPr>
        </p:nvSpPr>
        <p:spPr>
          <a:xfrm>
            <a:off x="395536" y="836712"/>
            <a:ext cx="8229600" cy="4859561"/>
          </a:xfrm>
        </p:spPr>
        <p:txBody>
          <a:bodyPr/>
          <a:lstStyle/>
          <a:p>
            <a:pPr marL="0" indent="0" algn="ctr">
              <a:buNone/>
            </a:pPr>
            <a:r>
              <a:rPr lang="bg-BG" sz="2800" u="sng" dirty="0">
                <a:solidFill>
                  <a:srgbClr val="C00000"/>
                </a:solidFill>
              </a:rPr>
              <a:t>Неструктуриран (последователен) файл</a:t>
            </a:r>
            <a:r>
              <a:rPr lang="bg-BG" sz="2800" dirty="0">
                <a:solidFill>
                  <a:srgbClr val="C00000"/>
                </a:solidFill>
              </a:rPr>
              <a:t/>
            </a:r>
            <a:br>
              <a:rPr lang="bg-BG" sz="2800" dirty="0">
                <a:solidFill>
                  <a:srgbClr val="C00000"/>
                </a:solidFill>
              </a:rPr>
            </a:br>
            <a:endParaRPr lang="bg-BG" sz="1000" dirty="0">
              <a:solidFill>
                <a:srgbClr val="C00000"/>
              </a:solidFill>
            </a:endParaRPr>
          </a:p>
          <a:p>
            <a:pPr marL="457200" lvl="0" indent="-457200">
              <a:buFont typeface="+mj-lt"/>
              <a:buAutoNum type="arabicPeriod" startAt="5"/>
            </a:pPr>
            <a:r>
              <a:rPr lang="bg-BG" sz="2400" dirty="0" smtClean="0"/>
              <a:t>Търсенето </a:t>
            </a:r>
            <a:r>
              <a:rPr lang="bg-BG" sz="2400" dirty="0"/>
              <a:t>на определен запис е бавно, преглеждат се  последователно всички записи (линейно търсене).</a:t>
            </a:r>
          </a:p>
          <a:p>
            <a:pPr marL="457200" lvl="0" indent="-457200">
              <a:buFont typeface="+mj-lt"/>
              <a:buAutoNum type="arabicPeriod" startAt="5"/>
            </a:pPr>
            <a:r>
              <a:rPr lang="bg-BG" sz="2400" dirty="0"/>
              <a:t>Изтриването на произволен запис става като се отбележи за изтрит, или като се изтрие физически.  Това налага  периодична реорганизация на файла от АБД за да се използува празното пространство на диска и за да се ускорят обработките.</a:t>
            </a:r>
          </a:p>
          <a:p>
            <a:pPr marL="457200" lvl="0" indent="-457200">
              <a:buFont typeface="+mj-lt"/>
              <a:buAutoNum type="arabicPeriod" startAt="5"/>
            </a:pPr>
            <a:r>
              <a:rPr lang="bg-BG" sz="2400" dirty="0"/>
              <a:t> За да се прочете файлът по определен начин се налага или </a:t>
            </a:r>
            <a:r>
              <a:rPr lang="bg-BG" sz="2400" dirty="0">
                <a:solidFill>
                  <a:srgbClr val="C00000"/>
                </a:solidFill>
              </a:rPr>
              <a:t>сортиране</a:t>
            </a:r>
            <a:r>
              <a:rPr lang="bg-BG" sz="2400" dirty="0"/>
              <a:t>, или създаване на </a:t>
            </a:r>
            <a:r>
              <a:rPr lang="bg-BG" sz="2400" dirty="0">
                <a:solidFill>
                  <a:srgbClr val="C00000"/>
                </a:solidFill>
              </a:rPr>
              <a:t>допълнителни структури за достъп</a:t>
            </a:r>
            <a:r>
              <a:rPr lang="bg-BG" sz="2400" dirty="0" smtClean="0"/>
              <a:t>.</a:t>
            </a:r>
            <a:endParaRPr lang="bg-BG" sz="2400" dirty="0"/>
          </a:p>
        </p:txBody>
      </p:sp>
      <p:sp>
        <p:nvSpPr>
          <p:cNvPr id="4" name="Date Placeholder 3"/>
          <p:cNvSpPr>
            <a:spLocks noGrp="1"/>
          </p:cNvSpPr>
          <p:nvPr>
            <p:ph type="dt" sz="half" idx="10"/>
          </p:nvPr>
        </p:nvSpPr>
        <p:spPr/>
        <p:txBody>
          <a:bodyPr/>
          <a:lstStyle/>
          <a:p>
            <a:r>
              <a:rPr lang="bg-BG" altLang="bg-BG" smtClean="0"/>
              <a:t>Юлиана Пенева</a:t>
            </a:r>
            <a:endParaRPr lang="bg-BG" altLang="bg-BG"/>
          </a:p>
        </p:txBody>
      </p:sp>
      <p:sp>
        <p:nvSpPr>
          <p:cNvPr id="5" name="Footer Placeholder 4"/>
          <p:cNvSpPr>
            <a:spLocks noGrp="1"/>
          </p:cNvSpPr>
          <p:nvPr>
            <p:ph type="ftr" sz="quarter" idx="11"/>
          </p:nvPr>
        </p:nvSpPr>
        <p:spPr/>
        <p:txBody>
          <a:bodyPr/>
          <a:lstStyle/>
          <a:p>
            <a:r>
              <a:rPr lang="en-US" altLang="bg-BG" smtClean="0"/>
              <a:t>CSCB405 - </a:t>
            </a:r>
            <a:r>
              <a:rPr lang="bg-BG" altLang="bg-BG" smtClean="0"/>
              <a:t>модул 8</a:t>
            </a:r>
            <a:endParaRPr lang="bg-BG" altLang="bg-BG"/>
          </a:p>
        </p:txBody>
      </p:sp>
      <p:sp>
        <p:nvSpPr>
          <p:cNvPr id="6" name="Slide Number Placeholder 5"/>
          <p:cNvSpPr>
            <a:spLocks noGrp="1"/>
          </p:cNvSpPr>
          <p:nvPr>
            <p:ph type="sldNum" sz="quarter" idx="12"/>
          </p:nvPr>
        </p:nvSpPr>
        <p:spPr/>
        <p:txBody>
          <a:bodyPr/>
          <a:lstStyle/>
          <a:p>
            <a:fld id="{74EE3BFA-F3F3-428D-9946-02BF70619056}" type="slidenum">
              <a:rPr lang="bg-BG" altLang="bg-BG" smtClean="0"/>
              <a:pPr/>
              <a:t>25</a:t>
            </a:fld>
            <a:endParaRPr lang="bg-BG" altLang="bg-BG"/>
          </a:p>
        </p:txBody>
      </p:sp>
    </p:spTree>
    <p:extLst>
      <p:ext uri="{BB962C8B-B14F-4D97-AF65-F5344CB8AC3E}">
        <p14:creationId xmlns:p14="http://schemas.microsoft.com/office/powerpoint/2010/main" val="131085949"/>
      </p:ext>
    </p:extLst>
  </p:cSld>
  <p:clrMapOvr>
    <a:masterClrMapping/>
  </p:clrMapOvr>
  <p:transition>
    <p:fad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a:xfrm>
            <a:off x="467544" y="404664"/>
            <a:ext cx="8243887" cy="436910"/>
          </a:xfrm>
        </p:spPr>
        <p:txBody>
          <a:bodyPr>
            <a:noAutofit/>
          </a:bodyPr>
          <a:lstStyle/>
          <a:p>
            <a:pPr algn="ctr"/>
            <a:r>
              <a:rPr lang="bg-BG" altLang="bg-BG" sz="3200" dirty="0">
                <a:solidFill>
                  <a:schemeClr val="accent1"/>
                </a:solidFill>
              </a:rPr>
              <a:t>Видове файлови организации</a:t>
            </a:r>
          </a:p>
        </p:txBody>
      </p:sp>
      <p:sp>
        <p:nvSpPr>
          <p:cNvPr id="141332" name="Rectangle 20"/>
          <p:cNvSpPr>
            <a:spLocks noGrp="1" noChangeArrowheads="1"/>
          </p:cNvSpPr>
          <p:nvPr>
            <p:ph idx="1"/>
          </p:nvPr>
        </p:nvSpPr>
        <p:spPr>
          <a:xfrm>
            <a:off x="467544" y="836712"/>
            <a:ext cx="8229600" cy="5256584"/>
          </a:xfrm>
        </p:spPr>
        <p:txBody>
          <a:bodyPr>
            <a:normAutofit/>
          </a:bodyPr>
          <a:lstStyle/>
          <a:p>
            <a:pPr marL="0" indent="0" algn="ctr">
              <a:lnSpc>
                <a:spcPct val="90000"/>
              </a:lnSpc>
              <a:buNone/>
            </a:pPr>
            <a:r>
              <a:rPr lang="bg-BG" sz="2800" u="sng" dirty="0">
                <a:solidFill>
                  <a:srgbClr val="C00000"/>
                </a:solidFill>
              </a:rPr>
              <a:t>Подреден (сортиран) файл</a:t>
            </a:r>
            <a:endParaRPr lang="bg-BG" sz="2800" dirty="0">
              <a:solidFill>
                <a:srgbClr val="C00000"/>
              </a:solidFill>
            </a:endParaRPr>
          </a:p>
          <a:p>
            <a:pPr marL="533400" indent="-533400">
              <a:lnSpc>
                <a:spcPct val="90000"/>
              </a:lnSpc>
              <a:buFontTx/>
              <a:buAutoNum type="arabicPeriod"/>
            </a:pPr>
            <a:endParaRPr lang="bg-BG" altLang="bg-BG" sz="800" dirty="0" smtClean="0"/>
          </a:p>
          <a:p>
            <a:pPr marL="533400" indent="-533400">
              <a:lnSpc>
                <a:spcPct val="90000"/>
              </a:lnSpc>
              <a:buFontTx/>
              <a:buAutoNum type="arabicPeriod"/>
            </a:pPr>
            <a:r>
              <a:rPr lang="bg-BG" sz="2200" dirty="0"/>
              <a:t>Записите с еднаква дължина физически могат да се подредят по стойностите на </a:t>
            </a:r>
            <a:r>
              <a:rPr lang="bg-BG" sz="2200" dirty="0">
                <a:solidFill>
                  <a:schemeClr val="accent1"/>
                </a:solidFill>
              </a:rPr>
              <a:t>едно</a:t>
            </a:r>
            <a:r>
              <a:rPr lang="bg-BG" sz="2200" dirty="0"/>
              <a:t> или </a:t>
            </a:r>
            <a:r>
              <a:rPr lang="bg-BG" sz="2200" dirty="0">
                <a:solidFill>
                  <a:schemeClr val="accent1"/>
                </a:solidFill>
              </a:rPr>
              <a:t>няколко</a:t>
            </a:r>
            <a:r>
              <a:rPr lang="bg-BG" sz="2200" dirty="0"/>
              <a:t> от полетата на записа, наречени сортиращи полета</a:t>
            </a:r>
            <a:r>
              <a:rPr lang="bg-BG" sz="2200" dirty="0" smtClean="0"/>
              <a:t>.</a:t>
            </a:r>
          </a:p>
          <a:p>
            <a:pPr marL="533400" indent="-533400">
              <a:lnSpc>
                <a:spcPct val="90000"/>
              </a:lnSpc>
              <a:buFontTx/>
              <a:buAutoNum type="arabicPeriod"/>
            </a:pPr>
            <a:r>
              <a:rPr lang="bg-BG" sz="2200" dirty="0" smtClean="0"/>
              <a:t>Търсенето </a:t>
            </a:r>
            <a:r>
              <a:rPr lang="bg-BG" sz="2200" dirty="0"/>
              <a:t>на записи в реда, наложен от сортиращото поле става бързо. </a:t>
            </a:r>
            <a:endParaRPr lang="bg-BG" sz="2200" dirty="0" smtClean="0"/>
          </a:p>
          <a:p>
            <a:pPr marL="533400" indent="-533400">
              <a:lnSpc>
                <a:spcPct val="90000"/>
              </a:lnSpc>
              <a:buFontTx/>
              <a:buAutoNum type="arabicPeriod"/>
            </a:pPr>
            <a:r>
              <a:rPr lang="bg-BG" sz="2200" dirty="0" smtClean="0"/>
              <a:t>Може </a:t>
            </a:r>
            <a:r>
              <a:rPr lang="bg-BG" sz="2200" dirty="0"/>
              <a:t>да се провежда </a:t>
            </a:r>
            <a:r>
              <a:rPr lang="bg-BG" sz="2200" dirty="0">
                <a:solidFill>
                  <a:schemeClr val="accent1"/>
                </a:solidFill>
              </a:rPr>
              <a:t>двоично търсене </a:t>
            </a:r>
            <a:r>
              <a:rPr lang="bg-BG" sz="2200" dirty="0"/>
              <a:t>когато в условието за избор участвува полето, по което е сортиран файлът. </a:t>
            </a:r>
            <a:endParaRPr lang="bg-BG" sz="2200" dirty="0" smtClean="0"/>
          </a:p>
          <a:p>
            <a:pPr marL="533400" indent="-533400">
              <a:lnSpc>
                <a:spcPct val="90000"/>
              </a:lnSpc>
              <a:buFontTx/>
              <a:buAutoNum type="arabicPeriod"/>
            </a:pPr>
            <a:r>
              <a:rPr lang="bg-BG" sz="2200" dirty="0" smtClean="0"/>
              <a:t>Въвеждането </a:t>
            </a:r>
            <a:r>
              <a:rPr lang="bg-BG" sz="2200" dirty="0"/>
              <a:t>и изтриването на записи в подреден файл е трудно, поради спазване на наложения от стойностите на сортиращото поле ред</a:t>
            </a:r>
            <a:r>
              <a:rPr lang="bg-BG" sz="2200" dirty="0" smtClean="0"/>
              <a:t>.</a:t>
            </a:r>
          </a:p>
          <a:p>
            <a:pPr marL="533400" indent="-533400">
              <a:lnSpc>
                <a:spcPct val="90000"/>
              </a:lnSpc>
              <a:buFontTx/>
              <a:buAutoNum type="arabicPeriod"/>
            </a:pPr>
            <a:r>
              <a:rPr lang="bg-BG" sz="2200" dirty="0" smtClean="0"/>
              <a:t>Сортирани </a:t>
            </a:r>
            <a:r>
              <a:rPr lang="bg-BG" sz="2200" dirty="0"/>
              <a:t>файлове </a:t>
            </a:r>
            <a:r>
              <a:rPr lang="bg-BG" sz="2200" dirty="0">
                <a:solidFill>
                  <a:schemeClr val="accent1"/>
                </a:solidFill>
              </a:rPr>
              <a:t>не се използуват често при базите </a:t>
            </a:r>
            <a:r>
              <a:rPr lang="bg-BG" sz="2200" dirty="0"/>
              <a:t>от данни, защото се заема допълнително място на диска, поради това че се прави копие на първоначалния файл и има опасност от </a:t>
            </a:r>
            <a:r>
              <a:rPr lang="bg-BG" sz="2200" dirty="0" smtClean="0"/>
              <a:t>получаване </a:t>
            </a:r>
            <a:r>
              <a:rPr lang="bg-BG" sz="2200" dirty="0"/>
              <a:t>на противоречива база. </a:t>
            </a:r>
          </a:p>
        </p:txBody>
      </p:sp>
      <p:sp>
        <p:nvSpPr>
          <p:cNvPr id="4" name="Date Placeholder 3"/>
          <p:cNvSpPr>
            <a:spLocks noGrp="1"/>
          </p:cNvSpPr>
          <p:nvPr>
            <p:ph type="dt" sz="half" idx="10"/>
          </p:nvPr>
        </p:nvSpPr>
        <p:spPr/>
        <p:txBody>
          <a:bodyPr/>
          <a:lstStyle/>
          <a:p>
            <a:r>
              <a:rPr lang="bg-BG" altLang="bg-BG" smtClean="0"/>
              <a:t>Юлиана Пенева</a:t>
            </a:r>
            <a:endParaRPr lang="bg-BG" altLang="bg-BG"/>
          </a:p>
        </p:txBody>
      </p:sp>
      <p:sp>
        <p:nvSpPr>
          <p:cNvPr id="5" name="Footer Placeholder 4"/>
          <p:cNvSpPr>
            <a:spLocks noGrp="1"/>
          </p:cNvSpPr>
          <p:nvPr>
            <p:ph type="ftr" sz="quarter" idx="11"/>
          </p:nvPr>
        </p:nvSpPr>
        <p:spPr/>
        <p:txBody>
          <a:bodyPr/>
          <a:lstStyle/>
          <a:p>
            <a:r>
              <a:rPr lang="en-US" altLang="bg-BG" smtClean="0"/>
              <a:t>CSCB405 - </a:t>
            </a:r>
            <a:r>
              <a:rPr lang="bg-BG" altLang="bg-BG" smtClean="0"/>
              <a:t>модул 8</a:t>
            </a:r>
            <a:endParaRPr lang="bg-BG" altLang="bg-BG"/>
          </a:p>
        </p:txBody>
      </p:sp>
      <p:sp>
        <p:nvSpPr>
          <p:cNvPr id="6" name="Slide Number Placeholder 5"/>
          <p:cNvSpPr>
            <a:spLocks noGrp="1"/>
          </p:cNvSpPr>
          <p:nvPr>
            <p:ph type="sldNum" sz="quarter" idx="12"/>
          </p:nvPr>
        </p:nvSpPr>
        <p:spPr/>
        <p:txBody>
          <a:bodyPr/>
          <a:lstStyle/>
          <a:p>
            <a:fld id="{57CB0F69-7EF5-4254-BD08-C3CA86B4F19B}" type="slidenum">
              <a:rPr lang="bg-BG" altLang="bg-BG"/>
              <a:pPr/>
              <a:t>26</a:t>
            </a:fld>
            <a:endParaRPr lang="bg-BG" altLang="bg-BG"/>
          </a:p>
        </p:txBody>
      </p:sp>
    </p:spTree>
    <p:extLst>
      <p:ext uri="{BB962C8B-B14F-4D97-AF65-F5344CB8AC3E}">
        <p14:creationId xmlns:p14="http://schemas.microsoft.com/office/powerpoint/2010/main" val="3500725288"/>
      </p:ext>
    </p:extLst>
  </p:cSld>
  <p:clrMapOvr>
    <a:masterClrMapping/>
  </p:clrMapOvr>
  <p:transition>
    <p:fad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a:xfrm>
            <a:off x="467544" y="404664"/>
            <a:ext cx="8243887" cy="436910"/>
          </a:xfrm>
        </p:spPr>
        <p:txBody>
          <a:bodyPr>
            <a:noAutofit/>
          </a:bodyPr>
          <a:lstStyle/>
          <a:p>
            <a:pPr algn="ctr"/>
            <a:r>
              <a:rPr lang="bg-BG" altLang="bg-BG" sz="3200" dirty="0">
                <a:solidFill>
                  <a:schemeClr val="accent1"/>
                </a:solidFill>
              </a:rPr>
              <a:t>Видове файлови организации</a:t>
            </a:r>
          </a:p>
        </p:txBody>
      </p:sp>
      <p:sp>
        <p:nvSpPr>
          <p:cNvPr id="141332" name="Rectangle 20"/>
          <p:cNvSpPr>
            <a:spLocks noGrp="1" noChangeArrowheads="1"/>
          </p:cNvSpPr>
          <p:nvPr>
            <p:ph idx="1"/>
          </p:nvPr>
        </p:nvSpPr>
        <p:spPr>
          <a:xfrm>
            <a:off x="323528" y="841574"/>
            <a:ext cx="8229600" cy="720080"/>
          </a:xfrm>
        </p:spPr>
        <p:txBody>
          <a:bodyPr>
            <a:normAutofit/>
          </a:bodyPr>
          <a:lstStyle/>
          <a:p>
            <a:pPr marL="0" indent="0" algn="ctr">
              <a:lnSpc>
                <a:spcPct val="90000"/>
              </a:lnSpc>
              <a:buNone/>
            </a:pPr>
            <a:r>
              <a:rPr lang="bg-BG" sz="2800" dirty="0">
                <a:solidFill>
                  <a:srgbClr val="C00000"/>
                </a:solidFill>
              </a:rPr>
              <a:t>Подреден (сортиран) файл</a:t>
            </a:r>
          </a:p>
          <a:p>
            <a:pPr marL="533400" indent="-533400">
              <a:lnSpc>
                <a:spcPct val="90000"/>
              </a:lnSpc>
              <a:buFontTx/>
              <a:buAutoNum type="arabicPeriod"/>
            </a:pPr>
            <a:endParaRPr lang="bg-BG" altLang="bg-BG" sz="800" dirty="0" smtClean="0"/>
          </a:p>
          <a:p>
            <a:pPr marL="533400" indent="-533400">
              <a:lnSpc>
                <a:spcPct val="90000"/>
              </a:lnSpc>
              <a:buFontTx/>
              <a:buAutoNum type="arabicPeriod"/>
            </a:pPr>
            <a:endParaRPr lang="bg-BG" sz="2200" dirty="0"/>
          </a:p>
        </p:txBody>
      </p:sp>
      <p:sp>
        <p:nvSpPr>
          <p:cNvPr id="4" name="Date Placeholder 3"/>
          <p:cNvSpPr>
            <a:spLocks noGrp="1"/>
          </p:cNvSpPr>
          <p:nvPr>
            <p:ph type="dt" sz="half" idx="10"/>
          </p:nvPr>
        </p:nvSpPr>
        <p:spPr/>
        <p:txBody>
          <a:bodyPr/>
          <a:lstStyle/>
          <a:p>
            <a:r>
              <a:rPr lang="bg-BG" altLang="bg-BG" smtClean="0"/>
              <a:t>Юлиана Пенева</a:t>
            </a:r>
            <a:endParaRPr lang="bg-BG" altLang="bg-BG"/>
          </a:p>
        </p:txBody>
      </p:sp>
      <p:sp>
        <p:nvSpPr>
          <p:cNvPr id="5" name="Footer Placeholder 4"/>
          <p:cNvSpPr>
            <a:spLocks noGrp="1"/>
          </p:cNvSpPr>
          <p:nvPr>
            <p:ph type="ftr" sz="quarter" idx="11"/>
          </p:nvPr>
        </p:nvSpPr>
        <p:spPr/>
        <p:txBody>
          <a:bodyPr/>
          <a:lstStyle/>
          <a:p>
            <a:r>
              <a:rPr lang="en-US" altLang="bg-BG" smtClean="0"/>
              <a:t>CSCB405 - </a:t>
            </a:r>
            <a:r>
              <a:rPr lang="bg-BG" altLang="bg-BG" smtClean="0"/>
              <a:t>модул 8</a:t>
            </a:r>
            <a:endParaRPr lang="bg-BG" altLang="bg-BG"/>
          </a:p>
        </p:txBody>
      </p:sp>
      <p:sp>
        <p:nvSpPr>
          <p:cNvPr id="6" name="Slide Number Placeholder 5"/>
          <p:cNvSpPr>
            <a:spLocks noGrp="1"/>
          </p:cNvSpPr>
          <p:nvPr>
            <p:ph type="sldNum" sz="quarter" idx="12"/>
          </p:nvPr>
        </p:nvSpPr>
        <p:spPr/>
        <p:txBody>
          <a:bodyPr/>
          <a:lstStyle/>
          <a:p>
            <a:fld id="{57CB0F69-7EF5-4254-BD08-C3CA86B4F19B}" type="slidenum">
              <a:rPr lang="bg-BG" altLang="bg-BG"/>
              <a:pPr/>
              <a:t>27</a:t>
            </a:fld>
            <a:endParaRPr lang="bg-BG" altLang="bg-BG"/>
          </a:p>
        </p:txBody>
      </p:sp>
      <p:pic>
        <p:nvPicPr>
          <p:cNvPr id="3" name="Picture 2"/>
          <p:cNvPicPr>
            <a:picLocks noChangeAspect="1"/>
          </p:cNvPicPr>
          <p:nvPr/>
        </p:nvPicPr>
        <p:blipFill>
          <a:blip r:embed="rId2"/>
          <a:stretch>
            <a:fillRect/>
          </a:stretch>
        </p:blipFill>
        <p:spPr>
          <a:xfrm>
            <a:off x="3059832" y="1133474"/>
            <a:ext cx="2987299" cy="5029636"/>
          </a:xfrm>
          <a:prstGeom prst="rect">
            <a:avLst/>
          </a:prstGeom>
          <a:ln w="19050">
            <a:solidFill>
              <a:srgbClr val="C00000"/>
            </a:solidFill>
          </a:ln>
        </p:spPr>
      </p:pic>
    </p:spTree>
    <p:extLst>
      <p:ext uri="{BB962C8B-B14F-4D97-AF65-F5344CB8AC3E}">
        <p14:creationId xmlns:p14="http://schemas.microsoft.com/office/powerpoint/2010/main" val="2245294086"/>
      </p:ext>
    </p:extLst>
  </p:cSld>
  <p:clrMapOvr>
    <a:masterClrMapping/>
  </p:clrMapOvr>
  <p:transition>
    <p:fad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a:xfrm>
            <a:off x="467544" y="404664"/>
            <a:ext cx="8243887" cy="436910"/>
          </a:xfrm>
        </p:spPr>
        <p:txBody>
          <a:bodyPr>
            <a:noAutofit/>
          </a:bodyPr>
          <a:lstStyle/>
          <a:p>
            <a:pPr algn="ctr"/>
            <a:r>
              <a:rPr lang="bg-BG" altLang="bg-BG" sz="3200" dirty="0">
                <a:solidFill>
                  <a:schemeClr val="accent1"/>
                </a:solidFill>
              </a:rPr>
              <a:t>Видове файлови организации</a:t>
            </a:r>
          </a:p>
        </p:txBody>
      </p:sp>
      <p:sp>
        <p:nvSpPr>
          <p:cNvPr id="141332" name="Rectangle 20"/>
          <p:cNvSpPr>
            <a:spLocks noGrp="1" noChangeArrowheads="1"/>
          </p:cNvSpPr>
          <p:nvPr>
            <p:ph idx="1"/>
          </p:nvPr>
        </p:nvSpPr>
        <p:spPr>
          <a:xfrm>
            <a:off x="201173" y="1213558"/>
            <a:ext cx="8776628" cy="2702923"/>
          </a:xfrm>
        </p:spPr>
        <p:txBody>
          <a:bodyPr>
            <a:normAutofit/>
          </a:bodyPr>
          <a:lstStyle/>
          <a:p>
            <a:pPr marL="533400" indent="-533400">
              <a:lnSpc>
                <a:spcPct val="90000"/>
              </a:lnSpc>
              <a:buFontTx/>
              <a:buAutoNum type="arabicPeriod"/>
            </a:pPr>
            <a:endParaRPr lang="bg-BG" altLang="bg-BG" sz="800" dirty="0" smtClean="0"/>
          </a:p>
          <a:p>
            <a:pPr marL="533400" indent="-533400">
              <a:lnSpc>
                <a:spcPct val="90000"/>
              </a:lnSpc>
              <a:buFontTx/>
              <a:buAutoNum type="arabicPeriod"/>
            </a:pPr>
            <a:endParaRPr lang="bg-BG" sz="2200" dirty="0"/>
          </a:p>
        </p:txBody>
      </p:sp>
      <p:sp>
        <p:nvSpPr>
          <p:cNvPr id="4" name="Date Placeholder 3"/>
          <p:cNvSpPr>
            <a:spLocks noGrp="1"/>
          </p:cNvSpPr>
          <p:nvPr>
            <p:ph type="dt" sz="half" idx="10"/>
          </p:nvPr>
        </p:nvSpPr>
        <p:spPr/>
        <p:txBody>
          <a:bodyPr/>
          <a:lstStyle/>
          <a:p>
            <a:r>
              <a:rPr lang="bg-BG" altLang="bg-BG" smtClean="0"/>
              <a:t>Юлиана Пенева</a:t>
            </a:r>
            <a:endParaRPr lang="bg-BG" altLang="bg-BG"/>
          </a:p>
        </p:txBody>
      </p:sp>
      <p:sp>
        <p:nvSpPr>
          <p:cNvPr id="5" name="Footer Placeholder 4"/>
          <p:cNvSpPr>
            <a:spLocks noGrp="1"/>
          </p:cNvSpPr>
          <p:nvPr>
            <p:ph type="ftr" sz="quarter" idx="11"/>
          </p:nvPr>
        </p:nvSpPr>
        <p:spPr/>
        <p:txBody>
          <a:bodyPr/>
          <a:lstStyle/>
          <a:p>
            <a:r>
              <a:rPr lang="en-US" altLang="bg-BG" smtClean="0"/>
              <a:t>CSCB405 - </a:t>
            </a:r>
            <a:r>
              <a:rPr lang="bg-BG" altLang="bg-BG" smtClean="0"/>
              <a:t>модул 8</a:t>
            </a:r>
            <a:endParaRPr lang="bg-BG" altLang="bg-BG"/>
          </a:p>
        </p:txBody>
      </p:sp>
      <p:sp>
        <p:nvSpPr>
          <p:cNvPr id="6" name="Slide Number Placeholder 5"/>
          <p:cNvSpPr>
            <a:spLocks noGrp="1"/>
          </p:cNvSpPr>
          <p:nvPr>
            <p:ph type="sldNum" sz="quarter" idx="12"/>
          </p:nvPr>
        </p:nvSpPr>
        <p:spPr/>
        <p:txBody>
          <a:bodyPr/>
          <a:lstStyle/>
          <a:p>
            <a:fld id="{57CB0F69-7EF5-4254-BD08-C3CA86B4F19B}" type="slidenum">
              <a:rPr lang="bg-BG" altLang="bg-BG"/>
              <a:pPr/>
              <a:t>28</a:t>
            </a:fld>
            <a:endParaRPr lang="bg-BG" altLang="bg-BG"/>
          </a:p>
        </p:txBody>
      </p:sp>
      <p:pic>
        <p:nvPicPr>
          <p:cNvPr id="2" name="Picture 1"/>
          <p:cNvPicPr>
            <a:picLocks noChangeAspect="1"/>
          </p:cNvPicPr>
          <p:nvPr/>
        </p:nvPicPr>
        <p:blipFill>
          <a:blip r:embed="rId2"/>
          <a:stretch>
            <a:fillRect/>
          </a:stretch>
        </p:blipFill>
        <p:spPr>
          <a:xfrm>
            <a:off x="201173" y="1196726"/>
            <a:ext cx="8687553" cy="2304488"/>
          </a:xfrm>
          <a:prstGeom prst="rect">
            <a:avLst/>
          </a:prstGeom>
          <a:ln w="19050">
            <a:solidFill>
              <a:srgbClr val="C00000"/>
            </a:solidFill>
          </a:ln>
        </p:spPr>
      </p:pic>
    </p:spTree>
    <p:extLst>
      <p:ext uri="{BB962C8B-B14F-4D97-AF65-F5344CB8AC3E}">
        <p14:creationId xmlns:p14="http://schemas.microsoft.com/office/powerpoint/2010/main" val="3654088479"/>
      </p:ext>
    </p:extLst>
  </p:cSld>
  <p:clrMapOvr>
    <a:masterClrMapping/>
  </p:clrMapOvr>
  <p:transition>
    <p:fad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a:xfrm>
            <a:off x="395536" y="260648"/>
            <a:ext cx="8243887" cy="724942"/>
          </a:xfrm>
        </p:spPr>
        <p:txBody>
          <a:bodyPr>
            <a:noAutofit/>
          </a:bodyPr>
          <a:lstStyle/>
          <a:p>
            <a:pPr algn="ctr"/>
            <a:r>
              <a:rPr lang="bg-BG" altLang="bg-BG" sz="3200" dirty="0">
                <a:solidFill>
                  <a:schemeClr val="accent1"/>
                </a:solidFill>
              </a:rPr>
              <a:t>Видове файлови организации</a:t>
            </a:r>
          </a:p>
        </p:txBody>
      </p:sp>
      <p:sp>
        <p:nvSpPr>
          <p:cNvPr id="141332" name="Rectangle 20"/>
          <p:cNvSpPr>
            <a:spLocks noGrp="1" noChangeArrowheads="1"/>
          </p:cNvSpPr>
          <p:nvPr>
            <p:ph idx="1"/>
          </p:nvPr>
        </p:nvSpPr>
        <p:spPr>
          <a:xfrm>
            <a:off x="457200" y="1052736"/>
            <a:ext cx="8229600" cy="5003577"/>
          </a:xfrm>
        </p:spPr>
        <p:txBody>
          <a:bodyPr>
            <a:normAutofit fontScale="92500" lnSpcReduction="20000"/>
          </a:bodyPr>
          <a:lstStyle/>
          <a:p>
            <a:pPr marL="0" indent="0" algn="ctr">
              <a:lnSpc>
                <a:spcPct val="90000"/>
              </a:lnSpc>
              <a:buNone/>
            </a:pPr>
            <a:r>
              <a:rPr lang="bg-BG" sz="3000" u="sng" dirty="0">
                <a:solidFill>
                  <a:srgbClr val="C00000"/>
                </a:solidFill>
              </a:rPr>
              <a:t>Директен </a:t>
            </a:r>
            <a:r>
              <a:rPr lang="bg-BG" sz="3000" u="sng" dirty="0" smtClean="0">
                <a:solidFill>
                  <a:srgbClr val="C00000"/>
                </a:solidFill>
              </a:rPr>
              <a:t>файл</a:t>
            </a:r>
          </a:p>
          <a:p>
            <a:pPr marL="0" indent="0" algn="ctr">
              <a:lnSpc>
                <a:spcPct val="90000"/>
              </a:lnSpc>
              <a:buNone/>
            </a:pPr>
            <a:endParaRPr lang="bg-BG" sz="800" u="sng" dirty="0" smtClean="0"/>
          </a:p>
          <a:p>
            <a:pPr>
              <a:lnSpc>
                <a:spcPct val="90000"/>
              </a:lnSpc>
              <a:buFont typeface="+mj-lt"/>
              <a:buAutoNum type="arabicPeriod"/>
            </a:pPr>
            <a:r>
              <a:rPr lang="bg-BG" sz="2600" dirty="0"/>
              <a:t>При директните файловете </a:t>
            </a:r>
            <a:r>
              <a:rPr lang="bg-BG" sz="2600" dirty="0" smtClean="0"/>
              <a:t>местоположението на записите </a:t>
            </a:r>
            <a:r>
              <a:rPr lang="bg-BG" sz="2600" dirty="0"/>
              <a:t>се </a:t>
            </a:r>
            <a:r>
              <a:rPr lang="bg-BG" sz="2600" dirty="0" smtClean="0"/>
              <a:t>изчислява </a:t>
            </a:r>
            <a:r>
              <a:rPr lang="bg-BG" sz="2600" dirty="0"/>
              <a:t>с помощта на </a:t>
            </a:r>
            <a:r>
              <a:rPr lang="bg-BG" sz="2600" dirty="0" smtClean="0">
                <a:solidFill>
                  <a:schemeClr val="accent1"/>
                </a:solidFill>
              </a:rPr>
              <a:t>хеш - функция</a:t>
            </a:r>
            <a:r>
              <a:rPr lang="bg-BG" sz="2600" dirty="0"/>
              <a:t>, която трансформира стойността на определено поле във физически адрес на блок, наречен клетка на </a:t>
            </a:r>
            <a:r>
              <a:rPr lang="bg-BG" sz="2600" dirty="0" smtClean="0"/>
              <a:t>хеш-таблицата</a:t>
            </a:r>
            <a:r>
              <a:rPr lang="en-US" sz="2600" dirty="0" smtClean="0"/>
              <a:t> – </a:t>
            </a:r>
            <a:r>
              <a:rPr lang="bg-BG" sz="2600" dirty="0" smtClean="0"/>
              <a:t>виж следващ слайд.</a:t>
            </a:r>
            <a:endParaRPr lang="bg-BG" sz="2600" dirty="0" smtClean="0"/>
          </a:p>
          <a:p>
            <a:pPr>
              <a:lnSpc>
                <a:spcPct val="90000"/>
              </a:lnSpc>
              <a:buFont typeface="+mj-lt"/>
              <a:buAutoNum type="arabicPeriod"/>
            </a:pPr>
            <a:r>
              <a:rPr lang="bg-BG" sz="2600" dirty="0" smtClean="0"/>
              <a:t>Обикновено </a:t>
            </a:r>
            <a:r>
              <a:rPr lang="bg-BG" sz="2600" dirty="0"/>
              <a:t>се извършва хеширане чрез деление с верижно препълване. Трансформирането на адреса става чрез деление на стойността на дадено поле от записа (обикновено се избира поле с уникални стойности – хеш поле) на части и прилагане на аритметична функция към всяка част. Така се получава единствено число - адрес, който след това се преобразува във физически адрес на диска. </a:t>
            </a:r>
            <a:endParaRPr lang="bg-BG" sz="2600" dirty="0" smtClean="0"/>
          </a:p>
          <a:p>
            <a:pPr>
              <a:lnSpc>
                <a:spcPct val="90000"/>
              </a:lnSpc>
              <a:buFont typeface="+mj-lt"/>
              <a:buAutoNum type="arabicPeriod"/>
            </a:pPr>
            <a:r>
              <a:rPr lang="bg-BG" sz="2600" dirty="0" smtClean="0"/>
              <a:t>Достъпът </a:t>
            </a:r>
            <a:r>
              <a:rPr lang="bg-BG" sz="2600" dirty="0"/>
              <a:t>до </a:t>
            </a:r>
            <a:r>
              <a:rPr lang="bg-BG" sz="2600" dirty="0" smtClean="0"/>
              <a:t>физическия </a:t>
            </a:r>
            <a:r>
              <a:rPr lang="bg-BG" sz="2600" dirty="0"/>
              <a:t>адрес позволява извличането на съществуващ запис или записването на нов. </a:t>
            </a:r>
            <a:endParaRPr lang="bg-BG" sz="2600" dirty="0" smtClean="0"/>
          </a:p>
          <a:p>
            <a:pPr marL="533400" indent="-533400">
              <a:lnSpc>
                <a:spcPct val="90000"/>
              </a:lnSpc>
              <a:buFontTx/>
              <a:buAutoNum type="arabicPeriod"/>
            </a:pPr>
            <a:endParaRPr lang="bg-BG" altLang="bg-BG" sz="2400" dirty="0"/>
          </a:p>
        </p:txBody>
      </p:sp>
      <p:sp>
        <p:nvSpPr>
          <p:cNvPr id="4" name="Date Placeholder 3"/>
          <p:cNvSpPr>
            <a:spLocks noGrp="1"/>
          </p:cNvSpPr>
          <p:nvPr>
            <p:ph type="dt" sz="half" idx="10"/>
          </p:nvPr>
        </p:nvSpPr>
        <p:spPr/>
        <p:txBody>
          <a:bodyPr/>
          <a:lstStyle/>
          <a:p>
            <a:r>
              <a:rPr lang="bg-BG" altLang="bg-BG" smtClean="0"/>
              <a:t>Юлиана Пенева</a:t>
            </a:r>
            <a:endParaRPr lang="bg-BG" altLang="bg-BG"/>
          </a:p>
        </p:txBody>
      </p:sp>
      <p:sp>
        <p:nvSpPr>
          <p:cNvPr id="5" name="Footer Placeholder 4"/>
          <p:cNvSpPr>
            <a:spLocks noGrp="1"/>
          </p:cNvSpPr>
          <p:nvPr>
            <p:ph type="ftr" sz="quarter" idx="11"/>
          </p:nvPr>
        </p:nvSpPr>
        <p:spPr/>
        <p:txBody>
          <a:bodyPr/>
          <a:lstStyle/>
          <a:p>
            <a:r>
              <a:rPr lang="en-US" altLang="bg-BG" smtClean="0"/>
              <a:t>CSCB405 - </a:t>
            </a:r>
            <a:r>
              <a:rPr lang="bg-BG" altLang="bg-BG" smtClean="0"/>
              <a:t>модул 8</a:t>
            </a:r>
            <a:endParaRPr lang="bg-BG" altLang="bg-BG"/>
          </a:p>
        </p:txBody>
      </p:sp>
      <p:sp>
        <p:nvSpPr>
          <p:cNvPr id="6" name="Slide Number Placeholder 5"/>
          <p:cNvSpPr>
            <a:spLocks noGrp="1"/>
          </p:cNvSpPr>
          <p:nvPr>
            <p:ph type="sldNum" sz="quarter" idx="12"/>
          </p:nvPr>
        </p:nvSpPr>
        <p:spPr/>
        <p:txBody>
          <a:bodyPr/>
          <a:lstStyle/>
          <a:p>
            <a:fld id="{57CB0F69-7EF5-4254-BD08-C3CA86B4F19B}" type="slidenum">
              <a:rPr lang="bg-BG" altLang="bg-BG"/>
              <a:pPr/>
              <a:t>29</a:t>
            </a:fld>
            <a:endParaRPr lang="bg-BG" altLang="bg-BG"/>
          </a:p>
        </p:txBody>
      </p:sp>
    </p:spTree>
  </p:cSld>
  <p:clrMapOvr>
    <a:masterClrMapping/>
  </p:clrMapOvr>
  <p:transition>
    <p:fad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a:xfrm>
            <a:off x="395536" y="260648"/>
            <a:ext cx="8243887" cy="724942"/>
          </a:xfrm>
        </p:spPr>
        <p:txBody>
          <a:bodyPr>
            <a:noAutofit/>
          </a:bodyPr>
          <a:lstStyle/>
          <a:p>
            <a:pPr algn="ctr"/>
            <a:r>
              <a:rPr lang="bg-BG" altLang="bg-BG" sz="3200" dirty="0">
                <a:solidFill>
                  <a:schemeClr val="accent1"/>
                </a:solidFill>
              </a:rPr>
              <a:t>Видове файлови организации</a:t>
            </a:r>
          </a:p>
        </p:txBody>
      </p:sp>
      <p:sp>
        <p:nvSpPr>
          <p:cNvPr id="141332" name="Rectangle 20"/>
          <p:cNvSpPr>
            <a:spLocks noGrp="1" noChangeArrowheads="1"/>
          </p:cNvSpPr>
          <p:nvPr>
            <p:ph idx="1"/>
          </p:nvPr>
        </p:nvSpPr>
        <p:spPr>
          <a:xfrm>
            <a:off x="457200" y="1052737"/>
            <a:ext cx="8229600" cy="792088"/>
          </a:xfrm>
        </p:spPr>
        <p:txBody>
          <a:bodyPr>
            <a:normAutofit/>
          </a:bodyPr>
          <a:lstStyle/>
          <a:p>
            <a:pPr marL="0" indent="0" algn="ctr">
              <a:lnSpc>
                <a:spcPct val="90000"/>
              </a:lnSpc>
              <a:buNone/>
            </a:pPr>
            <a:r>
              <a:rPr lang="bg-BG" sz="3000" dirty="0">
                <a:solidFill>
                  <a:srgbClr val="C00000"/>
                </a:solidFill>
              </a:rPr>
              <a:t>Директен </a:t>
            </a:r>
            <a:r>
              <a:rPr lang="bg-BG" sz="3000" dirty="0" smtClean="0">
                <a:solidFill>
                  <a:srgbClr val="C00000"/>
                </a:solidFill>
              </a:rPr>
              <a:t>файл</a:t>
            </a:r>
          </a:p>
          <a:p>
            <a:pPr marL="0" indent="0" algn="ctr">
              <a:lnSpc>
                <a:spcPct val="90000"/>
              </a:lnSpc>
              <a:buNone/>
            </a:pPr>
            <a:endParaRPr lang="bg-BG" sz="800" u="sng" dirty="0" smtClean="0"/>
          </a:p>
          <a:p>
            <a:pPr>
              <a:lnSpc>
                <a:spcPct val="90000"/>
              </a:lnSpc>
              <a:buFont typeface="+mj-lt"/>
              <a:buAutoNum type="arabicPeriod"/>
            </a:pPr>
            <a:endParaRPr lang="bg-BG" sz="2600" dirty="0"/>
          </a:p>
        </p:txBody>
      </p:sp>
      <p:sp>
        <p:nvSpPr>
          <p:cNvPr id="4" name="Date Placeholder 3"/>
          <p:cNvSpPr>
            <a:spLocks noGrp="1"/>
          </p:cNvSpPr>
          <p:nvPr>
            <p:ph type="dt" sz="half" idx="10"/>
          </p:nvPr>
        </p:nvSpPr>
        <p:spPr/>
        <p:txBody>
          <a:bodyPr/>
          <a:lstStyle/>
          <a:p>
            <a:r>
              <a:rPr lang="bg-BG" altLang="bg-BG" smtClean="0"/>
              <a:t>Юлиана Пенева</a:t>
            </a:r>
            <a:endParaRPr lang="bg-BG" altLang="bg-BG"/>
          </a:p>
        </p:txBody>
      </p:sp>
      <p:sp>
        <p:nvSpPr>
          <p:cNvPr id="5" name="Footer Placeholder 4"/>
          <p:cNvSpPr>
            <a:spLocks noGrp="1"/>
          </p:cNvSpPr>
          <p:nvPr>
            <p:ph type="ftr" sz="quarter" idx="11"/>
          </p:nvPr>
        </p:nvSpPr>
        <p:spPr/>
        <p:txBody>
          <a:bodyPr/>
          <a:lstStyle/>
          <a:p>
            <a:r>
              <a:rPr lang="en-US" altLang="bg-BG" smtClean="0"/>
              <a:t>CSCB405 - </a:t>
            </a:r>
            <a:r>
              <a:rPr lang="bg-BG" altLang="bg-BG" smtClean="0"/>
              <a:t>модул 8</a:t>
            </a:r>
            <a:endParaRPr lang="bg-BG" altLang="bg-BG"/>
          </a:p>
        </p:txBody>
      </p:sp>
      <p:sp>
        <p:nvSpPr>
          <p:cNvPr id="6" name="Slide Number Placeholder 5"/>
          <p:cNvSpPr>
            <a:spLocks noGrp="1"/>
          </p:cNvSpPr>
          <p:nvPr>
            <p:ph type="sldNum" sz="quarter" idx="12"/>
          </p:nvPr>
        </p:nvSpPr>
        <p:spPr/>
        <p:txBody>
          <a:bodyPr/>
          <a:lstStyle/>
          <a:p>
            <a:fld id="{57CB0F69-7EF5-4254-BD08-C3CA86B4F19B}" type="slidenum">
              <a:rPr lang="bg-BG" altLang="bg-BG"/>
              <a:pPr/>
              <a:t>30</a:t>
            </a:fld>
            <a:endParaRPr lang="bg-BG" altLang="bg-BG"/>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40914" y="1569337"/>
            <a:ext cx="4107486" cy="2053743"/>
          </a:xfrm>
          <a:prstGeom prst="rect">
            <a:avLst/>
          </a:prstGeom>
          <a:ln w="19050">
            <a:solidFill>
              <a:srgbClr val="C00000"/>
            </a:solidFill>
          </a:ln>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12254" y="3700284"/>
            <a:ext cx="4136145" cy="2360579"/>
          </a:xfrm>
          <a:prstGeom prst="rect">
            <a:avLst/>
          </a:prstGeom>
        </p:spPr>
      </p:pic>
    </p:spTree>
    <p:extLst>
      <p:ext uri="{BB962C8B-B14F-4D97-AF65-F5344CB8AC3E}">
        <p14:creationId xmlns:p14="http://schemas.microsoft.com/office/powerpoint/2010/main" val="1192108368"/>
      </p:ext>
    </p:extLst>
  </p:cSld>
  <p:clrMapOvr>
    <a:masterClrMapping/>
  </p:clrMapOvr>
  <p:transition>
    <p:fad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43887" cy="580926"/>
          </a:xfrm>
        </p:spPr>
        <p:txBody>
          <a:bodyPr>
            <a:noAutofit/>
          </a:bodyPr>
          <a:lstStyle/>
          <a:p>
            <a:pPr algn="ctr"/>
            <a:r>
              <a:rPr lang="bg-BG" altLang="bg-BG" sz="3200" dirty="0">
                <a:solidFill>
                  <a:schemeClr val="accent1"/>
                </a:solidFill>
              </a:rPr>
              <a:t>Видове файлови организации</a:t>
            </a:r>
            <a:endParaRPr lang="bg-BG" sz="3200" dirty="0">
              <a:solidFill>
                <a:schemeClr val="accent1"/>
              </a:solidFill>
            </a:endParaRPr>
          </a:p>
        </p:txBody>
      </p:sp>
      <p:sp>
        <p:nvSpPr>
          <p:cNvPr id="3" name="Content Placeholder 2"/>
          <p:cNvSpPr>
            <a:spLocks noGrp="1"/>
          </p:cNvSpPr>
          <p:nvPr>
            <p:ph idx="1"/>
          </p:nvPr>
        </p:nvSpPr>
        <p:spPr>
          <a:xfrm>
            <a:off x="539552" y="836712"/>
            <a:ext cx="8229600" cy="4896545"/>
          </a:xfrm>
        </p:spPr>
        <p:txBody>
          <a:bodyPr>
            <a:normAutofit fontScale="92500"/>
          </a:bodyPr>
          <a:lstStyle/>
          <a:p>
            <a:pPr marL="0" indent="0" algn="ctr">
              <a:buNone/>
            </a:pPr>
            <a:r>
              <a:rPr lang="bg-BG" sz="3000" u="sng" dirty="0">
                <a:solidFill>
                  <a:srgbClr val="C00000"/>
                </a:solidFill>
              </a:rPr>
              <a:t>Директен </a:t>
            </a:r>
            <a:r>
              <a:rPr lang="bg-BG" sz="3000" u="sng" dirty="0" smtClean="0">
                <a:solidFill>
                  <a:srgbClr val="C00000"/>
                </a:solidFill>
              </a:rPr>
              <a:t>файл</a:t>
            </a:r>
          </a:p>
          <a:p>
            <a:pPr marL="0" indent="0" algn="ctr">
              <a:buNone/>
            </a:pPr>
            <a:endParaRPr lang="bg-BG" sz="600" u="sng" dirty="0" smtClean="0">
              <a:solidFill>
                <a:schemeClr val="accent1"/>
              </a:solidFill>
            </a:endParaRPr>
          </a:p>
          <a:p>
            <a:pPr marL="457200" indent="-457200">
              <a:lnSpc>
                <a:spcPct val="90000"/>
              </a:lnSpc>
              <a:buFont typeface="+mj-lt"/>
              <a:buAutoNum type="arabicPeriod" startAt="4"/>
            </a:pPr>
            <a:r>
              <a:rPr lang="bg-BG" sz="2400" dirty="0"/>
              <a:t>При опит да се въведе запис в заета клетка на хеш-таблицата се получава колизия и съответно препълване. На новопостъпващия запис трябва да се намери място. </a:t>
            </a:r>
          </a:p>
          <a:p>
            <a:pPr marL="457200" indent="-457200">
              <a:lnSpc>
                <a:spcPct val="90000"/>
              </a:lnSpc>
              <a:buFont typeface="+mj-lt"/>
              <a:buAutoNum type="arabicPeriod" startAt="4"/>
            </a:pPr>
            <a:r>
              <a:rPr lang="bg-BG" sz="2400" dirty="0"/>
              <a:t>Съществуват различни подходи, но най-често се заделят блокове за препълване, свързани помежду си с указатели -оттам и термина "верижно препълване". </a:t>
            </a:r>
          </a:p>
          <a:p>
            <a:pPr marL="457200" indent="-457200">
              <a:lnSpc>
                <a:spcPct val="90000"/>
              </a:lnSpc>
              <a:buFont typeface="+mj-lt"/>
              <a:buAutoNum type="arabicPeriod" startAt="4"/>
            </a:pPr>
            <a:r>
              <a:rPr lang="bg-BG" sz="2400" dirty="0"/>
              <a:t>Хеширането от своя страна може да бъде статично или динамично. Записите в един хеш файл са произволно разпределени върху блокове от диска и затова понякога хеш-файловете се наричат файлове с директен достъп. </a:t>
            </a:r>
          </a:p>
          <a:p>
            <a:pPr marL="457200" indent="-457200">
              <a:lnSpc>
                <a:spcPct val="90000"/>
              </a:lnSpc>
              <a:buFont typeface="+mj-lt"/>
              <a:buAutoNum type="arabicPeriod" startAt="4"/>
            </a:pPr>
            <a:r>
              <a:rPr lang="bg-BG" sz="2400" dirty="0"/>
              <a:t>Търсенето на записи в хеш-файл е ефективно само </a:t>
            </a:r>
            <a:r>
              <a:rPr lang="bg-BG" sz="2400" dirty="0" smtClean="0"/>
              <a:t>когато в </a:t>
            </a:r>
            <a:r>
              <a:rPr lang="bg-BG" sz="2400" dirty="0"/>
              <a:t>критерия </a:t>
            </a:r>
            <a:r>
              <a:rPr lang="bg-BG" sz="2400" dirty="0" smtClean="0"/>
              <a:t>за търсене участвува </a:t>
            </a:r>
            <a:r>
              <a:rPr lang="bg-BG" sz="2400" dirty="0">
                <a:solidFill>
                  <a:schemeClr val="accent1"/>
                </a:solidFill>
              </a:rPr>
              <a:t>хеш-полето</a:t>
            </a:r>
            <a:r>
              <a:rPr lang="bg-BG" sz="2400" dirty="0"/>
              <a:t>. Затова хеш-файлове се използуват сравнително </a:t>
            </a:r>
            <a:r>
              <a:rPr lang="bg-BG" sz="2400" dirty="0">
                <a:solidFill>
                  <a:schemeClr val="accent1"/>
                </a:solidFill>
              </a:rPr>
              <a:t>рядко</a:t>
            </a:r>
            <a:r>
              <a:rPr lang="bg-BG" sz="2400" dirty="0"/>
              <a:t> при базите от данни</a:t>
            </a:r>
            <a:r>
              <a:rPr lang="bg-BG" sz="2400" dirty="0" smtClean="0"/>
              <a:t>.</a:t>
            </a:r>
            <a:endParaRPr lang="bg-BG" sz="2400" dirty="0"/>
          </a:p>
        </p:txBody>
      </p:sp>
      <p:sp>
        <p:nvSpPr>
          <p:cNvPr id="4" name="Date Placeholder 3"/>
          <p:cNvSpPr>
            <a:spLocks noGrp="1"/>
          </p:cNvSpPr>
          <p:nvPr>
            <p:ph type="dt" sz="half" idx="10"/>
          </p:nvPr>
        </p:nvSpPr>
        <p:spPr/>
        <p:txBody>
          <a:bodyPr/>
          <a:lstStyle/>
          <a:p>
            <a:r>
              <a:rPr lang="bg-BG" altLang="bg-BG" smtClean="0"/>
              <a:t>Юлиана Пенева</a:t>
            </a:r>
            <a:endParaRPr lang="bg-BG" altLang="bg-BG"/>
          </a:p>
        </p:txBody>
      </p:sp>
      <p:sp>
        <p:nvSpPr>
          <p:cNvPr id="5" name="Footer Placeholder 4"/>
          <p:cNvSpPr>
            <a:spLocks noGrp="1"/>
          </p:cNvSpPr>
          <p:nvPr>
            <p:ph type="ftr" sz="quarter" idx="11"/>
          </p:nvPr>
        </p:nvSpPr>
        <p:spPr/>
        <p:txBody>
          <a:bodyPr/>
          <a:lstStyle/>
          <a:p>
            <a:r>
              <a:rPr lang="en-US" altLang="bg-BG" smtClean="0"/>
              <a:t>CSCB405 - </a:t>
            </a:r>
            <a:r>
              <a:rPr lang="bg-BG" altLang="bg-BG" smtClean="0"/>
              <a:t>модул 8</a:t>
            </a:r>
            <a:endParaRPr lang="bg-BG" altLang="bg-BG"/>
          </a:p>
        </p:txBody>
      </p:sp>
      <p:sp>
        <p:nvSpPr>
          <p:cNvPr id="6" name="Slide Number Placeholder 5"/>
          <p:cNvSpPr>
            <a:spLocks noGrp="1"/>
          </p:cNvSpPr>
          <p:nvPr>
            <p:ph type="sldNum" sz="quarter" idx="12"/>
          </p:nvPr>
        </p:nvSpPr>
        <p:spPr/>
        <p:txBody>
          <a:bodyPr/>
          <a:lstStyle/>
          <a:p>
            <a:fld id="{74EE3BFA-F3F3-428D-9946-02BF70619056}" type="slidenum">
              <a:rPr lang="bg-BG" altLang="bg-BG" smtClean="0"/>
              <a:pPr/>
              <a:t>31</a:t>
            </a:fld>
            <a:endParaRPr lang="bg-BG" altLang="bg-BG"/>
          </a:p>
        </p:txBody>
      </p:sp>
    </p:spTree>
    <p:extLst>
      <p:ext uri="{BB962C8B-B14F-4D97-AF65-F5344CB8AC3E}">
        <p14:creationId xmlns:p14="http://schemas.microsoft.com/office/powerpoint/2010/main" val="2264541739"/>
      </p:ext>
    </p:extLst>
  </p:cSld>
  <p:clrMapOvr>
    <a:masterClrMapping/>
  </p:clrMapOvr>
  <p:transition>
    <p:fad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43887" cy="580926"/>
          </a:xfrm>
        </p:spPr>
        <p:txBody>
          <a:bodyPr>
            <a:noAutofit/>
          </a:bodyPr>
          <a:lstStyle/>
          <a:p>
            <a:pPr algn="ctr"/>
            <a:r>
              <a:rPr lang="bg-BG" altLang="bg-BG" sz="3200" dirty="0">
                <a:solidFill>
                  <a:schemeClr val="accent1"/>
                </a:solidFill>
              </a:rPr>
              <a:t>Видове файлови организации</a:t>
            </a:r>
            <a:endParaRPr lang="bg-BG" sz="3200" dirty="0">
              <a:solidFill>
                <a:schemeClr val="accent1"/>
              </a:solidFill>
            </a:endParaRPr>
          </a:p>
        </p:txBody>
      </p:sp>
      <p:sp>
        <p:nvSpPr>
          <p:cNvPr id="3" name="Content Placeholder 2"/>
          <p:cNvSpPr>
            <a:spLocks noGrp="1"/>
          </p:cNvSpPr>
          <p:nvPr>
            <p:ph idx="1"/>
          </p:nvPr>
        </p:nvSpPr>
        <p:spPr>
          <a:xfrm>
            <a:off x="323528" y="1058183"/>
            <a:ext cx="8229600" cy="786641"/>
          </a:xfrm>
        </p:spPr>
        <p:txBody>
          <a:bodyPr>
            <a:normAutofit/>
          </a:bodyPr>
          <a:lstStyle/>
          <a:p>
            <a:pPr marL="0" indent="0" algn="ctr">
              <a:buNone/>
            </a:pPr>
            <a:r>
              <a:rPr lang="bg-BG" sz="2800" dirty="0">
                <a:solidFill>
                  <a:srgbClr val="C00000"/>
                </a:solidFill>
              </a:rPr>
              <a:t>Директен </a:t>
            </a:r>
            <a:r>
              <a:rPr lang="bg-BG" sz="2800" dirty="0" smtClean="0">
                <a:solidFill>
                  <a:srgbClr val="C00000"/>
                </a:solidFill>
              </a:rPr>
              <a:t>/ последователен файл</a:t>
            </a:r>
            <a:endParaRPr lang="bg-BG" sz="2800" dirty="0" smtClean="0">
              <a:solidFill>
                <a:srgbClr val="C00000"/>
              </a:solidFill>
            </a:endParaRPr>
          </a:p>
          <a:p>
            <a:pPr marL="0" indent="0" algn="ctr">
              <a:buNone/>
            </a:pPr>
            <a:endParaRPr lang="bg-BG" sz="600" u="sng" dirty="0" smtClean="0">
              <a:solidFill>
                <a:schemeClr val="accent1"/>
              </a:solidFill>
            </a:endParaRPr>
          </a:p>
          <a:p>
            <a:pPr marL="457200" indent="-457200">
              <a:lnSpc>
                <a:spcPct val="90000"/>
              </a:lnSpc>
              <a:buFont typeface="+mj-lt"/>
              <a:buAutoNum type="arabicPeriod" startAt="4"/>
            </a:pPr>
            <a:endParaRPr lang="bg-BG" sz="2400" dirty="0"/>
          </a:p>
        </p:txBody>
      </p:sp>
      <p:sp>
        <p:nvSpPr>
          <p:cNvPr id="4" name="Date Placeholder 3"/>
          <p:cNvSpPr>
            <a:spLocks noGrp="1"/>
          </p:cNvSpPr>
          <p:nvPr>
            <p:ph type="dt" sz="half" idx="10"/>
          </p:nvPr>
        </p:nvSpPr>
        <p:spPr/>
        <p:txBody>
          <a:bodyPr/>
          <a:lstStyle/>
          <a:p>
            <a:r>
              <a:rPr lang="bg-BG" altLang="bg-BG" smtClean="0"/>
              <a:t>Юлиана Пенева</a:t>
            </a:r>
            <a:endParaRPr lang="bg-BG" altLang="bg-BG"/>
          </a:p>
        </p:txBody>
      </p:sp>
      <p:sp>
        <p:nvSpPr>
          <p:cNvPr id="5" name="Footer Placeholder 4"/>
          <p:cNvSpPr>
            <a:spLocks noGrp="1"/>
          </p:cNvSpPr>
          <p:nvPr>
            <p:ph type="ftr" sz="quarter" idx="11"/>
          </p:nvPr>
        </p:nvSpPr>
        <p:spPr/>
        <p:txBody>
          <a:bodyPr/>
          <a:lstStyle/>
          <a:p>
            <a:r>
              <a:rPr lang="en-US" altLang="bg-BG" smtClean="0"/>
              <a:t>CSCB405 - </a:t>
            </a:r>
            <a:r>
              <a:rPr lang="bg-BG" altLang="bg-BG" smtClean="0"/>
              <a:t>модул 8</a:t>
            </a:r>
            <a:endParaRPr lang="bg-BG" altLang="bg-BG"/>
          </a:p>
        </p:txBody>
      </p:sp>
      <p:sp>
        <p:nvSpPr>
          <p:cNvPr id="6" name="Slide Number Placeholder 5"/>
          <p:cNvSpPr>
            <a:spLocks noGrp="1"/>
          </p:cNvSpPr>
          <p:nvPr>
            <p:ph type="sldNum" sz="quarter" idx="12"/>
          </p:nvPr>
        </p:nvSpPr>
        <p:spPr/>
        <p:txBody>
          <a:bodyPr/>
          <a:lstStyle/>
          <a:p>
            <a:fld id="{74EE3BFA-F3F3-428D-9946-02BF70619056}" type="slidenum">
              <a:rPr lang="bg-BG" altLang="bg-BG" smtClean="0"/>
              <a:pPr/>
              <a:t>32</a:t>
            </a:fld>
            <a:endParaRPr lang="bg-BG" altLang="bg-BG"/>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84728" y="1772816"/>
            <a:ext cx="6097549" cy="3176215"/>
          </a:xfrm>
          <a:prstGeom prst="rect">
            <a:avLst/>
          </a:prstGeom>
          <a:ln w="19050">
            <a:solidFill>
              <a:srgbClr val="C00000"/>
            </a:solidFill>
          </a:ln>
        </p:spPr>
      </p:pic>
    </p:spTree>
    <p:extLst>
      <p:ext uri="{BB962C8B-B14F-4D97-AF65-F5344CB8AC3E}">
        <p14:creationId xmlns:p14="http://schemas.microsoft.com/office/powerpoint/2010/main" val="3993834365"/>
      </p:ext>
    </p:extLst>
  </p:cSld>
  <p:clrMapOvr>
    <a:masterClrMapping/>
  </p:clrMapOvr>
  <p:transition>
    <p:fad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43887" cy="580926"/>
          </a:xfrm>
        </p:spPr>
        <p:txBody>
          <a:bodyPr>
            <a:noAutofit/>
          </a:bodyPr>
          <a:lstStyle/>
          <a:p>
            <a:pPr algn="ctr"/>
            <a:r>
              <a:rPr lang="bg-BG" altLang="bg-BG" sz="3200" dirty="0">
                <a:solidFill>
                  <a:schemeClr val="accent1"/>
                </a:solidFill>
              </a:rPr>
              <a:t>Видове файлови организации</a:t>
            </a:r>
            <a:endParaRPr lang="bg-BG" sz="3200" dirty="0">
              <a:solidFill>
                <a:schemeClr val="accent1"/>
              </a:solidFill>
            </a:endParaRPr>
          </a:p>
        </p:txBody>
      </p:sp>
      <p:sp>
        <p:nvSpPr>
          <p:cNvPr id="3" name="Content Placeholder 2"/>
          <p:cNvSpPr>
            <a:spLocks noGrp="1"/>
          </p:cNvSpPr>
          <p:nvPr>
            <p:ph idx="1"/>
          </p:nvPr>
        </p:nvSpPr>
        <p:spPr>
          <a:xfrm>
            <a:off x="323528" y="916116"/>
            <a:ext cx="8229600" cy="786641"/>
          </a:xfrm>
        </p:spPr>
        <p:txBody>
          <a:bodyPr>
            <a:normAutofit/>
          </a:bodyPr>
          <a:lstStyle/>
          <a:p>
            <a:pPr marL="0" indent="0" algn="ctr">
              <a:buNone/>
            </a:pPr>
            <a:r>
              <a:rPr lang="bg-BG" sz="2800" dirty="0" smtClean="0">
                <a:solidFill>
                  <a:srgbClr val="C00000"/>
                </a:solidFill>
              </a:rPr>
              <a:t>Файлови организации при СУБД</a:t>
            </a:r>
            <a:endParaRPr lang="bg-BG" sz="2400" dirty="0"/>
          </a:p>
        </p:txBody>
      </p:sp>
      <p:sp>
        <p:nvSpPr>
          <p:cNvPr id="4" name="Date Placeholder 3"/>
          <p:cNvSpPr>
            <a:spLocks noGrp="1"/>
          </p:cNvSpPr>
          <p:nvPr>
            <p:ph type="dt" sz="half" idx="10"/>
          </p:nvPr>
        </p:nvSpPr>
        <p:spPr/>
        <p:txBody>
          <a:bodyPr/>
          <a:lstStyle/>
          <a:p>
            <a:r>
              <a:rPr lang="bg-BG" altLang="bg-BG" smtClean="0"/>
              <a:t>Юлиана Пенева</a:t>
            </a:r>
            <a:endParaRPr lang="bg-BG" altLang="bg-BG"/>
          </a:p>
        </p:txBody>
      </p:sp>
      <p:sp>
        <p:nvSpPr>
          <p:cNvPr id="5" name="Footer Placeholder 4"/>
          <p:cNvSpPr>
            <a:spLocks noGrp="1"/>
          </p:cNvSpPr>
          <p:nvPr>
            <p:ph type="ftr" sz="quarter" idx="11"/>
          </p:nvPr>
        </p:nvSpPr>
        <p:spPr/>
        <p:txBody>
          <a:bodyPr/>
          <a:lstStyle/>
          <a:p>
            <a:r>
              <a:rPr lang="en-US" altLang="bg-BG" smtClean="0"/>
              <a:t>CSCB405 - </a:t>
            </a:r>
            <a:r>
              <a:rPr lang="bg-BG" altLang="bg-BG" smtClean="0"/>
              <a:t>модул 8</a:t>
            </a:r>
            <a:endParaRPr lang="bg-BG" altLang="bg-BG"/>
          </a:p>
        </p:txBody>
      </p:sp>
      <p:sp>
        <p:nvSpPr>
          <p:cNvPr id="6" name="Slide Number Placeholder 5"/>
          <p:cNvSpPr>
            <a:spLocks noGrp="1"/>
          </p:cNvSpPr>
          <p:nvPr>
            <p:ph type="sldNum" sz="quarter" idx="12"/>
          </p:nvPr>
        </p:nvSpPr>
        <p:spPr/>
        <p:txBody>
          <a:bodyPr/>
          <a:lstStyle/>
          <a:p>
            <a:fld id="{74EE3BFA-F3F3-428D-9946-02BF70619056}" type="slidenum">
              <a:rPr lang="bg-BG" altLang="bg-BG" smtClean="0"/>
              <a:pPr/>
              <a:t>33</a:t>
            </a:fld>
            <a:endParaRPr lang="bg-BG" altLang="bg-BG"/>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15525" y="2000907"/>
            <a:ext cx="5874196" cy="3373694"/>
          </a:xfrm>
          <a:prstGeom prst="rect">
            <a:avLst/>
          </a:prstGeom>
          <a:ln w="19050">
            <a:solidFill>
              <a:srgbClr val="C00000"/>
            </a:solidFill>
          </a:ln>
        </p:spPr>
      </p:pic>
    </p:spTree>
    <p:extLst>
      <p:ext uri="{BB962C8B-B14F-4D97-AF65-F5344CB8AC3E}">
        <p14:creationId xmlns:p14="http://schemas.microsoft.com/office/powerpoint/2010/main" val="4166871043"/>
      </p:ext>
    </p:extLst>
  </p:cSld>
  <p:clrMapOvr>
    <a:masterClrMapping/>
  </p:clrMapOvr>
  <p:transition>
    <p:fad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3294" y="297100"/>
            <a:ext cx="8243887" cy="580926"/>
          </a:xfrm>
        </p:spPr>
        <p:txBody>
          <a:bodyPr>
            <a:noAutofit/>
          </a:bodyPr>
          <a:lstStyle/>
          <a:p>
            <a:pPr algn="ctr"/>
            <a:r>
              <a:rPr lang="bg-BG" altLang="bg-BG" sz="3200" dirty="0">
                <a:solidFill>
                  <a:schemeClr val="accent1"/>
                </a:solidFill>
              </a:rPr>
              <a:t>Видове файлови организации</a:t>
            </a:r>
            <a:endParaRPr lang="bg-BG" sz="3200" dirty="0">
              <a:solidFill>
                <a:schemeClr val="accent1"/>
              </a:solidFill>
            </a:endParaRPr>
          </a:p>
        </p:txBody>
      </p:sp>
      <p:sp>
        <p:nvSpPr>
          <p:cNvPr id="3" name="Content Placeholder 2"/>
          <p:cNvSpPr>
            <a:spLocks noGrp="1"/>
          </p:cNvSpPr>
          <p:nvPr>
            <p:ph idx="1"/>
          </p:nvPr>
        </p:nvSpPr>
        <p:spPr>
          <a:xfrm>
            <a:off x="568899" y="674414"/>
            <a:ext cx="8229600" cy="5545656"/>
          </a:xfrm>
        </p:spPr>
        <p:txBody>
          <a:bodyPr>
            <a:normAutofit fontScale="92500"/>
          </a:bodyPr>
          <a:lstStyle/>
          <a:p>
            <a:pPr marL="457200" indent="-457200">
              <a:buFont typeface="+mj-lt"/>
              <a:buAutoNum type="arabicPeriod"/>
            </a:pPr>
            <a:r>
              <a:rPr lang="bg-BG" dirty="0" smtClean="0"/>
              <a:t>Основните файлови </a:t>
            </a:r>
            <a:r>
              <a:rPr lang="bg-BG" dirty="0"/>
              <a:t>организации се прилагат когато всички записи в даден файл са от един и същ тип. </a:t>
            </a:r>
            <a:endParaRPr lang="bg-BG" dirty="0" smtClean="0"/>
          </a:p>
          <a:p>
            <a:pPr marL="457200" indent="-457200">
              <a:buFont typeface="+mj-lt"/>
              <a:buAutoNum type="arabicPeriod"/>
            </a:pPr>
            <a:r>
              <a:rPr lang="bg-BG" dirty="0" smtClean="0"/>
              <a:t>При </a:t>
            </a:r>
            <a:r>
              <a:rPr lang="bg-BG" dirty="0"/>
              <a:t>повече от приложенията, обаче се установяват връзки между записи от различни файлове с помощта на свързващи полета като чужд ключ при релационния модел или връзките между обектите при обектно-ориентираните модели. </a:t>
            </a:r>
            <a:endParaRPr lang="bg-BG" dirty="0" smtClean="0"/>
          </a:p>
          <a:p>
            <a:pPr marL="457200" indent="-457200">
              <a:buFont typeface="+mj-lt"/>
              <a:buAutoNum type="arabicPeriod"/>
            </a:pPr>
            <a:r>
              <a:rPr lang="bg-BG" dirty="0" smtClean="0"/>
              <a:t>Файловите </a:t>
            </a:r>
            <a:r>
              <a:rPr lang="bg-BG" dirty="0"/>
              <a:t>организации при обектните, или при йерархичните и мрежови СУБД, реализират тези връзки чрез физически указатели, като записите се поместват в една област (клъстер). </a:t>
            </a:r>
            <a:endParaRPr lang="bg-BG" dirty="0" smtClean="0"/>
          </a:p>
          <a:p>
            <a:pPr marL="457200" indent="-457200">
              <a:buFont typeface="+mj-lt"/>
              <a:buAutoNum type="arabicPeriod"/>
            </a:pPr>
            <a:r>
              <a:rPr lang="bg-BG" dirty="0" smtClean="0"/>
              <a:t>При </a:t>
            </a:r>
            <a:r>
              <a:rPr lang="bg-BG" dirty="0"/>
              <a:t>първоначалното зареждане на хранилищата, данните произлизат от различни източници и се съдържат в различни файлове, които се поместват в един клъстер, за да се подложат на преформатиране и почистване. </a:t>
            </a:r>
            <a:endParaRPr lang="bg-BG" dirty="0" smtClean="0"/>
          </a:p>
          <a:p>
            <a:pPr marL="457200" indent="-457200">
              <a:buFont typeface="+mj-lt"/>
              <a:buAutoNum type="arabicPeriod"/>
            </a:pPr>
            <a:r>
              <a:rPr lang="bg-BG" dirty="0" smtClean="0"/>
              <a:t>Възможно </a:t>
            </a:r>
            <a:r>
              <a:rPr lang="bg-BG" dirty="0"/>
              <a:t>е използването и на други структури от данни като B-дървета за файлова организация.</a:t>
            </a:r>
            <a:endParaRPr lang="en-US" dirty="0"/>
          </a:p>
        </p:txBody>
      </p:sp>
      <p:sp>
        <p:nvSpPr>
          <p:cNvPr id="4" name="Date Placeholder 3"/>
          <p:cNvSpPr>
            <a:spLocks noGrp="1"/>
          </p:cNvSpPr>
          <p:nvPr>
            <p:ph type="dt" sz="half" idx="10"/>
          </p:nvPr>
        </p:nvSpPr>
        <p:spPr/>
        <p:txBody>
          <a:bodyPr/>
          <a:lstStyle/>
          <a:p>
            <a:r>
              <a:rPr lang="bg-BG" altLang="bg-BG" smtClean="0"/>
              <a:t>Юлиана Пенева</a:t>
            </a:r>
            <a:endParaRPr lang="bg-BG" altLang="bg-BG"/>
          </a:p>
        </p:txBody>
      </p:sp>
      <p:sp>
        <p:nvSpPr>
          <p:cNvPr id="5" name="Footer Placeholder 4"/>
          <p:cNvSpPr>
            <a:spLocks noGrp="1"/>
          </p:cNvSpPr>
          <p:nvPr>
            <p:ph type="ftr" sz="quarter" idx="11"/>
          </p:nvPr>
        </p:nvSpPr>
        <p:spPr/>
        <p:txBody>
          <a:bodyPr/>
          <a:lstStyle/>
          <a:p>
            <a:r>
              <a:rPr lang="en-US" altLang="bg-BG" smtClean="0"/>
              <a:t>CSCB405 - </a:t>
            </a:r>
            <a:r>
              <a:rPr lang="bg-BG" altLang="bg-BG" smtClean="0"/>
              <a:t>модул 8</a:t>
            </a:r>
            <a:endParaRPr lang="bg-BG" altLang="bg-BG"/>
          </a:p>
        </p:txBody>
      </p:sp>
      <p:sp>
        <p:nvSpPr>
          <p:cNvPr id="6" name="Slide Number Placeholder 5"/>
          <p:cNvSpPr>
            <a:spLocks noGrp="1"/>
          </p:cNvSpPr>
          <p:nvPr>
            <p:ph type="sldNum" sz="quarter" idx="12"/>
          </p:nvPr>
        </p:nvSpPr>
        <p:spPr/>
        <p:txBody>
          <a:bodyPr/>
          <a:lstStyle/>
          <a:p>
            <a:fld id="{74EE3BFA-F3F3-428D-9946-02BF70619056}" type="slidenum">
              <a:rPr lang="bg-BG" altLang="bg-BG" smtClean="0"/>
              <a:pPr/>
              <a:t>34</a:t>
            </a:fld>
            <a:endParaRPr lang="bg-BG" altLang="bg-BG"/>
          </a:p>
        </p:txBody>
      </p:sp>
    </p:spTree>
    <p:extLst>
      <p:ext uri="{BB962C8B-B14F-4D97-AF65-F5344CB8AC3E}">
        <p14:creationId xmlns:p14="http://schemas.microsoft.com/office/powerpoint/2010/main" val="2882527106"/>
      </p:ext>
    </p:extLst>
  </p:cSld>
  <p:clrMapOvr>
    <a:masterClrMapping/>
  </p:clrMapOvr>
  <p:transition>
    <p:fade/>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3568" y="294513"/>
            <a:ext cx="8243887" cy="580926"/>
          </a:xfrm>
        </p:spPr>
        <p:txBody>
          <a:bodyPr>
            <a:noAutofit/>
          </a:bodyPr>
          <a:lstStyle/>
          <a:p>
            <a:pPr algn="ctr"/>
            <a:r>
              <a:rPr lang="bg-BG" altLang="bg-BG" sz="3200" dirty="0">
                <a:solidFill>
                  <a:schemeClr val="accent1"/>
                </a:solidFill>
              </a:rPr>
              <a:t>Видове файлови организации</a:t>
            </a:r>
            <a:endParaRPr lang="bg-BG" sz="3200" dirty="0">
              <a:solidFill>
                <a:schemeClr val="accent1"/>
              </a:solidFill>
            </a:endParaRPr>
          </a:p>
        </p:txBody>
      </p:sp>
      <p:sp>
        <p:nvSpPr>
          <p:cNvPr id="3" name="Content Placeholder 2"/>
          <p:cNvSpPr>
            <a:spLocks noGrp="1"/>
          </p:cNvSpPr>
          <p:nvPr>
            <p:ph idx="1"/>
          </p:nvPr>
        </p:nvSpPr>
        <p:spPr>
          <a:xfrm>
            <a:off x="395738" y="796289"/>
            <a:ext cx="8531919" cy="5412487"/>
          </a:xfrm>
        </p:spPr>
        <p:txBody>
          <a:bodyPr>
            <a:normAutofit/>
          </a:bodyPr>
          <a:lstStyle/>
          <a:p>
            <a:pPr marL="0" indent="0" algn="ctr">
              <a:buNone/>
            </a:pPr>
            <a:r>
              <a:rPr lang="bg-BG" dirty="0" smtClean="0">
                <a:solidFill>
                  <a:srgbClr val="C00000"/>
                </a:solidFill>
              </a:rPr>
              <a:t>Нови хардуерни решения за ускоряване извличането на данните</a:t>
            </a:r>
          </a:p>
          <a:p>
            <a:pPr marL="457200" indent="-457200">
              <a:buFont typeface="+mj-lt"/>
              <a:buAutoNum type="arabicPeriod"/>
            </a:pPr>
            <a:r>
              <a:rPr lang="bg-BG" sz="2200" dirty="0" smtClean="0"/>
              <a:t>Масиви от независими дискове (</a:t>
            </a:r>
            <a:r>
              <a:rPr lang="bg-BG" sz="2200" dirty="0" err="1" smtClean="0"/>
              <a:t>redundant</a:t>
            </a:r>
            <a:r>
              <a:rPr lang="bg-BG" sz="2200" dirty="0" smtClean="0"/>
              <a:t> </a:t>
            </a:r>
            <a:r>
              <a:rPr lang="bg-BG" sz="2200" dirty="0" err="1" smtClean="0"/>
              <a:t>arrays</a:t>
            </a:r>
            <a:r>
              <a:rPr lang="bg-BG" sz="2200" dirty="0" smtClean="0"/>
              <a:t> </a:t>
            </a:r>
            <a:r>
              <a:rPr lang="bg-BG" sz="2200" dirty="0" err="1" smtClean="0"/>
              <a:t>of</a:t>
            </a:r>
            <a:r>
              <a:rPr lang="bg-BG" sz="2200" dirty="0" smtClean="0"/>
              <a:t> </a:t>
            </a:r>
            <a:r>
              <a:rPr lang="bg-BG" sz="2200" dirty="0" err="1" smtClean="0"/>
              <a:t>independent</a:t>
            </a:r>
            <a:r>
              <a:rPr lang="bg-BG" sz="2200" dirty="0" smtClean="0"/>
              <a:t> </a:t>
            </a:r>
            <a:r>
              <a:rPr lang="bg-BG" sz="2200" dirty="0" err="1" smtClean="0"/>
              <a:t>disks</a:t>
            </a:r>
            <a:r>
              <a:rPr lang="bg-BG" sz="2200" dirty="0" smtClean="0"/>
              <a:t> – RAID) - подобряват ефективността на дисковата памет за работа с мултимедийна информация. </a:t>
            </a:r>
          </a:p>
          <a:p>
            <a:pPr marL="457200" indent="-457200">
              <a:buFont typeface="+mj-lt"/>
              <a:buAutoNum type="arabicPeriod"/>
            </a:pPr>
            <a:r>
              <a:rPr lang="bg-BG" sz="2200" dirty="0" smtClean="0"/>
              <a:t>Локални мрежи за съхранение </a:t>
            </a:r>
            <a:r>
              <a:rPr lang="bg-BG" sz="2200" dirty="0" smtClean="0"/>
              <a:t>(</a:t>
            </a:r>
            <a:r>
              <a:rPr lang="bg-BG" sz="2200" dirty="0" err="1" smtClean="0"/>
              <a:t>Storage</a:t>
            </a:r>
            <a:r>
              <a:rPr lang="bg-BG" sz="2200" dirty="0" smtClean="0"/>
              <a:t> </a:t>
            </a:r>
            <a:r>
              <a:rPr lang="bg-BG" sz="2200" dirty="0" err="1" smtClean="0"/>
              <a:t>Area</a:t>
            </a:r>
            <a:r>
              <a:rPr lang="bg-BG" sz="2200" dirty="0" smtClean="0"/>
              <a:t> </a:t>
            </a:r>
            <a:r>
              <a:rPr lang="bg-BG" sz="2200" dirty="0" err="1" smtClean="0"/>
              <a:t>Networks</a:t>
            </a:r>
            <a:r>
              <a:rPr lang="bg-BG" sz="2200" dirty="0" smtClean="0"/>
              <a:t> – SAN) </a:t>
            </a:r>
            <a:r>
              <a:rPr lang="bg-BG" sz="2200" dirty="0" smtClean="0"/>
              <a:t>–  онлайн периферни устройства за запазване на данни представляват възли във високоскоростна мрежа, към която при нужда се прикачват сървърите. </a:t>
            </a:r>
          </a:p>
          <a:p>
            <a:pPr marL="457200" indent="-457200">
              <a:buFont typeface="+mj-lt"/>
              <a:buAutoNum type="arabicPeriod"/>
            </a:pPr>
            <a:r>
              <a:rPr lang="bg-BG" sz="2200" dirty="0" smtClean="0"/>
              <a:t>Специализирани устройства, които се включват към мрежата </a:t>
            </a:r>
            <a:r>
              <a:rPr lang="bg-BG" sz="2200" dirty="0" smtClean="0"/>
              <a:t>(</a:t>
            </a:r>
            <a:r>
              <a:rPr lang="bg-BG" sz="2200" dirty="0" err="1" smtClean="0"/>
              <a:t>Network-Аttached</a:t>
            </a:r>
            <a:r>
              <a:rPr lang="bg-BG" sz="2200" dirty="0" smtClean="0"/>
              <a:t> </a:t>
            </a:r>
            <a:r>
              <a:rPr lang="bg-BG" sz="2200" dirty="0" err="1" smtClean="0"/>
              <a:t>Storage</a:t>
            </a:r>
            <a:r>
              <a:rPr lang="bg-BG" sz="2200" dirty="0" smtClean="0"/>
              <a:t> – </a:t>
            </a:r>
            <a:r>
              <a:rPr lang="bg-BG" sz="2200" dirty="0" smtClean="0"/>
              <a:t>NAS) - осигуряват памет за споделяне на файлове като позволяват добавянето на дискови ресурси, без да се налага изключване или обновяване на сървъри; съхраняват различни файлове (заместват традиционните файлови сървъри).</a:t>
            </a:r>
            <a:endParaRPr lang="en-US" sz="2200" dirty="0" smtClean="0"/>
          </a:p>
          <a:p>
            <a:pPr marL="457200" indent="-457200">
              <a:buFont typeface="+mj-lt"/>
              <a:buAutoNum type="arabicPeriod"/>
            </a:pPr>
            <a:endParaRPr lang="bg-BG" dirty="0" smtClean="0"/>
          </a:p>
        </p:txBody>
      </p:sp>
      <p:sp>
        <p:nvSpPr>
          <p:cNvPr id="4" name="Date Placeholder 3"/>
          <p:cNvSpPr>
            <a:spLocks noGrp="1"/>
          </p:cNvSpPr>
          <p:nvPr>
            <p:ph type="dt" sz="half" idx="10"/>
          </p:nvPr>
        </p:nvSpPr>
        <p:spPr/>
        <p:txBody>
          <a:bodyPr/>
          <a:lstStyle/>
          <a:p>
            <a:r>
              <a:rPr lang="bg-BG" altLang="bg-BG" smtClean="0"/>
              <a:t>Юлиана Пенева</a:t>
            </a:r>
            <a:endParaRPr lang="bg-BG" altLang="bg-BG"/>
          </a:p>
        </p:txBody>
      </p:sp>
      <p:sp>
        <p:nvSpPr>
          <p:cNvPr id="5" name="Footer Placeholder 4"/>
          <p:cNvSpPr>
            <a:spLocks noGrp="1"/>
          </p:cNvSpPr>
          <p:nvPr>
            <p:ph type="ftr" sz="quarter" idx="11"/>
          </p:nvPr>
        </p:nvSpPr>
        <p:spPr/>
        <p:txBody>
          <a:bodyPr/>
          <a:lstStyle/>
          <a:p>
            <a:r>
              <a:rPr lang="en-US" altLang="bg-BG" smtClean="0"/>
              <a:t>CSCB405 - </a:t>
            </a:r>
            <a:r>
              <a:rPr lang="bg-BG" altLang="bg-BG" smtClean="0"/>
              <a:t>модул 8</a:t>
            </a:r>
            <a:endParaRPr lang="bg-BG" altLang="bg-BG"/>
          </a:p>
        </p:txBody>
      </p:sp>
      <p:sp>
        <p:nvSpPr>
          <p:cNvPr id="6" name="Slide Number Placeholder 5"/>
          <p:cNvSpPr>
            <a:spLocks noGrp="1"/>
          </p:cNvSpPr>
          <p:nvPr>
            <p:ph type="sldNum" sz="quarter" idx="12"/>
          </p:nvPr>
        </p:nvSpPr>
        <p:spPr/>
        <p:txBody>
          <a:bodyPr/>
          <a:lstStyle/>
          <a:p>
            <a:fld id="{74EE3BFA-F3F3-428D-9946-02BF70619056}" type="slidenum">
              <a:rPr lang="bg-BG" altLang="bg-BG" smtClean="0"/>
              <a:pPr/>
              <a:t>35</a:t>
            </a:fld>
            <a:endParaRPr lang="bg-BG" altLang="bg-BG"/>
          </a:p>
        </p:txBody>
      </p:sp>
    </p:spTree>
    <p:extLst>
      <p:ext uri="{BB962C8B-B14F-4D97-AF65-F5344CB8AC3E}">
        <p14:creationId xmlns:p14="http://schemas.microsoft.com/office/powerpoint/2010/main" val="1567489047"/>
      </p:ext>
    </p:extLst>
  </p:cSld>
  <p:clrMapOvr>
    <a:masterClrMapping/>
  </p:clrMapOvr>
  <p:transition>
    <p:fade/>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3568" y="294513"/>
            <a:ext cx="8243887" cy="580926"/>
          </a:xfrm>
        </p:spPr>
        <p:txBody>
          <a:bodyPr>
            <a:noAutofit/>
          </a:bodyPr>
          <a:lstStyle/>
          <a:p>
            <a:pPr algn="ctr"/>
            <a:r>
              <a:rPr lang="bg-BG" altLang="bg-BG" sz="3200" dirty="0">
                <a:solidFill>
                  <a:schemeClr val="accent1"/>
                </a:solidFill>
              </a:rPr>
              <a:t>Видове файлови организации</a:t>
            </a:r>
            <a:endParaRPr lang="bg-BG" sz="3200" dirty="0">
              <a:solidFill>
                <a:schemeClr val="accent1"/>
              </a:solidFill>
            </a:endParaRPr>
          </a:p>
        </p:txBody>
      </p:sp>
      <p:sp>
        <p:nvSpPr>
          <p:cNvPr id="3" name="Content Placeholder 2"/>
          <p:cNvSpPr>
            <a:spLocks noGrp="1"/>
          </p:cNvSpPr>
          <p:nvPr>
            <p:ph idx="1"/>
          </p:nvPr>
        </p:nvSpPr>
        <p:spPr>
          <a:xfrm>
            <a:off x="379125" y="658294"/>
            <a:ext cx="8531716" cy="544479"/>
          </a:xfrm>
        </p:spPr>
        <p:txBody>
          <a:bodyPr>
            <a:normAutofit/>
          </a:bodyPr>
          <a:lstStyle/>
          <a:p>
            <a:pPr marL="0" indent="0" algn="ctr">
              <a:buNone/>
            </a:pPr>
            <a:r>
              <a:rPr lang="bg-BG" dirty="0" smtClean="0">
                <a:solidFill>
                  <a:srgbClr val="C00000"/>
                </a:solidFill>
              </a:rPr>
              <a:t>Нови хардуерни решения за ускоряване извличането на </a:t>
            </a:r>
            <a:r>
              <a:rPr lang="bg-BG" dirty="0" smtClean="0">
                <a:solidFill>
                  <a:srgbClr val="C00000"/>
                </a:solidFill>
              </a:rPr>
              <a:t>данните</a:t>
            </a:r>
            <a:endParaRPr lang="bg-BG" dirty="0" smtClean="0">
              <a:solidFill>
                <a:srgbClr val="C00000"/>
              </a:solidFill>
            </a:endParaRPr>
          </a:p>
        </p:txBody>
      </p:sp>
      <p:sp>
        <p:nvSpPr>
          <p:cNvPr id="4" name="Date Placeholder 3"/>
          <p:cNvSpPr>
            <a:spLocks noGrp="1"/>
          </p:cNvSpPr>
          <p:nvPr>
            <p:ph type="dt" sz="half" idx="10"/>
          </p:nvPr>
        </p:nvSpPr>
        <p:spPr/>
        <p:txBody>
          <a:bodyPr/>
          <a:lstStyle/>
          <a:p>
            <a:r>
              <a:rPr lang="bg-BG" altLang="bg-BG" smtClean="0"/>
              <a:t>Юлиана Пенева</a:t>
            </a:r>
            <a:endParaRPr lang="bg-BG" altLang="bg-BG"/>
          </a:p>
        </p:txBody>
      </p:sp>
      <p:sp>
        <p:nvSpPr>
          <p:cNvPr id="5" name="Footer Placeholder 4"/>
          <p:cNvSpPr>
            <a:spLocks noGrp="1"/>
          </p:cNvSpPr>
          <p:nvPr>
            <p:ph type="ftr" sz="quarter" idx="11"/>
          </p:nvPr>
        </p:nvSpPr>
        <p:spPr/>
        <p:txBody>
          <a:bodyPr/>
          <a:lstStyle/>
          <a:p>
            <a:r>
              <a:rPr lang="en-US" altLang="bg-BG" smtClean="0"/>
              <a:t>CSCB405 - </a:t>
            </a:r>
            <a:r>
              <a:rPr lang="bg-BG" altLang="bg-BG" smtClean="0"/>
              <a:t>модул 8</a:t>
            </a:r>
            <a:endParaRPr lang="bg-BG" altLang="bg-BG"/>
          </a:p>
        </p:txBody>
      </p:sp>
      <p:sp>
        <p:nvSpPr>
          <p:cNvPr id="6" name="Slide Number Placeholder 5"/>
          <p:cNvSpPr>
            <a:spLocks noGrp="1"/>
          </p:cNvSpPr>
          <p:nvPr>
            <p:ph type="sldNum" sz="quarter" idx="12"/>
          </p:nvPr>
        </p:nvSpPr>
        <p:spPr/>
        <p:txBody>
          <a:bodyPr/>
          <a:lstStyle/>
          <a:p>
            <a:fld id="{74EE3BFA-F3F3-428D-9946-02BF70619056}" type="slidenum">
              <a:rPr lang="bg-BG" altLang="bg-BG" smtClean="0"/>
              <a:pPr/>
              <a:t>36</a:t>
            </a:fld>
            <a:endParaRPr lang="bg-BG" altLang="bg-BG"/>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55251" y="3299391"/>
            <a:ext cx="3510866" cy="2831344"/>
          </a:xfrm>
          <a:prstGeom prst="rect">
            <a:avLst/>
          </a:prstGeom>
          <a:ln w="15875">
            <a:solidFill>
              <a:srgbClr val="C00000"/>
            </a:solidFill>
          </a:ln>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504" y="3299391"/>
            <a:ext cx="4286250" cy="2857500"/>
          </a:xfrm>
          <a:prstGeom prst="rect">
            <a:avLst/>
          </a:prstGeom>
          <a:ln w="15875">
            <a:solidFill>
              <a:srgbClr val="C00000"/>
            </a:solidFill>
          </a:ln>
        </p:spPr>
      </p:pic>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672509" y="1183273"/>
            <a:ext cx="4050604" cy="2050102"/>
          </a:xfrm>
          <a:prstGeom prst="rect">
            <a:avLst/>
          </a:prstGeom>
          <a:ln w="15875">
            <a:solidFill>
              <a:srgbClr val="C00000"/>
            </a:solidFill>
          </a:ln>
        </p:spPr>
      </p:pic>
    </p:spTree>
    <p:extLst>
      <p:ext uri="{BB962C8B-B14F-4D97-AF65-F5344CB8AC3E}">
        <p14:creationId xmlns:p14="http://schemas.microsoft.com/office/powerpoint/2010/main" val="297570249"/>
      </p:ext>
    </p:extLst>
  </p:cSld>
  <p:clrMapOvr>
    <a:masterClrMapping/>
  </p:clrMapOvr>
  <p:transition>
    <p:fade/>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3294" y="297100"/>
            <a:ext cx="8243887" cy="580926"/>
          </a:xfrm>
        </p:spPr>
        <p:txBody>
          <a:bodyPr>
            <a:noAutofit/>
          </a:bodyPr>
          <a:lstStyle/>
          <a:p>
            <a:pPr algn="ctr"/>
            <a:r>
              <a:rPr lang="bg-BG" altLang="bg-BG" sz="3200" dirty="0">
                <a:solidFill>
                  <a:schemeClr val="accent1"/>
                </a:solidFill>
              </a:rPr>
              <a:t>Видове файлови организации</a:t>
            </a:r>
            <a:endParaRPr lang="bg-BG" sz="3200" dirty="0">
              <a:solidFill>
                <a:schemeClr val="accent1"/>
              </a:solidFill>
            </a:endParaRPr>
          </a:p>
        </p:txBody>
      </p:sp>
      <p:sp>
        <p:nvSpPr>
          <p:cNvPr id="3" name="Content Placeholder 2"/>
          <p:cNvSpPr>
            <a:spLocks noGrp="1"/>
          </p:cNvSpPr>
          <p:nvPr>
            <p:ph idx="1"/>
          </p:nvPr>
        </p:nvSpPr>
        <p:spPr>
          <a:xfrm>
            <a:off x="395536" y="1006480"/>
            <a:ext cx="8229600" cy="5073841"/>
          </a:xfrm>
        </p:spPr>
        <p:txBody>
          <a:bodyPr>
            <a:normAutofit/>
          </a:bodyPr>
          <a:lstStyle/>
          <a:p>
            <a:pPr marL="457200" indent="-457200">
              <a:buFont typeface="+mj-lt"/>
              <a:buAutoNum type="arabicPeriod" startAt="4"/>
            </a:pPr>
            <a:r>
              <a:rPr lang="bg-BG" dirty="0" smtClean="0"/>
              <a:t>Промени </a:t>
            </a:r>
            <a:r>
              <a:rPr lang="bg-BG" dirty="0"/>
              <a:t>в инфраструктурата за съхранение на данните в </a:t>
            </a:r>
            <a:r>
              <a:rPr lang="bg-BG" dirty="0" smtClean="0"/>
              <a:t>организацията – благодарение на облачните технологии и  разпределените архитектури. </a:t>
            </a:r>
          </a:p>
          <a:p>
            <a:pPr marL="320040" lvl="1" indent="0" algn="ctr">
              <a:buNone/>
            </a:pPr>
            <a:r>
              <a:rPr lang="bg-BG" sz="2400" dirty="0" smtClean="0">
                <a:solidFill>
                  <a:srgbClr val="C00000"/>
                </a:solidFill>
              </a:rPr>
              <a:t>обектно-ориентирани хранилища </a:t>
            </a:r>
          </a:p>
          <a:p>
            <a:pPr lvl="1"/>
            <a:r>
              <a:rPr lang="bg-BG" sz="2400" dirty="0" smtClean="0"/>
              <a:t>данните се управляват във вид на обекти, а не като файлове, изградени от блокове; </a:t>
            </a:r>
          </a:p>
          <a:p>
            <a:pPr lvl="1"/>
            <a:r>
              <a:rPr lang="bg-BG" sz="2400" dirty="0" smtClean="0"/>
              <a:t>подходящи </a:t>
            </a:r>
            <a:r>
              <a:rPr lang="bg-BG" sz="2400" dirty="0"/>
              <a:t>са за съхраняването на големи обеми от неструктурирани </a:t>
            </a:r>
            <a:r>
              <a:rPr lang="bg-BG" sz="2400" dirty="0" smtClean="0"/>
              <a:t>данни;</a:t>
            </a:r>
          </a:p>
          <a:p>
            <a:pPr lvl="1"/>
            <a:r>
              <a:rPr lang="bg-BG" sz="2400" dirty="0" smtClean="0"/>
              <a:t>реализация на обектно-ориентираните хранилища - AWS (</a:t>
            </a:r>
            <a:r>
              <a:rPr lang="bg-BG" sz="2400" dirty="0" err="1" smtClean="0"/>
              <a:t>Amazon</a:t>
            </a:r>
            <a:r>
              <a:rPr lang="bg-BG" sz="2400" dirty="0" smtClean="0"/>
              <a:t> Web Service) S3 на </a:t>
            </a:r>
            <a:r>
              <a:rPr lang="bg-BG" sz="2400" dirty="0" err="1" smtClean="0"/>
              <a:t>Amazon</a:t>
            </a:r>
            <a:r>
              <a:rPr lang="bg-BG" sz="2400" dirty="0" smtClean="0"/>
              <a:t>, </a:t>
            </a:r>
            <a:r>
              <a:rPr lang="bg-BG" sz="2400" dirty="0" err="1" smtClean="0"/>
              <a:t>Azure</a:t>
            </a:r>
            <a:r>
              <a:rPr lang="bg-BG" sz="2400" dirty="0" smtClean="0"/>
              <a:t> на Microsoft, HCP на Hitachi, </a:t>
            </a:r>
            <a:r>
              <a:rPr lang="bg-BG" sz="2400" dirty="0" err="1" smtClean="0"/>
              <a:t>Atmos</a:t>
            </a:r>
            <a:r>
              <a:rPr lang="bg-BG" sz="2400" dirty="0" smtClean="0"/>
              <a:t> на EMC, RING на </a:t>
            </a:r>
            <a:r>
              <a:rPr lang="bg-BG" sz="2400" dirty="0" err="1" smtClean="0"/>
              <a:t>Scality</a:t>
            </a:r>
            <a:r>
              <a:rPr lang="bg-BG" sz="2400" dirty="0" smtClean="0"/>
              <a:t>.</a:t>
            </a:r>
          </a:p>
          <a:p>
            <a:pPr marL="457200" indent="-457200">
              <a:buFont typeface="+mj-lt"/>
              <a:buAutoNum type="arabicPeriod" startAt="4"/>
            </a:pPr>
            <a:endParaRPr lang="bg-BG" dirty="0" smtClean="0"/>
          </a:p>
        </p:txBody>
      </p:sp>
      <p:sp>
        <p:nvSpPr>
          <p:cNvPr id="4" name="Date Placeholder 3"/>
          <p:cNvSpPr>
            <a:spLocks noGrp="1"/>
          </p:cNvSpPr>
          <p:nvPr>
            <p:ph type="dt" sz="half" idx="10"/>
          </p:nvPr>
        </p:nvSpPr>
        <p:spPr/>
        <p:txBody>
          <a:bodyPr/>
          <a:lstStyle/>
          <a:p>
            <a:r>
              <a:rPr lang="bg-BG" altLang="bg-BG" smtClean="0"/>
              <a:t>Юлиана Пенева</a:t>
            </a:r>
            <a:endParaRPr lang="bg-BG" altLang="bg-BG"/>
          </a:p>
        </p:txBody>
      </p:sp>
      <p:sp>
        <p:nvSpPr>
          <p:cNvPr id="5" name="Footer Placeholder 4"/>
          <p:cNvSpPr>
            <a:spLocks noGrp="1"/>
          </p:cNvSpPr>
          <p:nvPr>
            <p:ph type="ftr" sz="quarter" idx="11"/>
          </p:nvPr>
        </p:nvSpPr>
        <p:spPr/>
        <p:txBody>
          <a:bodyPr/>
          <a:lstStyle/>
          <a:p>
            <a:r>
              <a:rPr lang="en-US" altLang="bg-BG" smtClean="0"/>
              <a:t>CSCB405 - </a:t>
            </a:r>
            <a:r>
              <a:rPr lang="bg-BG" altLang="bg-BG" smtClean="0"/>
              <a:t>модул 8</a:t>
            </a:r>
            <a:endParaRPr lang="bg-BG" altLang="bg-BG"/>
          </a:p>
        </p:txBody>
      </p:sp>
      <p:sp>
        <p:nvSpPr>
          <p:cNvPr id="6" name="Slide Number Placeholder 5"/>
          <p:cNvSpPr>
            <a:spLocks noGrp="1"/>
          </p:cNvSpPr>
          <p:nvPr>
            <p:ph type="sldNum" sz="quarter" idx="12"/>
          </p:nvPr>
        </p:nvSpPr>
        <p:spPr/>
        <p:txBody>
          <a:bodyPr/>
          <a:lstStyle/>
          <a:p>
            <a:fld id="{74EE3BFA-F3F3-428D-9946-02BF70619056}" type="slidenum">
              <a:rPr lang="bg-BG" altLang="bg-BG" smtClean="0"/>
              <a:pPr/>
              <a:t>37</a:t>
            </a:fld>
            <a:endParaRPr lang="bg-BG" altLang="bg-BG"/>
          </a:p>
        </p:txBody>
      </p:sp>
    </p:spTree>
    <p:extLst>
      <p:ext uri="{BB962C8B-B14F-4D97-AF65-F5344CB8AC3E}">
        <p14:creationId xmlns:p14="http://schemas.microsoft.com/office/powerpoint/2010/main" val="1640741009"/>
      </p:ext>
    </p:extLst>
  </p:cSld>
  <p:clrMapOvr>
    <a:masterClrMapping/>
  </p:clrMapOvr>
  <p:transition>
    <p:fade/>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439734"/>
            <a:ext cx="8243887" cy="516965"/>
          </a:xfrm>
        </p:spPr>
        <p:txBody>
          <a:bodyPr>
            <a:noAutofit/>
          </a:bodyPr>
          <a:lstStyle/>
          <a:p>
            <a:pPr algn="ctr"/>
            <a:r>
              <a:rPr lang="bg-BG" altLang="bg-BG" sz="3200" dirty="0" smtClean="0">
                <a:solidFill>
                  <a:schemeClr val="accent1"/>
                </a:solidFill>
              </a:rPr>
              <a:t>Методи за проектиране на физическата база</a:t>
            </a:r>
            <a:endParaRPr lang="bg-BG" altLang="bg-BG" sz="3200" dirty="0">
              <a:solidFill>
                <a:schemeClr val="accent1"/>
              </a:solidFill>
            </a:endParaRPr>
          </a:p>
        </p:txBody>
      </p:sp>
      <p:sp>
        <p:nvSpPr>
          <p:cNvPr id="3" name="Content Placeholder 2"/>
          <p:cNvSpPr>
            <a:spLocks noGrp="1"/>
          </p:cNvSpPr>
          <p:nvPr>
            <p:ph idx="1"/>
          </p:nvPr>
        </p:nvSpPr>
        <p:spPr>
          <a:xfrm>
            <a:off x="395536" y="956700"/>
            <a:ext cx="8229600" cy="5123622"/>
          </a:xfrm>
        </p:spPr>
        <p:txBody>
          <a:bodyPr>
            <a:normAutofit lnSpcReduction="10000"/>
          </a:bodyPr>
          <a:lstStyle/>
          <a:p>
            <a:pPr marL="0" indent="0" algn="ctr">
              <a:buNone/>
            </a:pPr>
            <a:r>
              <a:rPr lang="bg-BG" sz="2800" dirty="0">
                <a:solidFill>
                  <a:srgbClr val="C00000"/>
                </a:solidFill>
              </a:rPr>
              <a:t>Индексиране</a:t>
            </a:r>
            <a:endParaRPr lang="bg-BG" sz="2800" dirty="0" smtClean="0">
              <a:solidFill>
                <a:srgbClr val="C00000"/>
              </a:solidFill>
            </a:endParaRPr>
          </a:p>
          <a:p>
            <a:pPr marL="457200" indent="-457200">
              <a:buFont typeface="+mj-lt"/>
              <a:buAutoNum type="arabicPeriod"/>
            </a:pPr>
            <a:r>
              <a:rPr lang="bg-BG" dirty="0" smtClean="0"/>
              <a:t>Индексирането е метод за ефективно търсене на записи в база от данни. </a:t>
            </a:r>
          </a:p>
          <a:p>
            <a:pPr marL="457200" indent="-457200">
              <a:buFont typeface="+mj-lt"/>
              <a:buAutoNum type="arabicPeriod"/>
            </a:pPr>
            <a:r>
              <a:rPr lang="bg-BG" dirty="0" smtClean="0"/>
              <a:t>Към файла с данните се създават допълнителни структури за достъп – индекси. Индексите спомагат за по-бързото намиране на нужния запис и са ефективно средство за достъп при задаване на критерий за търсене. </a:t>
            </a:r>
          </a:p>
          <a:p>
            <a:pPr marL="457200" indent="-457200">
              <a:buFont typeface="+mj-lt"/>
              <a:buAutoNum type="arabicPeriod"/>
            </a:pPr>
            <a:r>
              <a:rPr lang="bg-BG" dirty="0" smtClean="0"/>
              <a:t>Индексът е допълнителна структура към основния файл с данни, чиято цел е да ускори извличането на търсената информация - избягва се последователното претърсване.</a:t>
            </a:r>
          </a:p>
          <a:p>
            <a:pPr marL="457200" indent="-457200">
              <a:buFont typeface="+mj-lt"/>
              <a:buAutoNum type="arabicPeriod"/>
            </a:pPr>
            <a:r>
              <a:rPr lang="bg-BG" dirty="0" smtClean="0"/>
              <a:t>Файлът с основните данни се нарича главен или файл с данни, а допълнителните структури – индекси или индексни файлове. Тя се дефинира обикновено върху едно поле, което се нарича индексно.</a:t>
            </a:r>
            <a:endParaRPr lang="bg-BG" dirty="0"/>
          </a:p>
        </p:txBody>
      </p:sp>
      <p:sp>
        <p:nvSpPr>
          <p:cNvPr id="4" name="Date Placeholder 3"/>
          <p:cNvSpPr>
            <a:spLocks noGrp="1"/>
          </p:cNvSpPr>
          <p:nvPr>
            <p:ph type="dt" sz="half" idx="10"/>
          </p:nvPr>
        </p:nvSpPr>
        <p:spPr/>
        <p:txBody>
          <a:bodyPr/>
          <a:lstStyle/>
          <a:p>
            <a:r>
              <a:rPr lang="bg-BG" altLang="bg-BG" smtClean="0"/>
              <a:t>Юлиана Пенева</a:t>
            </a:r>
            <a:endParaRPr lang="bg-BG" altLang="bg-BG"/>
          </a:p>
        </p:txBody>
      </p:sp>
      <p:sp>
        <p:nvSpPr>
          <p:cNvPr id="5" name="Footer Placeholder 4"/>
          <p:cNvSpPr>
            <a:spLocks noGrp="1"/>
          </p:cNvSpPr>
          <p:nvPr>
            <p:ph type="ftr" sz="quarter" idx="11"/>
          </p:nvPr>
        </p:nvSpPr>
        <p:spPr/>
        <p:txBody>
          <a:bodyPr/>
          <a:lstStyle/>
          <a:p>
            <a:r>
              <a:rPr lang="en-US" altLang="bg-BG" smtClean="0"/>
              <a:t>CSCB405 - </a:t>
            </a:r>
            <a:r>
              <a:rPr lang="bg-BG" altLang="bg-BG" smtClean="0"/>
              <a:t>модул 8</a:t>
            </a:r>
            <a:endParaRPr lang="bg-BG" altLang="bg-BG"/>
          </a:p>
        </p:txBody>
      </p:sp>
      <p:sp>
        <p:nvSpPr>
          <p:cNvPr id="6" name="Slide Number Placeholder 5"/>
          <p:cNvSpPr>
            <a:spLocks noGrp="1"/>
          </p:cNvSpPr>
          <p:nvPr>
            <p:ph type="sldNum" sz="quarter" idx="12"/>
          </p:nvPr>
        </p:nvSpPr>
        <p:spPr/>
        <p:txBody>
          <a:bodyPr/>
          <a:lstStyle/>
          <a:p>
            <a:fld id="{74EE3BFA-F3F3-428D-9946-02BF70619056}" type="slidenum">
              <a:rPr lang="bg-BG" altLang="bg-BG" smtClean="0"/>
              <a:pPr/>
              <a:t>38</a:t>
            </a:fld>
            <a:endParaRPr lang="bg-BG" altLang="bg-BG"/>
          </a:p>
        </p:txBody>
      </p:sp>
    </p:spTree>
    <p:extLst>
      <p:ext uri="{BB962C8B-B14F-4D97-AF65-F5344CB8AC3E}">
        <p14:creationId xmlns:p14="http://schemas.microsoft.com/office/powerpoint/2010/main" val="1452861382"/>
      </p:ext>
    </p:extLst>
  </p:cSld>
  <p:clrMapOvr>
    <a:masterClrMapping/>
  </p:clrMapOvr>
  <p:transition>
    <p:fade/>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1866" y="313887"/>
            <a:ext cx="8243887" cy="516965"/>
          </a:xfrm>
        </p:spPr>
        <p:txBody>
          <a:bodyPr>
            <a:noAutofit/>
          </a:bodyPr>
          <a:lstStyle/>
          <a:p>
            <a:pPr algn="ctr"/>
            <a:r>
              <a:rPr lang="bg-BG" altLang="bg-BG" sz="3200" dirty="0" smtClean="0">
                <a:solidFill>
                  <a:schemeClr val="accent1"/>
                </a:solidFill>
              </a:rPr>
              <a:t>Методи за проектиране на физическата база</a:t>
            </a:r>
            <a:endParaRPr lang="bg-BG" altLang="bg-BG" sz="3200" dirty="0">
              <a:solidFill>
                <a:schemeClr val="accent1"/>
              </a:solidFill>
            </a:endParaRPr>
          </a:p>
        </p:txBody>
      </p:sp>
      <p:sp>
        <p:nvSpPr>
          <p:cNvPr id="3" name="Content Placeholder 2"/>
          <p:cNvSpPr>
            <a:spLocks noGrp="1"/>
          </p:cNvSpPr>
          <p:nvPr>
            <p:ph idx="1"/>
          </p:nvPr>
        </p:nvSpPr>
        <p:spPr>
          <a:xfrm>
            <a:off x="441866" y="807469"/>
            <a:ext cx="8522622" cy="4939911"/>
          </a:xfrm>
        </p:spPr>
        <p:txBody>
          <a:bodyPr>
            <a:normAutofit fontScale="92500" lnSpcReduction="20000"/>
          </a:bodyPr>
          <a:lstStyle/>
          <a:p>
            <a:pPr marL="514350" lvl="0" indent="-514350">
              <a:buClr>
                <a:srgbClr val="AD0101"/>
              </a:buClr>
              <a:buFont typeface="+mj-lt"/>
              <a:buAutoNum type="arabicPeriod"/>
            </a:pPr>
            <a:endParaRPr lang="bg-BG" sz="2200" dirty="0" smtClean="0">
              <a:solidFill>
                <a:srgbClr val="303030"/>
              </a:solidFill>
            </a:endParaRPr>
          </a:p>
          <a:p>
            <a:pPr marL="0" lvl="0" indent="0" algn="ctr">
              <a:buClr>
                <a:srgbClr val="AD0101"/>
              </a:buClr>
              <a:buNone/>
            </a:pPr>
            <a:r>
              <a:rPr lang="bg-BG" sz="3000" dirty="0">
                <a:solidFill>
                  <a:srgbClr val="C00000"/>
                </a:solidFill>
              </a:rPr>
              <a:t>Индексиране</a:t>
            </a:r>
          </a:p>
          <a:p>
            <a:pPr marL="514350" lvl="0" indent="-514350">
              <a:buClr>
                <a:srgbClr val="AD0101"/>
              </a:buClr>
              <a:buFont typeface="+mj-lt"/>
              <a:buAutoNum type="arabicPeriod"/>
            </a:pPr>
            <a:r>
              <a:rPr lang="bg-BG" dirty="0" smtClean="0"/>
              <a:t>Индексът </a:t>
            </a:r>
            <a:r>
              <a:rPr lang="bg-BG" dirty="0"/>
              <a:t>съхранява всяка стойност на избраното индексно поле и указател към блока с данни, в който се съдържа записа със съответната стойност на индексното поле.</a:t>
            </a:r>
          </a:p>
          <a:p>
            <a:pPr marL="514350" lvl="0" indent="-514350">
              <a:buClr>
                <a:srgbClr val="AD0101"/>
              </a:buClr>
              <a:buFont typeface="+mj-lt"/>
              <a:buAutoNum type="arabicPeriod"/>
            </a:pPr>
            <a:r>
              <a:rPr lang="bg-BG" dirty="0"/>
              <a:t>Достъпът до записите може да бъде:</a:t>
            </a:r>
          </a:p>
          <a:p>
            <a:pPr lvl="2">
              <a:buClr>
                <a:srgbClr val="AD0101"/>
              </a:buClr>
              <a:tabLst>
                <a:tab pos="2695575" algn="l"/>
              </a:tabLst>
            </a:pPr>
            <a:r>
              <a:rPr lang="bg-BG" sz="2400" dirty="0"/>
              <a:t>последователен;</a:t>
            </a:r>
          </a:p>
          <a:p>
            <a:pPr lvl="2">
              <a:buClr>
                <a:srgbClr val="AD0101"/>
              </a:buClr>
              <a:tabLst>
                <a:tab pos="2695575" algn="l"/>
              </a:tabLst>
            </a:pPr>
            <a:r>
              <a:rPr lang="bg-BG" sz="2400" dirty="0"/>
              <a:t>чрез индекса.</a:t>
            </a:r>
          </a:p>
          <a:p>
            <a:pPr marL="457200" lvl="0" indent="-457200">
              <a:buClr>
                <a:srgbClr val="AD0101"/>
              </a:buClr>
              <a:buFont typeface="+mj-lt"/>
              <a:buAutoNum type="arabicPeriod"/>
            </a:pPr>
            <a:r>
              <a:rPr lang="bg-BG" dirty="0"/>
              <a:t>Видове индекси:</a:t>
            </a:r>
          </a:p>
          <a:p>
            <a:pPr lvl="2">
              <a:buClr>
                <a:srgbClr val="AD0101"/>
              </a:buClr>
            </a:pPr>
            <a:r>
              <a:rPr lang="bg-BG" sz="2400" dirty="0"/>
              <a:t>главен индекс - индекс, дефиниран върху поле с уникални стойности, по което физически е подреден даден файл;</a:t>
            </a:r>
          </a:p>
          <a:p>
            <a:pPr lvl="2">
              <a:buClr>
                <a:srgbClr val="AD0101"/>
              </a:buClr>
            </a:pPr>
            <a:r>
              <a:rPr lang="bg-BG" sz="2400" dirty="0"/>
              <a:t>клъстер индекс - главен индекс, ако полето, по което е подреден файла е с повтарящи се стойности;</a:t>
            </a:r>
          </a:p>
          <a:p>
            <a:pPr lvl="2">
              <a:buClr>
                <a:srgbClr val="AD0101"/>
              </a:buClr>
            </a:pPr>
            <a:r>
              <a:rPr lang="bg-BG" sz="2400" dirty="0"/>
              <a:t>вторичен индекс - дефинира се върху произволно поле на файла, по което се търси често.</a:t>
            </a:r>
          </a:p>
          <a:p>
            <a:pPr marL="457200" indent="-457200">
              <a:buFont typeface="+mj-lt"/>
              <a:buAutoNum type="arabicPeriod" startAt="4"/>
            </a:pPr>
            <a:endParaRPr lang="bg-BG" dirty="0" smtClean="0"/>
          </a:p>
          <a:p>
            <a:pPr marL="457200" indent="-457200">
              <a:buFont typeface="+mj-lt"/>
              <a:buAutoNum type="arabicPeriod" startAt="4"/>
            </a:pPr>
            <a:endParaRPr lang="bg-BG" dirty="0" smtClean="0"/>
          </a:p>
        </p:txBody>
      </p:sp>
      <p:sp>
        <p:nvSpPr>
          <p:cNvPr id="4" name="Date Placeholder 3"/>
          <p:cNvSpPr>
            <a:spLocks noGrp="1"/>
          </p:cNvSpPr>
          <p:nvPr>
            <p:ph type="dt" sz="half" idx="10"/>
          </p:nvPr>
        </p:nvSpPr>
        <p:spPr/>
        <p:txBody>
          <a:bodyPr/>
          <a:lstStyle/>
          <a:p>
            <a:r>
              <a:rPr lang="bg-BG" altLang="bg-BG" smtClean="0"/>
              <a:t>Юлиана Пенева</a:t>
            </a:r>
            <a:endParaRPr lang="bg-BG" altLang="bg-BG"/>
          </a:p>
        </p:txBody>
      </p:sp>
      <p:sp>
        <p:nvSpPr>
          <p:cNvPr id="5" name="Footer Placeholder 4"/>
          <p:cNvSpPr>
            <a:spLocks noGrp="1"/>
          </p:cNvSpPr>
          <p:nvPr>
            <p:ph type="ftr" sz="quarter" idx="11"/>
          </p:nvPr>
        </p:nvSpPr>
        <p:spPr/>
        <p:txBody>
          <a:bodyPr/>
          <a:lstStyle/>
          <a:p>
            <a:r>
              <a:rPr lang="en-US" altLang="bg-BG" smtClean="0"/>
              <a:t>CSCB405 - </a:t>
            </a:r>
            <a:r>
              <a:rPr lang="bg-BG" altLang="bg-BG" smtClean="0"/>
              <a:t>модул 8</a:t>
            </a:r>
            <a:endParaRPr lang="bg-BG" altLang="bg-BG"/>
          </a:p>
        </p:txBody>
      </p:sp>
      <p:sp>
        <p:nvSpPr>
          <p:cNvPr id="6" name="Slide Number Placeholder 5"/>
          <p:cNvSpPr>
            <a:spLocks noGrp="1"/>
          </p:cNvSpPr>
          <p:nvPr>
            <p:ph type="sldNum" sz="quarter" idx="12"/>
          </p:nvPr>
        </p:nvSpPr>
        <p:spPr/>
        <p:txBody>
          <a:bodyPr/>
          <a:lstStyle/>
          <a:p>
            <a:fld id="{74EE3BFA-F3F3-428D-9946-02BF70619056}" type="slidenum">
              <a:rPr lang="bg-BG" altLang="bg-BG" smtClean="0"/>
              <a:pPr/>
              <a:t>39</a:t>
            </a:fld>
            <a:endParaRPr lang="bg-BG" altLang="bg-BG"/>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15816" y="5320853"/>
            <a:ext cx="3486150" cy="1314450"/>
          </a:xfrm>
          <a:prstGeom prst="rect">
            <a:avLst/>
          </a:prstGeom>
          <a:ln w="19050">
            <a:solidFill>
              <a:srgbClr val="C00000"/>
            </a:solidFill>
          </a:ln>
        </p:spPr>
      </p:pic>
    </p:spTree>
    <p:extLst>
      <p:ext uri="{BB962C8B-B14F-4D97-AF65-F5344CB8AC3E}">
        <p14:creationId xmlns:p14="http://schemas.microsoft.com/office/powerpoint/2010/main" val="747289137"/>
      </p:ext>
    </p:extLst>
  </p:cSld>
  <p:clrMapOvr>
    <a:masterClrMapping/>
  </p:clrMapOvr>
  <p:transition>
    <p:fade/>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354874"/>
            <a:ext cx="8431088" cy="576064"/>
          </a:xfrm>
        </p:spPr>
        <p:txBody>
          <a:bodyPr>
            <a:noAutofit/>
          </a:bodyPr>
          <a:lstStyle/>
          <a:p>
            <a:pPr algn="ctr"/>
            <a:r>
              <a:rPr lang="bg-BG" altLang="bg-BG" sz="3200" dirty="0" smtClean="0">
                <a:solidFill>
                  <a:schemeClr val="accent1"/>
                </a:solidFill>
              </a:rPr>
              <a:t>Методи за проектиране на физическата база</a:t>
            </a:r>
            <a:endParaRPr lang="bg-BG" altLang="bg-BG" sz="3200" dirty="0">
              <a:solidFill>
                <a:schemeClr val="accent1"/>
              </a:solidFill>
            </a:endParaRPr>
          </a:p>
        </p:txBody>
      </p:sp>
      <p:sp>
        <p:nvSpPr>
          <p:cNvPr id="3" name="Content Placeholder 2"/>
          <p:cNvSpPr>
            <a:spLocks noGrp="1"/>
          </p:cNvSpPr>
          <p:nvPr>
            <p:ph sz="half" idx="1"/>
          </p:nvPr>
        </p:nvSpPr>
        <p:spPr/>
        <p:txBody>
          <a:bodyPr>
            <a:normAutofit fontScale="77500" lnSpcReduction="20000"/>
          </a:bodyPr>
          <a:lstStyle/>
          <a:p>
            <a:pPr marL="457200" indent="-457200">
              <a:buFont typeface="+mj-lt"/>
              <a:buAutoNum type="arabicPeriod" startAt="4"/>
            </a:pPr>
            <a:endParaRPr lang="bg-BG" dirty="0" smtClean="0"/>
          </a:p>
          <a:p>
            <a:pPr marL="457200" indent="-457200">
              <a:buFont typeface="+mj-lt"/>
              <a:buAutoNum type="arabicPeriod" startAt="4"/>
            </a:pPr>
            <a:endParaRPr lang="bg-BG" dirty="0" smtClean="0"/>
          </a:p>
        </p:txBody>
      </p:sp>
      <p:sp>
        <p:nvSpPr>
          <p:cNvPr id="11" name="Content Placeholder 10"/>
          <p:cNvSpPr>
            <a:spLocks noGrp="1"/>
          </p:cNvSpPr>
          <p:nvPr>
            <p:ph sz="half" idx="2"/>
          </p:nvPr>
        </p:nvSpPr>
        <p:spPr>
          <a:xfrm>
            <a:off x="4619535" y="1125580"/>
            <a:ext cx="3846140" cy="4561988"/>
          </a:xfrm>
        </p:spPr>
        <p:txBody>
          <a:bodyPr>
            <a:normAutofit fontScale="77500" lnSpcReduction="20000"/>
          </a:bodyPr>
          <a:lstStyle/>
          <a:p>
            <a:pPr marL="0" indent="0" algn="ctr">
              <a:buNone/>
            </a:pPr>
            <a:r>
              <a:rPr lang="bg-BG" sz="3100" dirty="0" smtClean="0">
                <a:solidFill>
                  <a:srgbClr val="C00000"/>
                </a:solidFill>
              </a:rPr>
              <a:t>Главен индекс</a:t>
            </a:r>
          </a:p>
          <a:p>
            <a:r>
              <a:rPr lang="bg-BG" dirty="0" smtClean="0"/>
              <a:t>дефинира се върху поле с </a:t>
            </a:r>
            <a:r>
              <a:rPr lang="bg-BG" dirty="0" smtClean="0">
                <a:solidFill>
                  <a:srgbClr val="C00000"/>
                </a:solidFill>
              </a:rPr>
              <a:t>уникални стойности </a:t>
            </a:r>
            <a:r>
              <a:rPr lang="bg-BG" dirty="0" smtClean="0"/>
              <a:t>(нарича се главен ключ), по което физически е подреден даден файл;</a:t>
            </a:r>
          </a:p>
          <a:p>
            <a:r>
              <a:rPr lang="bg-BG" dirty="0" smtClean="0"/>
              <a:t>представлява сортиран файл, чиито записи са с постоянна дължина и съдържат две полета: стойността на избраното поле с уникални стойности и адрес на блока, който съдържа търсения запис. </a:t>
            </a:r>
          </a:p>
          <a:p>
            <a:pPr marL="0" indent="0">
              <a:buNone/>
            </a:pPr>
            <a:endParaRPr lang="bg-BG" dirty="0"/>
          </a:p>
          <a:p>
            <a:pPr marL="0" indent="0">
              <a:buNone/>
            </a:pPr>
            <a:endParaRPr lang="bg-BG" dirty="0"/>
          </a:p>
        </p:txBody>
      </p:sp>
      <p:sp>
        <p:nvSpPr>
          <p:cNvPr id="4" name="Date Placeholder 3"/>
          <p:cNvSpPr>
            <a:spLocks noGrp="1"/>
          </p:cNvSpPr>
          <p:nvPr>
            <p:ph type="dt" sz="half" idx="10"/>
          </p:nvPr>
        </p:nvSpPr>
        <p:spPr/>
        <p:txBody>
          <a:bodyPr/>
          <a:lstStyle/>
          <a:p>
            <a:r>
              <a:rPr lang="bg-BG" altLang="bg-BG" smtClean="0"/>
              <a:t>Юлиана Пенева</a:t>
            </a:r>
            <a:endParaRPr lang="bg-BG" altLang="bg-BG"/>
          </a:p>
        </p:txBody>
      </p:sp>
      <p:sp>
        <p:nvSpPr>
          <p:cNvPr id="5" name="Footer Placeholder 4"/>
          <p:cNvSpPr>
            <a:spLocks noGrp="1"/>
          </p:cNvSpPr>
          <p:nvPr>
            <p:ph type="ftr" sz="quarter" idx="11"/>
          </p:nvPr>
        </p:nvSpPr>
        <p:spPr/>
        <p:txBody>
          <a:bodyPr/>
          <a:lstStyle/>
          <a:p>
            <a:r>
              <a:rPr lang="en-US" altLang="bg-BG" smtClean="0"/>
              <a:t>CSCB405 - </a:t>
            </a:r>
            <a:r>
              <a:rPr lang="bg-BG" altLang="bg-BG" smtClean="0"/>
              <a:t>модул 8</a:t>
            </a:r>
            <a:endParaRPr lang="bg-BG" altLang="bg-BG"/>
          </a:p>
        </p:txBody>
      </p:sp>
      <p:sp>
        <p:nvSpPr>
          <p:cNvPr id="6" name="Slide Number Placeholder 5"/>
          <p:cNvSpPr>
            <a:spLocks noGrp="1"/>
          </p:cNvSpPr>
          <p:nvPr>
            <p:ph type="sldNum" sz="quarter" idx="12"/>
          </p:nvPr>
        </p:nvSpPr>
        <p:spPr/>
        <p:txBody>
          <a:bodyPr/>
          <a:lstStyle/>
          <a:p>
            <a:fld id="{74EE3BFA-F3F3-428D-9946-02BF70619056}" type="slidenum">
              <a:rPr lang="bg-BG" altLang="bg-BG" smtClean="0"/>
              <a:pPr/>
              <a:t>40</a:t>
            </a:fld>
            <a:endParaRPr lang="bg-BG" altLang="bg-BG"/>
          </a:p>
        </p:txBody>
      </p:sp>
      <p:pic>
        <p:nvPicPr>
          <p:cNvPr id="9" name="Picture 8"/>
          <p:cNvPicPr>
            <a:picLocks noChangeAspect="1"/>
          </p:cNvPicPr>
          <p:nvPr/>
        </p:nvPicPr>
        <p:blipFill>
          <a:blip r:embed="rId2"/>
          <a:stretch>
            <a:fillRect/>
          </a:stretch>
        </p:blipFill>
        <p:spPr>
          <a:xfrm>
            <a:off x="563181" y="1125580"/>
            <a:ext cx="3950434" cy="4888554"/>
          </a:xfrm>
          <a:prstGeom prst="rect">
            <a:avLst/>
          </a:prstGeom>
        </p:spPr>
      </p:pic>
    </p:spTree>
    <p:extLst>
      <p:ext uri="{BB962C8B-B14F-4D97-AF65-F5344CB8AC3E}">
        <p14:creationId xmlns:p14="http://schemas.microsoft.com/office/powerpoint/2010/main" val="1074456514"/>
      </p:ext>
    </p:extLst>
  </p:cSld>
  <p:clrMapOvr>
    <a:masterClrMapping/>
  </p:clrMapOvr>
  <p:transition>
    <p:fade/>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354874"/>
            <a:ext cx="8431088" cy="576064"/>
          </a:xfrm>
        </p:spPr>
        <p:txBody>
          <a:bodyPr>
            <a:noAutofit/>
          </a:bodyPr>
          <a:lstStyle/>
          <a:p>
            <a:pPr algn="ctr"/>
            <a:r>
              <a:rPr lang="bg-BG" altLang="bg-BG" sz="3200" dirty="0" smtClean="0">
                <a:solidFill>
                  <a:schemeClr val="accent1"/>
                </a:solidFill>
              </a:rPr>
              <a:t>Методи за проектиране на физическата база</a:t>
            </a:r>
            <a:endParaRPr lang="bg-BG" altLang="bg-BG" sz="3200" dirty="0">
              <a:solidFill>
                <a:schemeClr val="accent1"/>
              </a:solidFill>
            </a:endParaRPr>
          </a:p>
        </p:txBody>
      </p:sp>
      <p:sp>
        <p:nvSpPr>
          <p:cNvPr id="3" name="Content Placeholder 2"/>
          <p:cNvSpPr>
            <a:spLocks noGrp="1"/>
          </p:cNvSpPr>
          <p:nvPr>
            <p:ph sz="half" idx="1"/>
          </p:nvPr>
        </p:nvSpPr>
        <p:spPr/>
        <p:txBody>
          <a:bodyPr>
            <a:normAutofit fontScale="92500" lnSpcReduction="20000"/>
          </a:bodyPr>
          <a:lstStyle/>
          <a:p>
            <a:pPr marL="457200" indent="-457200">
              <a:buFont typeface="+mj-lt"/>
              <a:buAutoNum type="arabicPeriod" startAt="4"/>
            </a:pPr>
            <a:endParaRPr lang="bg-BG" dirty="0" smtClean="0"/>
          </a:p>
          <a:p>
            <a:pPr marL="457200" indent="-457200">
              <a:buFont typeface="+mj-lt"/>
              <a:buAutoNum type="arabicPeriod" startAt="4"/>
            </a:pPr>
            <a:endParaRPr lang="bg-BG" dirty="0" smtClean="0"/>
          </a:p>
        </p:txBody>
      </p:sp>
      <p:sp>
        <p:nvSpPr>
          <p:cNvPr id="11" name="Content Placeholder 10"/>
          <p:cNvSpPr>
            <a:spLocks noGrp="1"/>
          </p:cNvSpPr>
          <p:nvPr>
            <p:ph sz="half" idx="2"/>
          </p:nvPr>
        </p:nvSpPr>
        <p:spPr>
          <a:xfrm>
            <a:off x="4664038" y="1183738"/>
            <a:ext cx="3846140" cy="4561988"/>
          </a:xfrm>
        </p:spPr>
        <p:txBody>
          <a:bodyPr>
            <a:normAutofit fontScale="92500" lnSpcReduction="20000"/>
          </a:bodyPr>
          <a:lstStyle/>
          <a:p>
            <a:pPr marL="0" indent="0" algn="ctr">
              <a:buNone/>
            </a:pPr>
            <a:r>
              <a:rPr lang="bg-BG" sz="3000" dirty="0" smtClean="0">
                <a:solidFill>
                  <a:srgbClr val="C00000"/>
                </a:solidFill>
              </a:rPr>
              <a:t>Клъстер индекс</a:t>
            </a:r>
          </a:p>
          <a:p>
            <a:r>
              <a:rPr lang="bg-BG" sz="2600" dirty="0" smtClean="0"/>
              <a:t>дефинира се върху поле (нарича се </a:t>
            </a:r>
            <a:r>
              <a:rPr lang="bg-BG" sz="2600" dirty="0" smtClean="0">
                <a:solidFill>
                  <a:srgbClr val="C00000"/>
                </a:solidFill>
              </a:rPr>
              <a:t>клъстер </a:t>
            </a:r>
            <a:r>
              <a:rPr lang="bg-BG" sz="2600" dirty="0" smtClean="0"/>
              <a:t>поле) с повтарящи се стойности, по което физически е подреден даден файл; </a:t>
            </a:r>
          </a:p>
          <a:p>
            <a:r>
              <a:rPr lang="bg-BG" sz="2600" dirty="0" smtClean="0"/>
              <a:t>представлява сортиран файл, съдържащ две полета: различните стойности на избраното поле и адрес на блока, който съдържа търсения запис. </a:t>
            </a:r>
          </a:p>
          <a:p>
            <a:endParaRPr lang="bg-BG" dirty="0" smtClean="0"/>
          </a:p>
        </p:txBody>
      </p:sp>
      <p:sp>
        <p:nvSpPr>
          <p:cNvPr id="4" name="Date Placeholder 3"/>
          <p:cNvSpPr>
            <a:spLocks noGrp="1"/>
          </p:cNvSpPr>
          <p:nvPr>
            <p:ph type="dt" sz="half" idx="10"/>
          </p:nvPr>
        </p:nvSpPr>
        <p:spPr/>
        <p:txBody>
          <a:bodyPr/>
          <a:lstStyle/>
          <a:p>
            <a:r>
              <a:rPr lang="bg-BG" altLang="bg-BG" smtClean="0"/>
              <a:t>Юлиана Пенева</a:t>
            </a:r>
            <a:endParaRPr lang="bg-BG" altLang="bg-BG"/>
          </a:p>
        </p:txBody>
      </p:sp>
      <p:sp>
        <p:nvSpPr>
          <p:cNvPr id="5" name="Footer Placeholder 4"/>
          <p:cNvSpPr>
            <a:spLocks noGrp="1"/>
          </p:cNvSpPr>
          <p:nvPr>
            <p:ph type="ftr" sz="quarter" idx="11"/>
          </p:nvPr>
        </p:nvSpPr>
        <p:spPr/>
        <p:txBody>
          <a:bodyPr/>
          <a:lstStyle/>
          <a:p>
            <a:r>
              <a:rPr lang="en-US" altLang="bg-BG" smtClean="0"/>
              <a:t>CSCB405 - </a:t>
            </a:r>
            <a:r>
              <a:rPr lang="bg-BG" altLang="bg-BG" smtClean="0"/>
              <a:t>модул 8</a:t>
            </a:r>
            <a:endParaRPr lang="bg-BG" altLang="bg-BG"/>
          </a:p>
        </p:txBody>
      </p:sp>
      <p:sp>
        <p:nvSpPr>
          <p:cNvPr id="6" name="Slide Number Placeholder 5"/>
          <p:cNvSpPr>
            <a:spLocks noGrp="1"/>
          </p:cNvSpPr>
          <p:nvPr>
            <p:ph type="sldNum" sz="quarter" idx="12"/>
          </p:nvPr>
        </p:nvSpPr>
        <p:spPr/>
        <p:txBody>
          <a:bodyPr/>
          <a:lstStyle/>
          <a:p>
            <a:fld id="{74EE3BFA-F3F3-428D-9946-02BF70619056}" type="slidenum">
              <a:rPr lang="bg-BG" altLang="bg-BG" smtClean="0"/>
              <a:pPr/>
              <a:t>41</a:t>
            </a:fld>
            <a:endParaRPr lang="bg-BG" altLang="bg-BG"/>
          </a:p>
        </p:txBody>
      </p:sp>
      <p:pic>
        <p:nvPicPr>
          <p:cNvPr id="7" name="Picture 6"/>
          <p:cNvPicPr>
            <a:picLocks noChangeAspect="1"/>
          </p:cNvPicPr>
          <p:nvPr/>
        </p:nvPicPr>
        <p:blipFill>
          <a:blip r:embed="rId2"/>
          <a:stretch>
            <a:fillRect/>
          </a:stretch>
        </p:blipFill>
        <p:spPr>
          <a:xfrm>
            <a:off x="212938" y="1185665"/>
            <a:ext cx="4306630" cy="4433152"/>
          </a:xfrm>
          <a:prstGeom prst="rect">
            <a:avLst/>
          </a:prstGeom>
        </p:spPr>
      </p:pic>
    </p:spTree>
    <p:extLst>
      <p:ext uri="{BB962C8B-B14F-4D97-AF65-F5344CB8AC3E}">
        <p14:creationId xmlns:p14="http://schemas.microsoft.com/office/powerpoint/2010/main" val="2821750460"/>
      </p:ext>
    </p:extLst>
  </p:cSld>
  <p:clrMapOvr>
    <a:masterClrMapping/>
  </p:clrMapOvr>
  <p:transition>
    <p:fade/>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354874"/>
            <a:ext cx="8431088" cy="576064"/>
          </a:xfrm>
        </p:spPr>
        <p:txBody>
          <a:bodyPr>
            <a:noAutofit/>
          </a:bodyPr>
          <a:lstStyle/>
          <a:p>
            <a:pPr algn="ctr"/>
            <a:r>
              <a:rPr lang="bg-BG" altLang="bg-BG" sz="3200" dirty="0" smtClean="0">
                <a:solidFill>
                  <a:schemeClr val="accent1"/>
                </a:solidFill>
              </a:rPr>
              <a:t>Методи за проектиране на физическата база</a:t>
            </a:r>
            <a:endParaRPr lang="bg-BG" altLang="bg-BG" sz="3200" dirty="0">
              <a:solidFill>
                <a:schemeClr val="accent1"/>
              </a:solidFill>
            </a:endParaRPr>
          </a:p>
        </p:txBody>
      </p:sp>
      <p:sp>
        <p:nvSpPr>
          <p:cNvPr id="3" name="Content Placeholder 2"/>
          <p:cNvSpPr>
            <a:spLocks noGrp="1"/>
          </p:cNvSpPr>
          <p:nvPr>
            <p:ph sz="half" idx="1"/>
          </p:nvPr>
        </p:nvSpPr>
        <p:spPr/>
        <p:txBody>
          <a:bodyPr>
            <a:normAutofit fontScale="62500" lnSpcReduction="20000"/>
          </a:bodyPr>
          <a:lstStyle/>
          <a:p>
            <a:pPr marL="457200" indent="-457200">
              <a:buFont typeface="+mj-lt"/>
              <a:buAutoNum type="arabicPeriod" startAt="4"/>
            </a:pPr>
            <a:endParaRPr lang="bg-BG" dirty="0" smtClean="0"/>
          </a:p>
          <a:p>
            <a:pPr marL="457200" indent="-457200">
              <a:buFont typeface="+mj-lt"/>
              <a:buAutoNum type="arabicPeriod" startAt="4"/>
            </a:pPr>
            <a:endParaRPr lang="bg-BG" dirty="0" smtClean="0"/>
          </a:p>
        </p:txBody>
      </p:sp>
      <p:sp>
        <p:nvSpPr>
          <p:cNvPr id="11" name="Content Placeholder 10"/>
          <p:cNvSpPr>
            <a:spLocks noGrp="1"/>
          </p:cNvSpPr>
          <p:nvPr>
            <p:ph sz="half" idx="2"/>
          </p:nvPr>
        </p:nvSpPr>
        <p:spPr>
          <a:xfrm>
            <a:off x="4744411" y="1087022"/>
            <a:ext cx="3846140" cy="4919892"/>
          </a:xfrm>
        </p:spPr>
        <p:txBody>
          <a:bodyPr>
            <a:normAutofit fontScale="62500" lnSpcReduction="20000"/>
          </a:bodyPr>
          <a:lstStyle/>
          <a:p>
            <a:pPr marL="0" indent="0" algn="ctr">
              <a:buNone/>
            </a:pPr>
            <a:r>
              <a:rPr lang="bg-BG" sz="3800" dirty="0" smtClean="0">
                <a:solidFill>
                  <a:srgbClr val="C00000"/>
                </a:solidFill>
              </a:rPr>
              <a:t>Вторичен индекс</a:t>
            </a:r>
          </a:p>
          <a:p>
            <a:r>
              <a:rPr lang="bg-BG" sz="2700" dirty="0" smtClean="0"/>
              <a:t>дефинира се върху произволно поле на файла (наречено </a:t>
            </a:r>
            <a:r>
              <a:rPr lang="bg-BG" sz="2700" dirty="0" smtClean="0">
                <a:solidFill>
                  <a:srgbClr val="C00000"/>
                </a:solidFill>
              </a:rPr>
              <a:t>индексиращо</a:t>
            </a:r>
            <a:r>
              <a:rPr lang="bg-BG" sz="2700" dirty="0" smtClean="0"/>
              <a:t> поле), по което се търси често; </a:t>
            </a:r>
          </a:p>
          <a:p>
            <a:r>
              <a:rPr lang="bg-BG" sz="2700" dirty="0" smtClean="0"/>
              <a:t>средство за бърз достъп до съдържанието на файл, чиито записи са сортирани, хеширани или неструктурирани;</a:t>
            </a:r>
          </a:p>
          <a:p>
            <a:r>
              <a:rPr lang="bg-BG" sz="2700" dirty="0" smtClean="0"/>
              <a:t>предоставя логическо сортиране на записите по избраното индексиращо поле;</a:t>
            </a:r>
          </a:p>
          <a:p>
            <a:r>
              <a:rPr lang="bg-BG" sz="2700" dirty="0"/>
              <a:t>в</a:t>
            </a:r>
            <a:r>
              <a:rPr lang="bg-BG" sz="2700" dirty="0" smtClean="0"/>
              <a:t>ърху даден файл могат да се изградят произволен брой вторични индекси;</a:t>
            </a:r>
          </a:p>
          <a:p>
            <a:r>
              <a:rPr lang="bg-BG" sz="2700" dirty="0"/>
              <a:t>б</a:t>
            </a:r>
            <a:r>
              <a:rPr lang="bg-BG" sz="2700" dirty="0" smtClean="0"/>
              <a:t>ива компактен (dense) или разреден (sparse). При компактния индекс за всяка стойност на избраното за индексно поле се създава запис. При разредения индекс запис в индексния файл се създава запис само за определени стойности.</a:t>
            </a:r>
          </a:p>
          <a:p>
            <a:endParaRPr lang="bg-BG" dirty="0" smtClean="0"/>
          </a:p>
        </p:txBody>
      </p:sp>
      <p:sp>
        <p:nvSpPr>
          <p:cNvPr id="4" name="Date Placeholder 3"/>
          <p:cNvSpPr>
            <a:spLocks noGrp="1"/>
          </p:cNvSpPr>
          <p:nvPr>
            <p:ph type="dt" sz="half" idx="10"/>
          </p:nvPr>
        </p:nvSpPr>
        <p:spPr/>
        <p:txBody>
          <a:bodyPr/>
          <a:lstStyle/>
          <a:p>
            <a:r>
              <a:rPr lang="bg-BG" altLang="bg-BG" smtClean="0"/>
              <a:t>Юлиана Пенева</a:t>
            </a:r>
            <a:endParaRPr lang="bg-BG" altLang="bg-BG"/>
          </a:p>
        </p:txBody>
      </p:sp>
      <p:sp>
        <p:nvSpPr>
          <p:cNvPr id="5" name="Footer Placeholder 4"/>
          <p:cNvSpPr>
            <a:spLocks noGrp="1"/>
          </p:cNvSpPr>
          <p:nvPr>
            <p:ph type="ftr" sz="quarter" idx="11"/>
          </p:nvPr>
        </p:nvSpPr>
        <p:spPr/>
        <p:txBody>
          <a:bodyPr/>
          <a:lstStyle/>
          <a:p>
            <a:r>
              <a:rPr lang="en-US" altLang="bg-BG" smtClean="0"/>
              <a:t>CSCB405 - </a:t>
            </a:r>
            <a:r>
              <a:rPr lang="bg-BG" altLang="bg-BG" smtClean="0"/>
              <a:t>модул 8</a:t>
            </a:r>
            <a:endParaRPr lang="bg-BG" altLang="bg-BG"/>
          </a:p>
        </p:txBody>
      </p:sp>
      <p:sp>
        <p:nvSpPr>
          <p:cNvPr id="6" name="Slide Number Placeholder 5"/>
          <p:cNvSpPr>
            <a:spLocks noGrp="1"/>
          </p:cNvSpPr>
          <p:nvPr>
            <p:ph type="sldNum" sz="quarter" idx="12"/>
          </p:nvPr>
        </p:nvSpPr>
        <p:spPr/>
        <p:txBody>
          <a:bodyPr/>
          <a:lstStyle/>
          <a:p>
            <a:fld id="{74EE3BFA-F3F3-428D-9946-02BF70619056}" type="slidenum">
              <a:rPr lang="bg-BG" altLang="bg-BG" smtClean="0"/>
              <a:pPr/>
              <a:t>42</a:t>
            </a:fld>
            <a:endParaRPr lang="bg-BG" altLang="bg-BG"/>
          </a:p>
        </p:txBody>
      </p:sp>
      <p:pic>
        <p:nvPicPr>
          <p:cNvPr id="8" name="Picture 7"/>
          <p:cNvPicPr>
            <a:picLocks noChangeAspect="1"/>
          </p:cNvPicPr>
          <p:nvPr/>
        </p:nvPicPr>
        <p:blipFill>
          <a:blip r:embed="rId2"/>
          <a:stretch>
            <a:fillRect/>
          </a:stretch>
        </p:blipFill>
        <p:spPr>
          <a:xfrm>
            <a:off x="322260" y="1051849"/>
            <a:ext cx="4422151" cy="4834153"/>
          </a:xfrm>
          <a:prstGeom prst="rect">
            <a:avLst/>
          </a:prstGeom>
        </p:spPr>
      </p:pic>
    </p:spTree>
    <p:extLst>
      <p:ext uri="{BB962C8B-B14F-4D97-AF65-F5344CB8AC3E}">
        <p14:creationId xmlns:p14="http://schemas.microsoft.com/office/powerpoint/2010/main" val="3946792298"/>
      </p:ext>
    </p:extLst>
  </p:cSld>
  <p:clrMapOvr>
    <a:masterClrMapping/>
  </p:clrMapOvr>
  <p:transition>
    <p:fade/>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439734"/>
            <a:ext cx="8243887" cy="516965"/>
          </a:xfrm>
        </p:spPr>
        <p:txBody>
          <a:bodyPr>
            <a:noAutofit/>
          </a:bodyPr>
          <a:lstStyle/>
          <a:p>
            <a:pPr algn="ctr"/>
            <a:r>
              <a:rPr lang="bg-BG" altLang="bg-BG" sz="3200" dirty="0" smtClean="0">
                <a:solidFill>
                  <a:schemeClr val="accent1"/>
                </a:solidFill>
              </a:rPr>
              <a:t>Методи за проектиране на физическата база</a:t>
            </a:r>
            <a:endParaRPr lang="bg-BG" altLang="bg-BG" sz="3200" dirty="0">
              <a:solidFill>
                <a:schemeClr val="accent1"/>
              </a:solidFill>
            </a:endParaRPr>
          </a:p>
        </p:txBody>
      </p:sp>
      <p:sp>
        <p:nvSpPr>
          <p:cNvPr id="3" name="Content Placeholder 2"/>
          <p:cNvSpPr>
            <a:spLocks noGrp="1"/>
          </p:cNvSpPr>
          <p:nvPr>
            <p:ph idx="1"/>
          </p:nvPr>
        </p:nvSpPr>
        <p:spPr>
          <a:xfrm>
            <a:off x="499390" y="956699"/>
            <a:ext cx="8229600" cy="4197915"/>
          </a:xfrm>
        </p:spPr>
        <p:txBody>
          <a:bodyPr>
            <a:normAutofit fontScale="92500" lnSpcReduction="10000"/>
          </a:bodyPr>
          <a:lstStyle/>
          <a:p>
            <a:pPr marL="0" indent="0" algn="ctr">
              <a:buNone/>
            </a:pPr>
            <a:r>
              <a:rPr lang="bg-BG" sz="3000" dirty="0">
                <a:solidFill>
                  <a:srgbClr val="C00000"/>
                </a:solidFill>
              </a:rPr>
              <a:t>Индексиране</a:t>
            </a:r>
          </a:p>
          <a:p>
            <a:pPr marL="457200" indent="-457200">
              <a:buFont typeface="+mj-lt"/>
              <a:buAutoNum type="arabicPeriod"/>
            </a:pPr>
            <a:r>
              <a:rPr lang="bg-BG" dirty="0" smtClean="0"/>
              <a:t>Един файл може да има най-много един главен или клъстер индекс, защото физически може да бъде подреден само по стойностите на едно поле.</a:t>
            </a:r>
          </a:p>
          <a:p>
            <a:pPr marL="457200" indent="-457200">
              <a:buFont typeface="+mj-lt"/>
              <a:buAutoNum type="arabicPeriod"/>
            </a:pPr>
            <a:r>
              <a:rPr lang="bg-BG" dirty="0" smtClean="0"/>
              <a:t>В допълнение могат да се дефинират произволен брой вторични индекси. </a:t>
            </a:r>
          </a:p>
          <a:p>
            <a:pPr marL="457200" indent="-457200">
              <a:buFont typeface="+mj-lt"/>
              <a:buAutoNum type="arabicPeriod"/>
            </a:pPr>
            <a:r>
              <a:rPr lang="bg-BG" dirty="0" smtClean="0"/>
              <a:t>В много системи индексът не е част от файла с данни, а може да се създава и променя динамично. Затова се нарича структура за достъп. </a:t>
            </a:r>
          </a:p>
          <a:p>
            <a:pPr marL="457200" indent="-457200">
              <a:buFont typeface="+mj-lt"/>
              <a:buAutoNum type="arabicPeriod"/>
            </a:pPr>
            <a:r>
              <a:rPr lang="bg-BG" dirty="0" smtClean="0"/>
              <a:t>При нарастване размера на индексния файл се прибягва до създаването на индекси на много нива като по този начин се намалява обхвата на търсенето – слайд </a:t>
            </a:r>
            <a:r>
              <a:rPr lang="bg-BG" dirty="0" smtClean="0"/>
              <a:t>4</a:t>
            </a:r>
            <a:r>
              <a:rPr lang="en-US" dirty="0" smtClean="0"/>
              <a:t>5</a:t>
            </a:r>
            <a:r>
              <a:rPr lang="bg-BG" dirty="0" smtClean="0"/>
              <a:t>.</a:t>
            </a:r>
            <a:endParaRPr lang="bg-BG" dirty="0" smtClean="0"/>
          </a:p>
        </p:txBody>
      </p:sp>
      <p:sp>
        <p:nvSpPr>
          <p:cNvPr id="4" name="Date Placeholder 3"/>
          <p:cNvSpPr>
            <a:spLocks noGrp="1"/>
          </p:cNvSpPr>
          <p:nvPr>
            <p:ph type="dt" sz="half" idx="10"/>
          </p:nvPr>
        </p:nvSpPr>
        <p:spPr/>
        <p:txBody>
          <a:bodyPr/>
          <a:lstStyle/>
          <a:p>
            <a:r>
              <a:rPr lang="bg-BG" altLang="bg-BG" smtClean="0"/>
              <a:t>Юлиана Пенева</a:t>
            </a:r>
            <a:endParaRPr lang="bg-BG" altLang="bg-BG"/>
          </a:p>
        </p:txBody>
      </p:sp>
      <p:sp>
        <p:nvSpPr>
          <p:cNvPr id="5" name="Footer Placeholder 4"/>
          <p:cNvSpPr>
            <a:spLocks noGrp="1"/>
          </p:cNvSpPr>
          <p:nvPr>
            <p:ph type="ftr" sz="quarter" idx="11"/>
          </p:nvPr>
        </p:nvSpPr>
        <p:spPr/>
        <p:txBody>
          <a:bodyPr/>
          <a:lstStyle/>
          <a:p>
            <a:r>
              <a:rPr lang="en-US" altLang="bg-BG" smtClean="0"/>
              <a:t>CSCB405 - </a:t>
            </a:r>
            <a:r>
              <a:rPr lang="bg-BG" altLang="bg-BG" smtClean="0"/>
              <a:t>модул 8</a:t>
            </a:r>
            <a:endParaRPr lang="bg-BG" altLang="bg-BG"/>
          </a:p>
        </p:txBody>
      </p:sp>
      <p:sp>
        <p:nvSpPr>
          <p:cNvPr id="6" name="Slide Number Placeholder 5"/>
          <p:cNvSpPr>
            <a:spLocks noGrp="1"/>
          </p:cNvSpPr>
          <p:nvPr>
            <p:ph type="sldNum" sz="quarter" idx="12"/>
          </p:nvPr>
        </p:nvSpPr>
        <p:spPr/>
        <p:txBody>
          <a:bodyPr/>
          <a:lstStyle/>
          <a:p>
            <a:fld id="{74EE3BFA-F3F3-428D-9946-02BF70619056}" type="slidenum">
              <a:rPr lang="bg-BG" altLang="bg-BG" smtClean="0"/>
              <a:pPr/>
              <a:t>43</a:t>
            </a:fld>
            <a:endParaRPr lang="bg-BG" altLang="bg-BG"/>
          </a:p>
        </p:txBody>
      </p:sp>
    </p:spTree>
    <p:extLst>
      <p:ext uri="{BB962C8B-B14F-4D97-AF65-F5344CB8AC3E}">
        <p14:creationId xmlns:p14="http://schemas.microsoft.com/office/powerpoint/2010/main" val="849424673"/>
      </p:ext>
    </p:extLst>
  </p:cSld>
  <p:clrMapOvr>
    <a:masterClrMapping/>
  </p:clrMapOvr>
  <p:transition>
    <p:fade/>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439734"/>
            <a:ext cx="8243887" cy="516965"/>
          </a:xfrm>
        </p:spPr>
        <p:txBody>
          <a:bodyPr>
            <a:noAutofit/>
          </a:bodyPr>
          <a:lstStyle/>
          <a:p>
            <a:pPr algn="ctr"/>
            <a:r>
              <a:rPr lang="bg-BG" altLang="bg-BG" sz="3200" dirty="0" smtClean="0">
                <a:solidFill>
                  <a:schemeClr val="accent1"/>
                </a:solidFill>
              </a:rPr>
              <a:t>Методи за проектиране на физическата база</a:t>
            </a:r>
            <a:endParaRPr lang="bg-BG" altLang="bg-BG" sz="3200" dirty="0">
              <a:solidFill>
                <a:schemeClr val="accent1"/>
              </a:solidFill>
            </a:endParaRPr>
          </a:p>
        </p:txBody>
      </p:sp>
      <p:sp>
        <p:nvSpPr>
          <p:cNvPr id="3" name="Content Placeholder 2"/>
          <p:cNvSpPr>
            <a:spLocks noGrp="1"/>
          </p:cNvSpPr>
          <p:nvPr>
            <p:ph idx="1"/>
          </p:nvPr>
        </p:nvSpPr>
        <p:spPr>
          <a:xfrm>
            <a:off x="499390" y="812735"/>
            <a:ext cx="8229600" cy="600093"/>
          </a:xfrm>
        </p:spPr>
        <p:txBody>
          <a:bodyPr>
            <a:normAutofit/>
          </a:bodyPr>
          <a:lstStyle/>
          <a:p>
            <a:pPr marL="0" indent="0" algn="ctr">
              <a:buNone/>
            </a:pPr>
            <a:r>
              <a:rPr lang="bg-BG" sz="3000" dirty="0" smtClean="0">
                <a:solidFill>
                  <a:srgbClr val="C00000"/>
                </a:solidFill>
              </a:rPr>
              <a:t>Индексиране</a:t>
            </a:r>
            <a:endParaRPr lang="bg-BG" sz="3000" dirty="0">
              <a:solidFill>
                <a:srgbClr val="C00000"/>
              </a:solidFill>
            </a:endParaRPr>
          </a:p>
        </p:txBody>
      </p:sp>
      <p:sp>
        <p:nvSpPr>
          <p:cNvPr id="4" name="Date Placeholder 3"/>
          <p:cNvSpPr>
            <a:spLocks noGrp="1"/>
          </p:cNvSpPr>
          <p:nvPr>
            <p:ph type="dt" sz="half" idx="10"/>
          </p:nvPr>
        </p:nvSpPr>
        <p:spPr/>
        <p:txBody>
          <a:bodyPr/>
          <a:lstStyle/>
          <a:p>
            <a:r>
              <a:rPr lang="bg-BG" altLang="bg-BG" smtClean="0"/>
              <a:t>Юлиана Пенева</a:t>
            </a:r>
            <a:endParaRPr lang="bg-BG" altLang="bg-BG"/>
          </a:p>
        </p:txBody>
      </p:sp>
      <p:sp>
        <p:nvSpPr>
          <p:cNvPr id="5" name="Footer Placeholder 4"/>
          <p:cNvSpPr>
            <a:spLocks noGrp="1"/>
          </p:cNvSpPr>
          <p:nvPr>
            <p:ph type="ftr" sz="quarter" idx="11"/>
          </p:nvPr>
        </p:nvSpPr>
        <p:spPr/>
        <p:txBody>
          <a:bodyPr/>
          <a:lstStyle/>
          <a:p>
            <a:r>
              <a:rPr lang="en-US" altLang="bg-BG" smtClean="0"/>
              <a:t>CSCB405 - </a:t>
            </a:r>
            <a:r>
              <a:rPr lang="bg-BG" altLang="bg-BG" smtClean="0"/>
              <a:t>модул 8</a:t>
            </a:r>
            <a:endParaRPr lang="bg-BG" altLang="bg-BG"/>
          </a:p>
        </p:txBody>
      </p:sp>
      <p:sp>
        <p:nvSpPr>
          <p:cNvPr id="6" name="Slide Number Placeholder 5"/>
          <p:cNvSpPr>
            <a:spLocks noGrp="1"/>
          </p:cNvSpPr>
          <p:nvPr>
            <p:ph type="sldNum" sz="quarter" idx="12"/>
          </p:nvPr>
        </p:nvSpPr>
        <p:spPr/>
        <p:txBody>
          <a:bodyPr/>
          <a:lstStyle/>
          <a:p>
            <a:fld id="{74EE3BFA-F3F3-428D-9946-02BF70619056}" type="slidenum">
              <a:rPr lang="bg-BG" altLang="bg-BG" smtClean="0"/>
              <a:pPr/>
              <a:t>44</a:t>
            </a:fld>
            <a:endParaRPr lang="bg-BG" altLang="bg-BG"/>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08935" y="1490218"/>
            <a:ext cx="6076950" cy="4562475"/>
          </a:xfrm>
          <a:prstGeom prst="rect">
            <a:avLst/>
          </a:prstGeom>
          <a:ln w="19050">
            <a:solidFill>
              <a:srgbClr val="C00000"/>
            </a:solidFill>
          </a:ln>
        </p:spPr>
      </p:pic>
    </p:spTree>
    <p:extLst>
      <p:ext uri="{BB962C8B-B14F-4D97-AF65-F5344CB8AC3E}">
        <p14:creationId xmlns:p14="http://schemas.microsoft.com/office/powerpoint/2010/main" val="2098563784"/>
      </p:ext>
    </p:extLst>
  </p:cSld>
  <p:clrMapOvr>
    <a:masterClrMapping/>
  </p:clrMapOvr>
  <p:transition>
    <p:fade/>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6996" y="401862"/>
            <a:ext cx="8243887" cy="516965"/>
          </a:xfrm>
        </p:spPr>
        <p:txBody>
          <a:bodyPr>
            <a:noAutofit/>
          </a:bodyPr>
          <a:lstStyle/>
          <a:p>
            <a:pPr algn="ctr"/>
            <a:r>
              <a:rPr lang="bg-BG" altLang="bg-BG" sz="3200" dirty="0" smtClean="0">
                <a:solidFill>
                  <a:schemeClr val="accent1"/>
                </a:solidFill>
              </a:rPr>
              <a:t>Методи за проектиране на физическата база</a:t>
            </a:r>
            <a:endParaRPr lang="bg-BG" altLang="bg-BG" sz="3200" dirty="0">
              <a:solidFill>
                <a:schemeClr val="accent1"/>
              </a:solidFill>
            </a:endParaRPr>
          </a:p>
        </p:txBody>
      </p:sp>
      <p:sp>
        <p:nvSpPr>
          <p:cNvPr id="3" name="Content Placeholder 2"/>
          <p:cNvSpPr>
            <a:spLocks noGrp="1"/>
          </p:cNvSpPr>
          <p:nvPr>
            <p:ph idx="1"/>
          </p:nvPr>
        </p:nvSpPr>
        <p:spPr>
          <a:xfrm>
            <a:off x="395536" y="1268760"/>
            <a:ext cx="8229600" cy="4811561"/>
          </a:xfrm>
        </p:spPr>
        <p:txBody>
          <a:bodyPr>
            <a:normAutofit/>
          </a:bodyPr>
          <a:lstStyle/>
          <a:p>
            <a:pPr marL="457200" indent="-457200">
              <a:buFont typeface="+mj-lt"/>
              <a:buAutoNum type="arabicPeriod" startAt="4"/>
            </a:pPr>
            <a:endParaRPr lang="bg-BG" dirty="0" smtClean="0"/>
          </a:p>
          <a:p>
            <a:pPr marL="457200" indent="-457200">
              <a:buFont typeface="+mj-lt"/>
              <a:buAutoNum type="arabicPeriod" startAt="4"/>
            </a:pPr>
            <a:endParaRPr lang="bg-BG" dirty="0" smtClean="0"/>
          </a:p>
        </p:txBody>
      </p:sp>
      <p:sp>
        <p:nvSpPr>
          <p:cNvPr id="4" name="Date Placeholder 3"/>
          <p:cNvSpPr>
            <a:spLocks noGrp="1"/>
          </p:cNvSpPr>
          <p:nvPr>
            <p:ph type="dt" sz="half" idx="10"/>
          </p:nvPr>
        </p:nvSpPr>
        <p:spPr/>
        <p:txBody>
          <a:bodyPr/>
          <a:lstStyle/>
          <a:p>
            <a:r>
              <a:rPr lang="bg-BG" altLang="bg-BG" smtClean="0"/>
              <a:t>Юлиана Пенева</a:t>
            </a:r>
            <a:endParaRPr lang="bg-BG" altLang="bg-BG"/>
          </a:p>
        </p:txBody>
      </p:sp>
      <p:sp>
        <p:nvSpPr>
          <p:cNvPr id="5" name="Footer Placeholder 4"/>
          <p:cNvSpPr>
            <a:spLocks noGrp="1"/>
          </p:cNvSpPr>
          <p:nvPr>
            <p:ph type="ftr" sz="quarter" idx="11"/>
          </p:nvPr>
        </p:nvSpPr>
        <p:spPr/>
        <p:txBody>
          <a:bodyPr/>
          <a:lstStyle/>
          <a:p>
            <a:r>
              <a:rPr lang="en-US" altLang="bg-BG" smtClean="0"/>
              <a:t>CSCB405 - </a:t>
            </a:r>
            <a:r>
              <a:rPr lang="bg-BG" altLang="bg-BG" smtClean="0"/>
              <a:t>модул 8</a:t>
            </a:r>
            <a:endParaRPr lang="bg-BG" altLang="bg-BG"/>
          </a:p>
        </p:txBody>
      </p:sp>
      <p:sp>
        <p:nvSpPr>
          <p:cNvPr id="6" name="Slide Number Placeholder 5"/>
          <p:cNvSpPr>
            <a:spLocks noGrp="1"/>
          </p:cNvSpPr>
          <p:nvPr>
            <p:ph type="sldNum" sz="quarter" idx="12"/>
          </p:nvPr>
        </p:nvSpPr>
        <p:spPr/>
        <p:txBody>
          <a:bodyPr/>
          <a:lstStyle/>
          <a:p>
            <a:fld id="{74EE3BFA-F3F3-428D-9946-02BF70619056}" type="slidenum">
              <a:rPr lang="bg-BG" altLang="bg-BG" smtClean="0"/>
              <a:pPr/>
              <a:t>45</a:t>
            </a:fld>
            <a:endParaRPr lang="bg-BG" altLang="bg-BG"/>
          </a:p>
        </p:txBody>
      </p:sp>
      <p:pic>
        <p:nvPicPr>
          <p:cNvPr id="7" name="Picture 6"/>
          <p:cNvPicPr>
            <a:picLocks noChangeAspect="1"/>
          </p:cNvPicPr>
          <p:nvPr/>
        </p:nvPicPr>
        <p:blipFill>
          <a:blip r:embed="rId2"/>
          <a:stretch>
            <a:fillRect/>
          </a:stretch>
        </p:blipFill>
        <p:spPr>
          <a:xfrm>
            <a:off x="1933676" y="918827"/>
            <a:ext cx="4942580" cy="5231476"/>
          </a:xfrm>
          <a:prstGeom prst="rect">
            <a:avLst/>
          </a:prstGeom>
          <a:ln w="19050">
            <a:solidFill>
              <a:srgbClr val="C00000"/>
            </a:solidFill>
          </a:ln>
        </p:spPr>
      </p:pic>
    </p:spTree>
    <p:extLst>
      <p:ext uri="{BB962C8B-B14F-4D97-AF65-F5344CB8AC3E}">
        <p14:creationId xmlns:p14="http://schemas.microsoft.com/office/powerpoint/2010/main" val="1181666296"/>
      </p:ext>
    </p:extLst>
  </p:cSld>
  <p:clrMapOvr>
    <a:masterClrMapping/>
  </p:clrMapOvr>
  <p:transition>
    <p:fade/>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321766"/>
            <a:ext cx="8243887" cy="516965"/>
          </a:xfrm>
        </p:spPr>
        <p:txBody>
          <a:bodyPr>
            <a:noAutofit/>
          </a:bodyPr>
          <a:lstStyle/>
          <a:p>
            <a:pPr algn="ctr"/>
            <a:r>
              <a:rPr lang="bg-BG" altLang="bg-BG" sz="3200" dirty="0" smtClean="0">
                <a:solidFill>
                  <a:schemeClr val="accent1"/>
                </a:solidFill>
              </a:rPr>
              <a:t>Методи за проектиране на физическата база</a:t>
            </a:r>
            <a:endParaRPr lang="bg-BG" altLang="bg-BG" sz="3200" dirty="0">
              <a:solidFill>
                <a:schemeClr val="accent1"/>
              </a:solidFill>
            </a:endParaRPr>
          </a:p>
        </p:txBody>
      </p:sp>
      <p:sp>
        <p:nvSpPr>
          <p:cNvPr id="3" name="Content Placeholder 2"/>
          <p:cNvSpPr>
            <a:spLocks noGrp="1"/>
          </p:cNvSpPr>
          <p:nvPr>
            <p:ph idx="1"/>
          </p:nvPr>
        </p:nvSpPr>
        <p:spPr>
          <a:xfrm>
            <a:off x="395536" y="823366"/>
            <a:ext cx="8229600" cy="5229327"/>
          </a:xfrm>
        </p:spPr>
        <p:txBody>
          <a:bodyPr>
            <a:noAutofit/>
          </a:bodyPr>
          <a:lstStyle/>
          <a:p>
            <a:pPr marL="0" lvl="0" indent="0" algn="ctr">
              <a:buClr>
                <a:srgbClr val="AD0101"/>
              </a:buClr>
              <a:buNone/>
            </a:pPr>
            <a:r>
              <a:rPr lang="bg-BG" sz="2800" dirty="0">
                <a:solidFill>
                  <a:srgbClr val="C00000"/>
                </a:solidFill>
              </a:rPr>
              <a:t>Индексиране</a:t>
            </a:r>
          </a:p>
          <a:p>
            <a:pPr marL="457200" indent="-457200">
              <a:buFont typeface="+mj-lt"/>
              <a:buAutoNum type="arabicPeriod"/>
            </a:pPr>
            <a:r>
              <a:rPr lang="bg-BG" sz="2000" dirty="0" smtClean="0"/>
              <a:t>Начини за индексиране  на базата: инвертирани файлове, различни видове дървовидни структури, многосписъчни файлове……………..</a:t>
            </a:r>
          </a:p>
          <a:p>
            <a:pPr marL="457200" indent="-457200">
              <a:buFont typeface="+mj-lt"/>
              <a:buAutoNum type="arabicPeriod"/>
            </a:pPr>
            <a:r>
              <a:rPr lang="bg-BG" sz="2000" dirty="0" smtClean="0"/>
              <a:t>Обикновено релационните СУБД използват различни видове дървета: </a:t>
            </a:r>
          </a:p>
          <a:p>
            <a:pPr lvl="1"/>
            <a:r>
              <a:rPr lang="bg-BG" sz="2000" dirty="0" smtClean="0"/>
              <a:t>В-дърво - при СУБД </a:t>
            </a:r>
            <a:r>
              <a:rPr lang="bg-BG" sz="2000" dirty="0" err="1" smtClean="0"/>
              <a:t>Oracle</a:t>
            </a:r>
            <a:r>
              <a:rPr lang="bg-BG" sz="2000" dirty="0" smtClean="0"/>
              <a:t>, DB2, </a:t>
            </a:r>
            <a:r>
              <a:rPr lang="bg-BG" sz="2000" dirty="0" err="1" smtClean="0"/>
              <a:t>Ingress</a:t>
            </a:r>
            <a:r>
              <a:rPr lang="bg-BG" sz="2000" dirty="0" smtClean="0"/>
              <a:t>, </a:t>
            </a:r>
            <a:r>
              <a:rPr lang="bg-BG" sz="2000" dirty="0" err="1" smtClean="0"/>
              <a:t>Sybase</a:t>
            </a:r>
            <a:r>
              <a:rPr lang="bg-BG" sz="2000" dirty="0" smtClean="0"/>
              <a:t>, Microsoft SQL Server…. Реализира се чрез специализирана структура В+ дърво, при които се елиминират голяма част от указателите, като се използва индексен файл. Така обхождането на дървото е ефективно. </a:t>
            </a:r>
          </a:p>
          <a:p>
            <a:pPr marL="457200" indent="-457200">
              <a:buFont typeface="+mj-lt"/>
              <a:buAutoNum type="arabicPeriod"/>
            </a:pPr>
            <a:r>
              <a:rPr lang="bg-BG" sz="2000" dirty="0" smtClean="0"/>
              <a:t>При СУБД от трето поколение се прилагат R дървета и се разработват нови методи за индексиране.</a:t>
            </a:r>
          </a:p>
          <a:p>
            <a:pPr marL="457200" indent="-457200">
              <a:buFont typeface="+mj-lt"/>
              <a:buAutoNum type="arabicPeriod"/>
            </a:pPr>
            <a:r>
              <a:rPr lang="bg-BG" sz="2000" dirty="0" smtClean="0"/>
              <a:t>Разработени са методи за индексиране и съответни структури за реализация, когато индексиращото поле се състои от няколко елемента (съставен индекс). Предлагат се структури за достъп, които са подобни на индексирането, но прилагат хеширане или използват някои от функциите, заложени в </a:t>
            </a:r>
            <a:r>
              <a:rPr lang="bg-BG" sz="2000" dirty="0" smtClean="0"/>
              <a:t>СУБД</a:t>
            </a:r>
            <a:r>
              <a:rPr lang="en-US" sz="2000" dirty="0" smtClean="0"/>
              <a:t> </a:t>
            </a:r>
            <a:r>
              <a:rPr lang="bg-BG" sz="2000" dirty="0" smtClean="0"/>
              <a:t>- </a:t>
            </a:r>
            <a:r>
              <a:rPr lang="bg-BG" sz="2000" dirty="0" smtClean="0"/>
              <a:t>(</a:t>
            </a:r>
            <a:r>
              <a:rPr lang="bg-BG" sz="2000" dirty="0" err="1" smtClean="0"/>
              <a:t>Oracle</a:t>
            </a:r>
            <a:r>
              <a:rPr lang="bg-BG" sz="2000" dirty="0" smtClean="0"/>
              <a:t>).</a:t>
            </a:r>
          </a:p>
        </p:txBody>
      </p:sp>
      <p:sp>
        <p:nvSpPr>
          <p:cNvPr id="4" name="Date Placeholder 3"/>
          <p:cNvSpPr>
            <a:spLocks noGrp="1"/>
          </p:cNvSpPr>
          <p:nvPr>
            <p:ph type="dt" sz="half" idx="10"/>
          </p:nvPr>
        </p:nvSpPr>
        <p:spPr/>
        <p:txBody>
          <a:bodyPr/>
          <a:lstStyle/>
          <a:p>
            <a:r>
              <a:rPr lang="bg-BG" altLang="bg-BG" smtClean="0"/>
              <a:t>Юлиана Пенева</a:t>
            </a:r>
            <a:endParaRPr lang="bg-BG" altLang="bg-BG"/>
          </a:p>
        </p:txBody>
      </p:sp>
      <p:sp>
        <p:nvSpPr>
          <p:cNvPr id="5" name="Footer Placeholder 4"/>
          <p:cNvSpPr>
            <a:spLocks noGrp="1"/>
          </p:cNvSpPr>
          <p:nvPr>
            <p:ph type="ftr" sz="quarter" idx="11"/>
          </p:nvPr>
        </p:nvSpPr>
        <p:spPr/>
        <p:txBody>
          <a:bodyPr/>
          <a:lstStyle/>
          <a:p>
            <a:r>
              <a:rPr lang="en-US" altLang="bg-BG" smtClean="0"/>
              <a:t>CSCB405 - </a:t>
            </a:r>
            <a:r>
              <a:rPr lang="bg-BG" altLang="bg-BG" smtClean="0"/>
              <a:t>модул 8</a:t>
            </a:r>
            <a:endParaRPr lang="bg-BG" altLang="bg-BG"/>
          </a:p>
        </p:txBody>
      </p:sp>
      <p:sp>
        <p:nvSpPr>
          <p:cNvPr id="6" name="Slide Number Placeholder 5"/>
          <p:cNvSpPr>
            <a:spLocks noGrp="1"/>
          </p:cNvSpPr>
          <p:nvPr>
            <p:ph type="sldNum" sz="quarter" idx="12"/>
          </p:nvPr>
        </p:nvSpPr>
        <p:spPr/>
        <p:txBody>
          <a:bodyPr/>
          <a:lstStyle/>
          <a:p>
            <a:fld id="{74EE3BFA-F3F3-428D-9946-02BF70619056}" type="slidenum">
              <a:rPr lang="bg-BG" altLang="bg-BG" smtClean="0"/>
              <a:pPr/>
              <a:t>46</a:t>
            </a:fld>
            <a:endParaRPr lang="bg-BG" altLang="bg-BG"/>
          </a:p>
        </p:txBody>
      </p:sp>
    </p:spTree>
    <p:extLst>
      <p:ext uri="{BB962C8B-B14F-4D97-AF65-F5344CB8AC3E}">
        <p14:creationId xmlns:p14="http://schemas.microsoft.com/office/powerpoint/2010/main" val="736279564"/>
      </p:ext>
    </p:extLst>
  </p:cSld>
  <p:clrMapOvr>
    <a:masterClrMapping/>
  </p:clrMapOvr>
  <p:transition>
    <p:fade/>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439734"/>
            <a:ext cx="8243887" cy="516965"/>
          </a:xfrm>
        </p:spPr>
        <p:txBody>
          <a:bodyPr>
            <a:noAutofit/>
          </a:bodyPr>
          <a:lstStyle/>
          <a:p>
            <a:pPr algn="ctr"/>
            <a:r>
              <a:rPr lang="bg-BG" altLang="bg-BG" sz="3200" dirty="0" smtClean="0">
                <a:solidFill>
                  <a:schemeClr val="accent1"/>
                </a:solidFill>
              </a:rPr>
              <a:t>Методи за проектиране на физическата база</a:t>
            </a:r>
            <a:endParaRPr lang="bg-BG" altLang="bg-BG" sz="3200" dirty="0">
              <a:solidFill>
                <a:schemeClr val="accent1"/>
              </a:solidFill>
            </a:endParaRPr>
          </a:p>
        </p:txBody>
      </p:sp>
      <p:sp>
        <p:nvSpPr>
          <p:cNvPr id="3" name="Content Placeholder 2"/>
          <p:cNvSpPr>
            <a:spLocks noGrp="1"/>
          </p:cNvSpPr>
          <p:nvPr>
            <p:ph idx="1"/>
          </p:nvPr>
        </p:nvSpPr>
        <p:spPr>
          <a:xfrm>
            <a:off x="323528" y="1047077"/>
            <a:ext cx="8058472" cy="4019473"/>
          </a:xfrm>
        </p:spPr>
        <p:txBody>
          <a:bodyPr>
            <a:normAutofit/>
          </a:bodyPr>
          <a:lstStyle/>
          <a:p>
            <a:pPr marL="0" lvl="0" indent="0" algn="ctr">
              <a:buClr>
                <a:srgbClr val="AD0101"/>
              </a:buClr>
              <a:buNone/>
            </a:pPr>
            <a:r>
              <a:rPr lang="bg-BG" sz="2800" dirty="0">
                <a:solidFill>
                  <a:srgbClr val="C00000"/>
                </a:solidFill>
              </a:rPr>
              <a:t>Индексиране</a:t>
            </a:r>
          </a:p>
          <a:p>
            <a:pPr marL="457200" indent="-457200">
              <a:buFont typeface="+mj-lt"/>
              <a:buAutoNum type="arabicPeriod"/>
            </a:pPr>
            <a:r>
              <a:rPr lang="bg-BG" dirty="0" smtClean="0"/>
              <a:t>Създаването </a:t>
            </a:r>
            <a:r>
              <a:rPr lang="bg-BG" dirty="0"/>
              <a:t>на индекси в повечето релационни СУБД се извършва с команда от вида:</a:t>
            </a:r>
          </a:p>
          <a:p>
            <a:pPr marL="868680" lvl="3" indent="0">
              <a:buNone/>
            </a:pPr>
            <a:r>
              <a:rPr lang="en-US" sz="2000" spc="-300" dirty="0">
                <a:latin typeface="Courier New" panose="02070309020205020404" pitchFamily="49" charset="0"/>
                <a:cs typeface="Courier New" panose="02070309020205020404" pitchFamily="49" charset="0"/>
              </a:rPr>
              <a:t>CREATE [ UNIQUE ] INDEX &lt;index name&gt;</a:t>
            </a:r>
          </a:p>
          <a:p>
            <a:pPr marL="868680" lvl="3" indent="0">
              <a:buNone/>
            </a:pPr>
            <a:r>
              <a:rPr lang="en-US" sz="2000" spc="-300" dirty="0">
                <a:latin typeface="Courier New" panose="02070309020205020404" pitchFamily="49" charset="0"/>
                <a:cs typeface="Courier New" panose="02070309020205020404" pitchFamily="49" charset="0"/>
              </a:rPr>
              <a:t>ON &lt;table name&gt; ( &lt;column name&gt; [ &lt;order&gt; ] { , &lt;column name&gt; [ &lt;order&gt; ] } )</a:t>
            </a:r>
          </a:p>
          <a:p>
            <a:pPr marL="457200" indent="-457200">
              <a:buFont typeface="+mj-lt"/>
              <a:buAutoNum type="arabicPeriod" startAt="2"/>
            </a:pPr>
            <a:r>
              <a:rPr lang="bg-BG" dirty="0"/>
              <a:t>Тази команда не е част от стандарта на езика </a:t>
            </a:r>
            <a:r>
              <a:rPr lang="en-US" dirty="0"/>
              <a:t>SQL. </a:t>
            </a:r>
            <a:endParaRPr lang="bg-BG" dirty="0" smtClean="0"/>
          </a:p>
          <a:p>
            <a:pPr marL="457200" indent="-457200">
              <a:buFont typeface="+mj-lt"/>
              <a:buAutoNum type="arabicPeriod" startAt="3"/>
            </a:pPr>
            <a:r>
              <a:rPr lang="bg-BG" dirty="0" smtClean="0"/>
              <a:t>В </a:t>
            </a:r>
            <a:r>
              <a:rPr lang="bg-BG" dirty="0"/>
              <a:t>повечето системи индексът се реализира като отделна структура от </a:t>
            </a:r>
            <a:r>
              <a:rPr lang="bg-BG" dirty="0" smtClean="0"/>
              <a:t>файла </a:t>
            </a:r>
            <a:r>
              <a:rPr lang="bg-BG" dirty="0"/>
              <a:t>с данни. </a:t>
            </a:r>
          </a:p>
          <a:p>
            <a:pPr marL="457200" indent="-457200">
              <a:buFont typeface="+mj-lt"/>
              <a:buAutoNum type="arabicPeriod" startAt="4"/>
            </a:pPr>
            <a:endParaRPr lang="bg-BG" dirty="0" smtClean="0"/>
          </a:p>
        </p:txBody>
      </p:sp>
      <p:sp>
        <p:nvSpPr>
          <p:cNvPr id="4" name="Date Placeholder 3"/>
          <p:cNvSpPr>
            <a:spLocks noGrp="1"/>
          </p:cNvSpPr>
          <p:nvPr>
            <p:ph type="dt" sz="half" idx="10"/>
          </p:nvPr>
        </p:nvSpPr>
        <p:spPr/>
        <p:txBody>
          <a:bodyPr/>
          <a:lstStyle/>
          <a:p>
            <a:r>
              <a:rPr lang="bg-BG" altLang="bg-BG" smtClean="0"/>
              <a:t>Юлиана Пенева</a:t>
            </a:r>
            <a:endParaRPr lang="bg-BG" altLang="bg-BG"/>
          </a:p>
        </p:txBody>
      </p:sp>
      <p:sp>
        <p:nvSpPr>
          <p:cNvPr id="5" name="Footer Placeholder 4"/>
          <p:cNvSpPr>
            <a:spLocks noGrp="1"/>
          </p:cNvSpPr>
          <p:nvPr>
            <p:ph type="ftr" sz="quarter" idx="11"/>
          </p:nvPr>
        </p:nvSpPr>
        <p:spPr/>
        <p:txBody>
          <a:bodyPr/>
          <a:lstStyle/>
          <a:p>
            <a:r>
              <a:rPr lang="en-US" altLang="bg-BG" smtClean="0"/>
              <a:t>CSCB405 - </a:t>
            </a:r>
            <a:r>
              <a:rPr lang="bg-BG" altLang="bg-BG" smtClean="0"/>
              <a:t>модул 8</a:t>
            </a:r>
            <a:endParaRPr lang="bg-BG" altLang="bg-BG"/>
          </a:p>
        </p:txBody>
      </p:sp>
      <p:sp>
        <p:nvSpPr>
          <p:cNvPr id="6" name="Slide Number Placeholder 5"/>
          <p:cNvSpPr>
            <a:spLocks noGrp="1"/>
          </p:cNvSpPr>
          <p:nvPr>
            <p:ph type="sldNum" sz="quarter" idx="12"/>
          </p:nvPr>
        </p:nvSpPr>
        <p:spPr/>
        <p:txBody>
          <a:bodyPr/>
          <a:lstStyle/>
          <a:p>
            <a:fld id="{74EE3BFA-F3F3-428D-9946-02BF70619056}" type="slidenum">
              <a:rPr lang="bg-BG" altLang="bg-BG" smtClean="0"/>
              <a:pPr/>
              <a:t>47</a:t>
            </a:fld>
            <a:endParaRPr lang="bg-BG" altLang="bg-BG"/>
          </a:p>
        </p:txBody>
      </p:sp>
    </p:spTree>
    <p:extLst>
      <p:ext uri="{BB962C8B-B14F-4D97-AF65-F5344CB8AC3E}">
        <p14:creationId xmlns:p14="http://schemas.microsoft.com/office/powerpoint/2010/main" val="3965967816"/>
      </p:ext>
    </p:extLst>
  </p:cSld>
  <p:clrMapOvr>
    <a:masterClrMapping/>
  </p:clrMapOvr>
  <p:transition>
    <p:fade/>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439734"/>
            <a:ext cx="8243887" cy="516965"/>
          </a:xfrm>
        </p:spPr>
        <p:txBody>
          <a:bodyPr>
            <a:noAutofit/>
          </a:bodyPr>
          <a:lstStyle/>
          <a:p>
            <a:pPr algn="ctr"/>
            <a:r>
              <a:rPr lang="bg-BG" altLang="bg-BG" sz="3200" dirty="0" smtClean="0">
                <a:solidFill>
                  <a:schemeClr val="accent1"/>
                </a:solidFill>
              </a:rPr>
              <a:t>Методи за проектиране на физическата база</a:t>
            </a:r>
            <a:endParaRPr lang="bg-BG" altLang="bg-BG" sz="3200" dirty="0">
              <a:solidFill>
                <a:schemeClr val="accent1"/>
              </a:solidFill>
            </a:endParaRPr>
          </a:p>
        </p:txBody>
      </p:sp>
      <p:sp>
        <p:nvSpPr>
          <p:cNvPr id="3" name="Content Placeholder 2"/>
          <p:cNvSpPr>
            <a:spLocks noGrp="1"/>
          </p:cNvSpPr>
          <p:nvPr>
            <p:ph idx="1"/>
          </p:nvPr>
        </p:nvSpPr>
        <p:spPr>
          <a:xfrm>
            <a:off x="212205" y="1034738"/>
            <a:ext cx="8496944" cy="3055741"/>
          </a:xfrm>
        </p:spPr>
        <p:txBody>
          <a:bodyPr>
            <a:normAutofit/>
          </a:bodyPr>
          <a:lstStyle/>
          <a:p>
            <a:pPr marL="0" lvl="0" indent="0" algn="ctr">
              <a:buClr>
                <a:srgbClr val="AD0101"/>
              </a:buClr>
              <a:buNone/>
            </a:pPr>
            <a:r>
              <a:rPr lang="bg-BG" sz="2800" dirty="0" smtClean="0">
                <a:solidFill>
                  <a:srgbClr val="C00000"/>
                </a:solidFill>
              </a:rPr>
              <a:t>Клъстериране</a:t>
            </a:r>
            <a:endParaRPr lang="bg-BG" sz="2800" dirty="0">
              <a:solidFill>
                <a:srgbClr val="C00000"/>
              </a:solidFill>
            </a:endParaRPr>
          </a:p>
          <a:p>
            <a:pPr marL="457200" indent="-457200">
              <a:buFont typeface="+mj-lt"/>
              <a:buAutoNum type="arabicPeriod"/>
            </a:pPr>
            <a:r>
              <a:rPr lang="bg-BG" dirty="0" smtClean="0"/>
              <a:t>Таблици които имат общи колони (предполага се, че те често се използват съвместно) се съхраняват физически заедно и образуват клъстер или група (</a:t>
            </a:r>
            <a:r>
              <a:rPr lang="bg-BG" dirty="0" err="1" smtClean="0"/>
              <a:t>Oracle</a:t>
            </a:r>
            <a:r>
              <a:rPr lang="bg-BG" dirty="0" smtClean="0"/>
              <a:t>). </a:t>
            </a:r>
          </a:p>
          <a:p>
            <a:pPr marL="457200" indent="-457200">
              <a:buFont typeface="+mj-lt"/>
              <a:buAutoNum type="arabicPeriod"/>
            </a:pPr>
            <a:r>
              <a:rPr lang="bg-BG" dirty="0" smtClean="0"/>
              <a:t>Общите колони образуват </a:t>
            </a:r>
            <a:r>
              <a:rPr lang="bg-BG" dirty="0" smtClean="0">
                <a:solidFill>
                  <a:srgbClr val="C00000"/>
                </a:solidFill>
              </a:rPr>
              <a:t>клъстер-ключ</a:t>
            </a:r>
            <a:r>
              <a:rPr lang="bg-BG" dirty="0" smtClean="0"/>
              <a:t> (</a:t>
            </a:r>
            <a:r>
              <a:rPr lang="bg-BG" dirty="0" err="1" smtClean="0"/>
              <a:t>cluster</a:t>
            </a:r>
            <a:r>
              <a:rPr lang="bg-BG" dirty="0" smtClean="0"/>
              <a:t> </a:t>
            </a:r>
            <a:r>
              <a:rPr lang="bg-BG" dirty="0" err="1" smtClean="0"/>
              <a:t>key</a:t>
            </a:r>
            <a:r>
              <a:rPr lang="bg-BG" dirty="0" smtClean="0"/>
              <a:t>), който се съхранява само на едно място и подобрява едновременно достъпа и до двете таблици.</a:t>
            </a:r>
          </a:p>
          <a:p>
            <a:pPr marL="457200" indent="-457200">
              <a:buFont typeface="+mj-lt"/>
              <a:buAutoNum type="arabicPeriod" startAt="4"/>
            </a:pPr>
            <a:endParaRPr lang="bg-BG" dirty="0" smtClean="0"/>
          </a:p>
        </p:txBody>
      </p:sp>
      <p:sp>
        <p:nvSpPr>
          <p:cNvPr id="4" name="Date Placeholder 3"/>
          <p:cNvSpPr>
            <a:spLocks noGrp="1"/>
          </p:cNvSpPr>
          <p:nvPr>
            <p:ph type="dt" sz="half" idx="10"/>
          </p:nvPr>
        </p:nvSpPr>
        <p:spPr/>
        <p:txBody>
          <a:bodyPr/>
          <a:lstStyle/>
          <a:p>
            <a:r>
              <a:rPr lang="bg-BG" altLang="bg-BG" smtClean="0"/>
              <a:t>Юлиана Пенева</a:t>
            </a:r>
            <a:endParaRPr lang="bg-BG" altLang="bg-BG"/>
          </a:p>
        </p:txBody>
      </p:sp>
      <p:sp>
        <p:nvSpPr>
          <p:cNvPr id="5" name="Footer Placeholder 4"/>
          <p:cNvSpPr>
            <a:spLocks noGrp="1"/>
          </p:cNvSpPr>
          <p:nvPr>
            <p:ph type="ftr" sz="quarter" idx="11"/>
          </p:nvPr>
        </p:nvSpPr>
        <p:spPr/>
        <p:txBody>
          <a:bodyPr/>
          <a:lstStyle/>
          <a:p>
            <a:r>
              <a:rPr lang="en-US" altLang="bg-BG" smtClean="0"/>
              <a:t>CSCB405 - </a:t>
            </a:r>
            <a:r>
              <a:rPr lang="bg-BG" altLang="bg-BG" smtClean="0"/>
              <a:t>модул 8</a:t>
            </a:r>
            <a:endParaRPr lang="bg-BG" altLang="bg-BG"/>
          </a:p>
        </p:txBody>
      </p:sp>
      <p:sp>
        <p:nvSpPr>
          <p:cNvPr id="6" name="Slide Number Placeholder 5"/>
          <p:cNvSpPr>
            <a:spLocks noGrp="1"/>
          </p:cNvSpPr>
          <p:nvPr>
            <p:ph type="sldNum" sz="quarter" idx="12"/>
          </p:nvPr>
        </p:nvSpPr>
        <p:spPr/>
        <p:txBody>
          <a:bodyPr/>
          <a:lstStyle/>
          <a:p>
            <a:fld id="{74EE3BFA-F3F3-428D-9946-02BF70619056}" type="slidenum">
              <a:rPr lang="bg-BG" altLang="bg-BG" smtClean="0"/>
              <a:pPr/>
              <a:t>48</a:t>
            </a:fld>
            <a:endParaRPr lang="bg-BG" altLang="bg-BG"/>
          </a:p>
        </p:txBody>
      </p:sp>
      <p:pic>
        <p:nvPicPr>
          <p:cNvPr id="8" name="Picture 7"/>
          <p:cNvPicPr>
            <a:picLocks noChangeAspect="1"/>
          </p:cNvPicPr>
          <p:nvPr/>
        </p:nvPicPr>
        <p:blipFill>
          <a:blip r:embed="rId2"/>
          <a:stretch>
            <a:fillRect/>
          </a:stretch>
        </p:blipFill>
        <p:spPr>
          <a:xfrm>
            <a:off x="1475656" y="3758135"/>
            <a:ext cx="6404359" cy="2372599"/>
          </a:xfrm>
          <a:prstGeom prst="rect">
            <a:avLst/>
          </a:prstGeom>
          <a:ln>
            <a:solidFill>
              <a:schemeClr val="accent1"/>
            </a:solidFill>
          </a:ln>
        </p:spPr>
      </p:pic>
      <p:sp>
        <p:nvSpPr>
          <p:cNvPr id="10" name="Freeform 9"/>
          <p:cNvSpPr/>
          <p:nvPr/>
        </p:nvSpPr>
        <p:spPr>
          <a:xfrm>
            <a:off x="5037364" y="3682093"/>
            <a:ext cx="620486" cy="2457450"/>
          </a:xfrm>
          <a:custGeom>
            <a:avLst/>
            <a:gdLst>
              <a:gd name="connsiteX0" fmla="*/ 220436 w 620486"/>
              <a:gd name="connsiteY0" fmla="*/ 0 h 2457450"/>
              <a:gd name="connsiteX1" fmla="*/ 220436 w 620486"/>
              <a:gd name="connsiteY1" fmla="*/ 0 h 2457450"/>
              <a:gd name="connsiteX2" fmla="*/ 163286 w 620486"/>
              <a:gd name="connsiteY2" fmla="*/ 65314 h 2457450"/>
              <a:gd name="connsiteX3" fmla="*/ 138793 w 620486"/>
              <a:gd name="connsiteY3" fmla="*/ 81643 h 2457450"/>
              <a:gd name="connsiteX4" fmla="*/ 122465 w 620486"/>
              <a:gd name="connsiteY4" fmla="*/ 106136 h 2457450"/>
              <a:gd name="connsiteX5" fmla="*/ 81643 w 620486"/>
              <a:gd name="connsiteY5" fmla="*/ 163286 h 2457450"/>
              <a:gd name="connsiteX6" fmla="*/ 57150 w 620486"/>
              <a:gd name="connsiteY6" fmla="*/ 220436 h 2457450"/>
              <a:gd name="connsiteX7" fmla="*/ 48986 w 620486"/>
              <a:gd name="connsiteY7" fmla="*/ 244928 h 2457450"/>
              <a:gd name="connsiteX8" fmla="*/ 32657 w 620486"/>
              <a:gd name="connsiteY8" fmla="*/ 277586 h 2457450"/>
              <a:gd name="connsiteX9" fmla="*/ 24493 w 620486"/>
              <a:gd name="connsiteY9" fmla="*/ 302078 h 2457450"/>
              <a:gd name="connsiteX10" fmla="*/ 16329 w 620486"/>
              <a:gd name="connsiteY10" fmla="*/ 334736 h 2457450"/>
              <a:gd name="connsiteX11" fmla="*/ 0 w 620486"/>
              <a:gd name="connsiteY11" fmla="*/ 359228 h 2457450"/>
              <a:gd name="connsiteX12" fmla="*/ 16329 w 620486"/>
              <a:gd name="connsiteY12" fmla="*/ 620486 h 2457450"/>
              <a:gd name="connsiteX13" fmla="*/ 32657 w 620486"/>
              <a:gd name="connsiteY13" fmla="*/ 734786 h 2457450"/>
              <a:gd name="connsiteX14" fmla="*/ 48986 w 620486"/>
              <a:gd name="connsiteY14" fmla="*/ 759278 h 2457450"/>
              <a:gd name="connsiteX15" fmla="*/ 57150 w 620486"/>
              <a:gd name="connsiteY15" fmla="*/ 791936 h 2457450"/>
              <a:gd name="connsiteX16" fmla="*/ 73479 w 620486"/>
              <a:gd name="connsiteY16" fmla="*/ 824593 h 2457450"/>
              <a:gd name="connsiteX17" fmla="*/ 89807 w 620486"/>
              <a:gd name="connsiteY17" fmla="*/ 963386 h 2457450"/>
              <a:gd name="connsiteX18" fmla="*/ 106136 w 620486"/>
              <a:gd name="connsiteY18" fmla="*/ 987878 h 2457450"/>
              <a:gd name="connsiteX19" fmla="*/ 122465 w 620486"/>
              <a:gd name="connsiteY19" fmla="*/ 1036864 h 2457450"/>
              <a:gd name="connsiteX20" fmla="*/ 106136 w 620486"/>
              <a:gd name="connsiteY20" fmla="*/ 1420586 h 2457450"/>
              <a:gd name="connsiteX21" fmla="*/ 97972 w 620486"/>
              <a:gd name="connsiteY21" fmla="*/ 1551214 h 2457450"/>
              <a:gd name="connsiteX22" fmla="*/ 81643 w 620486"/>
              <a:gd name="connsiteY22" fmla="*/ 1575707 h 2457450"/>
              <a:gd name="connsiteX23" fmla="*/ 73479 w 620486"/>
              <a:gd name="connsiteY23" fmla="*/ 1771650 h 2457450"/>
              <a:gd name="connsiteX24" fmla="*/ 81643 w 620486"/>
              <a:gd name="connsiteY24" fmla="*/ 1902278 h 2457450"/>
              <a:gd name="connsiteX25" fmla="*/ 97972 w 620486"/>
              <a:gd name="connsiteY25" fmla="*/ 1975757 h 2457450"/>
              <a:gd name="connsiteX26" fmla="*/ 114300 w 620486"/>
              <a:gd name="connsiteY26" fmla="*/ 2049236 h 2457450"/>
              <a:gd name="connsiteX27" fmla="*/ 122465 w 620486"/>
              <a:gd name="connsiteY27" fmla="*/ 2098221 h 2457450"/>
              <a:gd name="connsiteX28" fmla="*/ 146957 w 620486"/>
              <a:gd name="connsiteY28" fmla="*/ 2196193 h 2457450"/>
              <a:gd name="connsiteX29" fmla="*/ 155122 w 620486"/>
              <a:gd name="connsiteY29" fmla="*/ 2269671 h 2457450"/>
              <a:gd name="connsiteX30" fmla="*/ 179615 w 620486"/>
              <a:gd name="connsiteY30" fmla="*/ 2326821 h 2457450"/>
              <a:gd name="connsiteX31" fmla="*/ 204107 w 620486"/>
              <a:gd name="connsiteY31" fmla="*/ 2351314 h 2457450"/>
              <a:gd name="connsiteX32" fmla="*/ 212272 w 620486"/>
              <a:gd name="connsiteY32" fmla="*/ 2375807 h 2457450"/>
              <a:gd name="connsiteX33" fmla="*/ 261257 w 620486"/>
              <a:gd name="connsiteY33" fmla="*/ 2432957 h 2457450"/>
              <a:gd name="connsiteX34" fmla="*/ 285750 w 620486"/>
              <a:gd name="connsiteY34" fmla="*/ 2449286 h 2457450"/>
              <a:gd name="connsiteX35" fmla="*/ 318407 w 620486"/>
              <a:gd name="connsiteY35" fmla="*/ 2457450 h 2457450"/>
              <a:gd name="connsiteX36" fmla="*/ 359229 w 620486"/>
              <a:gd name="connsiteY36" fmla="*/ 2441121 h 2457450"/>
              <a:gd name="connsiteX37" fmla="*/ 383722 w 620486"/>
              <a:gd name="connsiteY37" fmla="*/ 2432957 h 2457450"/>
              <a:gd name="connsiteX38" fmla="*/ 408215 w 620486"/>
              <a:gd name="connsiteY38" fmla="*/ 2408464 h 2457450"/>
              <a:gd name="connsiteX39" fmla="*/ 449036 w 620486"/>
              <a:gd name="connsiteY39" fmla="*/ 2334986 h 2457450"/>
              <a:gd name="connsiteX40" fmla="*/ 481693 w 620486"/>
              <a:gd name="connsiteY40" fmla="*/ 2277836 h 2457450"/>
              <a:gd name="connsiteX41" fmla="*/ 489857 w 620486"/>
              <a:gd name="connsiteY41" fmla="*/ 2253343 h 2457450"/>
              <a:gd name="connsiteX42" fmla="*/ 522515 w 620486"/>
              <a:gd name="connsiteY42" fmla="*/ 2204357 h 2457450"/>
              <a:gd name="connsiteX43" fmla="*/ 530679 w 620486"/>
              <a:gd name="connsiteY43" fmla="*/ 1910443 h 2457450"/>
              <a:gd name="connsiteX44" fmla="*/ 514350 w 620486"/>
              <a:gd name="connsiteY44" fmla="*/ 1706336 h 2457450"/>
              <a:gd name="connsiteX45" fmla="*/ 522515 w 620486"/>
              <a:gd name="connsiteY45" fmla="*/ 1420586 h 2457450"/>
              <a:gd name="connsiteX46" fmla="*/ 538843 w 620486"/>
              <a:gd name="connsiteY46" fmla="*/ 1355271 h 2457450"/>
              <a:gd name="connsiteX47" fmla="*/ 547007 w 620486"/>
              <a:gd name="connsiteY47" fmla="*/ 1314450 h 2457450"/>
              <a:gd name="connsiteX48" fmla="*/ 563336 w 620486"/>
              <a:gd name="connsiteY48" fmla="*/ 1183821 h 2457450"/>
              <a:gd name="connsiteX49" fmla="*/ 571500 w 620486"/>
              <a:gd name="connsiteY49" fmla="*/ 1151164 h 2457450"/>
              <a:gd name="connsiteX50" fmla="*/ 579665 w 620486"/>
              <a:gd name="connsiteY50" fmla="*/ 865414 h 2457450"/>
              <a:gd name="connsiteX51" fmla="*/ 595993 w 620486"/>
              <a:gd name="connsiteY51" fmla="*/ 832757 h 2457450"/>
              <a:gd name="connsiteX52" fmla="*/ 612322 w 620486"/>
              <a:gd name="connsiteY52" fmla="*/ 644978 h 2457450"/>
              <a:gd name="connsiteX53" fmla="*/ 620486 w 620486"/>
              <a:gd name="connsiteY53" fmla="*/ 367393 h 2457450"/>
              <a:gd name="connsiteX54" fmla="*/ 612322 w 620486"/>
              <a:gd name="connsiteY54" fmla="*/ 155121 h 2457450"/>
              <a:gd name="connsiteX55" fmla="*/ 587829 w 620486"/>
              <a:gd name="connsiteY55" fmla="*/ 89807 h 2457450"/>
              <a:gd name="connsiteX56" fmla="*/ 579665 w 620486"/>
              <a:gd name="connsiteY56" fmla="*/ 57150 h 2457450"/>
              <a:gd name="connsiteX57" fmla="*/ 555172 w 620486"/>
              <a:gd name="connsiteY57" fmla="*/ 32657 h 2457450"/>
              <a:gd name="connsiteX58" fmla="*/ 457200 w 620486"/>
              <a:gd name="connsiteY58" fmla="*/ 8164 h 2457450"/>
              <a:gd name="connsiteX59" fmla="*/ 220436 w 620486"/>
              <a:gd name="connsiteY59" fmla="*/ 0 h 2457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620486" h="2457450">
                <a:moveTo>
                  <a:pt x="220436" y="0"/>
                </a:moveTo>
                <a:lnTo>
                  <a:pt x="220436" y="0"/>
                </a:lnTo>
                <a:cubicBezTo>
                  <a:pt x="201386" y="21771"/>
                  <a:pt x="183742" y="44858"/>
                  <a:pt x="163286" y="65314"/>
                </a:cubicBezTo>
                <a:cubicBezTo>
                  <a:pt x="156348" y="72252"/>
                  <a:pt x="145731" y="74705"/>
                  <a:pt x="138793" y="81643"/>
                </a:cubicBezTo>
                <a:cubicBezTo>
                  <a:pt x="131855" y="88581"/>
                  <a:pt x="128168" y="98151"/>
                  <a:pt x="122465" y="106136"/>
                </a:cubicBezTo>
                <a:cubicBezTo>
                  <a:pt x="71813" y="177049"/>
                  <a:pt x="120138" y="105545"/>
                  <a:pt x="81643" y="163286"/>
                </a:cubicBezTo>
                <a:cubicBezTo>
                  <a:pt x="64652" y="231251"/>
                  <a:pt x="85341" y="164055"/>
                  <a:pt x="57150" y="220436"/>
                </a:cubicBezTo>
                <a:cubicBezTo>
                  <a:pt x="53301" y="228133"/>
                  <a:pt x="52376" y="237018"/>
                  <a:pt x="48986" y="244928"/>
                </a:cubicBezTo>
                <a:cubicBezTo>
                  <a:pt x="44192" y="256115"/>
                  <a:pt x="37451" y="266399"/>
                  <a:pt x="32657" y="277586"/>
                </a:cubicBezTo>
                <a:cubicBezTo>
                  <a:pt x="29267" y="285496"/>
                  <a:pt x="26857" y="293803"/>
                  <a:pt x="24493" y="302078"/>
                </a:cubicBezTo>
                <a:cubicBezTo>
                  <a:pt x="21410" y="312867"/>
                  <a:pt x="20749" y="324422"/>
                  <a:pt x="16329" y="334736"/>
                </a:cubicBezTo>
                <a:cubicBezTo>
                  <a:pt x="12464" y="343755"/>
                  <a:pt x="5443" y="351064"/>
                  <a:pt x="0" y="359228"/>
                </a:cubicBezTo>
                <a:cubicBezTo>
                  <a:pt x="5443" y="446314"/>
                  <a:pt x="10112" y="533452"/>
                  <a:pt x="16329" y="620486"/>
                </a:cubicBezTo>
                <a:cubicBezTo>
                  <a:pt x="17275" y="633727"/>
                  <a:pt x="21280" y="708239"/>
                  <a:pt x="32657" y="734786"/>
                </a:cubicBezTo>
                <a:cubicBezTo>
                  <a:pt x="36522" y="743805"/>
                  <a:pt x="43543" y="751114"/>
                  <a:pt x="48986" y="759278"/>
                </a:cubicBezTo>
                <a:cubicBezTo>
                  <a:pt x="51707" y="770164"/>
                  <a:pt x="53210" y="781429"/>
                  <a:pt x="57150" y="791936"/>
                </a:cubicBezTo>
                <a:cubicBezTo>
                  <a:pt x="61423" y="803332"/>
                  <a:pt x="71236" y="812631"/>
                  <a:pt x="73479" y="824593"/>
                </a:cubicBezTo>
                <a:cubicBezTo>
                  <a:pt x="75936" y="837695"/>
                  <a:pt x="78121" y="932225"/>
                  <a:pt x="89807" y="963386"/>
                </a:cubicBezTo>
                <a:cubicBezTo>
                  <a:pt x="93252" y="972573"/>
                  <a:pt x="100693" y="979714"/>
                  <a:pt x="106136" y="987878"/>
                </a:cubicBezTo>
                <a:cubicBezTo>
                  <a:pt x="111579" y="1004207"/>
                  <a:pt x="122895" y="1019657"/>
                  <a:pt x="122465" y="1036864"/>
                </a:cubicBezTo>
                <a:cubicBezTo>
                  <a:pt x="113819" y="1382673"/>
                  <a:pt x="129699" y="1255639"/>
                  <a:pt x="106136" y="1420586"/>
                </a:cubicBezTo>
                <a:cubicBezTo>
                  <a:pt x="103415" y="1464129"/>
                  <a:pt x="104776" y="1508120"/>
                  <a:pt x="97972" y="1551214"/>
                </a:cubicBezTo>
                <a:cubicBezTo>
                  <a:pt x="96442" y="1560906"/>
                  <a:pt x="82727" y="1565955"/>
                  <a:pt x="81643" y="1575707"/>
                </a:cubicBezTo>
                <a:cubicBezTo>
                  <a:pt x="74424" y="1640678"/>
                  <a:pt x="76200" y="1706336"/>
                  <a:pt x="73479" y="1771650"/>
                </a:cubicBezTo>
                <a:cubicBezTo>
                  <a:pt x="76200" y="1815193"/>
                  <a:pt x="76445" y="1858961"/>
                  <a:pt x="81643" y="1902278"/>
                </a:cubicBezTo>
                <a:cubicBezTo>
                  <a:pt x="84632" y="1927190"/>
                  <a:pt x="92330" y="1951309"/>
                  <a:pt x="97972" y="1975757"/>
                </a:cubicBezTo>
                <a:cubicBezTo>
                  <a:pt x="109205" y="2024435"/>
                  <a:pt x="104302" y="1994247"/>
                  <a:pt x="114300" y="2049236"/>
                </a:cubicBezTo>
                <a:cubicBezTo>
                  <a:pt x="117261" y="2065523"/>
                  <a:pt x="118874" y="2082062"/>
                  <a:pt x="122465" y="2098221"/>
                </a:cubicBezTo>
                <a:cubicBezTo>
                  <a:pt x="129767" y="2131082"/>
                  <a:pt x="146957" y="2196193"/>
                  <a:pt x="146957" y="2196193"/>
                </a:cubicBezTo>
                <a:cubicBezTo>
                  <a:pt x="149679" y="2220686"/>
                  <a:pt x="151071" y="2245363"/>
                  <a:pt x="155122" y="2269671"/>
                </a:cubicBezTo>
                <a:cubicBezTo>
                  <a:pt x="157440" y="2283578"/>
                  <a:pt x="173148" y="2317766"/>
                  <a:pt x="179615" y="2326821"/>
                </a:cubicBezTo>
                <a:cubicBezTo>
                  <a:pt x="186326" y="2336216"/>
                  <a:pt x="195943" y="2343150"/>
                  <a:pt x="204107" y="2351314"/>
                </a:cubicBezTo>
                <a:cubicBezTo>
                  <a:pt x="206829" y="2359478"/>
                  <a:pt x="208423" y="2368110"/>
                  <a:pt x="212272" y="2375807"/>
                </a:cubicBezTo>
                <a:cubicBezTo>
                  <a:pt x="223107" y="2397476"/>
                  <a:pt x="243678" y="2417889"/>
                  <a:pt x="261257" y="2432957"/>
                </a:cubicBezTo>
                <a:cubicBezTo>
                  <a:pt x="268707" y="2439343"/>
                  <a:pt x="276731" y="2445421"/>
                  <a:pt x="285750" y="2449286"/>
                </a:cubicBezTo>
                <a:cubicBezTo>
                  <a:pt x="296063" y="2453706"/>
                  <a:pt x="307521" y="2454729"/>
                  <a:pt x="318407" y="2457450"/>
                </a:cubicBezTo>
                <a:cubicBezTo>
                  <a:pt x="332014" y="2452007"/>
                  <a:pt x="345507" y="2446267"/>
                  <a:pt x="359229" y="2441121"/>
                </a:cubicBezTo>
                <a:cubicBezTo>
                  <a:pt x="367287" y="2438099"/>
                  <a:pt x="376561" y="2437731"/>
                  <a:pt x="383722" y="2432957"/>
                </a:cubicBezTo>
                <a:cubicBezTo>
                  <a:pt x="393329" y="2426552"/>
                  <a:pt x="400051" y="2416628"/>
                  <a:pt x="408215" y="2408464"/>
                </a:cubicBezTo>
                <a:cubicBezTo>
                  <a:pt x="430791" y="2340733"/>
                  <a:pt x="392892" y="2447275"/>
                  <a:pt x="449036" y="2334986"/>
                </a:cubicBezTo>
                <a:cubicBezTo>
                  <a:pt x="469753" y="2293552"/>
                  <a:pt x="458614" y="2312455"/>
                  <a:pt x="481693" y="2277836"/>
                </a:cubicBezTo>
                <a:cubicBezTo>
                  <a:pt x="484414" y="2269672"/>
                  <a:pt x="485678" y="2260866"/>
                  <a:pt x="489857" y="2253343"/>
                </a:cubicBezTo>
                <a:cubicBezTo>
                  <a:pt x="499388" y="2236188"/>
                  <a:pt x="522515" y="2204357"/>
                  <a:pt x="522515" y="2204357"/>
                </a:cubicBezTo>
                <a:cubicBezTo>
                  <a:pt x="556727" y="2067507"/>
                  <a:pt x="541713" y="2153194"/>
                  <a:pt x="530679" y="1910443"/>
                </a:cubicBezTo>
                <a:cubicBezTo>
                  <a:pt x="525455" y="1795508"/>
                  <a:pt x="524804" y="1800417"/>
                  <a:pt x="514350" y="1706336"/>
                </a:cubicBezTo>
                <a:cubicBezTo>
                  <a:pt x="517072" y="1611086"/>
                  <a:pt x="517756" y="1515756"/>
                  <a:pt x="522515" y="1420586"/>
                </a:cubicBezTo>
                <a:cubicBezTo>
                  <a:pt x="524396" y="1382970"/>
                  <a:pt x="531234" y="1385707"/>
                  <a:pt x="538843" y="1355271"/>
                </a:cubicBezTo>
                <a:cubicBezTo>
                  <a:pt x="542208" y="1341809"/>
                  <a:pt x="544726" y="1328138"/>
                  <a:pt x="547007" y="1314450"/>
                </a:cubicBezTo>
                <a:cubicBezTo>
                  <a:pt x="575526" y="1143343"/>
                  <a:pt x="531445" y="1391120"/>
                  <a:pt x="563336" y="1183821"/>
                </a:cubicBezTo>
                <a:cubicBezTo>
                  <a:pt x="565042" y="1172731"/>
                  <a:pt x="568779" y="1162050"/>
                  <a:pt x="571500" y="1151164"/>
                </a:cubicBezTo>
                <a:cubicBezTo>
                  <a:pt x="574222" y="1055914"/>
                  <a:pt x="572357" y="960422"/>
                  <a:pt x="579665" y="865414"/>
                </a:cubicBezTo>
                <a:cubicBezTo>
                  <a:pt x="580598" y="853279"/>
                  <a:pt x="594209" y="844796"/>
                  <a:pt x="595993" y="832757"/>
                </a:cubicBezTo>
                <a:cubicBezTo>
                  <a:pt x="605200" y="770606"/>
                  <a:pt x="606879" y="707571"/>
                  <a:pt x="612322" y="644978"/>
                </a:cubicBezTo>
                <a:cubicBezTo>
                  <a:pt x="615043" y="552450"/>
                  <a:pt x="620486" y="459961"/>
                  <a:pt x="620486" y="367393"/>
                </a:cubicBezTo>
                <a:cubicBezTo>
                  <a:pt x="620486" y="296583"/>
                  <a:pt x="617032" y="225774"/>
                  <a:pt x="612322" y="155121"/>
                </a:cubicBezTo>
                <a:cubicBezTo>
                  <a:pt x="610057" y="121142"/>
                  <a:pt x="599574" y="121128"/>
                  <a:pt x="587829" y="89807"/>
                </a:cubicBezTo>
                <a:cubicBezTo>
                  <a:pt x="583889" y="79301"/>
                  <a:pt x="585232" y="66892"/>
                  <a:pt x="579665" y="57150"/>
                </a:cubicBezTo>
                <a:cubicBezTo>
                  <a:pt x="573937" y="47125"/>
                  <a:pt x="565265" y="38264"/>
                  <a:pt x="555172" y="32657"/>
                </a:cubicBezTo>
                <a:cubicBezTo>
                  <a:pt x="535767" y="21876"/>
                  <a:pt x="479610" y="8786"/>
                  <a:pt x="457200" y="8164"/>
                </a:cubicBezTo>
                <a:lnTo>
                  <a:pt x="220436" y="0"/>
                </a:ln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64645998"/>
      </p:ext>
    </p:extLst>
  </p:cSld>
  <p:clrMapOvr>
    <a:masterClrMapping/>
  </p:clrMapOvr>
  <p:transition>
    <p:fade/>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439734"/>
            <a:ext cx="8243887" cy="516965"/>
          </a:xfrm>
        </p:spPr>
        <p:txBody>
          <a:bodyPr>
            <a:noAutofit/>
          </a:bodyPr>
          <a:lstStyle/>
          <a:p>
            <a:pPr algn="ctr"/>
            <a:r>
              <a:rPr lang="bg-BG" altLang="bg-BG" sz="3200" dirty="0" smtClean="0">
                <a:solidFill>
                  <a:schemeClr val="accent1"/>
                </a:solidFill>
              </a:rPr>
              <a:t>Методи за проектиране на физическата база</a:t>
            </a:r>
            <a:endParaRPr lang="bg-BG" altLang="bg-BG" sz="3200" dirty="0">
              <a:solidFill>
                <a:schemeClr val="accent1"/>
              </a:solidFill>
            </a:endParaRPr>
          </a:p>
        </p:txBody>
      </p:sp>
      <p:sp>
        <p:nvSpPr>
          <p:cNvPr id="3" name="Content Placeholder 2"/>
          <p:cNvSpPr>
            <a:spLocks noGrp="1"/>
          </p:cNvSpPr>
          <p:nvPr>
            <p:ph idx="1"/>
          </p:nvPr>
        </p:nvSpPr>
        <p:spPr>
          <a:xfrm>
            <a:off x="212205" y="1034738"/>
            <a:ext cx="8496944" cy="5017955"/>
          </a:xfrm>
        </p:spPr>
        <p:txBody>
          <a:bodyPr>
            <a:normAutofit fontScale="92500" lnSpcReduction="20000"/>
          </a:bodyPr>
          <a:lstStyle/>
          <a:p>
            <a:pPr marL="0" lvl="0" indent="0" algn="ctr">
              <a:buClr>
                <a:srgbClr val="AD0101"/>
              </a:buClr>
              <a:buNone/>
            </a:pPr>
            <a:r>
              <a:rPr lang="bg-BG" sz="3000" dirty="0" smtClean="0">
                <a:solidFill>
                  <a:srgbClr val="C00000"/>
                </a:solidFill>
              </a:rPr>
              <a:t>Клъстериране</a:t>
            </a:r>
            <a:endParaRPr lang="bg-BG" sz="3000" dirty="0">
              <a:solidFill>
                <a:srgbClr val="C00000"/>
              </a:solidFill>
            </a:endParaRPr>
          </a:p>
          <a:p>
            <a:pPr marL="457200" indent="-457200">
              <a:buFont typeface="+mj-lt"/>
              <a:buAutoNum type="arabicPeriod"/>
            </a:pPr>
            <a:r>
              <a:rPr lang="bg-BG" dirty="0" smtClean="0"/>
              <a:t>В </a:t>
            </a:r>
            <a:r>
              <a:rPr lang="bg-BG" dirty="0" err="1" smtClean="0"/>
              <a:t>Oracle</a:t>
            </a:r>
            <a:r>
              <a:rPr lang="bg-BG" dirty="0" smtClean="0"/>
              <a:t> са реализирани:</a:t>
            </a:r>
          </a:p>
          <a:p>
            <a:pPr lvl="1"/>
            <a:r>
              <a:rPr lang="bg-BG" sz="2400" dirty="0" smtClean="0"/>
              <a:t>индексирани клъстери  (</a:t>
            </a:r>
            <a:r>
              <a:rPr lang="bg-BG" sz="2400" dirty="0" err="1" smtClean="0"/>
              <a:t>indexed</a:t>
            </a:r>
            <a:r>
              <a:rPr lang="bg-BG" sz="2400" dirty="0" smtClean="0"/>
              <a:t> </a:t>
            </a:r>
            <a:r>
              <a:rPr lang="bg-BG" sz="2400" dirty="0" err="1" smtClean="0"/>
              <a:t>clusters</a:t>
            </a:r>
            <a:r>
              <a:rPr lang="bg-BG" sz="2400" dirty="0" smtClean="0"/>
              <a:t>) - записите с еднаква стойност на клъстер-ключа се съхраняват на едно място. </a:t>
            </a:r>
          </a:p>
          <a:p>
            <a:pPr lvl="1"/>
            <a:r>
              <a:rPr lang="bg-BG" sz="2400" dirty="0" smtClean="0"/>
              <a:t>хеш-клъстери  (</a:t>
            </a:r>
            <a:r>
              <a:rPr lang="bg-BG" sz="2400" dirty="0" err="1" smtClean="0"/>
              <a:t>hash</a:t>
            </a:r>
            <a:r>
              <a:rPr lang="bg-BG" sz="2400" dirty="0" smtClean="0"/>
              <a:t> </a:t>
            </a:r>
            <a:r>
              <a:rPr lang="bg-BG" sz="2400" dirty="0" err="1" smtClean="0"/>
              <a:t>clusters</a:t>
            </a:r>
            <a:r>
              <a:rPr lang="bg-BG" sz="2400" dirty="0" smtClean="0"/>
              <a:t>) -  прилага се хешираща функция върху клъстер-ключа на записа и всички записи с една и същи хеш ключ се съхраняват заедно на диска. </a:t>
            </a:r>
          </a:p>
          <a:p>
            <a:pPr marL="457200" indent="-457200">
              <a:buFont typeface="+mj-lt"/>
              <a:buAutoNum type="arabicPeriod"/>
            </a:pPr>
            <a:r>
              <a:rPr lang="bg-BG" dirty="0" smtClean="0"/>
              <a:t>В клъстер се групират таблици, чиито колони участват често в условия за съединение и тези колони не се актуализират често. </a:t>
            </a:r>
          </a:p>
          <a:p>
            <a:pPr marL="457200" indent="-457200">
              <a:buFont typeface="+mj-lt"/>
              <a:buAutoNum type="arabicPeriod"/>
            </a:pPr>
            <a:r>
              <a:rPr lang="bg-BG" dirty="0" smtClean="0"/>
              <a:t>Таблици, чиито редове трябва да се преглеждат последователно или размера им не превишава повече от един или два блока в </a:t>
            </a:r>
            <a:r>
              <a:rPr lang="bg-BG" dirty="0" err="1" smtClean="0"/>
              <a:t>Oracle</a:t>
            </a:r>
            <a:r>
              <a:rPr lang="bg-BG" dirty="0" smtClean="0"/>
              <a:t>, не се включват в клъстери. </a:t>
            </a:r>
          </a:p>
          <a:p>
            <a:pPr marL="457200" indent="-457200">
              <a:buFont typeface="+mj-lt"/>
              <a:buAutoNum type="arabicPeriod"/>
            </a:pPr>
            <a:r>
              <a:rPr lang="bg-BG" dirty="0" smtClean="0"/>
              <a:t>За създаването на различните видове клъстери в SQL е предвидена специална команда CREATE CLUSTER. </a:t>
            </a:r>
          </a:p>
          <a:p>
            <a:pPr marL="457200" indent="-457200">
              <a:buFont typeface="+mj-lt"/>
              <a:buAutoNum type="arabicPeriod"/>
            </a:pPr>
            <a:r>
              <a:rPr lang="bg-BG" dirty="0" smtClean="0"/>
              <a:t>Недостатък - данните могат да се групират върху диска по </a:t>
            </a:r>
            <a:r>
              <a:rPr lang="bg-BG" dirty="0" smtClean="0">
                <a:solidFill>
                  <a:srgbClr val="C00000"/>
                </a:solidFill>
              </a:rPr>
              <a:t>единствен</a:t>
            </a:r>
            <a:r>
              <a:rPr lang="bg-BG" dirty="0" smtClean="0">
                <a:solidFill>
                  <a:schemeClr val="accent1"/>
                </a:solidFill>
              </a:rPr>
              <a:t> </a:t>
            </a:r>
            <a:r>
              <a:rPr lang="bg-BG" dirty="0" smtClean="0"/>
              <a:t>начин.</a:t>
            </a:r>
          </a:p>
        </p:txBody>
      </p:sp>
      <p:sp>
        <p:nvSpPr>
          <p:cNvPr id="4" name="Date Placeholder 3"/>
          <p:cNvSpPr>
            <a:spLocks noGrp="1"/>
          </p:cNvSpPr>
          <p:nvPr>
            <p:ph type="dt" sz="half" idx="10"/>
          </p:nvPr>
        </p:nvSpPr>
        <p:spPr/>
        <p:txBody>
          <a:bodyPr/>
          <a:lstStyle/>
          <a:p>
            <a:r>
              <a:rPr lang="bg-BG" altLang="bg-BG" smtClean="0"/>
              <a:t>Юлиана Пенева</a:t>
            </a:r>
            <a:endParaRPr lang="bg-BG" altLang="bg-BG"/>
          </a:p>
        </p:txBody>
      </p:sp>
      <p:sp>
        <p:nvSpPr>
          <p:cNvPr id="5" name="Footer Placeholder 4"/>
          <p:cNvSpPr>
            <a:spLocks noGrp="1"/>
          </p:cNvSpPr>
          <p:nvPr>
            <p:ph type="ftr" sz="quarter" idx="11"/>
          </p:nvPr>
        </p:nvSpPr>
        <p:spPr/>
        <p:txBody>
          <a:bodyPr/>
          <a:lstStyle/>
          <a:p>
            <a:r>
              <a:rPr lang="en-US" altLang="bg-BG" smtClean="0"/>
              <a:t>CSCB405 - </a:t>
            </a:r>
            <a:r>
              <a:rPr lang="bg-BG" altLang="bg-BG" smtClean="0"/>
              <a:t>модул 8</a:t>
            </a:r>
            <a:endParaRPr lang="bg-BG" altLang="bg-BG"/>
          </a:p>
        </p:txBody>
      </p:sp>
      <p:sp>
        <p:nvSpPr>
          <p:cNvPr id="6" name="Slide Number Placeholder 5"/>
          <p:cNvSpPr>
            <a:spLocks noGrp="1"/>
          </p:cNvSpPr>
          <p:nvPr>
            <p:ph type="sldNum" sz="quarter" idx="12"/>
          </p:nvPr>
        </p:nvSpPr>
        <p:spPr/>
        <p:txBody>
          <a:bodyPr/>
          <a:lstStyle/>
          <a:p>
            <a:fld id="{74EE3BFA-F3F3-428D-9946-02BF70619056}" type="slidenum">
              <a:rPr lang="bg-BG" altLang="bg-BG" smtClean="0"/>
              <a:pPr/>
              <a:t>49</a:t>
            </a:fld>
            <a:endParaRPr lang="bg-BG" altLang="bg-BG"/>
          </a:p>
        </p:txBody>
      </p:sp>
    </p:spTree>
    <p:extLst>
      <p:ext uri="{BB962C8B-B14F-4D97-AF65-F5344CB8AC3E}">
        <p14:creationId xmlns:p14="http://schemas.microsoft.com/office/powerpoint/2010/main" val="3211876555"/>
      </p:ext>
    </p:extLst>
  </p:cSld>
  <p:clrMapOvr>
    <a:masterClrMapping/>
  </p:clrMapOvr>
  <p:transition>
    <p:fade/>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439734"/>
            <a:ext cx="8243887" cy="516965"/>
          </a:xfrm>
        </p:spPr>
        <p:txBody>
          <a:bodyPr>
            <a:noAutofit/>
          </a:bodyPr>
          <a:lstStyle/>
          <a:p>
            <a:pPr algn="ctr"/>
            <a:r>
              <a:rPr lang="bg-BG" altLang="bg-BG" sz="3200" dirty="0" smtClean="0">
                <a:solidFill>
                  <a:schemeClr val="accent1"/>
                </a:solidFill>
              </a:rPr>
              <a:t>Методи за проектиране на физическата база</a:t>
            </a:r>
            <a:endParaRPr lang="bg-BG" altLang="bg-BG" sz="3200" dirty="0">
              <a:solidFill>
                <a:schemeClr val="accent1"/>
              </a:solidFill>
            </a:endParaRPr>
          </a:p>
        </p:txBody>
      </p:sp>
      <p:sp>
        <p:nvSpPr>
          <p:cNvPr id="3" name="Content Placeholder 2"/>
          <p:cNvSpPr>
            <a:spLocks noGrp="1"/>
          </p:cNvSpPr>
          <p:nvPr>
            <p:ph idx="1"/>
          </p:nvPr>
        </p:nvSpPr>
        <p:spPr>
          <a:xfrm>
            <a:off x="214487" y="967867"/>
            <a:ext cx="8496944" cy="5103701"/>
          </a:xfrm>
        </p:spPr>
        <p:txBody>
          <a:bodyPr>
            <a:normAutofit fontScale="92500" lnSpcReduction="10000"/>
          </a:bodyPr>
          <a:lstStyle/>
          <a:p>
            <a:pPr marL="0" lvl="0" indent="0" algn="ctr">
              <a:buClr>
                <a:srgbClr val="AD0101"/>
              </a:buClr>
              <a:buNone/>
            </a:pPr>
            <a:r>
              <a:rPr lang="bg-BG" sz="3000" dirty="0" smtClean="0">
                <a:solidFill>
                  <a:srgbClr val="C00000"/>
                </a:solidFill>
              </a:rPr>
              <a:t>Материализиране </a:t>
            </a:r>
            <a:r>
              <a:rPr lang="bg-BG" sz="3000" dirty="0">
                <a:solidFill>
                  <a:srgbClr val="C00000"/>
                </a:solidFill>
              </a:rPr>
              <a:t>на потребителски </a:t>
            </a:r>
            <a:r>
              <a:rPr lang="bg-BG" sz="3000" dirty="0" smtClean="0">
                <a:solidFill>
                  <a:srgbClr val="C00000"/>
                </a:solidFill>
              </a:rPr>
              <a:t>представи</a:t>
            </a:r>
          </a:p>
          <a:p>
            <a:pPr marL="457200" lvl="0" indent="-457200">
              <a:buClr>
                <a:srgbClr val="AD0101"/>
              </a:buClr>
              <a:buFont typeface="+mj-lt"/>
              <a:buAutoNum type="arabicPeriod"/>
            </a:pPr>
            <a:r>
              <a:rPr lang="bg-BG" dirty="0" smtClean="0"/>
              <a:t>Материализирана </a:t>
            </a:r>
            <a:r>
              <a:rPr lang="bg-BG" dirty="0"/>
              <a:t>представа (</a:t>
            </a:r>
            <a:r>
              <a:rPr lang="bg-BG" dirty="0" err="1"/>
              <a:t>materialized</a:t>
            </a:r>
            <a:r>
              <a:rPr lang="bg-BG" dirty="0"/>
              <a:t> </a:t>
            </a:r>
            <a:r>
              <a:rPr lang="bg-BG" dirty="0" err="1"/>
              <a:t>view</a:t>
            </a:r>
            <a:r>
              <a:rPr lang="bg-BG" dirty="0"/>
              <a:t>) </a:t>
            </a:r>
            <a:r>
              <a:rPr lang="bg-BG" dirty="0" smtClean="0"/>
              <a:t>- резултат от изпълнението на заявки, при които се извличат данни от няколко таблици.</a:t>
            </a:r>
          </a:p>
          <a:p>
            <a:pPr marL="457200" lvl="0" indent="-457200">
              <a:buClr>
                <a:srgbClr val="AD0101"/>
              </a:buClr>
              <a:buFont typeface="+mj-lt"/>
              <a:buAutoNum type="arabicPeriod"/>
            </a:pPr>
            <a:r>
              <a:rPr lang="bg-BG" dirty="0" smtClean="0"/>
              <a:t>Ускоряват изпълнението на често повтарящи се заявки или заявки, при които се изчисляват агрегатни функции. </a:t>
            </a:r>
          </a:p>
          <a:p>
            <a:pPr marL="457200" lvl="0" indent="-457200">
              <a:buClr>
                <a:srgbClr val="AD0101"/>
              </a:buClr>
              <a:buFont typeface="+mj-lt"/>
              <a:buAutoNum type="arabicPeriod"/>
            </a:pPr>
            <a:r>
              <a:rPr lang="bg-BG" dirty="0" smtClean="0"/>
              <a:t>Практически е невъзможно да се съхраняват всички представи поради ограничения обем на паметта. Задача на проектанта е да определи кои да от тях да се материализират. </a:t>
            </a:r>
          </a:p>
          <a:p>
            <a:pPr marL="457200" lvl="0" indent="-457200">
              <a:buClr>
                <a:srgbClr val="AD0101"/>
              </a:buClr>
              <a:buFont typeface="+mj-lt"/>
              <a:buAutoNum type="arabicPeriod"/>
            </a:pPr>
            <a:r>
              <a:rPr lang="bg-BG" dirty="0" smtClean="0"/>
              <a:t>Обикновено заявките се анализират и от тях се избират онези, при които се наблюдава изпълнение на голям брой входно-изходни дискови операции. </a:t>
            </a:r>
          </a:p>
          <a:p>
            <a:pPr marL="457200" lvl="0" indent="-457200">
              <a:buClr>
                <a:srgbClr val="AD0101"/>
              </a:buClr>
              <a:buFont typeface="+mj-lt"/>
              <a:buAutoNum type="arabicPeriod"/>
            </a:pPr>
            <a:r>
              <a:rPr lang="bg-BG" dirty="0" smtClean="0"/>
              <a:t>Материализирането на потребителски представи се прилага при хранилищата с данни и средствата за интерактивна аналитична обработка.</a:t>
            </a:r>
          </a:p>
          <a:p>
            <a:pPr marL="0" lvl="0" indent="0" algn="ctr">
              <a:buClr>
                <a:srgbClr val="AD0101"/>
              </a:buClr>
              <a:buNone/>
            </a:pPr>
            <a:endParaRPr lang="bg-BG" dirty="0" smtClean="0"/>
          </a:p>
        </p:txBody>
      </p:sp>
      <p:sp>
        <p:nvSpPr>
          <p:cNvPr id="4" name="Date Placeholder 3"/>
          <p:cNvSpPr>
            <a:spLocks noGrp="1"/>
          </p:cNvSpPr>
          <p:nvPr>
            <p:ph type="dt" sz="half" idx="10"/>
          </p:nvPr>
        </p:nvSpPr>
        <p:spPr/>
        <p:txBody>
          <a:bodyPr/>
          <a:lstStyle/>
          <a:p>
            <a:r>
              <a:rPr lang="bg-BG" altLang="bg-BG" smtClean="0"/>
              <a:t>Юлиана Пенева</a:t>
            </a:r>
            <a:endParaRPr lang="bg-BG" altLang="bg-BG"/>
          </a:p>
        </p:txBody>
      </p:sp>
      <p:sp>
        <p:nvSpPr>
          <p:cNvPr id="5" name="Footer Placeholder 4"/>
          <p:cNvSpPr>
            <a:spLocks noGrp="1"/>
          </p:cNvSpPr>
          <p:nvPr>
            <p:ph type="ftr" sz="quarter" idx="11"/>
          </p:nvPr>
        </p:nvSpPr>
        <p:spPr/>
        <p:txBody>
          <a:bodyPr/>
          <a:lstStyle/>
          <a:p>
            <a:r>
              <a:rPr lang="en-US" altLang="bg-BG" smtClean="0"/>
              <a:t>CSCB405 - </a:t>
            </a:r>
            <a:r>
              <a:rPr lang="bg-BG" altLang="bg-BG" smtClean="0"/>
              <a:t>модул 8</a:t>
            </a:r>
            <a:endParaRPr lang="bg-BG" altLang="bg-BG"/>
          </a:p>
        </p:txBody>
      </p:sp>
      <p:sp>
        <p:nvSpPr>
          <p:cNvPr id="6" name="Slide Number Placeholder 5"/>
          <p:cNvSpPr>
            <a:spLocks noGrp="1"/>
          </p:cNvSpPr>
          <p:nvPr>
            <p:ph type="sldNum" sz="quarter" idx="12"/>
          </p:nvPr>
        </p:nvSpPr>
        <p:spPr/>
        <p:txBody>
          <a:bodyPr/>
          <a:lstStyle/>
          <a:p>
            <a:fld id="{74EE3BFA-F3F3-428D-9946-02BF70619056}" type="slidenum">
              <a:rPr lang="bg-BG" altLang="bg-BG" smtClean="0"/>
              <a:pPr/>
              <a:t>50</a:t>
            </a:fld>
            <a:endParaRPr lang="bg-BG" altLang="bg-BG"/>
          </a:p>
        </p:txBody>
      </p:sp>
    </p:spTree>
    <p:extLst>
      <p:ext uri="{BB962C8B-B14F-4D97-AF65-F5344CB8AC3E}">
        <p14:creationId xmlns:p14="http://schemas.microsoft.com/office/powerpoint/2010/main" val="3617274828"/>
      </p:ext>
    </p:extLst>
  </p:cSld>
  <p:clrMapOvr>
    <a:masterClrMapping/>
  </p:clrMapOvr>
  <p:transition>
    <p:fade/>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439734"/>
            <a:ext cx="8243887" cy="516965"/>
          </a:xfrm>
        </p:spPr>
        <p:txBody>
          <a:bodyPr>
            <a:noAutofit/>
          </a:bodyPr>
          <a:lstStyle/>
          <a:p>
            <a:pPr algn="ctr"/>
            <a:r>
              <a:rPr lang="bg-BG" altLang="bg-BG" sz="3200" dirty="0" smtClean="0">
                <a:solidFill>
                  <a:schemeClr val="accent1"/>
                </a:solidFill>
              </a:rPr>
              <a:t>Методи за проектиране на физическата база</a:t>
            </a:r>
            <a:endParaRPr lang="bg-BG" altLang="bg-BG" sz="3200" dirty="0">
              <a:solidFill>
                <a:schemeClr val="accent1"/>
              </a:solidFill>
            </a:endParaRPr>
          </a:p>
        </p:txBody>
      </p:sp>
      <p:sp>
        <p:nvSpPr>
          <p:cNvPr id="3" name="Content Placeholder 2"/>
          <p:cNvSpPr>
            <a:spLocks noGrp="1"/>
          </p:cNvSpPr>
          <p:nvPr>
            <p:ph idx="1"/>
          </p:nvPr>
        </p:nvSpPr>
        <p:spPr>
          <a:xfrm>
            <a:off x="214487" y="967867"/>
            <a:ext cx="8496944" cy="444909"/>
          </a:xfrm>
        </p:spPr>
        <p:txBody>
          <a:bodyPr>
            <a:normAutofit fontScale="92500" lnSpcReduction="20000"/>
          </a:bodyPr>
          <a:lstStyle/>
          <a:p>
            <a:pPr marL="0" lvl="0" indent="0" algn="ctr">
              <a:buClr>
                <a:srgbClr val="AD0101"/>
              </a:buClr>
              <a:buNone/>
            </a:pPr>
            <a:r>
              <a:rPr lang="bg-BG" sz="3000" dirty="0" smtClean="0">
                <a:solidFill>
                  <a:srgbClr val="C00000"/>
                </a:solidFill>
              </a:rPr>
              <a:t>Материализиране </a:t>
            </a:r>
            <a:r>
              <a:rPr lang="bg-BG" sz="3000" dirty="0">
                <a:solidFill>
                  <a:srgbClr val="C00000"/>
                </a:solidFill>
              </a:rPr>
              <a:t>на потребителски </a:t>
            </a:r>
            <a:r>
              <a:rPr lang="bg-BG" sz="3000" dirty="0" smtClean="0">
                <a:solidFill>
                  <a:srgbClr val="C00000"/>
                </a:solidFill>
              </a:rPr>
              <a:t>представи</a:t>
            </a:r>
            <a:endParaRPr lang="en-US" dirty="0" smtClean="0"/>
          </a:p>
        </p:txBody>
      </p:sp>
      <p:sp>
        <p:nvSpPr>
          <p:cNvPr id="4" name="Date Placeholder 3"/>
          <p:cNvSpPr>
            <a:spLocks noGrp="1"/>
          </p:cNvSpPr>
          <p:nvPr>
            <p:ph type="dt" sz="half" idx="10"/>
          </p:nvPr>
        </p:nvSpPr>
        <p:spPr/>
        <p:txBody>
          <a:bodyPr/>
          <a:lstStyle/>
          <a:p>
            <a:r>
              <a:rPr lang="bg-BG" altLang="bg-BG" smtClean="0"/>
              <a:t>Юлиана Пенева</a:t>
            </a:r>
            <a:endParaRPr lang="bg-BG" altLang="bg-BG"/>
          </a:p>
        </p:txBody>
      </p:sp>
      <p:sp>
        <p:nvSpPr>
          <p:cNvPr id="5" name="Footer Placeholder 4"/>
          <p:cNvSpPr>
            <a:spLocks noGrp="1"/>
          </p:cNvSpPr>
          <p:nvPr>
            <p:ph type="ftr" sz="quarter" idx="11"/>
          </p:nvPr>
        </p:nvSpPr>
        <p:spPr/>
        <p:txBody>
          <a:bodyPr/>
          <a:lstStyle/>
          <a:p>
            <a:r>
              <a:rPr lang="en-US" altLang="bg-BG" smtClean="0"/>
              <a:t>CSCB405 - </a:t>
            </a:r>
            <a:r>
              <a:rPr lang="bg-BG" altLang="bg-BG" smtClean="0"/>
              <a:t>модул 8</a:t>
            </a:r>
            <a:endParaRPr lang="bg-BG" altLang="bg-BG"/>
          </a:p>
        </p:txBody>
      </p:sp>
      <p:sp>
        <p:nvSpPr>
          <p:cNvPr id="6" name="Slide Number Placeholder 5"/>
          <p:cNvSpPr>
            <a:spLocks noGrp="1"/>
          </p:cNvSpPr>
          <p:nvPr>
            <p:ph type="sldNum" sz="quarter" idx="12"/>
          </p:nvPr>
        </p:nvSpPr>
        <p:spPr/>
        <p:txBody>
          <a:bodyPr/>
          <a:lstStyle/>
          <a:p>
            <a:fld id="{74EE3BFA-F3F3-428D-9946-02BF70619056}" type="slidenum">
              <a:rPr lang="bg-BG" altLang="bg-BG" smtClean="0"/>
              <a:pPr/>
              <a:t>51</a:t>
            </a:fld>
            <a:endParaRPr lang="bg-BG" altLang="bg-BG"/>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7544" y="1775107"/>
            <a:ext cx="8132668" cy="3456384"/>
          </a:xfrm>
          <a:prstGeom prst="rect">
            <a:avLst/>
          </a:prstGeom>
          <a:ln w="19050">
            <a:solidFill>
              <a:srgbClr val="C00000"/>
            </a:solidFill>
          </a:ln>
        </p:spPr>
      </p:pic>
    </p:spTree>
    <p:extLst>
      <p:ext uri="{BB962C8B-B14F-4D97-AF65-F5344CB8AC3E}">
        <p14:creationId xmlns:p14="http://schemas.microsoft.com/office/powerpoint/2010/main" val="3078353406"/>
      </p:ext>
    </p:extLst>
  </p:cSld>
  <p:clrMapOvr>
    <a:masterClrMapping/>
  </p:clrMapOvr>
  <p:transition>
    <p:fade/>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7128" y="368663"/>
            <a:ext cx="8274496" cy="582960"/>
          </a:xfrm>
        </p:spPr>
        <p:txBody>
          <a:bodyPr>
            <a:noAutofit/>
          </a:bodyPr>
          <a:lstStyle/>
          <a:p>
            <a:pPr algn="ctr"/>
            <a:r>
              <a:rPr lang="bg-BG" altLang="bg-BG" sz="3200" dirty="0" smtClean="0">
                <a:solidFill>
                  <a:schemeClr val="accent1"/>
                </a:solidFill>
              </a:rPr>
              <a:t>Методи за проектиране на физическата база</a:t>
            </a:r>
            <a:endParaRPr lang="bg-BG" altLang="bg-BG" sz="3200" dirty="0">
              <a:solidFill>
                <a:schemeClr val="accent1"/>
              </a:solidFill>
            </a:endParaRPr>
          </a:p>
        </p:txBody>
      </p:sp>
      <p:sp>
        <p:nvSpPr>
          <p:cNvPr id="3" name="Content Placeholder 2"/>
          <p:cNvSpPr>
            <a:spLocks noGrp="1"/>
          </p:cNvSpPr>
          <p:nvPr>
            <p:ph sz="half" idx="1"/>
          </p:nvPr>
        </p:nvSpPr>
        <p:spPr>
          <a:xfrm>
            <a:off x="373874" y="660142"/>
            <a:ext cx="4032448" cy="5548633"/>
          </a:xfrm>
        </p:spPr>
        <p:txBody>
          <a:bodyPr>
            <a:normAutofit fontScale="70000" lnSpcReduction="20000"/>
          </a:bodyPr>
          <a:lstStyle/>
          <a:p>
            <a:pPr marL="0" lvl="0" indent="0" algn="ctr">
              <a:buClr>
                <a:srgbClr val="AD0101"/>
              </a:buClr>
              <a:buNone/>
            </a:pPr>
            <a:r>
              <a:rPr lang="bg-BG" sz="4000" dirty="0">
                <a:solidFill>
                  <a:srgbClr val="C00000"/>
                </a:solidFill>
              </a:rPr>
              <a:t>Разделяне (</a:t>
            </a:r>
            <a:r>
              <a:rPr lang="en-US" sz="4000" dirty="0">
                <a:solidFill>
                  <a:srgbClr val="C00000"/>
                </a:solidFill>
              </a:rPr>
              <a:t>partitioning</a:t>
            </a:r>
            <a:r>
              <a:rPr lang="en-US" sz="4000" dirty="0" smtClean="0">
                <a:solidFill>
                  <a:srgbClr val="C00000"/>
                </a:solidFill>
              </a:rPr>
              <a:t>)</a:t>
            </a:r>
            <a:endParaRPr lang="bg-BG" sz="4000" dirty="0" smtClean="0">
              <a:solidFill>
                <a:srgbClr val="C00000"/>
              </a:solidFill>
            </a:endParaRPr>
          </a:p>
          <a:p>
            <a:pPr marL="457200" lvl="0" indent="-457200">
              <a:buClr>
                <a:srgbClr val="AD0101"/>
              </a:buClr>
              <a:buFont typeface="+mj-lt"/>
              <a:buAutoNum type="arabicPeriod"/>
            </a:pPr>
            <a:r>
              <a:rPr lang="bg-BG" sz="2600" dirty="0" smtClean="0"/>
              <a:t>Разделянето е метод за намаляване на натоварването в произволен хардуерен компонент на системата - например данните от един диск могат да се разпределят върху няколко диска с цел уравновесяване на натоварването на устройството и предотвратяване на забавянето на входно-изходните операции. </a:t>
            </a:r>
          </a:p>
          <a:p>
            <a:pPr marL="457200" lvl="0" indent="-457200">
              <a:buClr>
                <a:srgbClr val="AD0101"/>
              </a:buClr>
              <a:buFont typeface="+mj-lt"/>
              <a:buAutoNum type="arabicPeriod"/>
            </a:pPr>
            <a:r>
              <a:rPr lang="bg-BG" sz="2600" dirty="0" smtClean="0"/>
              <a:t>При разделянето по обхват (</a:t>
            </a:r>
            <a:r>
              <a:rPr lang="bg-BG" sz="2600" dirty="0" err="1" smtClean="0"/>
              <a:t>range</a:t>
            </a:r>
            <a:r>
              <a:rPr lang="bg-BG" sz="2600" dirty="0" smtClean="0"/>
              <a:t> </a:t>
            </a:r>
            <a:r>
              <a:rPr lang="bg-BG" sz="2600" dirty="0" err="1" smtClean="0"/>
              <a:t>partitioning</a:t>
            </a:r>
            <a:r>
              <a:rPr lang="bg-BG" sz="2600" dirty="0" smtClean="0"/>
              <a:t>) данните в дадена таблица се сортират и се разделят на сегменти (таблици с по-малък брой редове) с приблизително еднакъв брой от записи. Всяка група или фрагмент се разполага на отделен диск и може да се обработва независимо от останалите. </a:t>
            </a:r>
          </a:p>
        </p:txBody>
      </p:sp>
      <p:sp>
        <p:nvSpPr>
          <p:cNvPr id="8" name="Content Placeholder 7"/>
          <p:cNvSpPr>
            <a:spLocks noGrp="1"/>
          </p:cNvSpPr>
          <p:nvPr>
            <p:ph sz="half" idx="2"/>
          </p:nvPr>
        </p:nvSpPr>
        <p:spPr>
          <a:xfrm>
            <a:off x="4406322" y="1561824"/>
            <a:ext cx="4300112" cy="3300240"/>
          </a:xfrm>
        </p:spPr>
        <p:txBody>
          <a:bodyPr>
            <a:normAutofit fontScale="70000" lnSpcReduction="20000"/>
          </a:bodyPr>
          <a:lstStyle/>
          <a:p>
            <a:endParaRPr lang="en-US" dirty="0"/>
          </a:p>
        </p:txBody>
      </p:sp>
      <p:sp>
        <p:nvSpPr>
          <p:cNvPr id="4" name="Date Placeholder 3"/>
          <p:cNvSpPr>
            <a:spLocks noGrp="1"/>
          </p:cNvSpPr>
          <p:nvPr>
            <p:ph type="dt" sz="half" idx="10"/>
          </p:nvPr>
        </p:nvSpPr>
        <p:spPr/>
        <p:txBody>
          <a:bodyPr/>
          <a:lstStyle/>
          <a:p>
            <a:r>
              <a:rPr lang="bg-BG" altLang="bg-BG" smtClean="0"/>
              <a:t>Юлиана Пенева</a:t>
            </a:r>
            <a:endParaRPr lang="bg-BG" altLang="bg-BG"/>
          </a:p>
        </p:txBody>
      </p:sp>
      <p:sp>
        <p:nvSpPr>
          <p:cNvPr id="5" name="Footer Placeholder 4"/>
          <p:cNvSpPr>
            <a:spLocks noGrp="1"/>
          </p:cNvSpPr>
          <p:nvPr>
            <p:ph type="ftr" sz="quarter" idx="11"/>
          </p:nvPr>
        </p:nvSpPr>
        <p:spPr/>
        <p:txBody>
          <a:bodyPr/>
          <a:lstStyle/>
          <a:p>
            <a:r>
              <a:rPr lang="en-US" altLang="bg-BG" smtClean="0"/>
              <a:t>CSCB405 - </a:t>
            </a:r>
            <a:r>
              <a:rPr lang="bg-BG" altLang="bg-BG" smtClean="0"/>
              <a:t>модул 8</a:t>
            </a:r>
            <a:endParaRPr lang="bg-BG" altLang="bg-BG"/>
          </a:p>
        </p:txBody>
      </p:sp>
      <p:sp>
        <p:nvSpPr>
          <p:cNvPr id="6" name="Slide Number Placeholder 5"/>
          <p:cNvSpPr>
            <a:spLocks noGrp="1"/>
          </p:cNvSpPr>
          <p:nvPr>
            <p:ph type="sldNum" sz="quarter" idx="12"/>
          </p:nvPr>
        </p:nvSpPr>
        <p:spPr/>
        <p:txBody>
          <a:bodyPr/>
          <a:lstStyle/>
          <a:p>
            <a:fld id="{74EE3BFA-F3F3-428D-9946-02BF70619056}" type="slidenum">
              <a:rPr lang="bg-BG" altLang="bg-BG" smtClean="0"/>
              <a:pPr/>
              <a:t>52</a:t>
            </a:fld>
            <a:endParaRPr lang="bg-BG" altLang="bg-BG"/>
          </a:p>
        </p:txBody>
      </p:sp>
      <p:pic>
        <p:nvPicPr>
          <p:cNvPr id="7" name="Picture 6"/>
          <p:cNvPicPr>
            <a:picLocks noChangeAspect="1"/>
          </p:cNvPicPr>
          <p:nvPr/>
        </p:nvPicPr>
        <p:blipFill>
          <a:blip r:embed="rId2"/>
          <a:stretch>
            <a:fillRect/>
          </a:stretch>
        </p:blipFill>
        <p:spPr>
          <a:xfrm>
            <a:off x="4499992" y="1561824"/>
            <a:ext cx="4419581" cy="3204551"/>
          </a:xfrm>
          <a:prstGeom prst="rect">
            <a:avLst/>
          </a:prstGeom>
          <a:ln w="19050">
            <a:solidFill>
              <a:srgbClr val="C00000"/>
            </a:solidFill>
          </a:ln>
        </p:spPr>
      </p:pic>
    </p:spTree>
    <p:extLst>
      <p:ext uri="{BB962C8B-B14F-4D97-AF65-F5344CB8AC3E}">
        <p14:creationId xmlns:p14="http://schemas.microsoft.com/office/powerpoint/2010/main" val="545477764"/>
      </p:ext>
    </p:extLst>
  </p:cSld>
  <p:clrMapOvr>
    <a:masterClrMapping/>
  </p:clrMapOvr>
  <p:transition>
    <p:fade/>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439734"/>
            <a:ext cx="8243887" cy="516965"/>
          </a:xfrm>
        </p:spPr>
        <p:txBody>
          <a:bodyPr>
            <a:noAutofit/>
          </a:bodyPr>
          <a:lstStyle/>
          <a:p>
            <a:pPr algn="ctr"/>
            <a:r>
              <a:rPr lang="bg-BG" altLang="bg-BG" sz="3200" dirty="0" smtClean="0">
                <a:solidFill>
                  <a:schemeClr val="accent1"/>
                </a:solidFill>
              </a:rPr>
              <a:t>Методи за проектиране на физическата база</a:t>
            </a:r>
            <a:endParaRPr lang="bg-BG" altLang="bg-BG" sz="3200" dirty="0">
              <a:solidFill>
                <a:schemeClr val="accent1"/>
              </a:solidFill>
            </a:endParaRPr>
          </a:p>
        </p:txBody>
      </p:sp>
      <p:sp>
        <p:nvSpPr>
          <p:cNvPr id="3" name="Content Placeholder 2"/>
          <p:cNvSpPr>
            <a:spLocks noGrp="1"/>
          </p:cNvSpPr>
          <p:nvPr>
            <p:ph idx="1"/>
          </p:nvPr>
        </p:nvSpPr>
        <p:spPr>
          <a:xfrm>
            <a:off x="214487" y="948993"/>
            <a:ext cx="8496944" cy="535791"/>
          </a:xfrm>
        </p:spPr>
        <p:txBody>
          <a:bodyPr>
            <a:noAutofit/>
          </a:bodyPr>
          <a:lstStyle/>
          <a:p>
            <a:pPr marL="0" lvl="0" indent="0" algn="ctr">
              <a:buClr>
                <a:srgbClr val="AD0101"/>
              </a:buClr>
              <a:buNone/>
            </a:pPr>
            <a:r>
              <a:rPr lang="bg-BG" sz="2800" dirty="0">
                <a:solidFill>
                  <a:srgbClr val="C00000"/>
                </a:solidFill>
              </a:rPr>
              <a:t>Разделяне (</a:t>
            </a:r>
            <a:r>
              <a:rPr lang="en-US" sz="2800" dirty="0">
                <a:solidFill>
                  <a:srgbClr val="C00000"/>
                </a:solidFill>
              </a:rPr>
              <a:t>partitioning</a:t>
            </a:r>
            <a:r>
              <a:rPr lang="en-US" sz="2800" dirty="0" smtClean="0">
                <a:solidFill>
                  <a:srgbClr val="C00000"/>
                </a:solidFill>
              </a:rPr>
              <a:t>)</a:t>
            </a:r>
            <a:endParaRPr lang="bg-BG" sz="2800" dirty="0">
              <a:solidFill>
                <a:srgbClr val="C00000"/>
              </a:solidFill>
            </a:endParaRPr>
          </a:p>
        </p:txBody>
      </p:sp>
      <p:sp>
        <p:nvSpPr>
          <p:cNvPr id="4" name="Date Placeholder 3"/>
          <p:cNvSpPr>
            <a:spLocks noGrp="1"/>
          </p:cNvSpPr>
          <p:nvPr>
            <p:ph type="dt" sz="half" idx="10"/>
          </p:nvPr>
        </p:nvSpPr>
        <p:spPr/>
        <p:txBody>
          <a:bodyPr/>
          <a:lstStyle/>
          <a:p>
            <a:r>
              <a:rPr lang="bg-BG" altLang="bg-BG" smtClean="0"/>
              <a:t>Юлиана Пенева</a:t>
            </a:r>
            <a:endParaRPr lang="bg-BG" altLang="bg-BG"/>
          </a:p>
        </p:txBody>
      </p:sp>
      <p:sp>
        <p:nvSpPr>
          <p:cNvPr id="5" name="Footer Placeholder 4"/>
          <p:cNvSpPr>
            <a:spLocks noGrp="1"/>
          </p:cNvSpPr>
          <p:nvPr>
            <p:ph type="ftr" sz="quarter" idx="11"/>
          </p:nvPr>
        </p:nvSpPr>
        <p:spPr/>
        <p:txBody>
          <a:bodyPr/>
          <a:lstStyle/>
          <a:p>
            <a:r>
              <a:rPr lang="en-US" altLang="bg-BG" smtClean="0"/>
              <a:t>CSCB405 - </a:t>
            </a:r>
            <a:r>
              <a:rPr lang="bg-BG" altLang="bg-BG" smtClean="0"/>
              <a:t>модул 8</a:t>
            </a:r>
            <a:endParaRPr lang="bg-BG" altLang="bg-BG"/>
          </a:p>
        </p:txBody>
      </p:sp>
      <p:sp>
        <p:nvSpPr>
          <p:cNvPr id="6" name="Slide Number Placeholder 5"/>
          <p:cNvSpPr>
            <a:spLocks noGrp="1"/>
          </p:cNvSpPr>
          <p:nvPr>
            <p:ph type="sldNum" sz="quarter" idx="12"/>
          </p:nvPr>
        </p:nvSpPr>
        <p:spPr/>
        <p:txBody>
          <a:bodyPr/>
          <a:lstStyle/>
          <a:p>
            <a:fld id="{74EE3BFA-F3F3-428D-9946-02BF70619056}" type="slidenum">
              <a:rPr lang="bg-BG" altLang="bg-BG" smtClean="0"/>
              <a:pPr/>
              <a:t>53</a:t>
            </a:fld>
            <a:endParaRPr lang="bg-BG" altLang="bg-BG"/>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3626" y="1715166"/>
            <a:ext cx="8400775" cy="3444317"/>
          </a:xfrm>
          <a:prstGeom prst="rect">
            <a:avLst/>
          </a:prstGeom>
          <a:ln w="19050">
            <a:solidFill>
              <a:srgbClr val="C00000"/>
            </a:solidFill>
          </a:ln>
        </p:spPr>
      </p:pic>
    </p:spTree>
    <p:extLst>
      <p:ext uri="{BB962C8B-B14F-4D97-AF65-F5344CB8AC3E}">
        <p14:creationId xmlns:p14="http://schemas.microsoft.com/office/powerpoint/2010/main" val="4124150102"/>
      </p:ext>
    </p:extLst>
  </p:cSld>
  <p:clrMapOvr>
    <a:masterClrMapping/>
  </p:clrMapOvr>
  <p:transition>
    <p:fade/>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439734"/>
            <a:ext cx="8243887" cy="516965"/>
          </a:xfrm>
        </p:spPr>
        <p:txBody>
          <a:bodyPr>
            <a:noAutofit/>
          </a:bodyPr>
          <a:lstStyle/>
          <a:p>
            <a:pPr algn="ctr"/>
            <a:r>
              <a:rPr lang="bg-BG" altLang="bg-BG" sz="3200" dirty="0" smtClean="0">
                <a:solidFill>
                  <a:schemeClr val="accent1"/>
                </a:solidFill>
              </a:rPr>
              <a:t>Методи за проектиране на физическата база</a:t>
            </a:r>
            <a:endParaRPr lang="bg-BG" altLang="bg-BG" sz="3200" dirty="0">
              <a:solidFill>
                <a:schemeClr val="accent1"/>
              </a:solidFill>
            </a:endParaRPr>
          </a:p>
        </p:txBody>
      </p:sp>
      <p:sp>
        <p:nvSpPr>
          <p:cNvPr id="3" name="Content Placeholder 2"/>
          <p:cNvSpPr>
            <a:spLocks noGrp="1"/>
          </p:cNvSpPr>
          <p:nvPr>
            <p:ph idx="1"/>
          </p:nvPr>
        </p:nvSpPr>
        <p:spPr>
          <a:xfrm>
            <a:off x="214487" y="948992"/>
            <a:ext cx="8496944" cy="5103701"/>
          </a:xfrm>
        </p:spPr>
        <p:txBody>
          <a:bodyPr>
            <a:normAutofit/>
          </a:bodyPr>
          <a:lstStyle/>
          <a:p>
            <a:pPr marL="0" lvl="0" indent="0" algn="ctr">
              <a:buClr>
                <a:srgbClr val="AD0101"/>
              </a:buClr>
              <a:buNone/>
            </a:pPr>
            <a:r>
              <a:rPr lang="bg-BG" sz="2800" dirty="0">
                <a:solidFill>
                  <a:srgbClr val="C00000"/>
                </a:solidFill>
              </a:rPr>
              <a:t>Разделяне (</a:t>
            </a:r>
            <a:r>
              <a:rPr lang="en-US" sz="2800" dirty="0">
                <a:solidFill>
                  <a:srgbClr val="C00000"/>
                </a:solidFill>
              </a:rPr>
              <a:t>partitioning)</a:t>
            </a:r>
            <a:endParaRPr lang="bg-BG" sz="2800" dirty="0">
              <a:solidFill>
                <a:srgbClr val="C00000"/>
              </a:solidFill>
            </a:endParaRPr>
          </a:p>
          <a:p>
            <a:pPr marL="457200" lvl="0" indent="-457200">
              <a:buClr>
                <a:srgbClr val="AD0101"/>
              </a:buClr>
              <a:buFont typeface="+mj-lt"/>
              <a:buAutoNum type="arabicPeriod"/>
            </a:pPr>
            <a:r>
              <a:rPr lang="bg-BG" dirty="0" smtClean="0"/>
              <a:t>Преимущества на метода:</a:t>
            </a:r>
          </a:p>
          <a:p>
            <a:pPr lvl="2">
              <a:buClr>
                <a:srgbClr val="AD0101"/>
              </a:buClr>
              <a:buFont typeface="Wingdings" panose="05000000000000000000" pitchFamily="2" charset="2"/>
              <a:buChar char="§"/>
            </a:pPr>
            <a:r>
              <a:rPr lang="bg-BG" dirty="0" smtClean="0"/>
              <a:t>съхраняват се таблици с по-големи размери поради повишените възможности за адресиране на техните записи;</a:t>
            </a:r>
          </a:p>
          <a:p>
            <a:pPr lvl="2">
              <a:buClr>
                <a:srgbClr val="AD0101"/>
              </a:buClr>
              <a:buFont typeface="Wingdings" panose="05000000000000000000" pitchFamily="2" charset="2"/>
              <a:buChar char="§"/>
            </a:pPr>
            <a:r>
              <a:rPr lang="bg-BG" dirty="0" smtClean="0"/>
              <a:t>елиминира се обработването на част от сегментите, което позволява на компилатора да избира ефективен план за изпълнението на заявките;</a:t>
            </a:r>
          </a:p>
          <a:p>
            <a:pPr lvl="2">
              <a:buClr>
                <a:srgbClr val="AD0101"/>
              </a:buClr>
              <a:buFont typeface="Wingdings" panose="05000000000000000000" pitchFamily="2" charset="2"/>
              <a:buChar char="§"/>
            </a:pPr>
            <a:r>
              <a:rPr lang="bg-BG" dirty="0" smtClean="0"/>
              <a:t>подобрено администриране на базата, защото АБД изпълнява специализираните команди (BACKUP, LOAD и др.) върху отделни сегменти, а не върху цялата таблица;</a:t>
            </a:r>
          </a:p>
          <a:p>
            <a:pPr lvl="2">
              <a:buClr>
                <a:srgbClr val="AD0101"/>
              </a:buClr>
              <a:buFont typeface="Wingdings" panose="05000000000000000000" pitchFamily="2" charset="2"/>
              <a:buChar char="§"/>
            </a:pPr>
            <a:r>
              <a:rPr lang="bg-BG" dirty="0" smtClean="0"/>
              <a:t>неявно клъстериране на данните при входно-изходните операции.</a:t>
            </a:r>
          </a:p>
          <a:p>
            <a:pPr marL="457200" lvl="0" indent="-457200">
              <a:buClr>
                <a:srgbClr val="AD0101"/>
              </a:buClr>
              <a:buFont typeface="+mj-lt"/>
              <a:buAutoNum type="arabicPeriod"/>
            </a:pPr>
            <a:r>
              <a:rPr lang="bg-BG" dirty="0" smtClean="0"/>
              <a:t>Разделянето по обхват с известни модификации е реализирано в СУБД DB2, </a:t>
            </a:r>
            <a:r>
              <a:rPr lang="bg-BG" dirty="0" err="1" smtClean="0"/>
              <a:t>Informix</a:t>
            </a:r>
            <a:r>
              <a:rPr lang="bg-BG" dirty="0" smtClean="0"/>
              <a:t> и </a:t>
            </a:r>
            <a:r>
              <a:rPr lang="bg-BG" dirty="0" err="1" smtClean="0"/>
              <a:t>Oracle</a:t>
            </a:r>
            <a:r>
              <a:rPr lang="bg-BG" dirty="0" smtClean="0"/>
              <a:t>.</a:t>
            </a:r>
          </a:p>
          <a:p>
            <a:pPr marL="0" lvl="0" indent="0" algn="ctr">
              <a:buClr>
                <a:srgbClr val="AD0101"/>
              </a:buClr>
              <a:buNone/>
            </a:pPr>
            <a:endParaRPr lang="bg-BG" dirty="0" smtClean="0"/>
          </a:p>
        </p:txBody>
      </p:sp>
      <p:sp>
        <p:nvSpPr>
          <p:cNvPr id="4" name="Date Placeholder 3"/>
          <p:cNvSpPr>
            <a:spLocks noGrp="1"/>
          </p:cNvSpPr>
          <p:nvPr>
            <p:ph type="dt" sz="half" idx="10"/>
          </p:nvPr>
        </p:nvSpPr>
        <p:spPr/>
        <p:txBody>
          <a:bodyPr/>
          <a:lstStyle/>
          <a:p>
            <a:r>
              <a:rPr lang="bg-BG" altLang="bg-BG" smtClean="0"/>
              <a:t>Юлиана Пенева</a:t>
            </a:r>
            <a:endParaRPr lang="bg-BG" altLang="bg-BG"/>
          </a:p>
        </p:txBody>
      </p:sp>
      <p:sp>
        <p:nvSpPr>
          <p:cNvPr id="5" name="Footer Placeholder 4"/>
          <p:cNvSpPr>
            <a:spLocks noGrp="1"/>
          </p:cNvSpPr>
          <p:nvPr>
            <p:ph type="ftr" sz="quarter" idx="11"/>
          </p:nvPr>
        </p:nvSpPr>
        <p:spPr/>
        <p:txBody>
          <a:bodyPr/>
          <a:lstStyle/>
          <a:p>
            <a:r>
              <a:rPr lang="en-US" altLang="bg-BG" smtClean="0"/>
              <a:t>CSCB405 - </a:t>
            </a:r>
            <a:r>
              <a:rPr lang="bg-BG" altLang="bg-BG" smtClean="0"/>
              <a:t>модул 8</a:t>
            </a:r>
            <a:endParaRPr lang="bg-BG" altLang="bg-BG"/>
          </a:p>
        </p:txBody>
      </p:sp>
      <p:sp>
        <p:nvSpPr>
          <p:cNvPr id="6" name="Slide Number Placeholder 5"/>
          <p:cNvSpPr>
            <a:spLocks noGrp="1"/>
          </p:cNvSpPr>
          <p:nvPr>
            <p:ph type="sldNum" sz="quarter" idx="12"/>
          </p:nvPr>
        </p:nvSpPr>
        <p:spPr/>
        <p:txBody>
          <a:bodyPr/>
          <a:lstStyle/>
          <a:p>
            <a:fld id="{74EE3BFA-F3F3-428D-9946-02BF70619056}" type="slidenum">
              <a:rPr lang="bg-BG" altLang="bg-BG" smtClean="0"/>
              <a:pPr/>
              <a:t>54</a:t>
            </a:fld>
            <a:endParaRPr lang="bg-BG" altLang="bg-BG"/>
          </a:p>
        </p:txBody>
      </p:sp>
    </p:spTree>
    <p:extLst>
      <p:ext uri="{BB962C8B-B14F-4D97-AF65-F5344CB8AC3E}">
        <p14:creationId xmlns:p14="http://schemas.microsoft.com/office/powerpoint/2010/main" val="2298372706"/>
      </p:ext>
    </p:extLst>
  </p:cSld>
  <p:clrMapOvr>
    <a:masterClrMapping/>
  </p:clrMapOvr>
  <p:transition>
    <p:fade/>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439734"/>
            <a:ext cx="8243887" cy="516965"/>
          </a:xfrm>
        </p:spPr>
        <p:txBody>
          <a:bodyPr>
            <a:noAutofit/>
          </a:bodyPr>
          <a:lstStyle/>
          <a:p>
            <a:pPr algn="ctr"/>
            <a:r>
              <a:rPr lang="bg-BG" altLang="bg-BG" sz="3200" dirty="0" smtClean="0">
                <a:solidFill>
                  <a:schemeClr val="accent1"/>
                </a:solidFill>
              </a:rPr>
              <a:t>Методи за проектиране на физическата база</a:t>
            </a:r>
            <a:endParaRPr lang="bg-BG" altLang="bg-BG" sz="3200" dirty="0">
              <a:solidFill>
                <a:schemeClr val="accent1"/>
              </a:solidFill>
            </a:endParaRPr>
          </a:p>
        </p:txBody>
      </p:sp>
      <p:sp>
        <p:nvSpPr>
          <p:cNvPr id="3" name="Content Placeholder 2"/>
          <p:cNvSpPr>
            <a:spLocks noGrp="1"/>
          </p:cNvSpPr>
          <p:nvPr>
            <p:ph idx="1"/>
          </p:nvPr>
        </p:nvSpPr>
        <p:spPr>
          <a:xfrm>
            <a:off x="214487" y="948993"/>
            <a:ext cx="8496944" cy="463783"/>
          </a:xfrm>
        </p:spPr>
        <p:txBody>
          <a:bodyPr>
            <a:normAutofit fontScale="92500" lnSpcReduction="10000"/>
          </a:bodyPr>
          <a:lstStyle/>
          <a:p>
            <a:pPr marL="0" lvl="0" indent="0" algn="ctr">
              <a:buClr>
                <a:srgbClr val="AD0101"/>
              </a:buClr>
              <a:buNone/>
            </a:pPr>
            <a:r>
              <a:rPr lang="bg-BG" sz="2800" dirty="0">
                <a:solidFill>
                  <a:srgbClr val="C00000"/>
                </a:solidFill>
              </a:rPr>
              <a:t>Разделяне (</a:t>
            </a:r>
            <a:r>
              <a:rPr lang="en-US" sz="2800" dirty="0">
                <a:solidFill>
                  <a:srgbClr val="C00000"/>
                </a:solidFill>
              </a:rPr>
              <a:t>partitioning</a:t>
            </a:r>
            <a:r>
              <a:rPr lang="en-US" sz="2800" dirty="0" smtClean="0">
                <a:solidFill>
                  <a:srgbClr val="C00000"/>
                </a:solidFill>
              </a:rPr>
              <a:t>)</a:t>
            </a:r>
            <a:endParaRPr lang="bg-BG" sz="2800" dirty="0">
              <a:solidFill>
                <a:srgbClr val="C00000"/>
              </a:solidFill>
            </a:endParaRPr>
          </a:p>
        </p:txBody>
      </p:sp>
      <p:sp>
        <p:nvSpPr>
          <p:cNvPr id="4" name="Date Placeholder 3"/>
          <p:cNvSpPr>
            <a:spLocks noGrp="1"/>
          </p:cNvSpPr>
          <p:nvPr>
            <p:ph type="dt" sz="half" idx="10"/>
          </p:nvPr>
        </p:nvSpPr>
        <p:spPr/>
        <p:txBody>
          <a:bodyPr/>
          <a:lstStyle/>
          <a:p>
            <a:r>
              <a:rPr lang="bg-BG" altLang="bg-BG" smtClean="0"/>
              <a:t>Юлиана Пенева</a:t>
            </a:r>
            <a:endParaRPr lang="bg-BG" altLang="bg-BG"/>
          </a:p>
        </p:txBody>
      </p:sp>
      <p:sp>
        <p:nvSpPr>
          <p:cNvPr id="5" name="Footer Placeholder 4"/>
          <p:cNvSpPr>
            <a:spLocks noGrp="1"/>
          </p:cNvSpPr>
          <p:nvPr>
            <p:ph type="ftr" sz="quarter" idx="11"/>
          </p:nvPr>
        </p:nvSpPr>
        <p:spPr/>
        <p:txBody>
          <a:bodyPr/>
          <a:lstStyle/>
          <a:p>
            <a:r>
              <a:rPr lang="en-US" altLang="bg-BG" smtClean="0"/>
              <a:t>CSCB405 - </a:t>
            </a:r>
            <a:r>
              <a:rPr lang="bg-BG" altLang="bg-BG" smtClean="0"/>
              <a:t>модул 8</a:t>
            </a:r>
            <a:endParaRPr lang="bg-BG" altLang="bg-BG"/>
          </a:p>
        </p:txBody>
      </p:sp>
      <p:sp>
        <p:nvSpPr>
          <p:cNvPr id="6" name="Slide Number Placeholder 5"/>
          <p:cNvSpPr>
            <a:spLocks noGrp="1"/>
          </p:cNvSpPr>
          <p:nvPr>
            <p:ph type="sldNum" sz="quarter" idx="12"/>
          </p:nvPr>
        </p:nvSpPr>
        <p:spPr/>
        <p:txBody>
          <a:bodyPr/>
          <a:lstStyle/>
          <a:p>
            <a:fld id="{74EE3BFA-F3F3-428D-9946-02BF70619056}" type="slidenum">
              <a:rPr lang="bg-BG" altLang="bg-BG" smtClean="0"/>
              <a:pPr/>
              <a:t>55</a:t>
            </a:fld>
            <a:endParaRPr lang="bg-BG" altLang="bg-BG"/>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3568" y="1568859"/>
            <a:ext cx="7236296" cy="4414141"/>
          </a:xfrm>
          <a:prstGeom prst="rect">
            <a:avLst/>
          </a:prstGeom>
          <a:ln w="19050">
            <a:solidFill>
              <a:srgbClr val="C00000"/>
            </a:solidFill>
          </a:ln>
        </p:spPr>
      </p:pic>
    </p:spTree>
    <p:extLst>
      <p:ext uri="{BB962C8B-B14F-4D97-AF65-F5344CB8AC3E}">
        <p14:creationId xmlns:p14="http://schemas.microsoft.com/office/powerpoint/2010/main" val="3341654846"/>
      </p:ext>
    </p:extLst>
  </p:cSld>
  <p:clrMapOvr>
    <a:masterClrMapping/>
  </p:clrMapOvr>
  <p:transition>
    <p:fade/>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361693"/>
            <a:ext cx="8243887" cy="516965"/>
          </a:xfrm>
        </p:spPr>
        <p:txBody>
          <a:bodyPr>
            <a:noAutofit/>
          </a:bodyPr>
          <a:lstStyle/>
          <a:p>
            <a:pPr algn="ctr"/>
            <a:r>
              <a:rPr lang="bg-BG" altLang="bg-BG" sz="3200" dirty="0" smtClean="0">
                <a:solidFill>
                  <a:schemeClr val="accent1"/>
                </a:solidFill>
              </a:rPr>
              <a:t>Методи за проектиране на физическата база</a:t>
            </a:r>
            <a:endParaRPr lang="bg-BG" altLang="bg-BG" sz="3200" dirty="0">
              <a:solidFill>
                <a:schemeClr val="accent1"/>
              </a:solidFill>
            </a:endParaRPr>
          </a:p>
        </p:txBody>
      </p:sp>
      <p:sp>
        <p:nvSpPr>
          <p:cNvPr id="3" name="Content Placeholder 2"/>
          <p:cNvSpPr>
            <a:spLocks noGrp="1"/>
          </p:cNvSpPr>
          <p:nvPr>
            <p:ph idx="1"/>
          </p:nvPr>
        </p:nvSpPr>
        <p:spPr>
          <a:xfrm>
            <a:off x="214487" y="833863"/>
            <a:ext cx="8496944" cy="3005839"/>
          </a:xfrm>
        </p:spPr>
        <p:txBody>
          <a:bodyPr>
            <a:normAutofit lnSpcReduction="10000"/>
          </a:bodyPr>
          <a:lstStyle/>
          <a:p>
            <a:pPr marL="0" lvl="0" indent="0" algn="ctr">
              <a:buClr>
                <a:srgbClr val="AD0101"/>
              </a:buClr>
              <a:buNone/>
            </a:pPr>
            <a:r>
              <a:rPr lang="bg-BG" sz="2800" dirty="0" smtClean="0">
                <a:solidFill>
                  <a:srgbClr val="C00000"/>
                </a:solidFill>
              </a:rPr>
              <a:t>Други техники</a:t>
            </a:r>
            <a:endParaRPr lang="bg-BG" sz="2800" dirty="0">
              <a:solidFill>
                <a:srgbClr val="C00000"/>
              </a:solidFill>
            </a:endParaRPr>
          </a:p>
          <a:p>
            <a:pPr marL="457200" lvl="0" indent="-457200">
              <a:buClr>
                <a:srgbClr val="AD0101"/>
              </a:buClr>
              <a:buFont typeface="+mj-lt"/>
              <a:buAutoNum type="arabicPeriod"/>
            </a:pPr>
            <a:r>
              <a:rPr lang="bg-BG" sz="2000" dirty="0" smtClean="0"/>
              <a:t>Компресиране - позволява разполагането на по-големи обеми от данни в определено пространство на диска като се осигурява по-бърз достъп при необходимост от преглеждане на голяма част от записите.</a:t>
            </a:r>
          </a:p>
          <a:p>
            <a:pPr marL="457200" lvl="0" indent="-457200">
              <a:buClr>
                <a:srgbClr val="AD0101"/>
              </a:buClr>
              <a:buFont typeface="+mj-lt"/>
              <a:buAutoNum type="arabicPeriod"/>
            </a:pPr>
            <a:r>
              <a:rPr lang="bg-BG" sz="2000" dirty="0" smtClean="0"/>
              <a:t>Образуване на групи (</a:t>
            </a:r>
            <a:r>
              <a:rPr lang="bg-BG" sz="2000" dirty="0" err="1" smtClean="0"/>
              <a:t>data</a:t>
            </a:r>
            <a:r>
              <a:rPr lang="bg-BG" sz="2000" dirty="0" smtClean="0"/>
              <a:t> </a:t>
            </a:r>
            <a:r>
              <a:rPr lang="bg-BG" sz="2000" dirty="0" err="1" smtClean="0"/>
              <a:t>striping</a:t>
            </a:r>
            <a:r>
              <a:rPr lang="bg-BG" sz="2000" dirty="0" smtClean="0"/>
              <a:t>) – данните, до които е необходим едновременен достъп, се разпределят върху няколко диска с цел уравновесяване на натоварването и паралелно изпълнение на входно-изходните операции; подходяща при наличието на съответен </a:t>
            </a:r>
            <a:r>
              <a:rPr lang="bg-BG" sz="2000" dirty="0" smtClean="0">
                <a:solidFill>
                  <a:srgbClr val="C00000"/>
                </a:solidFill>
              </a:rPr>
              <a:t>хардуер</a:t>
            </a:r>
            <a:r>
              <a:rPr lang="bg-BG" sz="2000" dirty="0" smtClean="0"/>
              <a:t> - например масиви от независими дискове</a:t>
            </a:r>
            <a:r>
              <a:rPr lang="bg-BG" sz="2000" dirty="0" smtClean="0"/>
              <a:t>.</a:t>
            </a:r>
            <a:endParaRPr lang="en-US" dirty="0" smtClean="0"/>
          </a:p>
        </p:txBody>
      </p:sp>
      <p:sp>
        <p:nvSpPr>
          <p:cNvPr id="4" name="Date Placeholder 3"/>
          <p:cNvSpPr>
            <a:spLocks noGrp="1"/>
          </p:cNvSpPr>
          <p:nvPr>
            <p:ph type="dt" sz="half" idx="10"/>
          </p:nvPr>
        </p:nvSpPr>
        <p:spPr/>
        <p:txBody>
          <a:bodyPr/>
          <a:lstStyle/>
          <a:p>
            <a:r>
              <a:rPr lang="bg-BG" altLang="bg-BG" smtClean="0"/>
              <a:t>Юлиана Пенева</a:t>
            </a:r>
            <a:endParaRPr lang="bg-BG" altLang="bg-BG"/>
          </a:p>
        </p:txBody>
      </p:sp>
      <p:sp>
        <p:nvSpPr>
          <p:cNvPr id="5" name="Footer Placeholder 4"/>
          <p:cNvSpPr>
            <a:spLocks noGrp="1"/>
          </p:cNvSpPr>
          <p:nvPr>
            <p:ph type="ftr" sz="quarter" idx="11"/>
          </p:nvPr>
        </p:nvSpPr>
        <p:spPr/>
        <p:txBody>
          <a:bodyPr/>
          <a:lstStyle/>
          <a:p>
            <a:r>
              <a:rPr lang="en-US" altLang="bg-BG" smtClean="0"/>
              <a:t>CSCB405 - </a:t>
            </a:r>
            <a:r>
              <a:rPr lang="bg-BG" altLang="bg-BG" smtClean="0"/>
              <a:t>модул 8</a:t>
            </a:r>
            <a:endParaRPr lang="bg-BG" altLang="bg-BG"/>
          </a:p>
        </p:txBody>
      </p:sp>
      <p:sp>
        <p:nvSpPr>
          <p:cNvPr id="6" name="Slide Number Placeholder 5"/>
          <p:cNvSpPr>
            <a:spLocks noGrp="1"/>
          </p:cNvSpPr>
          <p:nvPr>
            <p:ph type="sldNum" sz="quarter" idx="12"/>
          </p:nvPr>
        </p:nvSpPr>
        <p:spPr/>
        <p:txBody>
          <a:bodyPr/>
          <a:lstStyle/>
          <a:p>
            <a:fld id="{74EE3BFA-F3F3-428D-9946-02BF70619056}" type="slidenum">
              <a:rPr lang="bg-BG" altLang="bg-BG" smtClean="0"/>
              <a:pPr/>
              <a:t>56</a:t>
            </a:fld>
            <a:endParaRPr lang="bg-BG" altLang="bg-BG"/>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43808" y="3826706"/>
            <a:ext cx="3096344" cy="2300756"/>
          </a:xfrm>
          <a:prstGeom prst="rect">
            <a:avLst/>
          </a:prstGeom>
          <a:ln w="19050">
            <a:solidFill>
              <a:srgbClr val="C00000"/>
            </a:solidFill>
          </a:ln>
        </p:spPr>
      </p:pic>
    </p:spTree>
    <p:extLst>
      <p:ext uri="{BB962C8B-B14F-4D97-AF65-F5344CB8AC3E}">
        <p14:creationId xmlns:p14="http://schemas.microsoft.com/office/powerpoint/2010/main" val="1105195026"/>
      </p:ext>
    </p:extLst>
  </p:cSld>
  <p:clrMapOvr>
    <a:masterClrMapping/>
  </p:clrMapOvr>
  <p:transition>
    <p:fade/>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361693"/>
            <a:ext cx="8243887" cy="516965"/>
          </a:xfrm>
        </p:spPr>
        <p:txBody>
          <a:bodyPr>
            <a:noAutofit/>
          </a:bodyPr>
          <a:lstStyle/>
          <a:p>
            <a:pPr algn="ctr"/>
            <a:r>
              <a:rPr lang="bg-BG" altLang="bg-BG" sz="3200" dirty="0" smtClean="0">
                <a:solidFill>
                  <a:schemeClr val="accent1"/>
                </a:solidFill>
              </a:rPr>
              <a:t>Методи за проектиране на физическата база</a:t>
            </a:r>
            <a:endParaRPr lang="bg-BG" altLang="bg-BG" sz="3200" dirty="0">
              <a:solidFill>
                <a:schemeClr val="accent1"/>
              </a:solidFill>
            </a:endParaRPr>
          </a:p>
        </p:txBody>
      </p:sp>
      <p:sp>
        <p:nvSpPr>
          <p:cNvPr id="3" name="Content Placeholder 2"/>
          <p:cNvSpPr>
            <a:spLocks noGrp="1"/>
          </p:cNvSpPr>
          <p:nvPr>
            <p:ph idx="1"/>
          </p:nvPr>
        </p:nvSpPr>
        <p:spPr>
          <a:xfrm>
            <a:off x="214487" y="764703"/>
            <a:ext cx="8496944" cy="5287989"/>
          </a:xfrm>
        </p:spPr>
        <p:txBody>
          <a:bodyPr>
            <a:normAutofit/>
          </a:bodyPr>
          <a:lstStyle/>
          <a:p>
            <a:pPr marL="0" lvl="0" indent="0" algn="ctr">
              <a:buClr>
                <a:srgbClr val="AD0101"/>
              </a:buClr>
              <a:buNone/>
            </a:pPr>
            <a:r>
              <a:rPr lang="bg-BG" sz="2800" dirty="0" smtClean="0">
                <a:solidFill>
                  <a:srgbClr val="C00000"/>
                </a:solidFill>
              </a:rPr>
              <a:t>Други </a:t>
            </a:r>
            <a:r>
              <a:rPr lang="bg-BG" sz="2800" dirty="0" smtClean="0">
                <a:solidFill>
                  <a:srgbClr val="C00000"/>
                </a:solidFill>
              </a:rPr>
              <a:t>техники</a:t>
            </a:r>
            <a:endParaRPr lang="en-US" sz="2800" dirty="0" smtClean="0"/>
          </a:p>
          <a:p>
            <a:pPr marL="457200" lvl="0" indent="-457200">
              <a:buClr>
                <a:srgbClr val="AD0101"/>
              </a:buClr>
              <a:buFont typeface="+mj-lt"/>
              <a:buAutoNum type="arabicPeriod" startAt="3"/>
            </a:pPr>
            <a:r>
              <a:rPr lang="bg-BG" sz="2000" dirty="0" smtClean="0"/>
              <a:t>Дублиране </a:t>
            </a:r>
            <a:r>
              <a:rPr lang="bg-BG" sz="2000" dirty="0" smtClean="0"/>
              <a:t>на данните върху няколко диска – необходимостта от обновяване на всички копия едновременно, както и заемането на допълнителна памет, е съществен </a:t>
            </a:r>
            <a:r>
              <a:rPr lang="bg-BG" sz="2000" dirty="0" smtClean="0"/>
              <a:t>недостатък</a:t>
            </a:r>
            <a:r>
              <a:rPr lang="en-US" sz="2000" dirty="0" smtClean="0"/>
              <a:t>.</a:t>
            </a:r>
          </a:p>
          <a:p>
            <a:pPr marL="457200" lvl="0" indent="-457200">
              <a:buClr>
                <a:srgbClr val="AD0101"/>
              </a:buClr>
              <a:buFont typeface="+mj-lt"/>
              <a:buAutoNum type="arabicPeriod" startAt="3"/>
            </a:pPr>
            <a:endParaRPr lang="en-US" sz="2000" dirty="0"/>
          </a:p>
          <a:p>
            <a:pPr marL="457200" lvl="0" indent="-457200">
              <a:buClr>
                <a:srgbClr val="AD0101"/>
              </a:buClr>
              <a:buFont typeface="+mj-lt"/>
              <a:buAutoNum type="arabicPeriod" startAt="3"/>
            </a:pPr>
            <a:endParaRPr lang="en-US" sz="2000" dirty="0" smtClean="0"/>
          </a:p>
          <a:p>
            <a:pPr marL="457200" lvl="0" indent="-457200">
              <a:buClr>
                <a:srgbClr val="AD0101"/>
              </a:buClr>
              <a:buFont typeface="+mj-lt"/>
              <a:buAutoNum type="arabicPeriod" startAt="3"/>
            </a:pPr>
            <a:endParaRPr lang="en-US" sz="2000" dirty="0"/>
          </a:p>
          <a:p>
            <a:pPr marL="457200" lvl="0" indent="-457200">
              <a:buClr>
                <a:srgbClr val="AD0101"/>
              </a:buClr>
              <a:buFont typeface="+mj-lt"/>
              <a:buAutoNum type="arabicPeriod" startAt="3"/>
            </a:pPr>
            <a:endParaRPr lang="en-US" sz="2000" dirty="0" smtClean="0"/>
          </a:p>
          <a:p>
            <a:pPr marL="457200" lvl="0" indent="-457200">
              <a:buClr>
                <a:srgbClr val="AD0101"/>
              </a:buClr>
              <a:buFont typeface="+mj-lt"/>
              <a:buAutoNum type="arabicPeriod" startAt="3"/>
            </a:pPr>
            <a:endParaRPr lang="en-US" sz="2000" dirty="0"/>
          </a:p>
          <a:p>
            <a:pPr marL="457200" lvl="0" indent="-457200">
              <a:buClr>
                <a:srgbClr val="AD0101"/>
              </a:buClr>
              <a:buFont typeface="+mj-lt"/>
              <a:buAutoNum type="arabicPeriod" startAt="3"/>
            </a:pPr>
            <a:endParaRPr lang="en-US" sz="2000" dirty="0" smtClean="0"/>
          </a:p>
          <a:p>
            <a:pPr marL="457200" lvl="0" indent="-457200">
              <a:buClr>
                <a:srgbClr val="AD0101"/>
              </a:buClr>
              <a:buFont typeface="+mj-lt"/>
              <a:buAutoNum type="arabicPeriod" startAt="3"/>
            </a:pPr>
            <a:endParaRPr lang="en-US" sz="2000" dirty="0"/>
          </a:p>
          <a:p>
            <a:pPr marL="457200" lvl="0" indent="-457200">
              <a:buClr>
                <a:srgbClr val="AD0101"/>
              </a:buClr>
              <a:buFont typeface="+mj-lt"/>
              <a:buAutoNum type="arabicPeriod" startAt="3"/>
            </a:pPr>
            <a:endParaRPr lang="bg-BG" sz="2000" dirty="0" smtClean="0"/>
          </a:p>
          <a:p>
            <a:pPr marL="457200" lvl="0" indent="-457200">
              <a:buClr>
                <a:srgbClr val="AD0101"/>
              </a:buClr>
              <a:buFont typeface="+mj-lt"/>
              <a:buAutoNum type="arabicPeriod" startAt="3"/>
            </a:pPr>
            <a:endParaRPr lang="en-US" sz="2000" dirty="0" smtClean="0"/>
          </a:p>
          <a:p>
            <a:pPr marL="457200" lvl="0" indent="-457200">
              <a:buClr>
                <a:srgbClr val="AD0101"/>
              </a:buClr>
              <a:buFont typeface="+mj-lt"/>
              <a:buAutoNum type="arabicPeriod" startAt="3"/>
            </a:pPr>
            <a:endParaRPr lang="bg-BG" sz="2200" dirty="0" smtClean="0"/>
          </a:p>
        </p:txBody>
      </p:sp>
      <p:sp>
        <p:nvSpPr>
          <p:cNvPr id="4" name="Date Placeholder 3"/>
          <p:cNvSpPr>
            <a:spLocks noGrp="1"/>
          </p:cNvSpPr>
          <p:nvPr>
            <p:ph type="dt" sz="half" idx="10"/>
          </p:nvPr>
        </p:nvSpPr>
        <p:spPr/>
        <p:txBody>
          <a:bodyPr/>
          <a:lstStyle/>
          <a:p>
            <a:r>
              <a:rPr lang="bg-BG" altLang="bg-BG" smtClean="0"/>
              <a:t>Юлиана Пенева</a:t>
            </a:r>
            <a:endParaRPr lang="bg-BG" altLang="bg-BG"/>
          </a:p>
        </p:txBody>
      </p:sp>
      <p:sp>
        <p:nvSpPr>
          <p:cNvPr id="5" name="Footer Placeholder 4"/>
          <p:cNvSpPr>
            <a:spLocks noGrp="1"/>
          </p:cNvSpPr>
          <p:nvPr>
            <p:ph type="ftr" sz="quarter" idx="11"/>
          </p:nvPr>
        </p:nvSpPr>
        <p:spPr/>
        <p:txBody>
          <a:bodyPr/>
          <a:lstStyle/>
          <a:p>
            <a:r>
              <a:rPr lang="en-US" altLang="bg-BG" dirty="0" smtClean="0"/>
              <a:t>CSCB405 - </a:t>
            </a:r>
            <a:r>
              <a:rPr lang="bg-BG" altLang="bg-BG" dirty="0" smtClean="0"/>
              <a:t>модул 8</a:t>
            </a:r>
            <a:endParaRPr lang="bg-BG" altLang="bg-BG" dirty="0"/>
          </a:p>
        </p:txBody>
      </p:sp>
      <p:sp>
        <p:nvSpPr>
          <p:cNvPr id="6" name="Slide Number Placeholder 5"/>
          <p:cNvSpPr>
            <a:spLocks noGrp="1"/>
          </p:cNvSpPr>
          <p:nvPr>
            <p:ph type="sldNum" sz="quarter" idx="12"/>
          </p:nvPr>
        </p:nvSpPr>
        <p:spPr/>
        <p:txBody>
          <a:bodyPr/>
          <a:lstStyle/>
          <a:p>
            <a:fld id="{74EE3BFA-F3F3-428D-9946-02BF70619056}" type="slidenum">
              <a:rPr lang="bg-BG" altLang="bg-BG" smtClean="0"/>
              <a:pPr/>
              <a:t>57</a:t>
            </a:fld>
            <a:endParaRPr lang="bg-BG" altLang="bg-BG"/>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9712" y="2492896"/>
            <a:ext cx="5448300" cy="2924175"/>
          </a:xfrm>
          <a:prstGeom prst="rect">
            <a:avLst/>
          </a:prstGeom>
          <a:ln w="15875">
            <a:solidFill>
              <a:srgbClr val="C00000"/>
            </a:solidFill>
          </a:ln>
        </p:spPr>
      </p:pic>
    </p:spTree>
    <p:extLst>
      <p:ext uri="{BB962C8B-B14F-4D97-AF65-F5344CB8AC3E}">
        <p14:creationId xmlns:p14="http://schemas.microsoft.com/office/powerpoint/2010/main" val="1514349124"/>
      </p:ext>
    </p:extLst>
  </p:cSld>
  <p:clrMapOvr>
    <a:masterClrMapping/>
  </p:clrMapOvr>
  <p:transition>
    <p:fade/>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361693"/>
            <a:ext cx="8243887" cy="516965"/>
          </a:xfrm>
        </p:spPr>
        <p:txBody>
          <a:bodyPr>
            <a:noAutofit/>
          </a:bodyPr>
          <a:lstStyle/>
          <a:p>
            <a:pPr algn="ctr"/>
            <a:r>
              <a:rPr lang="bg-BG" altLang="bg-BG" sz="3200" dirty="0" smtClean="0">
                <a:solidFill>
                  <a:schemeClr val="accent1"/>
                </a:solidFill>
              </a:rPr>
              <a:t>Методи за проектиране на физическата база</a:t>
            </a:r>
            <a:endParaRPr lang="bg-BG" altLang="bg-BG" sz="3200" dirty="0">
              <a:solidFill>
                <a:schemeClr val="accent1"/>
              </a:solidFill>
            </a:endParaRPr>
          </a:p>
        </p:txBody>
      </p:sp>
      <p:sp>
        <p:nvSpPr>
          <p:cNvPr id="3" name="Content Placeholder 2"/>
          <p:cNvSpPr>
            <a:spLocks noGrp="1"/>
          </p:cNvSpPr>
          <p:nvPr>
            <p:ph idx="1"/>
          </p:nvPr>
        </p:nvSpPr>
        <p:spPr>
          <a:xfrm>
            <a:off x="214487" y="764704"/>
            <a:ext cx="8496944" cy="2470170"/>
          </a:xfrm>
        </p:spPr>
        <p:txBody>
          <a:bodyPr>
            <a:normAutofit fontScale="92500" lnSpcReduction="10000"/>
          </a:bodyPr>
          <a:lstStyle/>
          <a:p>
            <a:pPr marL="0" lvl="0" indent="0" algn="ctr">
              <a:buClr>
                <a:srgbClr val="AD0101"/>
              </a:buClr>
              <a:buNone/>
            </a:pPr>
            <a:r>
              <a:rPr lang="bg-BG" sz="2800" dirty="0" smtClean="0">
                <a:solidFill>
                  <a:srgbClr val="C00000"/>
                </a:solidFill>
              </a:rPr>
              <a:t>Други </a:t>
            </a:r>
            <a:r>
              <a:rPr lang="bg-BG" sz="2800" dirty="0" smtClean="0">
                <a:solidFill>
                  <a:srgbClr val="C00000"/>
                </a:solidFill>
              </a:rPr>
              <a:t>техники</a:t>
            </a:r>
            <a:endParaRPr lang="bg-BG" sz="2000" dirty="0" smtClean="0"/>
          </a:p>
          <a:p>
            <a:pPr marL="457200" lvl="0" indent="-457200">
              <a:buClr>
                <a:srgbClr val="AD0101"/>
              </a:buClr>
              <a:buFont typeface="+mj-lt"/>
              <a:buAutoNum type="arabicPeriod" startAt="4"/>
            </a:pPr>
            <a:r>
              <a:rPr lang="bg-BG" sz="2000" dirty="0" err="1" smtClean="0"/>
              <a:t>Денормализиране</a:t>
            </a:r>
            <a:r>
              <a:rPr lang="bg-BG" sz="2000" dirty="0" smtClean="0"/>
              <a:t> на данните – с оглед ефективното изпълнение на заявки и транзакции към базата се допуска нарушаване на изискването за трета нормална форма, като част от отношенията се съхраняват в по-ниски нормални форми; решението се взима след анализ на честотата на изпълнение, обем и приоритет на обработките, като се отчитат страничните ефекти от евентуална загуба на състоятелността на базата; целта е да се намали изпълнението </a:t>
            </a:r>
            <a:r>
              <a:rPr lang="bg-BG" sz="2200" dirty="0" smtClean="0"/>
              <a:t>на операцията „съединение“. </a:t>
            </a:r>
          </a:p>
        </p:txBody>
      </p:sp>
      <p:sp>
        <p:nvSpPr>
          <p:cNvPr id="4" name="Date Placeholder 3"/>
          <p:cNvSpPr>
            <a:spLocks noGrp="1"/>
          </p:cNvSpPr>
          <p:nvPr>
            <p:ph type="dt" sz="half" idx="10"/>
          </p:nvPr>
        </p:nvSpPr>
        <p:spPr/>
        <p:txBody>
          <a:bodyPr/>
          <a:lstStyle/>
          <a:p>
            <a:r>
              <a:rPr lang="bg-BG" altLang="bg-BG" smtClean="0"/>
              <a:t>Юлиана Пенева</a:t>
            </a:r>
            <a:endParaRPr lang="bg-BG" altLang="bg-BG"/>
          </a:p>
        </p:txBody>
      </p:sp>
      <p:sp>
        <p:nvSpPr>
          <p:cNvPr id="5" name="Footer Placeholder 4"/>
          <p:cNvSpPr>
            <a:spLocks noGrp="1"/>
          </p:cNvSpPr>
          <p:nvPr>
            <p:ph type="ftr" sz="quarter" idx="11"/>
          </p:nvPr>
        </p:nvSpPr>
        <p:spPr/>
        <p:txBody>
          <a:bodyPr/>
          <a:lstStyle/>
          <a:p>
            <a:r>
              <a:rPr lang="en-US" altLang="bg-BG" dirty="0" smtClean="0"/>
              <a:t>CSCB405 - </a:t>
            </a:r>
            <a:r>
              <a:rPr lang="bg-BG" altLang="bg-BG" dirty="0" smtClean="0"/>
              <a:t>модул 8</a:t>
            </a:r>
            <a:endParaRPr lang="bg-BG" altLang="bg-BG" dirty="0"/>
          </a:p>
        </p:txBody>
      </p:sp>
      <p:sp>
        <p:nvSpPr>
          <p:cNvPr id="6" name="Slide Number Placeholder 5"/>
          <p:cNvSpPr>
            <a:spLocks noGrp="1"/>
          </p:cNvSpPr>
          <p:nvPr>
            <p:ph type="sldNum" sz="quarter" idx="12"/>
          </p:nvPr>
        </p:nvSpPr>
        <p:spPr/>
        <p:txBody>
          <a:bodyPr/>
          <a:lstStyle/>
          <a:p>
            <a:fld id="{74EE3BFA-F3F3-428D-9946-02BF70619056}" type="slidenum">
              <a:rPr lang="bg-BG" altLang="bg-BG" smtClean="0"/>
              <a:pPr/>
              <a:t>58</a:t>
            </a:fld>
            <a:endParaRPr lang="bg-BG" altLang="bg-BG"/>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38802" y="3314878"/>
            <a:ext cx="3499867" cy="2813893"/>
          </a:xfrm>
          <a:prstGeom prst="rect">
            <a:avLst/>
          </a:prstGeom>
          <a:ln w="15875">
            <a:solidFill>
              <a:srgbClr val="C00000"/>
            </a:solidFill>
          </a:ln>
        </p:spPr>
      </p:pic>
    </p:spTree>
    <p:extLst>
      <p:ext uri="{BB962C8B-B14F-4D97-AF65-F5344CB8AC3E}">
        <p14:creationId xmlns:p14="http://schemas.microsoft.com/office/powerpoint/2010/main" val="1726682388"/>
      </p:ext>
    </p:extLst>
  </p:cSld>
  <p:clrMapOvr>
    <a:masterClrMapping/>
  </p:clrMapOvr>
  <p:transition>
    <p:fade/>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4487" y="380675"/>
            <a:ext cx="8695481" cy="497984"/>
          </a:xfrm>
        </p:spPr>
        <p:txBody>
          <a:bodyPr>
            <a:noAutofit/>
          </a:bodyPr>
          <a:lstStyle/>
          <a:p>
            <a:pPr algn="ctr"/>
            <a:r>
              <a:rPr lang="bg-BG" altLang="bg-BG" sz="3200" dirty="0" smtClean="0">
                <a:solidFill>
                  <a:schemeClr val="accent1"/>
                </a:solidFill>
              </a:rPr>
              <a:t>Фактори при проектиране на физическата база</a:t>
            </a:r>
            <a:endParaRPr lang="bg-BG" altLang="bg-BG" sz="3200" dirty="0">
              <a:solidFill>
                <a:schemeClr val="accent1"/>
              </a:solidFill>
            </a:endParaRPr>
          </a:p>
        </p:txBody>
      </p:sp>
      <p:sp>
        <p:nvSpPr>
          <p:cNvPr id="3" name="Content Placeholder 2"/>
          <p:cNvSpPr>
            <a:spLocks noGrp="1"/>
          </p:cNvSpPr>
          <p:nvPr>
            <p:ph idx="1"/>
          </p:nvPr>
        </p:nvSpPr>
        <p:spPr>
          <a:xfrm>
            <a:off x="323528" y="1034743"/>
            <a:ext cx="8695481" cy="5356596"/>
          </a:xfrm>
        </p:spPr>
        <p:txBody>
          <a:bodyPr>
            <a:normAutofit fontScale="70000" lnSpcReduction="20000"/>
          </a:bodyPr>
          <a:lstStyle/>
          <a:p>
            <a:pPr marL="514350" lvl="0" indent="-514350">
              <a:buClr>
                <a:srgbClr val="AD0101"/>
              </a:buClr>
              <a:buFont typeface="+mj-lt"/>
              <a:buAutoNum type="arabicPeriod"/>
            </a:pPr>
            <a:r>
              <a:rPr lang="bg-BG" sz="3400" dirty="0" smtClean="0">
                <a:solidFill>
                  <a:srgbClr val="C00000"/>
                </a:solidFill>
              </a:rPr>
              <a:t>Изпълнявани заявки и </a:t>
            </a:r>
            <a:r>
              <a:rPr lang="bg-BG" sz="3400" dirty="0" smtClean="0">
                <a:solidFill>
                  <a:srgbClr val="C00000"/>
                </a:solidFill>
              </a:rPr>
              <a:t>трансакции</a:t>
            </a:r>
            <a:endParaRPr lang="bg-BG" sz="3400" dirty="0" smtClean="0">
              <a:solidFill>
                <a:srgbClr val="C00000"/>
              </a:solidFill>
            </a:endParaRPr>
          </a:p>
          <a:p>
            <a:pPr marL="514350" lvl="0" indent="-514350">
              <a:buClr>
                <a:srgbClr val="AD0101"/>
              </a:buClr>
              <a:buFont typeface="+mj-lt"/>
              <a:buAutoNum type="arabicPeriod"/>
            </a:pPr>
            <a:endParaRPr lang="bg-BG" sz="1300" dirty="0" smtClean="0">
              <a:solidFill>
                <a:schemeClr val="tx1"/>
              </a:solidFill>
            </a:endParaRPr>
          </a:p>
          <a:p>
            <a:pPr marL="0" lvl="0" indent="0">
              <a:buClr>
                <a:srgbClr val="AD0101"/>
              </a:buClr>
              <a:buNone/>
            </a:pPr>
            <a:r>
              <a:rPr lang="bg-BG" sz="2700" dirty="0" smtClean="0">
                <a:solidFill>
                  <a:schemeClr val="tx1"/>
                </a:solidFill>
              </a:rPr>
              <a:t>За всяка заявка, с която се извличат данни от базата се събират данни за:</a:t>
            </a:r>
          </a:p>
          <a:p>
            <a:pPr lvl="1">
              <a:buClr>
                <a:srgbClr val="AD0101"/>
              </a:buClr>
            </a:pPr>
            <a:r>
              <a:rPr lang="bg-BG" sz="2700" dirty="0" smtClean="0">
                <a:solidFill>
                  <a:schemeClr val="tx1"/>
                </a:solidFill>
              </a:rPr>
              <a:t>таблици (файлове), до които се осъществява достъп;</a:t>
            </a:r>
          </a:p>
          <a:p>
            <a:pPr lvl="1">
              <a:buClr>
                <a:srgbClr val="AD0101"/>
              </a:buClr>
            </a:pPr>
            <a:r>
              <a:rPr lang="bg-BG" sz="2700" dirty="0" smtClean="0">
                <a:solidFill>
                  <a:schemeClr val="tx1"/>
                </a:solidFill>
              </a:rPr>
              <a:t>колони, които участват в условието за избор;</a:t>
            </a:r>
          </a:p>
          <a:p>
            <a:pPr lvl="1">
              <a:buClr>
                <a:srgbClr val="AD0101"/>
              </a:buClr>
            </a:pPr>
            <a:r>
              <a:rPr lang="bg-BG" sz="2700" dirty="0" smtClean="0">
                <a:solidFill>
                  <a:schemeClr val="tx1"/>
                </a:solidFill>
              </a:rPr>
              <a:t>тип на сравненията в условието за търсене;</a:t>
            </a:r>
          </a:p>
          <a:p>
            <a:pPr lvl="1">
              <a:buClr>
                <a:srgbClr val="AD0101"/>
              </a:buClr>
            </a:pPr>
            <a:r>
              <a:rPr lang="bg-BG" sz="2700" dirty="0" smtClean="0">
                <a:solidFill>
                  <a:schemeClr val="tx1"/>
                </a:solidFill>
              </a:rPr>
              <a:t>колони, които участват в операция „съединение“;</a:t>
            </a:r>
          </a:p>
          <a:p>
            <a:pPr lvl="1">
              <a:buClr>
                <a:srgbClr val="AD0101"/>
              </a:buClr>
            </a:pPr>
            <a:r>
              <a:rPr lang="bg-BG" sz="2700" dirty="0" smtClean="0">
                <a:solidFill>
                  <a:schemeClr val="tx1"/>
                </a:solidFill>
              </a:rPr>
              <a:t>колони, чиито стойности се извеждат в резултата от заявката.</a:t>
            </a:r>
          </a:p>
          <a:p>
            <a:pPr marL="0" lvl="0" indent="0">
              <a:buClr>
                <a:srgbClr val="AD0101"/>
              </a:buClr>
              <a:buNone/>
            </a:pPr>
            <a:r>
              <a:rPr lang="bg-BG" sz="2700" dirty="0" smtClean="0">
                <a:solidFill>
                  <a:schemeClr val="tx1"/>
                </a:solidFill>
              </a:rPr>
              <a:t>Обикновено структури за достъп, например индекси, се дефинират върху колоните, които участват в условие за избор или операция „съединение“.</a:t>
            </a:r>
          </a:p>
          <a:p>
            <a:pPr marL="0" lvl="0" indent="0">
              <a:buClr>
                <a:srgbClr val="AD0101"/>
              </a:buClr>
              <a:buNone/>
            </a:pPr>
            <a:endParaRPr lang="bg-BG" sz="1300" dirty="0" smtClean="0">
              <a:solidFill>
                <a:schemeClr val="tx1"/>
              </a:solidFill>
            </a:endParaRPr>
          </a:p>
          <a:p>
            <a:pPr marL="0" lvl="0" indent="0">
              <a:buClr>
                <a:srgbClr val="AD0101"/>
              </a:buClr>
              <a:buNone/>
            </a:pPr>
            <a:r>
              <a:rPr lang="bg-BG" sz="2700" dirty="0" smtClean="0">
                <a:solidFill>
                  <a:schemeClr val="tx1"/>
                </a:solidFill>
              </a:rPr>
              <a:t>За всяка заявка или </a:t>
            </a:r>
            <a:r>
              <a:rPr lang="bg-BG" sz="2700" dirty="0" smtClean="0">
                <a:solidFill>
                  <a:schemeClr val="tx1"/>
                </a:solidFill>
              </a:rPr>
              <a:t>трансакция</a:t>
            </a:r>
            <a:r>
              <a:rPr lang="bg-BG" sz="2700" dirty="0" smtClean="0">
                <a:solidFill>
                  <a:schemeClr val="tx1"/>
                </a:solidFill>
              </a:rPr>
              <a:t>, които обновяват базата се събират данни за:</a:t>
            </a:r>
          </a:p>
          <a:p>
            <a:pPr lvl="1">
              <a:buClr>
                <a:srgbClr val="AD0101"/>
              </a:buClr>
            </a:pPr>
            <a:r>
              <a:rPr lang="bg-BG" sz="2700" dirty="0" smtClean="0">
                <a:solidFill>
                  <a:schemeClr val="tx1"/>
                </a:solidFill>
              </a:rPr>
              <a:t>файлове, които се обновяват;</a:t>
            </a:r>
          </a:p>
          <a:p>
            <a:pPr lvl="1">
              <a:buClr>
                <a:srgbClr val="AD0101"/>
              </a:buClr>
            </a:pPr>
            <a:r>
              <a:rPr lang="bg-BG" sz="2700" dirty="0" smtClean="0">
                <a:solidFill>
                  <a:schemeClr val="tx1"/>
                </a:solidFill>
              </a:rPr>
              <a:t>тип на операцията;</a:t>
            </a:r>
          </a:p>
          <a:p>
            <a:pPr lvl="1">
              <a:buClr>
                <a:srgbClr val="AD0101"/>
              </a:buClr>
            </a:pPr>
            <a:r>
              <a:rPr lang="bg-BG" sz="2700" dirty="0" smtClean="0">
                <a:solidFill>
                  <a:schemeClr val="tx1"/>
                </a:solidFill>
              </a:rPr>
              <a:t>участващи в операции „изтриване“ или „модифициране“ стойности на колони.</a:t>
            </a:r>
          </a:p>
          <a:p>
            <a:pPr marL="0" lvl="0" indent="0">
              <a:buClr>
                <a:srgbClr val="AD0101"/>
              </a:buClr>
              <a:buNone/>
            </a:pPr>
            <a:r>
              <a:rPr lang="bg-BG" sz="2700" dirty="0" smtClean="0">
                <a:solidFill>
                  <a:schemeClr val="tx1"/>
                </a:solidFill>
              </a:rPr>
              <a:t>Структури за достъп се дефинират върху колоните, които участват операции „изтриване“ или „модифициране“, защото чрез тях намирането на необходимия за обработване запис става по-бързо. </a:t>
            </a:r>
          </a:p>
          <a:p>
            <a:pPr marL="0" lvl="0" indent="0" algn="ctr">
              <a:buClr>
                <a:srgbClr val="AD0101"/>
              </a:buClr>
              <a:buNone/>
            </a:pPr>
            <a:endParaRPr lang="bg-BG" sz="2800" dirty="0" smtClean="0">
              <a:solidFill>
                <a:srgbClr val="0070C0"/>
              </a:solidFill>
            </a:endParaRPr>
          </a:p>
          <a:p>
            <a:pPr marL="0" lvl="0" indent="0" algn="ctr">
              <a:buClr>
                <a:srgbClr val="AD0101"/>
              </a:buClr>
              <a:buNone/>
            </a:pPr>
            <a:endParaRPr lang="bg-BG" dirty="0" smtClean="0"/>
          </a:p>
        </p:txBody>
      </p:sp>
      <p:sp>
        <p:nvSpPr>
          <p:cNvPr id="4" name="Date Placeholder 3"/>
          <p:cNvSpPr>
            <a:spLocks noGrp="1"/>
          </p:cNvSpPr>
          <p:nvPr>
            <p:ph type="dt" sz="half" idx="10"/>
          </p:nvPr>
        </p:nvSpPr>
        <p:spPr/>
        <p:txBody>
          <a:bodyPr/>
          <a:lstStyle/>
          <a:p>
            <a:r>
              <a:rPr lang="bg-BG" altLang="bg-BG" smtClean="0"/>
              <a:t>Юлиана Пенева</a:t>
            </a:r>
            <a:endParaRPr lang="bg-BG" altLang="bg-BG"/>
          </a:p>
        </p:txBody>
      </p:sp>
      <p:sp>
        <p:nvSpPr>
          <p:cNvPr id="5" name="Footer Placeholder 4"/>
          <p:cNvSpPr>
            <a:spLocks noGrp="1"/>
          </p:cNvSpPr>
          <p:nvPr>
            <p:ph type="ftr" sz="quarter" idx="11"/>
          </p:nvPr>
        </p:nvSpPr>
        <p:spPr/>
        <p:txBody>
          <a:bodyPr/>
          <a:lstStyle/>
          <a:p>
            <a:r>
              <a:rPr lang="en-US" altLang="bg-BG" smtClean="0"/>
              <a:t>CSCB405 - </a:t>
            </a:r>
            <a:r>
              <a:rPr lang="bg-BG" altLang="bg-BG" smtClean="0"/>
              <a:t>модул 8</a:t>
            </a:r>
            <a:endParaRPr lang="bg-BG" altLang="bg-BG"/>
          </a:p>
        </p:txBody>
      </p:sp>
      <p:sp>
        <p:nvSpPr>
          <p:cNvPr id="6" name="Slide Number Placeholder 5"/>
          <p:cNvSpPr>
            <a:spLocks noGrp="1"/>
          </p:cNvSpPr>
          <p:nvPr>
            <p:ph type="sldNum" sz="quarter" idx="12"/>
          </p:nvPr>
        </p:nvSpPr>
        <p:spPr/>
        <p:txBody>
          <a:bodyPr/>
          <a:lstStyle/>
          <a:p>
            <a:fld id="{74EE3BFA-F3F3-428D-9946-02BF70619056}" type="slidenum">
              <a:rPr lang="bg-BG" altLang="bg-BG" smtClean="0"/>
              <a:pPr/>
              <a:t>59</a:t>
            </a:fld>
            <a:endParaRPr lang="bg-BG" altLang="bg-BG"/>
          </a:p>
        </p:txBody>
      </p:sp>
    </p:spTree>
    <p:extLst>
      <p:ext uri="{BB962C8B-B14F-4D97-AF65-F5344CB8AC3E}">
        <p14:creationId xmlns:p14="http://schemas.microsoft.com/office/powerpoint/2010/main" val="3526007595"/>
      </p:ext>
    </p:extLst>
  </p:cSld>
  <p:clrMapOvr>
    <a:masterClrMapping/>
  </p:clrMapOvr>
  <p:transition>
    <p:fade/>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5674" y="458716"/>
            <a:ext cx="8695481" cy="497984"/>
          </a:xfrm>
        </p:spPr>
        <p:txBody>
          <a:bodyPr>
            <a:noAutofit/>
          </a:bodyPr>
          <a:lstStyle/>
          <a:p>
            <a:pPr algn="ctr"/>
            <a:r>
              <a:rPr lang="bg-BG" altLang="bg-BG" sz="3200" dirty="0" smtClean="0">
                <a:solidFill>
                  <a:schemeClr val="accent1"/>
                </a:solidFill>
              </a:rPr>
              <a:t>Фактори при проектиране на физическата база</a:t>
            </a:r>
            <a:endParaRPr lang="bg-BG" altLang="bg-BG" sz="3200" dirty="0">
              <a:solidFill>
                <a:schemeClr val="accent1"/>
              </a:solidFill>
            </a:endParaRPr>
          </a:p>
        </p:txBody>
      </p:sp>
      <p:sp>
        <p:nvSpPr>
          <p:cNvPr id="3" name="Content Placeholder 2"/>
          <p:cNvSpPr>
            <a:spLocks noGrp="1"/>
          </p:cNvSpPr>
          <p:nvPr>
            <p:ph idx="1"/>
          </p:nvPr>
        </p:nvSpPr>
        <p:spPr>
          <a:xfrm>
            <a:off x="266110" y="1496851"/>
            <a:ext cx="8496944" cy="4711925"/>
          </a:xfrm>
        </p:spPr>
        <p:txBody>
          <a:bodyPr>
            <a:normAutofit fontScale="92500" lnSpcReduction="20000"/>
          </a:bodyPr>
          <a:lstStyle/>
          <a:p>
            <a:pPr marL="514350" lvl="0" indent="-514350">
              <a:buClr>
                <a:srgbClr val="AD0101"/>
              </a:buClr>
              <a:buFont typeface="+mj-lt"/>
              <a:buAutoNum type="arabicPeriod" startAt="2"/>
            </a:pPr>
            <a:r>
              <a:rPr lang="bg-BG" sz="2600" dirty="0">
                <a:solidFill>
                  <a:srgbClr val="C00000"/>
                </a:solidFill>
              </a:rPr>
              <a:t>Честота на изпълнение на </a:t>
            </a:r>
            <a:r>
              <a:rPr lang="bg-BG" sz="2600" dirty="0" smtClean="0">
                <a:solidFill>
                  <a:srgbClr val="C00000"/>
                </a:solidFill>
              </a:rPr>
              <a:t>трансакции </a:t>
            </a:r>
            <a:r>
              <a:rPr lang="bg-BG" sz="2600" dirty="0">
                <a:solidFill>
                  <a:srgbClr val="C00000"/>
                </a:solidFill>
              </a:rPr>
              <a:t>и </a:t>
            </a:r>
            <a:r>
              <a:rPr lang="bg-BG" sz="2600" dirty="0" smtClean="0">
                <a:solidFill>
                  <a:srgbClr val="C00000"/>
                </a:solidFill>
              </a:rPr>
              <a:t>заявки</a:t>
            </a:r>
            <a:endParaRPr lang="bg-BG" sz="2600" dirty="0">
              <a:solidFill>
                <a:srgbClr val="C00000"/>
              </a:solidFill>
            </a:endParaRPr>
          </a:p>
          <a:p>
            <a:pPr marL="0" lvl="0" indent="0">
              <a:buClr>
                <a:srgbClr val="AD0101"/>
              </a:buClr>
              <a:buNone/>
            </a:pPr>
            <a:r>
              <a:rPr lang="bg-BG" sz="2800" dirty="0">
                <a:solidFill>
                  <a:schemeClr val="tx1"/>
                </a:solidFill>
              </a:rPr>
              <a:t>Целта е да се оцени участието на всяка колона в условия за търсене или съединение. Практиката показва, че 80% от обработките се извършват от около 20% от заявките или транзакциите. Поради тези причини статистика се води само за тези 20%, които са най-често използвани</a:t>
            </a:r>
            <a:r>
              <a:rPr lang="bg-BG" sz="2800" dirty="0" smtClean="0">
                <a:solidFill>
                  <a:schemeClr val="tx1"/>
                </a:solidFill>
              </a:rPr>
              <a:t>.</a:t>
            </a:r>
          </a:p>
          <a:p>
            <a:pPr marL="0" lvl="0" indent="0">
              <a:buClr>
                <a:srgbClr val="AD0101"/>
              </a:buClr>
              <a:buNone/>
            </a:pPr>
            <a:endParaRPr lang="bg-BG" sz="2800" dirty="0" smtClean="0">
              <a:solidFill>
                <a:schemeClr val="tx1"/>
              </a:solidFill>
            </a:endParaRPr>
          </a:p>
          <a:p>
            <a:pPr marL="514350" lvl="0" indent="-514350">
              <a:buClr>
                <a:srgbClr val="AD0101"/>
              </a:buClr>
              <a:buFont typeface="+mj-lt"/>
              <a:buAutoNum type="arabicPeriod" startAt="3"/>
            </a:pPr>
            <a:r>
              <a:rPr lang="bg-BG" sz="2600" dirty="0" smtClean="0">
                <a:solidFill>
                  <a:srgbClr val="C00000"/>
                </a:solidFill>
              </a:rPr>
              <a:t>Изисквания към време за отговор на </a:t>
            </a:r>
            <a:r>
              <a:rPr lang="bg-BG" sz="2600" dirty="0" smtClean="0">
                <a:solidFill>
                  <a:srgbClr val="C00000"/>
                </a:solidFill>
              </a:rPr>
              <a:t>трансакции </a:t>
            </a:r>
            <a:r>
              <a:rPr lang="bg-BG" sz="2600" dirty="0" smtClean="0">
                <a:solidFill>
                  <a:srgbClr val="C00000"/>
                </a:solidFill>
              </a:rPr>
              <a:t>и заявки</a:t>
            </a:r>
          </a:p>
          <a:p>
            <a:pPr marL="0" lvl="0" indent="0">
              <a:buClr>
                <a:srgbClr val="AD0101"/>
              </a:buClr>
              <a:buNone/>
            </a:pPr>
            <a:r>
              <a:rPr lang="bg-BG" sz="2800" dirty="0" smtClean="0">
                <a:solidFill>
                  <a:schemeClr val="tx1"/>
                </a:solidFill>
              </a:rPr>
              <a:t>Изисквания към времето за отговор указват влияние върху определяне на структурите за достъп. Например колоните, по които се осъществява извличане на данни от заявка с ограничения във времето за отговор, е добре да се индексират.</a:t>
            </a:r>
          </a:p>
          <a:p>
            <a:pPr marL="0" lvl="0" indent="0">
              <a:buClr>
                <a:srgbClr val="AD0101"/>
              </a:buClr>
              <a:buNone/>
            </a:pPr>
            <a:endParaRPr lang="bg-BG" sz="2800" dirty="0">
              <a:solidFill>
                <a:schemeClr val="tx1"/>
              </a:solidFill>
            </a:endParaRPr>
          </a:p>
          <a:p>
            <a:pPr marL="0" lvl="0" indent="0" algn="ctr">
              <a:buClr>
                <a:srgbClr val="AD0101"/>
              </a:buClr>
              <a:buNone/>
            </a:pPr>
            <a:endParaRPr lang="bg-BG" sz="2800" dirty="0" smtClean="0">
              <a:solidFill>
                <a:srgbClr val="0070C0"/>
              </a:solidFill>
            </a:endParaRPr>
          </a:p>
          <a:p>
            <a:pPr marL="0" lvl="0" indent="0" algn="ctr">
              <a:buClr>
                <a:srgbClr val="AD0101"/>
              </a:buClr>
              <a:buNone/>
            </a:pPr>
            <a:endParaRPr lang="bg-BG" dirty="0" smtClean="0"/>
          </a:p>
        </p:txBody>
      </p:sp>
      <p:sp>
        <p:nvSpPr>
          <p:cNvPr id="4" name="Date Placeholder 3"/>
          <p:cNvSpPr>
            <a:spLocks noGrp="1"/>
          </p:cNvSpPr>
          <p:nvPr>
            <p:ph type="dt" sz="half" idx="10"/>
          </p:nvPr>
        </p:nvSpPr>
        <p:spPr/>
        <p:txBody>
          <a:bodyPr/>
          <a:lstStyle/>
          <a:p>
            <a:r>
              <a:rPr lang="bg-BG" altLang="bg-BG" smtClean="0"/>
              <a:t>Юлиана Пенева</a:t>
            </a:r>
            <a:endParaRPr lang="bg-BG" altLang="bg-BG"/>
          </a:p>
        </p:txBody>
      </p:sp>
      <p:sp>
        <p:nvSpPr>
          <p:cNvPr id="5" name="Footer Placeholder 4"/>
          <p:cNvSpPr>
            <a:spLocks noGrp="1"/>
          </p:cNvSpPr>
          <p:nvPr>
            <p:ph type="ftr" sz="quarter" idx="11"/>
          </p:nvPr>
        </p:nvSpPr>
        <p:spPr/>
        <p:txBody>
          <a:bodyPr/>
          <a:lstStyle/>
          <a:p>
            <a:r>
              <a:rPr lang="en-US" altLang="bg-BG" smtClean="0"/>
              <a:t>CSCB405 - </a:t>
            </a:r>
            <a:r>
              <a:rPr lang="bg-BG" altLang="bg-BG" smtClean="0"/>
              <a:t>модул 8</a:t>
            </a:r>
            <a:endParaRPr lang="bg-BG" altLang="bg-BG"/>
          </a:p>
        </p:txBody>
      </p:sp>
      <p:sp>
        <p:nvSpPr>
          <p:cNvPr id="6" name="Slide Number Placeholder 5"/>
          <p:cNvSpPr>
            <a:spLocks noGrp="1"/>
          </p:cNvSpPr>
          <p:nvPr>
            <p:ph type="sldNum" sz="quarter" idx="12"/>
          </p:nvPr>
        </p:nvSpPr>
        <p:spPr/>
        <p:txBody>
          <a:bodyPr/>
          <a:lstStyle/>
          <a:p>
            <a:fld id="{74EE3BFA-F3F3-428D-9946-02BF70619056}" type="slidenum">
              <a:rPr lang="bg-BG" altLang="bg-BG" smtClean="0"/>
              <a:pPr/>
              <a:t>60</a:t>
            </a:fld>
            <a:endParaRPr lang="bg-BG" altLang="bg-BG"/>
          </a:p>
        </p:txBody>
      </p:sp>
    </p:spTree>
    <p:extLst>
      <p:ext uri="{BB962C8B-B14F-4D97-AF65-F5344CB8AC3E}">
        <p14:creationId xmlns:p14="http://schemas.microsoft.com/office/powerpoint/2010/main" val="1363813355"/>
      </p:ext>
    </p:extLst>
  </p:cSld>
  <p:clrMapOvr>
    <a:masterClrMapping/>
  </p:clrMapOvr>
  <p:transition>
    <p:fade/>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5674" y="458716"/>
            <a:ext cx="8695481" cy="497984"/>
          </a:xfrm>
        </p:spPr>
        <p:txBody>
          <a:bodyPr>
            <a:noAutofit/>
          </a:bodyPr>
          <a:lstStyle/>
          <a:p>
            <a:pPr algn="ctr"/>
            <a:r>
              <a:rPr lang="bg-BG" altLang="bg-BG" sz="3200" dirty="0" smtClean="0">
                <a:solidFill>
                  <a:schemeClr val="accent1"/>
                </a:solidFill>
              </a:rPr>
              <a:t>Фактори при проектиране на физическата база</a:t>
            </a:r>
            <a:endParaRPr lang="bg-BG" altLang="bg-BG" sz="3200" dirty="0">
              <a:solidFill>
                <a:schemeClr val="accent1"/>
              </a:solidFill>
            </a:endParaRPr>
          </a:p>
        </p:txBody>
      </p:sp>
      <p:sp>
        <p:nvSpPr>
          <p:cNvPr id="3" name="Content Placeholder 2"/>
          <p:cNvSpPr>
            <a:spLocks noGrp="1"/>
          </p:cNvSpPr>
          <p:nvPr>
            <p:ph idx="1"/>
          </p:nvPr>
        </p:nvSpPr>
        <p:spPr>
          <a:xfrm>
            <a:off x="245674" y="1112783"/>
            <a:ext cx="8496944" cy="5252076"/>
          </a:xfrm>
        </p:spPr>
        <p:txBody>
          <a:bodyPr>
            <a:normAutofit lnSpcReduction="10000"/>
          </a:bodyPr>
          <a:lstStyle/>
          <a:p>
            <a:pPr marL="514350" lvl="0" indent="-514350">
              <a:buClr>
                <a:srgbClr val="AD0101"/>
              </a:buClr>
              <a:buFont typeface="+mj-lt"/>
              <a:buAutoNum type="arabicPeriod" startAt="4"/>
            </a:pPr>
            <a:r>
              <a:rPr lang="bg-BG" sz="2600" dirty="0" smtClean="0">
                <a:solidFill>
                  <a:srgbClr val="C00000"/>
                </a:solidFill>
              </a:rPr>
              <a:t>Честота на обновяване на записите в даден файл</a:t>
            </a:r>
          </a:p>
          <a:p>
            <a:pPr marL="0" lvl="0" indent="0">
              <a:buClr>
                <a:srgbClr val="AD0101"/>
              </a:buClr>
              <a:buNone/>
            </a:pPr>
            <a:r>
              <a:rPr lang="bg-BG" sz="2600" dirty="0" smtClean="0">
                <a:solidFill>
                  <a:schemeClr val="tx1"/>
                </a:solidFill>
              </a:rPr>
              <a:t>При файлове, чиито записи често се обновяват трябва да се дефинират минимален брой структури за достъп, защото самите те подлежат на променяне всеки път когато се въведе нов елемент. Допълнителните системни операции, изпълнявани от СУБД, могат да забавят обработките значително.</a:t>
            </a:r>
          </a:p>
          <a:p>
            <a:pPr marL="514350" lvl="0" indent="-514350">
              <a:buClr>
                <a:srgbClr val="AD0101"/>
              </a:buClr>
              <a:buFont typeface="+mj-lt"/>
              <a:buAutoNum type="arabicPeriod" startAt="5"/>
            </a:pPr>
            <a:r>
              <a:rPr lang="bg-BG" sz="2600" dirty="0" smtClean="0">
                <a:solidFill>
                  <a:srgbClr val="C00000"/>
                </a:solidFill>
              </a:rPr>
              <a:t>Ключови колони</a:t>
            </a:r>
          </a:p>
          <a:p>
            <a:pPr marL="0" lvl="0" indent="0">
              <a:buClr>
                <a:srgbClr val="AD0101"/>
              </a:buClr>
              <a:buNone/>
            </a:pPr>
            <a:r>
              <a:rPr lang="bg-BG" sz="2600" dirty="0" smtClean="0">
                <a:solidFill>
                  <a:schemeClr val="tx1"/>
                </a:solidFill>
              </a:rPr>
              <a:t>Обикновено структури за достъп се задават върху колони, които са главни или кандидат ключове в таблицата. По този начин се спазва изискването за уникалност на стойностите на ключа като идентификатор на отделните редове.</a:t>
            </a:r>
          </a:p>
          <a:p>
            <a:pPr marL="457200" lvl="0" indent="-457200" algn="ctr">
              <a:buClr>
                <a:srgbClr val="AD0101"/>
              </a:buClr>
              <a:buFont typeface="+mj-lt"/>
              <a:buAutoNum type="arabicPeriod" startAt="4"/>
            </a:pPr>
            <a:endParaRPr lang="bg-BG" dirty="0" smtClean="0">
              <a:solidFill>
                <a:schemeClr val="tx1"/>
              </a:solidFill>
            </a:endParaRPr>
          </a:p>
        </p:txBody>
      </p:sp>
      <p:sp>
        <p:nvSpPr>
          <p:cNvPr id="4" name="Date Placeholder 3"/>
          <p:cNvSpPr>
            <a:spLocks noGrp="1"/>
          </p:cNvSpPr>
          <p:nvPr>
            <p:ph type="dt" sz="half" idx="10"/>
          </p:nvPr>
        </p:nvSpPr>
        <p:spPr/>
        <p:txBody>
          <a:bodyPr/>
          <a:lstStyle/>
          <a:p>
            <a:r>
              <a:rPr lang="bg-BG" altLang="bg-BG" smtClean="0"/>
              <a:t>Юлиана Пенева</a:t>
            </a:r>
            <a:endParaRPr lang="bg-BG" altLang="bg-BG"/>
          </a:p>
        </p:txBody>
      </p:sp>
      <p:sp>
        <p:nvSpPr>
          <p:cNvPr id="5" name="Footer Placeholder 4"/>
          <p:cNvSpPr>
            <a:spLocks noGrp="1"/>
          </p:cNvSpPr>
          <p:nvPr>
            <p:ph type="ftr" sz="quarter" idx="11"/>
          </p:nvPr>
        </p:nvSpPr>
        <p:spPr/>
        <p:txBody>
          <a:bodyPr/>
          <a:lstStyle/>
          <a:p>
            <a:r>
              <a:rPr lang="en-US" altLang="bg-BG" smtClean="0"/>
              <a:t>CSCB405 - </a:t>
            </a:r>
            <a:r>
              <a:rPr lang="bg-BG" altLang="bg-BG" smtClean="0"/>
              <a:t>модул 8</a:t>
            </a:r>
            <a:endParaRPr lang="bg-BG" altLang="bg-BG"/>
          </a:p>
        </p:txBody>
      </p:sp>
      <p:sp>
        <p:nvSpPr>
          <p:cNvPr id="6" name="Slide Number Placeholder 5"/>
          <p:cNvSpPr>
            <a:spLocks noGrp="1"/>
          </p:cNvSpPr>
          <p:nvPr>
            <p:ph type="sldNum" sz="quarter" idx="12"/>
          </p:nvPr>
        </p:nvSpPr>
        <p:spPr/>
        <p:txBody>
          <a:bodyPr/>
          <a:lstStyle/>
          <a:p>
            <a:fld id="{74EE3BFA-F3F3-428D-9946-02BF70619056}" type="slidenum">
              <a:rPr lang="bg-BG" altLang="bg-BG" smtClean="0"/>
              <a:pPr/>
              <a:t>61</a:t>
            </a:fld>
            <a:endParaRPr lang="bg-BG" altLang="bg-BG"/>
          </a:p>
        </p:txBody>
      </p:sp>
    </p:spTree>
    <p:extLst>
      <p:ext uri="{BB962C8B-B14F-4D97-AF65-F5344CB8AC3E}">
        <p14:creationId xmlns:p14="http://schemas.microsoft.com/office/powerpoint/2010/main" val="3011343534"/>
      </p:ext>
    </p:extLst>
  </p:cSld>
  <p:clrMapOvr>
    <a:masterClrMapping/>
  </p:clrMapOvr>
  <p:transition>
    <p:fade/>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NewsPrint">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NewsPrint">
      <a:majorFont>
        <a:latin typeface="Impact"/>
        <a:ea typeface=""/>
        <a:cs typeface=""/>
        <a:font script="Jpan" typeface="HGP創英角ｺﾞｼｯｸUB"/>
        <a:font script="Hang" typeface="HY견고딕"/>
        <a:font script="Hans" typeface="微软雅黑"/>
        <a:font script="Hant" typeface="微軟正黑體"/>
        <a:font script="Arab" typeface="Tahoma"/>
        <a:font script="Hebr" typeface="To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NewsPrint">
      <a:fillStyleLst>
        <a:solidFill>
          <a:schemeClr val="phClr"/>
        </a:solidFill>
        <a:gradFill rotWithShape="1">
          <a:gsLst>
            <a:gs pos="0">
              <a:schemeClr val="phClr">
                <a:tint val="37000"/>
                <a:hueMod val="100000"/>
                <a:satMod val="200000"/>
                <a:lumMod val="88000"/>
              </a:schemeClr>
            </a:gs>
            <a:gs pos="100000">
              <a:schemeClr val="phClr">
                <a:tint val="53000"/>
                <a:shade val="100000"/>
                <a:hueMod val="100000"/>
                <a:satMod val="350000"/>
                <a:lumMod val="79000"/>
              </a:schemeClr>
            </a:gs>
          </a:gsLst>
          <a:lin ang="5400000" scaled="1"/>
        </a:gradFill>
        <a:gradFill rotWithShape="1">
          <a:gsLst>
            <a:gs pos="0">
              <a:schemeClr val="phClr">
                <a:tint val="83000"/>
                <a:shade val="100000"/>
                <a:alpha val="100000"/>
                <a:hueMod val="100000"/>
                <a:satMod val="220000"/>
                <a:lumMod val="90000"/>
              </a:schemeClr>
            </a:gs>
            <a:gs pos="76000">
              <a:schemeClr val="phClr">
                <a:shade val="100000"/>
              </a:schemeClr>
            </a:gs>
            <a:gs pos="100000">
              <a:schemeClr val="phClr">
                <a:shade val="93000"/>
                <a:alpha val="100000"/>
                <a:satMod val="100000"/>
                <a:lumMod val="93000"/>
              </a:schemeClr>
            </a:gs>
          </a:gsLst>
          <a:path path="circle">
            <a:fillToRect l="15000" t="15000" r="100000" b="100000"/>
          </a:path>
        </a:gradFill>
      </a:fillStyleLst>
      <a:lnStyleLst>
        <a:ln w="15875" cap="flat" cmpd="sng" algn="ctr">
          <a:solidFill>
            <a:schemeClr val="phClr"/>
          </a:solidFill>
          <a:prstDash val="solid"/>
        </a:ln>
        <a:ln w="22225" cap="flat" cmpd="sng" algn="ctr">
          <a:solidFill>
            <a:schemeClr val="phClr"/>
          </a:solidFill>
          <a:prstDash val="solid"/>
        </a:ln>
        <a:ln w="34925" cap="flat" cmpd="sng" algn="ctr">
          <a:solidFill>
            <a:schemeClr val="phClr"/>
          </a:solidFill>
          <a:prstDash val="solid"/>
        </a:ln>
      </a:lnStyleLst>
      <a:effectStyleLst>
        <a:effectStyle>
          <a:effectLst>
            <a:outerShdw blurRad="50800" dist="12700" dir="5280000" rotWithShape="0">
              <a:srgbClr val="000000">
                <a:alpha val="40000"/>
              </a:srgbClr>
            </a:outerShdw>
          </a:effectLst>
        </a:effectStyle>
        <a:effectStyle>
          <a:effectLst>
            <a:outerShdw blurRad="38100" dist="38100" dir="5400000" rotWithShape="0">
              <a:srgbClr val="000000">
                <a:alpha val="35000"/>
              </a:srgbClr>
            </a:outerShdw>
          </a:effectLst>
        </a:effectStyle>
        <a:effectStyle>
          <a:effectLst>
            <a:outerShdw blurRad="38100" dist="38100" dir="5400000" rotWithShape="0">
              <a:srgbClr val="000000">
                <a:alpha val="35000"/>
              </a:srgbClr>
            </a:outerShdw>
          </a:effectLst>
          <a:scene3d>
            <a:camera prst="orthographicFront">
              <a:rot lat="0" lon="0" rev="0"/>
            </a:camera>
            <a:lightRig rig="brightRoom" dir="tl"/>
          </a:scene3d>
          <a:sp3d contourW="12700">
            <a:bevelT w="31750" h="12700"/>
            <a:contourClr>
              <a:schemeClr val="phClr"/>
            </a:contourClr>
          </a:sp3d>
        </a:effectStyle>
      </a:effectStyleLst>
      <a:bgFillStyleLst>
        <a:solidFill>
          <a:schemeClr val="phClr"/>
        </a:solidFill>
        <a:gradFill rotWithShape="1">
          <a:gsLst>
            <a:gs pos="0">
              <a:schemeClr val="phClr">
                <a:tint val="93000"/>
              </a:schemeClr>
            </a:gs>
            <a:gs pos="100000">
              <a:schemeClr val="phClr">
                <a:shade val="55000"/>
              </a:schemeClr>
            </a:gs>
          </a:gsLst>
          <a:lin ang="5400000" scaled="1"/>
        </a:gradFill>
        <a:blipFill rotWithShape="1">
          <a:blip xmlns:r="http://schemas.openxmlformats.org/officeDocument/2006/relationships" r:embed="rId1">
            <a:duotone>
              <a:schemeClr val="phClr">
                <a:shade val="20000"/>
                <a:satMod val="350000"/>
                <a:lumMod val="125000"/>
              </a:schemeClr>
              <a:schemeClr val="phClr">
                <a:tint val="90000"/>
                <a:satMod val="250000"/>
              </a:schemeClr>
            </a:duotone>
          </a:blip>
          <a:stretch/>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Newsprint</Template>
  <TotalTime>12579</TotalTime>
  <Words>4666</Words>
  <Application>Microsoft Office PowerPoint</Application>
  <PresentationFormat>On-screen Show (4:3)</PresentationFormat>
  <Paragraphs>509</Paragraphs>
  <Slides>61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61</vt:i4>
      </vt:variant>
    </vt:vector>
  </HeadingPairs>
  <TitlesOfParts>
    <vt:vector size="68" baseType="lpstr">
      <vt:lpstr>Arial</vt:lpstr>
      <vt:lpstr>Arial Narrow</vt:lpstr>
      <vt:lpstr>Courier New</vt:lpstr>
      <vt:lpstr>Impact</vt:lpstr>
      <vt:lpstr>Times New Roman</vt:lpstr>
      <vt:lpstr>Wingdings</vt:lpstr>
      <vt:lpstr>NewsPrint</vt:lpstr>
      <vt:lpstr>CSCB405 Бази от данни и СУБД  Модул 8: Физическа организация на базите от данни</vt:lpstr>
      <vt:lpstr>Съдържание </vt:lpstr>
      <vt:lpstr>Процесът „проектиране на физическата база“</vt:lpstr>
      <vt:lpstr>Процесът „проектиране на физическата база“</vt:lpstr>
      <vt:lpstr>Процесът „проектиране на физическата база“</vt:lpstr>
      <vt:lpstr>Процесът „проектиране на физическата база“</vt:lpstr>
      <vt:lpstr>Процесът „проектиране на физическата база“</vt:lpstr>
      <vt:lpstr>Елементи на физическата база от данни</vt:lpstr>
      <vt:lpstr>Елементи на физическата база от данни</vt:lpstr>
      <vt:lpstr>Елементи на физическата база от данни</vt:lpstr>
      <vt:lpstr>Елементи на физическата база от данни</vt:lpstr>
      <vt:lpstr>Елементи на физическата база от данни</vt:lpstr>
      <vt:lpstr>Елементи на физическата база от данни</vt:lpstr>
      <vt:lpstr>Елементи на физическата база от данни</vt:lpstr>
      <vt:lpstr>Елементи на физическата база от данни</vt:lpstr>
      <vt:lpstr>Елементи на физическата база от данни</vt:lpstr>
      <vt:lpstr>Елементи на физическата база от данни</vt:lpstr>
      <vt:lpstr> Елементи на физическата база от данни</vt:lpstr>
      <vt:lpstr>Елементи на физическата база от данни</vt:lpstr>
      <vt:lpstr>Елементи на физическата база от данни</vt:lpstr>
      <vt:lpstr>Видове файлови организации</vt:lpstr>
      <vt:lpstr>Видове файлови организации</vt:lpstr>
      <vt:lpstr>Видове файлови организации</vt:lpstr>
      <vt:lpstr>Видове файлови организации</vt:lpstr>
      <vt:lpstr>Видове файлови организации</vt:lpstr>
      <vt:lpstr>Видове файлови организации</vt:lpstr>
      <vt:lpstr>Видове файлови организации</vt:lpstr>
      <vt:lpstr>Видове файлови организации</vt:lpstr>
      <vt:lpstr>Видове файлови организации</vt:lpstr>
      <vt:lpstr>Видове файлови организации</vt:lpstr>
      <vt:lpstr>Видове файлови организации</vt:lpstr>
      <vt:lpstr>Видове файлови организации</vt:lpstr>
      <vt:lpstr>Видове файлови организации</vt:lpstr>
      <vt:lpstr>Видове файлови организации</vt:lpstr>
      <vt:lpstr>Видове файлови организации</vt:lpstr>
      <vt:lpstr>Видове файлови организации</vt:lpstr>
      <vt:lpstr>Видове файлови организации</vt:lpstr>
      <vt:lpstr>Методи за проектиране на физическата база</vt:lpstr>
      <vt:lpstr>Методи за проектиране на физическата база</vt:lpstr>
      <vt:lpstr>Методи за проектиране на физическата база</vt:lpstr>
      <vt:lpstr>Методи за проектиране на физическата база</vt:lpstr>
      <vt:lpstr>Методи за проектиране на физическата база</vt:lpstr>
      <vt:lpstr>Методи за проектиране на физическата база</vt:lpstr>
      <vt:lpstr>Методи за проектиране на физическата база</vt:lpstr>
      <vt:lpstr>Методи за проектиране на физическата база</vt:lpstr>
      <vt:lpstr>Методи за проектиране на физическата база</vt:lpstr>
      <vt:lpstr>Методи за проектиране на физическата база</vt:lpstr>
      <vt:lpstr>Методи за проектиране на физическата база</vt:lpstr>
      <vt:lpstr>Методи за проектиране на физическата база</vt:lpstr>
      <vt:lpstr>Методи за проектиране на физическата база</vt:lpstr>
      <vt:lpstr>Методи за проектиране на физическата база</vt:lpstr>
      <vt:lpstr>Методи за проектиране на физическата база</vt:lpstr>
      <vt:lpstr>Методи за проектиране на физическата база</vt:lpstr>
      <vt:lpstr>Методи за проектиране на физическата база</vt:lpstr>
      <vt:lpstr>Методи за проектиране на физическата база</vt:lpstr>
      <vt:lpstr>Методи за проектиране на физическата база</vt:lpstr>
      <vt:lpstr>Методи за проектиране на физическата база</vt:lpstr>
      <vt:lpstr>Методи за проектиране на физическата база</vt:lpstr>
      <vt:lpstr>Фактори при проектиране на физическата база</vt:lpstr>
      <vt:lpstr>Фактори при проектиране на физическата база</vt:lpstr>
      <vt:lpstr>Фактори при проектиране на физическата база</vt:lpstr>
    </vt:vector>
  </TitlesOfParts>
  <Company>NBU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INFB586 Module 1</dc:title>
  <dc:subject>Files&amp;databases</dc:subject>
  <dc:creator>July Peneva</dc:creator>
  <cp:lastModifiedBy>Windows User</cp:lastModifiedBy>
  <cp:revision>319</cp:revision>
  <dcterms:created xsi:type="dcterms:W3CDTF">2006-09-20T15:43:40Z</dcterms:created>
  <dcterms:modified xsi:type="dcterms:W3CDTF">2018-12-29T06:22:21Z</dcterms:modified>
</cp:coreProperties>
</file>