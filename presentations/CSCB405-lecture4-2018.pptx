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76"/>
  </p:notesMasterIdLst>
  <p:handoutMasterIdLst>
    <p:handoutMasterId r:id="rId77"/>
  </p:handoutMasterIdLst>
  <p:sldIdLst>
    <p:sldId id="256" r:id="rId2"/>
    <p:sldId id="257" r:id="rId3"/>
    <p:sldId id="258" r:id="rId4"/>
    <p:sldId id="358" r:id="rId5"/>
    <p:sldId id="347" r:id="rId6"/>
    <p:sldId id="259" r:id="rId7"/>
    <p:sldId id="260" r:id="rId8"/>
    <p:sldId id="357" r:id="rId9"/>
    <p:sldId id="263" r:id="rId10"/>
    <p:sldId id="312" r:id="rId11"/>
    <p:sldId id="313" r:id="rId12"/>
    <p:sldId id="264" r:id="rId13"/>
    <p:sldId id="317" r:id="rId14"/>
    <p:sldId id="318" r:id="rId15"/>
    <p:sldId id="282" r:id="rId16"/>
    <p:sldId id="315" r:id="rId17"/>
    <p:sldId id="314"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19" r:id="rId40"/>
    <p:sldId id="320" r:id="rId41"/>
    <p:sldId id="321" r:id="rId42"/>
    <p:sldId id="322" r:id="rId43"/>
    <p:sldId id="323" r:id="rId44"/>
    <p:sldId id="324" r:id="rId45"/>
    <p:sldId id="325" r:id="rId46"/>
    <p:sldId id="327" r:id="rId47"/>
    <p:sldId id="328" r:id="rId48"/>
    <p:sldId id="329" r:id="rId49"/>
    <p:sldId id="330" r:id="rId50"/>
    <p:sldId id="331" r:id="rId51"/>
    <p:sldId id="332" r:id="rId52"/>
    <p:sldId id="333" r:id="rId53"/>
    <p:sldId id="334" r:id="rId54"/>
    <p:sldId id="335" r:id="rId55"/>
    <p:sldId id="336" r:id="rId56"/>
    <p:sldId id="348" r:id="rId57"/>
    <p:sldId id="337" r:id="rId58"/>
    <p:sldId id="338" r:id="rId59"/>
    <p:sldId id="349" r:id="rId60"/>
    <p:sldId id="339" r:id="rId61"/>
    <p:sldId id="350" r:id="rId62"/>
    <p:sldId id="351" r:id="rId63"/>
    <p:sldId id="352" r:id="rId64"/>
    <p:sldId id="353" r:id="rId65"/>
    <p:sldId id="354" r:id="rId66"/>
    <p:sldId id="355" r:id="rId67"/>
    <p:sldId id="356" r:id="rId68"/>
    <p:sldId id="360" r:id="rId69"/>
    <p:sldId id="340" r:id="rId70"/>
    <p:sldId id="343" r:id="rId71"/>
    <p:sldId id="359" r:id="rId72"/>
    <p:sldId id="344" r:id="rId73"/>
    <p:sldId id="345" r:id="rId74"/>
    <p:sldId id="346" r:id="rId75"/>
  </p:sldIdLst>
  <p:sldSz cx="9144000" cy="6858000" type="screen4x3"/>
  <p:notesSz cx="6858000" cy="9144000"/>
  <p:defaultTextStyle>
    <a:defPPr>
      <a:defRPr lang="bg-BG"/>
    </a:defPPr>
    <a:lvl1pPr algn="r" rtl="0" fontAlgn="base">
      <a:spcBef>
        <a:spcPct val="0"/>
      </a:spcBef>
      <a:spcAft>
        <a:spcPct val="0"/>
      </a:spcAft>
      <a:defRPr sz="3200" kern="1200">
        <a:solidFill>
          <a:schemeClr val="tx1"/>
        </a:solidFill>
        <a:latin typeface="Arial Narrow" pitchFamily="34" charset="0"/>
        <a:ea typeface="+mn-ea"/>
        <a:cs typeface="+mn-cs"/>
      </a:defRPr>
    </a:lvl1pPr>
    <a:lvl2pPr marL="457200" algn="r" rtl="0" fontAlgn="base">
      <a:spcBef>
        <a:spcPct val="0"/>
      </a:spcBef>
      <a:spcAft>
        <a:spcPct val="0"/>
      </a:spcAft>
      <a:defRPr sz="3200" kern="1200">
        <a:solidFill>
          <a:schemeClr val="tx1"/>
        </a:solidFill>
        <a:latin typeface="Arial Narrow" pitchFamily="34" charset="0"/>
        <a:ea typeface="+mn-ea"/>
        <a:cs typeface="+mn-cs"/>
      </a:defRPr>
    </a:lvl2pPr>
    <a:lvl3pPr marL="914400" algn="r" rtl="0" fontAlgn="base">
      <a:spcBef>
        <a:spcPct val="0"/>
      </a:spcBef>
      <a:spcAft>
        <a:spcPct val="0"/>
      </a:spcAft>
      <a:defRPr sz="3200" kern="1200">
        <a:solidFill>
          <a:schemeClr val="tx1"/>
        </a:solidFill>
        <a:latin typeface="Arial Narrow" pitchFamily="34" charset="0"/>
        <a:ea typeface="+mn-ea"/>
        <a:cs typeface="+mn-cs"/>
      </a:defRPr>
    </a:lvl3pPr>
    <a:lvl4pPr marL="1371600" algn="r" rtl="0" fontAlgn="base">
      <a:spcBef>
        <a:spcPct val="0"/>
      </a:spcBef>
      <a:spcAft>
        <a:spcPct val="0"/>
      </a:spcAft>
      <a:defRPr sz="3200" kern="1200">
        <a:solidFill>
          <a:schemeClr val="tx1"/>
        </a:solidFill>
        <a:latin typeface="Arial Narrow" pitchFamily="34" charset="0"/>
        <a:ea typeface="+mn-ea"/>
        <a:cs typeface="+mn-cs"/>
      </a:defRPr>
    </a:lvl4pPr>
    <a:lvl5pPr marL="1828800" algn="r" rtl="0" fontAlgn="base">
      <a:spcBef>
        <a:spcPct val="0"/>
      </a:spcBef>
      <a:spcAft>
        <a:spcPct val="0"/>
      </a:spcAft>
      <a:defRPr sz="3200" kern="1200">
        <a:solidFill>
          <a:schemeClr val="tx1"/>
        </a:solidFill>
        <a:latin typeface="Arial Narrow" pitchFamily="34" charset="0"/>
        <a:ea typeface="+mn-ea"/>
        <a:cs typeface="+mn-cs"/>
      </a:defRPr>
    </a:lvl5pPr>
    <a:lvl6pPr marL="2286000" algn="l" defTabSz="914400" rtl="0" eaLnBrk="1" latinLnBrk="0" hangingPunct="1">
      <a:defRPr sz="3200" kern="1200">
        <a:solidFill>
          <a:schemeClr val="tx1"/>
        </a:solidFill>
        <a:latin typeface="Arial Narrow" pitchFamily="34" charset="0"/>
        <a:ea typeface="+mn-ea"/>
        <a:cs typeface="+mn-cs"/>
      </a:defRPr>
    </a:lvl6pPr>
    <a:lvl7pPr marL="2743200" algn="l" defTabSz="914400" rtl="0" eaLnBrk="1" latinLnBrk="0" hangingPunct="1">
      <a:defRPr sz="3200" kern="1200">
        <a:solidFill>
          <a:schemeClr val="tx1"/>
        </a:solidFill>
        <a:latin typeface="Arial Narrow" pitchFamily="34" charset="0"/>
        <a:ea typeface="+mn-ea"/>
        <a:cs typeface="+mn-cs"/>
      </a:defRPr>
    </a:lvl7pPr>
    <a:lvl8pPr marL="3200400" algn="l" defTabSz="914400" rtl="0" eaLnBrk="1" latinLnBrk="0" hangingPunct="1">
      <a:defRPr sz="3200" kern="1200">
        <a:solidFill>
          <a:schemeClr val="tx1"/>
        </a:solidFill>
        <a:latin typeface="Arial Narrow" pitchFamily="34" charset="0"/>
        <a:ea typeface="+mn-ea"/>
        <a:cs typeface="+mn-cs"/>
      </a:defRPr>
    </a:lvl8pPr>
    <a:lvl9pPr marL="3657600" algn="l" defTabSz="914400" rtl="0" eaLnBrk="1" latinLnBrk="0" hangingPunct="1">
      <a:defRPr sz="3200"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75" autoAdjust="0"/>
    <p:restoredTop sz="94636" autoAdjust="0"/>
  </p:normalViewPr>
  <p:slideViewPr>
    <p:cSldViewPr>
      <p:cViewPr varScale="1">
        <p:scale>
          <a:sx n="117" d="100"/>
          <a:sy n="117" d="100"/>
        </p:scale>
        <p:origin x="738"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142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endParaRPr lang="bg-BG" altLang="bg-BG"/>
          </a:p>
        </p:txBody>
      </p:sp>
      <p:sp>
        <p:nvSpPr>
          <p:cNvPr id="11981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bg-BG" altLang="bg-BG"/>
          </a:p>
        </p:txBody>
      </p:sp>
      <p:sp>
        <p:nvSpPr>
          <p:cNvPr id="11981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endParaRPr lang="bg-BG" altLang="bg-BG"/>
          </a:p>
        </p:txBody>
      </p:sp>
      <p:sp>
        <p:nvSpPr>
          <p:cNvPr id="11981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fld id="{E1B1384B-D7BF-4A02-ACC3-06F944F74105}" type="slidenum">
              <a:rPr lang="bg-BG" altLang="bg-BG"/>
              <a:pPr/>
              <a:t>‹#›</a:t>
            </a:fld>
            <a:endParaRPr lang="bg-BG" altLang="bg-BG"/>
          </a:p>
        </p:txBody>
      </p:sp>
    </p:spTree>
    <p:extLst>
      <p:ext uri="{BB962C8B-B14F-4D97-AF65-F5344CB8AC3E}">
        <p14:creationId xmlns:p14="http://schemas.microsoft.com/office/powerpoint/2010/main" val="1893759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endParaRPr lang="bg-BG" altLang="bg-BG"/>
          </a:p>
        </p:txBody>
      </p:sp>
      <p:sp>
        <p:nvSpPr>
          <p:cNvPr id="983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bg-BG" altLang="bg-BG"/>
          </a:p>
        </p:txBody>
      </p:sp>
      <p:sp>
        <p:nvSpPr>
          <p:cNvPr id="983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83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bg-BG" altLang="bg-BG" smtClean="0"/>
              <a:t>Click to edit Master text styles</a:t>
            </a:r>
          </a:p>
          <a:p>
            <a:pPr lvl="1"/>
            <a:r>
              <a:rPr lang="bg-BG" altLang="bg-BG" smtClean="0"/>
              <a:t>Second level</a:t>
            </a:r>
          </a:p>
          <a:p>
            <a:pPr lvl="2"/>
            <a:r>
              <a:rPr lang="bg-BG" altLang="bg-BG" smtClean="0"/>
              <a:t>Third level</a:t>
            </a:r>
          </a:p>
          <a:p>
            <a:pPr lvl="3"/>
            <a:r>
              <a:rPr lang="bg-BG" altLang="bg-BG" smtClean="0"/>
              <a:t>Fourth level</a:t>
            </a:r>
          </a:p>
          <a:p>
            <a:pPr lvl="4"/>
            <a:r>
              <a:rPr lang="bg-BG" altLang="bg-BG" smtClean="0"/>
              <a:t>Fifth level</a:t>
            </a:r>
          </a:p>
        </p:txBody>
      </p:sp>
      <p:sp>
        <p:nvSpPr>
          <p:cNvPr id="983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endParaRPr lang="bg-BG" altLang="bg-BG"/>
          </a:p>
        </p:txBody>
      </p:sp>
      <p:sp>
        <p:nvSpPr>
          <p:cNvPr id="983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fld id="{970E32D0-7920-4A71-99BA-D2333D874D6B}" type="slidenum">
              <a:rPr lang="bg-BG" altLang="bg-BG"/>
              <a:pPr/>
              <a:t>‹#›</a:t>
            </a:fld>
            <a:endParaRPr lang="bg-BG" altLang="bg-BG"/>
          </a:p>
        </p:txBody>
      </p:sp>
    </p:spTree>
    <p:extLst>
      <p:ext uri="{BB962C8B-B14F-4D97-AF65-F5344CB8AC3E}">
        <p14:creationId xmlns:p14="http://schemas.microsoft.com/office/powerpoint/2010/main" val="405354852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bg-BG" altLang="bg-BG" smtClean="0"/>
              <a:t>CSCB405- модул4</a:t>
            </a:r>
            <a:endParaRPr lang="bg-BG" altLang="bg-BG"/>
          </a:p>
        </p:txBody>
      </p:sp>
      <p:sp>
        <p:nvSpPr>
          <p:cNvPr id="6" name="Slide Number Placeholder 5"/>
          <p:cNvSpPr>
            <a:spLocks noGrp="1"/>
          </p:cNvSpPr>
          <p:nvPr>
            <p:ph type="sldNum" sz="quarter" idx="12"/>
          </p:nvPr>
        </p:nvSpPr>
        <p:spPr/>
        <p:txBody>
          <a:bodyPr/>
          <a:lstStyle/>
          <a:p>
            <a:fld id="{F4358E4A-08A8-46B2-B023-84D72BCA5A84}" type="slidenum">
              <a:rPr lang="bg-BG" altLang="bg-BG" smtClean="0"/>
              <a:pPr/>
              <a:t>‹#›</a:t>
            </a:fld>
            <a:endParaRPr lang="bg-BG" altLang="bg-BG"/>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bg-BG" altLang="bg-BG" smtClean="0"/>
              <a:t>CSCB405- модул4</a:t>
            </a:r>
            <a:endParaRPr lang="bg-BG" altLang="bg-BG"/>
          </a:p>
        </p:txBody>
      </p:sp>
      <p:sp>
        <p:nvSpPr>
          <p:cNvPr id="6" name="Slide Number Placeholder 5"/>
          <p:cNvSpPr>
            <a:spLocks noGrp="1"/>
          </p:cNvSpPr>
          <p:nvPr>
            <p:ph type="sldNum" sz="quarter" idx="12"/>
          </p:nvPr>
        </p:nvSpPr>
        <p:spPr/>
        <p:txBody>
          <a:bodyPr/>
          <a:lstStyle/>
          <a:p>
            <a:fld id="{99688D26-1205-436F-994D-13A23CADDF28}"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l">
              <a:defRPr sz="54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bg-BG" altLang="bg-BG" smtClean="0"/>
              <a:t>CSCB405- модул4</a:t>
            </a:r>
            <a:endParaRPr lang="bg-BG" altLang="bg-BG"/>
          </a:p>
        </p:txBody>
      </p:sp>
      <p:sp>
        <p:nvSpPr>
          <p:cNvPr id="6" name="Slide Number Placeholder 5"/>
          <p:cNvSpPr>
            <a:spLocks noGrp="1"/>
          </p:cNvSpPr>
          <p:nvPr>
            <p:ph type="sldNum" sz="quarter" idx="12"/>
          </p:nvPr>
        </p:nvSpPr>
        <p:spPr/>
        <p:txBody>
          <a:bodyPr/>
          <a:lstStyle/>
          <a:p>
            <a:fld id="{6598695C-7C83-46A9-BCCE-C6580192221F}" type="slidenum">
              <a:rPr lang="bg-BG" altLang="bg-BG" smtClean="0"/>
              <a:pPr/>
              <a:t>‹#›</a:t>
            </a:fld>
            <a:endParaRPr lang="bg-BG" altLang="bg-BG"/>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bg-BG" altLang="bg-BG" smtClean="0"/>
              <a:t>Юлиана Пенева</a:t>
            </a:r>
            <a:endParaRPr lang="bg-BG" altLang="bg-BG"/>
          </a:p>
        </p:txBody>
      </p:sp>
      <p:sp>
        <p:nvSpPr>
          <p:cNvPr id="6" name="Footer Placeholder 5"/>
          <p:cNvSpPr>
            <a:spLocks noGrp="1"/>
          </p:cNvSpPr>
          <p:nvPr>
            <p:ph type="ftr" sz="quarter" idx="11"/>
          </p:nvPr>
        </p:nvSpPr>
        <p:spPr/>
        <p:txBody>
          <a:bodyPr/>
          <a:lstStyle/>
          <a:p>
            <a:r>
              <a:rPr lang="bg-BG" altLang="bg-BG" smtClean="0"/>
              <a:t>CSCB405- модул4</a:t>
            </a:r>
            <a:endParaRPr lang="bg-BG" altLang="bg-BG"/>
          </a:p>
        </p:txBody>
      </p:sp>
      <p:sp>
        <p:nvSpPr>
          <p:cNvPr id="7" name="Slide Number Placeholder 6"/>
          <p:cNvSpPr>
            <a:spLocks noGrp="1"/>
          </p:cNvSpPr>
          <p:nvPr>
            <p:ph type="sldNum" sz="quarter" idx="12"/>
          </p:nvPr>
        </p:nvSpPr>
        <p:spPr/>
        <p:txBody>
          <a:bodyPr/>
          <a:lstStyle/>
          <a:p>
            <a:fld id="{B41CE1E4-D60B-4C2B-99A8-4D09DFAB4378}"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bg-BG" altLang="bg-BG" smtClean="0"/>
              <a:t>Юлиана Пенева</a:t>
            </a:r>
            <a:endParaRPr lang="bg-BG" altLang="bg-BG"/>
          </a:p>
        </p:txBody>
      </p:sp>
      <p:sp>
        <p:nvSpPr>
          <p:cNvPr id="8" name="Footer Placeholder 7"/>
          <p:cNvSpPr>
            <a:spLocks noGrp="1"/>
          </p:cNvSpPr>
          <p:nvPr>
            <p:ph type="ftr" sz="quarter" idx="11"/>
          </p:nvPr>
        </p:nvSpPr>
        <p:spPr/>
        <p:txBody>
          <a:bodyPr/>
          <a:lstStyle/>
          <a:p>
            <a:r>
              <a:rPr lang="bg-BG" altLang="bg-BG" smtClean="0"/>
              <a:t>CSCB405- модул4</a:t>
            </a:r>
            <a:endParaRPr lang="bg-BG" altLang="bg-BG"/>
          </a:p>
        </p:txBody>
      </p:sp>
      <p:sp>
        <p:nvSpPr>
          <p:cNvPr id="9" name="Slide Number Placeholder 8"/>
          <p:cNvSpPr>
            <a:spLocks noGrp="1"/>
          </p:cNvSpPr>
          <p:nvPr>
            <p:ph type="sldNum" sz="quarter" idx="12"/>
          </p:nvPr>
        </p:nvSpPr>
        <p:spPr/>
        <p:txBody>
          <a:bodyPr/>
          <a:lstStyle/>
          <a:p>
            <a:fld id="{E432D7AC-DB58-435D-879B-B6CE92C25343}" type="slidenum">
              <a:rPr lang="bg-BG" altLang="bg-BG" smtClean="0"/>
              <a:pPr/>
              <a:t>‹#›</a:t>
            </a:fld>
            <a:endParaRPr lang="bg-BG" altLang="bg-BG"/>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r>
              <a:rPr lang="bg-BG" altLang="bg-BG" smtClean="0"/>
              <a:t>Юлиана Пенева</a:t>
            </a:r>
            <a:endParaRPr lang="bg-BG" altLang="bg-BG"/>
          </a:p>
        </p:txBody>
      </p:sp>
      <p:sp>
        <p:nvSpPr>
          <p:cNvPr id="4" name="Footer Placeholder 3"/>
          <p:cNvSpPr>
            <a:spLocks noGrp="1"/>
          </p:cNvSpPr>
          <p:nvPr>
            <p:ph type="ftr" sz="quarter" idx="11"/>
          </p:nvPr>
        </p:nvSpPr>
        <p:spPr/>
        <p:txBody>
          <a:bodyPr/>
          <a:lstStyle/>
          <a:p>
            <a:r>
              <a:rPr lang="bg-BG" altLang="bg-BG" smtClean="0"/>
              <a:t>CSCB405- модул4</a:t>
            </a:r>
            <a:endParaRPr lang="bg-BG" altLang="bg-BG"/>
          </a:p>
        </p:txBody>
      </p:sp>
      <p:sp>
        <p:nvSpPr>
          <p:cNvPr id="5" name="Slide Number Placeholder 4"/>
          <p:cNvSpPr>
            <a:spLocks noGrp="1"/>
          </p:cNvSpPr>
          <p:nvPr>
            <p:ph type="sldNum" sz="quarter" idx="12"/>
          </p:nvPr>
        </p:nvSpPr>
        <p:spPr/>
        <p:txBody>
          <a:bodyPr/>
          <a:lstStyle/>
          <a:p>
            <a:fld id="{B71AF987-406B-4820-AF46-790734504FD2}"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bg-BG" altLang="bg-BG" smtClean="0"/>
              <a:t>Юлиана Пенева</a:t>
            </a:r>
            <a:endParaRPr lang="bg-BG" altLang="bg-BG"/>
          </a:p>
        </p:txBody>
      </p:sp>
      <p:sp>
        <p:nvSpPr>
          <p:cNvPr id="3" name="Footer Placeholder 2"/>
          <p:cNvSpPr>
            <a:spLocks noGrp="1"/>
          </p:cNvSpPr>
          <p:nvPr>
            <p:ph type="ftr" sz="quarter" idx="11"/>
          </p:nvPr>
        </p:nvSpPr>
        <p:spPr/>
        <p:txBody>
          <a:bodyPr/>
          <a:lstStyle/>
          <a:p>
            <a:r>
              <a:rPr lang="bg-BG" altLang="bg-BG" smtClean="0"/>
              <a:t>CSCB405- модул4</a:t>
            </a:r>
            <a:endParaRPr lang="bg-BG" altLang="bg-BG"/>
          </a:p>
        </p:txBody>
      </p:sp>
      <p:sp>
        <p:nvSpPr>
          <p:cNvPr id="4" name="Slide Number Placeholder 3"/>
          <p:cNvSpPr>
            <a:spLocks noGrp="1"/>
          </p:cNvSpPr>
          <p:nvPr>
            <p:ph type="sldNum" sz="quarter" idx="12"/>
          </p:nvPr>
        </p:nvSpPr>
        <p:spPr/>
        <p:txBody>
          <a:bodyPr/>
          <a:lstStyle/>
          <a:p>
            <a:fld id="{EE0C5DCB-A9D2-480C-A0BD-B285B001D78B}"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en-US" smtClean="0"/>
              <a:t>Click to edit Master title style</a:t>
            </a:r>
            <a:endParaRPr lang="en-US"/>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bg-BG" altLang="bg-BG" smtClean="0"/>
              <a:t>Юлиана Пенева</a:t>
            </a:r>
            <a:endParaRPr lang="bg-BG" altLang="bg-BG"/>
          </a:p>
        </p:txBody>
      </p:sp>
      <p:sp>
        <p:nvSpPr>
          <p:cNvPr id="6" name="Footer Placeholder 5"/>
          <p:cNvSpPr>
            <a:spLocks noGrp="1"/>
          </p:cNvSpPr>
          <p:nvPr>
            <p:ph type="ftr" sz="quarter" idx="11"/>
          </p:nvPr>
        </p:nvSpPr>
        <p:spPr/>
        <p:txBody>
          <a:bodyPr/>
          <a:lstStyle/>
          <a:p>
            <a:r>
              <a:rPr lang="bg-BG" altLang="bg-BG" smtClean="0"/>
              <a:t>CSCB405- модул4</a:t>
            </a:r>
            <a:endParaRPr lang="bg-BG" altLang="bg-BG"/>
          </a:p>
        </p:txBody>
      </p:sp>
      <p:sp>
        <p:nvSpPr>
          <p:cNvPr id="7" name="Slide Number Placeholder 6"/>
          <p:cNvSpPr>
            <a:spLocks noGrp="1"/>
          </p:cNvSpPr>
          <p:nvPr>
            <p:ph type="sldNum" sz="quarter" idx="12"/>
          </p:nvPr>
        </p:nvSpPr>
        <p:spPr/>
        <p:txBody>
          <a:bodyPr/>
          <a:lstStyle/>
          <a:p>
            <a:fld id="{8099040D-853B-4E8C-BCFE-B53C5C7D0663}" type="slidenum">
              <a:rPr lang="bg-BG" altLang="bg-BG" smtClean="0"/>
              <a:pPr/>
              <a:t>‹#›</a:t>
            </a:fld>
            <a:endParaRPr lang="bg-BG" altLang="bg-BG"/>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en-US" smtClean="0"/>
              <a:t>Click to edit Master title style</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bg-BG" altLang="bg-BG" smtClean="0"/>
              <a:t>Юлиана Пенева</a:t>
            </a:r>
            <a:endParaRPr lang="bg-BG" altLang="bg-BG"/>
          </a:p>
        </p:txBody>
      </p:sp>
      <p:sp>
        <p:nvSpPr>
          <p:cNvPr id="6" name="Footer Placeholder 5"/>
          <p:cNvSpPr>
            <a:spLocks noGrp="1"/>
          </p:cNvSpPr>
          <p:nvPr>
            <p:ph type="ftr" sz="quarter" idx="11"/>
          </p:nvPr>
        </p:nvSpPr>
        <p:spPr/>
        <p:txBody>
          <a:bodyPr/>
          <a:lstStyle/>
          <a:p>
            <a:r>
              <a:rPr lang="bg-BG" altLang="bg-BG" smtClean="0"/>
              <a:t>CSCB405- модул4</a:t>
            </a:r>
            <a:endParaRPr lang="bg-BG" altLang="bg-BG"/>
          </a:p>
        </p:txBody>
      </p:sp>
      <p:sp>
        <p:nvSpPr>
          <p:cNvPr id="7" name="Slide Number Placeholder 6"/>
          <p:cNvSpPr>
            <a:spLocks noGrp="1"/>
          </p:cNvSpPr>
          <p:nvPr>
            <p:ph type="sldNum" sz="quarter" idx="12"/>
          </p:nvPr>
        </p:nvSpPr>
        <p:spPr/>
        <p:txBody>
          <a:bodyPr/>
          <a:lstStyle/>
          <a:p>
            <a:fld id="{874BFE3E-6578-4076-8676-34D379E88092}"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bg-BG" altLang="bg-BG" smtClean="0"/>
              <a:t>CSCB405- модул4</a:t>
            </a:r>
            <a:endParaRPr lang="bg-BG" altLang="bg-BG"/>
          </a:p>
        </p:txBody>
      </p:sp>
      <p:sp>
        <p:nvSpPr>
          <p:cNvPr id="6" name="Slide Number Placeholder 5"/>
          <p:cNvSpPr>
            <a:spLocks noGrp="1"/>
          </p:cNvSpPr>
          <p:nvPr>
            <p:ph type="sldNum" sz="quarter" idx="12"/>
          </p:nvPr>
        </p:nvSpPr>
        <p:spPr/>
        <p:txBody>
          <a:bodyPr/>
          <a:lstStyle/>
          <a:p>
            <a:fld id="{81BD9550-D201-4A3F-AAC5-93120EA35535}"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bg-BG" altLang="bg-BG" smtClean="0"/>
              <a:t>Юлиана Пенева</a:t>
            </a:r>
            <a:endParaRPr lang="bg-BG" altLang="bg-BG"/>
          </a:p>
        </p:txBody>
      </p:sp>
      <p:sp>
        <p:nvSpPr>
          <p:cNvPr id="5" name="Footer Placeholder 4"/>
          <p:cNvSpPr>
            <a:spLocks noGrp="1"/>
          </p:cNvSpPr>
          <p:nvPr>
            <p:ph type="ftr" sz="quarter" idx="11"/>
          </p:nvPr>
        </p:nvSpPr>
        <p:spPr/>
        <p:txBody>
          <a:bodyPr/>
          <a:lstStyle/>
          <a:p>
            <a:r>
              <a:rPr lang="bg-BG" altLang="bg-BG" smtClean="0"/>
              <a:t>CSCB405- модул4</a:t>
            </a:r>
            <a:endParaRPr lang="bg-BG" altLang="bg-BG"/>
          </a:p>
        </p:txBody>
      </p:sp>
      <p:sp>
        <p:nvSpPr>
          <p:cNvPr id="6" name="Slide Number Placeholder 5"/>
          <p:cNvSpPr>
            <a:spLocks noGrp="1"/>
          </p:cNvSpPr>
          <p:nvPr>
            <p:ph type="sldNum" sz="quarter" idx="12"/>
          </p:nvPr>
        </p:nvSpPr>
        <p:spPr/>
        <p:txBody>
          <a:bodyPr/>
          <a:lstStyle/>
          <a:p>
            <a:fld id="{D45445C4-7684-42B1-BDCB-E8D138A5104E}" type="slidenum">
              <a:rPr lang="bg-BG" altLang="bg-BG" smtClean="0"/>
              <a:pPr/>
              <a:t>‹#›</a:t>
            </a:fld>
            <a:endParaRPr lang="bg-BG" altLang="bg-BG"/>
          </a:p>
        </p:txBody>
      </p:sp>
    </p:spTree>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42913" y="103188"/>
            <a:ext cx="8243887" cy="1314450"/>
          </a:xfrm>
        </p:spPr>
        <p:txBody>
          <a:bodyPr/>
          <a:lstStyle/>
          <a:p>
            <a:r>
              <a:rPr lang="en-US" smtClean="0"/>
              <a:t>Click to edit Master title style</a:t>
            </a:r>
            <a:endParaRPr lang="bg-BG"/>
          </a:p>
        </p:txBody>
      </p:sp>
      <p:sp>
        <p:nvSpPr>
          <p:cNvPr id="3" name="Content Placeholder 2"/>
          <p:cNvSpPr>
            <a:spLocks noGrp="1"/>
          </p:cNvSpPr>
          <p:nvPr>
            <p:ph sz="half" idx="1"/>
          </p:nvPr>
        </p:nvSpPr>
        <p:spPr>
          <a:xfrm>
            <a:off x="457200" y="1600200"/>
            <a:ext cx="8229600" cy="21510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bg-BG"/>
          </a:p>
        </p:txBody>
      </p:sp>
      <p:sp>
        <p:nvSpPr>
          <p:cNvPr id="4" name="Text Placeholder 3"/>
          <p:cNvSpPr>
            <a:spLocks noGrp="1"/>
          </p:cNvSpPr>
          <p:nvPr>
            <p:ph type="body" sz="half" idx="2"/>
          </p:nvPr>
        </p:nvSpPr>
        <p:spPr>
          <a:xfrm>
            <a:off x="457200" y="3903663"/>
            <a:ext cx="8229600" cy="21526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bg-BG"/>
          </a:p>
        </p:txBody>
      </p:sp>
      <p:sp>
        <p:nvSpPr>
          <p:cNvPr id="5" name="Date Placeholder 4"/>
          <p:cNvSpPr>
            <a:spLocks noGrp="1"/>
          </p:cNvSpPr>
          <p:nvPr>
            <p:ph type="dt" sz="half" idx="10"/>
          </p:nvPr>
        </p:nvSpPr>
        <p:spPr>
          <a:xfrm>
            <a:off x="457200" y="6243638"/>
            <a:ext cx="2133600" cy="457200"/>
          </a:xfrm>
        </p:spPr>
        <p:txBody>
          <a:bodyPr/>
          <a:lstStyle>
            <a:lvl1pPr>
              <a:defRPr/>
            </a:lvl1pPr>
          </a:lstStyle>
          <a:p>
            <a:r>
              <a:rPr lang="bg-BG" altLang="bg-BG"/>
              <a:t>Юлиана Пенева</a:t>
            </a: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r>
              <a:rPr lang="bg-BG" altLang="bg-BG"/>
              <a:t>CSCB405- модул4</a:t>
            </a:r>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fld id="{81BC5282-E2EF-429C-9276-5038C8E2BFF7}" type="slidenum">
              <a:rPr lang="bg-BG" altLang="bg-BG"/>
              <a:pPr/>
              <a:t>‹#›</a:t>
            </a:fld>
            <a:endParaRPr lang="bg-BG" altLang="bg-BG"/>
          </a:p>
        </p:txBody>
      </p:sp>
    </p:spTree>
    <p:extLst>
      <p:ext uri="{BB962C8B-B14F-4D97-AF65-F5344CB8AC3E}">
        <p14:creationId xmlns:p14="http://schemas.microsoft.com/office/powerpoint/2010/main" val="75026151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r>
              <a:rPr lang="bg-BG" altLang="bg-BG" smtClean="0"/>
              <a:t>Юлиана Пенева</a:t>
            </a:r>
            <a:endParaRPr lang="bg-BG" altLang="bg-BG"/>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r>
              <a:rPr lang="bg-BG" altLang="bg-BG" smtClean="0"/>
              <a:t>CSCB405- модул4</a:t>
            </a:r>
            <a:endParaRPr lang="bg-BG" altLang="bg-BG"/>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0A71D474-A839-4C7E-AE9D-2ADF45ADE464}" type="slidenum">
              <a:rPr lang="bg-BG" altLang="bg-BG" smtClean="0"/>
              <a:pPr/>
              <a:t>‹#›</a:t>
            </a:fld>
            <a:endParaRPr lang="bg-BG" altLang="bg-BG"/>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05"/>
                                          </p:val>
                                        </p:tav>
                                        <p:tav tm="100000">
                                          <p:val>
                                            <p:strVal val="#ppt_y"/>
                                          </p:val>
                                        </p:tav>
                                      </p:tavLst>
                                    </p:anim>
                                  </p:childTnLst>
                                </p:cTn>
                              </p:par>
                              <p:par>
                                <p:cTn id="17" presetID="44"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anim calcmode="lin" valueType="num">
                                      <p:cBhvr>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1" end="1"/>
                                            </p:txEl>
                                          </p:spTgt>
                                        </p:tgtEl>
                                        <p:attrNameLst>
                                          <p:attrName>ppt_y</p:attrName>
                                        </p:attrNameLst>
                                      </p:cBhvr>
                                      <p:tavLst>
                                        <p:tav tm="0">
                                          <p:val>
                                            <p:strVal val="#ppt_y+.05"/>
                                          </p:val>
                                        </p:tav>
                                        <p:tav tm="100000">
                                          <p:val>
                                            <p:strVal val="#ppt_y"/>
                                          </p:val>
                                        </p:tav>
                                      </p:tavLst>
                                    </p:anim>
                                  </p:childTnLst>
                                </p:cTn>
                              </p:par>
                              <p:par>
                                <p:cTn id="22" presetID="44"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anim calcmode="lin" valueType="num">
                                      <p:cBhvr>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2" end="2"/>
                                            </p:txEl>
                                          </p:spTgt>
                                        </p:tgtEl>
                                        <p:attrNameLst>
                                          <p:attrName>ppt_y</p:attrName>
                                        </p:attrNameLst>
                                      </p:cBhvr>
                                      <p:tavLst>
                                        <p:tav tm="0">
                                          <p:val>
                                            <p:strVal val="#ppt_y+.05"/>
                                          </p:val>
                                        </p:tav>
                                        <p:tav tm="100000">
                                          <p:val>
                                            <p:strVal val="#ppt_y"/>
                                          </p:val>
                                        </p:tav>
                                      </p:tavLst>
                                    </p:anim>
                                  </p:childTnLst>
                                </p:cTn>
                              </p:par>
                              <p:par>
                                <p:cTn id="27" presetID="44"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anim calcmode="lin" valueType="num">
                                      <p:cBhvr>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3" end="3"/>
                                            </p:txEl>
                                          </p:spTgt>
                                        </p:tgtEl>
                                        <p:attrNameLst>
                                          <p:attrName>ppt_y</p:attrName>
                                        </p:attrNameLst>
                                      </p:cBhvr>
                                      <p:tavLst>
                                        <p:tav tm="0">
                                          <p:val>
                                            <p:strVal val="#ppt_y+.05"/>
                                          </p:val>
                                        </p:tav>
                                        <p:tav tm="100000">
                                          <p:val>
                                            <p:strVal val="#ppt_y"/>
                                          </p:val>
                                        </p:tav>
                                      </p:tavLst>
                                    </p:anim>
                                  </p:childTnLst>
                                </p:cTn>
                              </p:par>
                              <p:par>
                                <p:cTn id="32" presetID="44"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anim calcmode="lin" valueType="num">
                                      <p:cBhvr>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500" fill="hold"/>
                                        <p:tgtEl>
                                          <p:spTgt spid="3">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hf hdr="0"/>
  <p:txStyles>
    <p:titleStyle>
      <a:lvl1pPr algn="l" defTabSz="9144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ltLang="bg-BG" sz="3200" dirty="0">
                <a:solidFill>
                  <a:srgbClr val="FF0000"/>
                </a:solidFill>
              </a:rPr>
              <a:t>CSCB405 </a:t>
            </a:r>
            <a:r>
              <a:rPr lang="bg-BG" altLang="bg-BG" sz="3200" dirty="0">
                <a:solidFill>
                  <a:srgbClr val="FF0000"/>
                </a:solidFill>
              </a:rPr>
              <a:t>Бази от данни и </a:t>
            </a:r>
            <a:r>
              <a:rPr lang="bg-BG" altLang="bg-BG" sz="3200" dirty="0" smtClean="0">
                <a:solidFill>
                  <a:srgbClr val="FF0000"/>
                </a:solidFill>
              </a:rPr>
              <a:t>СУБД</a:t>
            </a:r>
            <a:r>
              <a:rPr lang="en-US" altLang="bg-BG" sz="3200" dirty="0" smtClean="0">
                <a:solidFill>
                  <a:srgbClr val="FF0000"/>
                </a:solidFill>
              </a:rPr>
              <a:t/>
            </a:r>
            <a:br>
              <a:rPr lang="en-US" altLang="bg-BG" sz="3200" dirty="0" smtClean="0">
                <a:solidFill>
                  <a:srgbClr val="FF0000"/>
                </a:solidFill>
              </a:rPr>
            </a:br>
            <a:r>
              <a:rPr lang="en-US" altLang="bg-BG" sz="3200" dirty="0" smtClean="0">
                <a:solidFill>
                  <a:srgbClr val="FF0000"/>
                </a:solidFill>
              </a:rPr>
              <a:t/>
            </a:r>
            <a:br>
              <a:rPr lang="en-US" altLang="bg-BG" sz="3200" dirty="0" smtClean="0">
                <a:solidFill>
                  <a:srgbClr val="FF0000"/>
                </a:solidFill>
              </a:rPr>
            </a:br>
            <a:r>
              <a:rPr lang="bg-BG" altLang="bg-BG" sz="3200" dirty="0" smtClean="0"/>
              <a:t>Модул </a:t>
            </a:r>
            <a:r>
              <a:rPr lang="en-US" altLang="bg-BG" sz="3200" dirty="0"/>
              <a:t>4</a:t>
            </a:r>
            <a:r>
              <a:rPr lang="bg-BG" altLang="bg-BG" sz="3200" dirty="0"/>
              <a:t>: Преглед на езика </a:t>
            </a:r>
            <a:r>
              <a:rPr lang="en-US" altLang="bg-BG" sz="3200" dirty="0"/>
              <a:t>SQL</a:t>
            </a:r>
            <a:r>
              <a:rPr lang="bg-BG" altLang="bg-BG" sz="3200" dirty="0"/>
              <a:t/>
            </a:r>
            <a:br>
              <a:rPr lang="bg-BG" altLang="bg-BG" sz="3200" dirty="0"/>
            </a:br>
            <a:r>
              <a:rPr lang="bg-BG" altLang="bg-BG" dirty="0"/>
              <a:t/>
            </a:r>
            <a:br>
              <a:rPr lang="bg-BG" altLang="bg-BG" dirty="0"/>
            </a:br>
            <a:endParaRPr lang="bg-BG" altLang="bg-BG" dirty="0"/>
          </a:p>
        </p:txBody>
      </p:sp>
      <p:sp>
        <p:nvSpPr>
          <p:cNvPr id="2051" name="Rectangle 3"/>
          <p:cNvSpPr>
            <a:spLocks noGrp="1" noChangeArrowheads="1"/>
          </p:cNvSpPr>
          <p:nvPr>
            <p:ph type="subTitle" idx="1"/>
          </p:nvPr>
        </p:nvSpPr>
        <p:spPr>
          <a:xfrm>
            <a:off x="1187624" y="3645024"/>
            <a:ext cx="6858000" cy="1368152"/>
          </a:xfrm>
        </p:spPr>
        <p:txBody>
          <a:bodyPr>
            <a:noAutofit/>
          </a:bodyPr>
          <a:lstStyle/>
          <a:p>
            <a:pPr>
              <a:lnSpc>
                <a:spcPct val="90000"/>
              </a:lnSpc>
            </a:pPr>
            <a:r>
              <a:rPr lang="bg-BG" altLang="bg-BG" dirty="0"/>
              <a:t>Юлиана Пенева</a:t>
            </a:r>
          </a:p>
          <a:p>
            <a:pPr>
              <a:lnSpc>
                <a:spcPct val="90000"/>
              </a:lnSpc>
            </a:pPr>
            <a:r>
              <a:rPr lang="bg-BG" altLang="bg-BG" dirty="0"/>
              <a:t>Департамент “Информатика”</a:t>
            </a:r>
          </a:p>
          <a:p>
            <a:pPr>
              <a:lnSpc>
                <a:spcPct val="90000"/>
              </a:lnSpc>
            </a:pPr>
            <a:r>
              <a:rPr lang="en-US" altLang="bg-BG" dirty="0"/>
              <a:t>july_peneva@abv.bg</a:t>
            </a:r>
            <a:endParaRPr lang="bg-BG" altLang="bg-BG"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7900" y="3645024"/>
            <a:ext cx="2247900" cy="2028825"/>
          </a:xfrm>
          <a:prstGeom prst="rect">
            <a:avLst/>
          </a:prstGeom>
          <a:ln w="15875">
            <a:solidFill>
              <a:srgbClr val="C00000"/>
            </a:solidFill>
          </a:ln>
        </p:spPr>
      </p:pic>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71600" y="404664"/>
            <a:ext cx="6781800" cy="582960"/>
          </a:xfrm>
        </p:spPr>
        <p:txBody>
          <a:bodyPr>
            <a:normAutofit fontScale="90000"/>
          </a:bodyPr>
          <a:lstStyle/>
          <a:p>
            <a:pPr algn="ctr"/>
            <a:r>
              <a:rPr lang="bg-BG" altLang="bg-BG" sz="3600" b="1" dirty="0">
                <a:solidFill>
                  <a:schemeClr val="accent1"/>
                </a:solidFill>
              </a:rPr>
              <a:t>Съдържание</a:t>
            </a:r>
            <a:r>
              <a:rPr lang="bg-BG" altLang="bg-BG" dirty="0">
                <a:solidFill>
                  <a:schemeClr val="accent1"/>
                </a:solidFill>
              </a:rPr>
              <a:t> </a:t>
            </a:r>
          </a:p>
        </p:txBody>
      </p:sp>
      <p:sp>
        <p:nvSpPr>
          <p:cNvPr id="7171" name="Rectangle 3"/>
          <p:cNvSpPr>
            <a:spLocks noGrp="1" noChangeArrowheads="1"/>
          </p:cNvSpPr>
          <p:nvPr>
            <p:ph idx="1"/>
          </p:nvPr>
        </p:nvSpPr>
        <p:spPr>
          <a:xfrm>
            <a:off x="827584" y="1124744"/>
            <a:ext cx="7543800" cy="3886200"/>
          </a:xfrm>
        </p:spPr>
        <p:txBody>
          <a:bodyPr>
            <a:normAutofit/>
          </a:bodyPr>
          <a:lstStyle/>
          <a:p>
            <a:pPr marL="990600" lvl="1" indent="-533400">
              <a:lnSpc>
                <a:spcPct val="90000"/>
              </a:lnSpc>
              <a:buFontTx/>
              <a:buAutoNum type="arabicPeriod"/>
            </a:pPr>
            <a:r>
              <a:rPr lang="bg-BG" altLang="bg-BG" sz="2400" dirty="0"/>
              <a:t>Основни заявки на </a:t>
            </a:r>
            <a:r>
              <a:rPr lang="en-US" altLang="bg-BG" sz="2400" dirty="0"/>
              <a:t>SQL</a:t>
            </a:r>
            <a:r>
              <a:rPr lang="bg-BG" altLang="bg-BG" sz="2400" dirty="0"/>
              <a:t>.</a:t>
            </a:r>
          </a:p>
          <a:p>
            <a:pPr marL="990600" lvl="1" indent="-533400">
              <a:lnSpc>
                <a:spcPct val="90000"/>
              </a:lnSpc>
              <a:buFontTx/>
              <a:buAutoNum type="arabicPeriod"/>
            </a:pPr>
            <a:r>
              <a:rPr lang="bg-BG" altLang="bg-BG" sz="2400" dirty="0"/>
              <a:t>Агрегатни функции в </a:t>
            </a:r>
            <a:r>
              <a:rPr lang="en-US" altLang="bg-BG" sz="2400" dirty="0"/>
              <a:t>SQL.</a:t>
            </a:r>
            <a:endParaRPr lang="bg-BG" altLang="bg-BG" sz="2400" dirty="0"/>
          </a:p>
          <a:p>
            <a:pPr marL="990600" lvl="1" indent="-533400">
              <a:lnSpc>
                <a:spcPct val="90000"/>
              </a:lnSpc>
              <a:buFontTx/>
              <a:buAutoNum type="arabicPeriod"/>
            </a:pPr>
            <a:r>
              <a:rPr lang="bg-BG" altLang="bg-BG" sz="2400" dirty="0"/>
              <a:t>Групиране и сортиране.</a:t>
            </a:r>
          </a:p>
          <a:p>
            <a:pPr marL="990600" lvl="1" indent="-533400">
              <a:lnSpc>
                <a:spcPct val="90000"/>
              </a:lnSpc>
              <a:buFontTx/>
              <a:buAutoNum type="arabicPeriod"/>
            </a:pPr>
            <a:r>
              <a:rPr lang="bg-BG" altLang="bg-BG" sz="2400" dirty="0" smtClean="0"/>
              <a:t>Обновяване </a:t>
            </a:r>
            <a:r>
              <a:rPr lang="bg-BG" altLang="bg-BG" sz="2400" dirty="0"/>
              <a:t>на базата.</a:t>
            </a:r>
          </a:p>
          <a:p>
            <a:pPr marL="990600" lvl="1" indent="-533400">
              <a:lnSpc>
                <a:spcPct val="90000"/>
              </a:lnSpc>
              <a:buFontTx/>
              <a:buAutoNum type="arabicPeriod"/>
            </a:pPr>
            <a:r>
              <a:rPr lang="bg-BG" altLang="bg-BG" sz="2400" dirty="0"/>
              <a:t>Дефиниране на данните. </a:t>
            </a:r>
            <a:endParaRPr lang="en-US" altLang="bg-BG" sz="2400" dirty="0" smtClean="0"/>
          </a:p>
          <a:p>
            <a:pPr marL="990600" lvl="1" indent="-533400">
              <a:lnSpc>
                <a:spcPct val="90000"/>
              </a:lnSpc>
              <a:buFontTx/>
              <a:buAutoNum type="arabicPeriod"/>
            </a:pPr>
            <a:r>
              <a:rPr lang="bg-BG" altLang="bg-BG" sz="2400" dirty="0" smtClean="0"/>
              <a:t>Работа </a:t>
            </a:r>
            <a:r>
              <a:rPr lang="bg-BG" altLang="bg-BG" sz="2400" dirty="0"/>
              <a:t>с вложени заявки. </a:t>
            </a:r>
            <a:endParaRPr lang="bg-BG" altLang="bg-BG" sz="2400" dirty="0"/>
          </a:p>
          <a:p>
            <a:pPr marL="990600" lvl="1" indent="-533400">
              <a:lnSpc>
                <a:spcPct val="90000"/>
              </a:lnSpc>
              <a:buFontTx/>
              <a:buAutoNum type="arabicPeriod"/>
            </a:pPr>
            <a:r>
              <a:rPr lang="bg-BG" altLang="bg-BG" sz="2400" dirty="0"/>
              <a:t>Допълнителни възможности на </a:t>
            </a:r>
            <a:r>
              <a:rPr lang="en-US" altLang="bg-BG" sz="2400" dirty="0"/>
              <a:t>SQL.</a:t>
            </a:r>
            <a:endParaRPr lang="bg-BG" altLang="bg-BG" sz="2400" dirty="0"/>
          </a:p>
          <a:p>
            <a:pPr marL="990600" lvl="1" indent="-533400">
              <a:lnSpc>
                <a:spcPct val="90000"/>
              </a:lnSpc>
              <a:buFontTx/>
              <a:buNone/>
            </a:pPr>
            <a:endParaRPr lang="bg-BG" altLang="bg-BG" sz="2400" dirty="0"/>
          </a:p>
          <a:p>
            <a:pPr marL="990600" lvl="1" indent="-533400">
              <a:lnSpc>
                <a:spcPct val="90000"/>
              </a:lnSpc>
              <a:buFontTx/>
              <a:buNone/>
            </a:pPr>
            <a:r>
              <a:rPr lang="bg-BG" altLang="bg-BG" sz="2400" dirty="0"/>
              <a:t>Трябва да е усвоен Модул 3: Релационен модел</a:t>
            </a:r>
          </a:p>
          <a:p>
            <a:pPr marL="990600" lvl="1" indent="-533400">
              <a:lnSpc>
                <a:spcPct val="90000"/>
              </a:lnSpc>
              <a:buFontTx/>
              <a:buNone/>
            </a:pPr>
            <a:endParaRPr lang="bg-BG" altLang="bg-BG"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3C2F1F2B-F553-4516-A76E-5D61CCD867CA}" type="slidenum">
              <a:rPr lang="bg-BG" altLang="bg-BG"/>
              <a:pPr/>
              <a:t>2</a:t>
            </a:fld>
            <a:endParaRPr lang="bg-BG" altLang="bg-BG"/>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55576" y="404664"/>
            <a:ext cx="6781800" cy="576064"/>
          </a:xfrm>
        </p:spPr>
        <p:txBody>
          <a:bodyPr>
            <a:noAutofit/>
          </a:bodyPr>
          <a:lstStyle/>
          <a:p>
            <a:pPr marL="838200" indent="-838200"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8197" name="Rectangle 5"/>
          <p:cNvSpPr>
            <a:spLocks noGrp="1" noChangeArrowheads="1"/>
          </p:cNvSpPr>
          <p:nvPr>
            <p:ph idx="1"/>
          </p:nvPr>
        </p:nvSpPr>
        <p:spPr>
          <a:xfrm>
            <a:off x="467544" y="1214853"/>
            <a:ext cx="8280920" cy="4394674"/>
          </a:xfrm>
        </p:spPr>
        <p:txBody>
          <a:bodyPr>
            <a:normAutofit lnSpcReduction="10000"/>
          </a:bodyPr>
          <a:lstStyle/>
          <a:p>
            <a:pPr marL="0" indent="0" algn="ctr">
              <a:buNone/>
            </a:pPr>
            <a:r>
              <a:rPr lang="bg-BG" sz="2800" dirty="0" smtClean="0">
                <a:solidFill>
                  <a:srgbClr val="C00000"/>
                </a:solidFill>
              </a:rPr>
              <a:t>Преговор</a:t>
            </a:r>
          </a:p>
          <a:p>
            <a:pPr marL="457200" indent="-457200">
              <a:buFont typeface="+mj-lt"/>
              <a:buAutoNum type="arabicPeriod"/>
            </a:pPr>
            <a:r>
              <a:rPr lang="bg-BG" dirty="0" smtClean="0"/>
              <a:t>Идеалният </a:t>
            </a:r>
            <a:r>
              <a:rPr lang="bg-BG" dirty="0"/>
              <a:t>език за заявки трябва да позволява на потребителя да:</a:t>
            </a:r>
            <a:endParaRPr lang="en-US" dirty="0"/>
          </a:p>
          <a:p>
            <a:pPr lvl="1"/>
            <a:r>
              <a:rPr lang="bg-BG" sz="2400" dirty="0"/>
              <a:t>създава базата и релационните структури;</a:t>
            </a:r>
            <a:endParaRPr lang="en-US" sz="2400" dirty="0"/>
          </a:p>
          <a:p>
            <a:pPr lvl="1"/>
            <a:r>
              <a:rPr lang="bg-BG" sz="2400" dirty="0"/>
              <a:t>изпълнява основни задачи, свързани с управлението на данните;</a:t>
            </a:r>
            <a:endParaRPr lang="en-US" sz="2400" dirty="0"/>
          </a:p>
          <a:p>
            <a:pPr lvl="1"/>
            <a:r>
              <a:rPr lang="bg-BG" sz="2400" dirty="0"/>
              <a:t>формулира прости и сложни заявки, чрез които да преобразува необработените данни в </a:t>
            </a:r>
            <a:r>
              <a:rPr lang="bg-BG" sz="2400" dirty="0" smtClean="0"/>
              <a:t>информация.</a:t>
            </a:r>
            <a:endParaRPr lang="bg-BG" sz="2400" dirty="0"/>
          </a:p>
          <a:p>
            <a:pPr marL="457200" indent="-457200">
              <a:buFont typeface="+mj-lt"/>
              <a:buAutoNum type="arabicPeriod" startAt="2"/>
            </a:pPr>
            <a:r>
              <a:rPr lang="bg-BG" dirty="0"/>
              <a:t>В резултат от разработването на релационния модел възниква специфичен език за работа с базата от данни, наречен </a:t>
            </a:r>
            <a:r>
              <a:rPr lang="bg-BG" dirty="0">
                <a:solidFill>
                  <a:srgbClr val="C00000"/>
                </a:solidFill>
              </a:rPr>
              <a:t>структурен език за заявки </a:t>
            </a:r>
            <a:r>
              <a:rPr lang="bg-BG" dirty="0"/>
              <a:t>или </a:t>
            </a:r>
            <a:r>
              <a:rPr lang="en-US" dirty="0" smtClean="0"/>
              <a:t>SQL</a:t>
            </a:r>
            <a:r>
              <a:rPr lang="bg-BG" dirty="0"/>
              <a:t>.</a:t>
            </a:r>
            <a:endParaRPr lang="bg-BG" altLang="bg-BG" sz="2800" dirty="0" smtClean="0"/>
          </a:p>
          <a:p>
            <a:endParaRPr lang="bg-BG" altLang="bg-BG" sz="2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734CD595-8D52-4901-8F3D-59EB63B05B74}" type="slidenum">
              <a:rPr lang="bg-BG" altLang="bg-BG"/>
              <a:pPr/>
              <a:t>3</a:t>
            </a:fld>
            <a:endParaRPr lang="bg-BG" altLang="bg-BG"/>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55576" y="404664"/>
            <a:ext cx="6781800" cy="576064"/>
          </a:xfrm>
        </p:spPr>
        <p:txBody>
          <a:bodyPr>
            <a:noAutofit/>
          </a:bodyPr>
          <a:lstStyle/>
          <a:p>
            <a:pPr marL="838200" indent="-838200"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8197" name="Rectangle 5"/>
          <p:cNvSpPr>
            <a:spLocks noGrp="1" noChangeArrowheads="1"/>
          </p:cNvSpPr>
          <p:nvPr>
            <p:ph idx="1"/>
          </p:nvPr>
        </p:nvSpPr>
        <p:spPr>
          <a:xfrm>
            <a:off x="467544" y="1214853"/>
            <a:ext cx="8280920" cy="4394674"/>
          </a:xfrm>
        </p:spPr>
        <p:txBody>
          <a:bodyPr>
            <a:normAutofit/>
          </a:bodyPr>
          <a:lstStyle/>
          <a:p>
            <a:pPr marL="0" indent="0" algn="ctr">
              <a:buNone/>
            </a:pPr>
            <a:endParaRPr lang="en-US" sz="2800" dirty="0" smtClean="0">
              <a:solidFill>
                <a:srgbClr val="C00000"/>
              </a:solidFill>
            </a:endParaRPr>
          </a:p>
          <a:p>
            <a:endParaRPr lang="bg-BG" altLang="bg-BG" sz="2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734CD595-8D52-4901-8F3D-59EB63B05B74}" type="slidenum">
              <a:rPr lang="bg-BG" altLang="bg-BG"/>
              <a:pPr/>
              <a:t>4</a:t>
            </a:fld>
            <a:endParaRPr lang="bg-BG" altLang="bg-BG"/>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1" y="980728"/>
            <a:ext cx="4536504" cy="5149981"/>
          </a:xfrm>
          <a:prstGeom prst="rect">
            <a:avLst/>
          </a:prstGeom>
        </p:spPr>
      </p:pic>
    </p:spTree>
    <p:extLst>
      <p:ext uri="{BB962C8B-B14F-4D97-AF65-F5344CB8AC3E}">
        <p14:creationId xmlns:p14="http://schemas.microsoft.com/office/powerpoint/2010/main" val="876879004"/>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57562" y="345007"/>
            <a:ext cx="6781800" cy="576064"/>
          </a:xfrm>
        </p:spPr>
        <p:txBody>
          <a:bodyPr>
            <a:noAutofit/>
          </a:bodyPr>
          <a:lstStyle/>
          <a:p>
            <a:pPr marL="838200" indent="-838200"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8197" name="Rectangle 5"/>
          <p:cNvSpPr>
            <a:spLocks noGrp="1" noChangeArrowheads="1"/>
          </p:cNvSpPr>
          <p:nvPr>
            <p:ph idx="1"/>
          </p:nvPr>
        </p:nvSpPr>
        <p:spPr>
          <a:xfrm>
            <a:off x="539552" y="1091897"/>
            <a:ext cx="8229600" cy="4999957"/>
          </a:xfrm>
        </p:spPr>
        <p:txBody>
          <a:bodyPr>
            <a:normAutofit fontScale="77500" lnSpcReduction="20000"/>
          </a:bodyPr>
          <a:lstStyle/>
          <a:p>
            <a:pPr marL="609600" indent="-609600" algn="ctr">
              <a:buFontTx/>
              <a:buNone/>
            </a:pPr>
            <a:r>
              <a:rPr lang="bg-BG" altLang="bg-BG" sz="3600" dirty="0" smtClean="0">
                <a:solidFill>
                  <a:srgbClr val="C00000"/>
                </a:solidFill>
              </a:rPr>
              <a:t>Характеристики на </a:t>
            </a:r>
            <a:r>
              <a:rPr lang="en-US" altLang="bg-BG" sz="3600" dirty="0" smtClean="0">
                <a:solidFill>
                  <a:srgbClr val="C00000"/>
                </a:solidFill>
              </a:rPr>
              <a:t>SQL</a:t>
            </a:r>
          </a:p>
          <a:p>
            <a:pPr marL="609600" indent="-609600">
              <a:buFontTx/>
              <a:buAutoNum type="arabicPeriod"/>
            </a:pPr>
            <a:r>
              <a:rPr lang="bg-BG" altLang="bg-BG" sz="3100" dirty="0" smtClean="0"/>
              <a:t>Интегриран език, съдържащ като език за дефиниране на данните, така и език за обработване на данните.</a:t>
            </a:r>
            <a:endParaRPr lang="en-US" altLang="bg-BG" sz="3100" dirty="0" smtClean="0"/>
          </a:p>
          <a:p>
            <a:pPr marL="609600" indent="-609600">
              <a:buFontTx/>
              <a:buAutoNum type="arabicPeriod"/>
            </a:pPr>
            <a:r>
              <a:rPr lang="en-US" altLang="bg-BG" sz="3100" dirty="0" smtClean="0"/>
              <a:t>SQL</a:t>
            </a:r>
            <a:r>
              <a:rPr lang="bg-BG" altLang="bg-BG" sz="3100" dirty="0" smtClean="0"/>
              <a:t> може да се вгражда в език за програмиране – например </a:t>
            </a:r>
            <a:r>
              <a:rPr lang="en-US" altLang="bg-BG" sz="3100" dirty="0" smtClean="0"/>
              <a:t>C</a:t>
            </a:r>
            <a:r>
              <a:rPr lang="bg-BG" altLang="bg-BG" sz="3100" dirty="0" smtClean="0"/>
              <a:t>, </a:t>
            </a:r>
            <a:r>
              <a:rPr lang="en-US" altLang="bg-BG" sz="3100" dirty="0" smtClean="0"/>
              <a:t>Pascal </a:t>
            </a:r>
            <a:r>
              <a:rPr lang="bg-BG" altLang="bg-BG" sz="3100" dirty="0" smtClean="0"/>
              <a:t>и др.</a:t>
            </a:r>
          </a:p>
          <a:p>
            <a:pPr marL="609600" indent="-609600">
              <a:buFontTx/>
              <a:buAutoNum type="arabicPeriod"/>
            </a:pPr>
            <a:r>
              <a:rPr lang="bg-BG" altLang="bg-BG" sz="3100" dirty="0" smtClean="0"/>
              <a:t>Разработен е стандарт, наречен </a:t>
            </a:r>
            <a:r>
              <a:rPr lang="en-US" altLang="bg-BG" sz="3100" dirty="0" smtClean="0"/>
              <a:t>SQL</a:t>
            </a:r>
            <a:r>
              <a:rPr lang="bg-BG" altLang="bg-BG" sz="3100" dirty="0" smtClean="0"/>
              <a:t>2 (</a:t>
            </a:r>
            <a:r>
              <a:rPr lang="en-US" altLang="bg-BG" sz="3100" dirty="0" smtClean="0"/>
              <a:t>SQL</a:t>
            </a:r>
            <a:r>
              <a:rPr lang="bg-BG" altLang="bg-BG" sz="3100" dirty="0" smtClean="0"/>
              <a:t>’92).</a:t>
            </a:r>
          </a:p>
          <a:p>
            <a:pPr marL="609600" indent="-609600">
              <a:buFontTx/>
              <a:buAutoNum type="arabicPeriod"/>
            </a:pPr>
            <a:r>
              <a:rPr lang="bg-BG" altLang="bg-BG" sz="3100" dirty="0" smtClean="0"/>
              <a:t>Разработен е стандарт, наречен </a:t>
            </a:r>
            <a:r>
              <a:rPr lang="en-US" altLang="bg-BG" sz="3100" dirty="0" smtClean="0"/>
              <a:t>SQL</a:t>
            </a:r>
            <a:r>
              <a:rPr lang="bg-BG" altLang="bg-BG" sz="3100" dirty="0" smtClean="0"/>
              <a:t>3, който разширява стандартния език </a:t>
            </a:r>
            <a:r>
              <a:rPr lang="en-US" altLang="bg-BG" sz="3100" dirty="0" smtClean="0"/>
              <a:t>SQL</a:t>
            </a:r>
            <a:r>
              <a:rPr lang="bg-BG" altLang="bg-BG" sz="3100" dirty="0" smtClean="0"/>
              <a:t> с обектно-ориентирани понятия.</a:t>
            </a:r>
          </a:p>
          <a:p>
            <a:pPr marL="609600" indent="-609600">
              <a:buFontTx/>
              <a:buAutoNum type="arabicPeriod"/>
            </a:pPr>
            <a:r>
              <a:rPr lang="bg-BG" sz="3100" dirty="0"/>
              <a:t>Допълнително са разработени следните стандарти: </a:t>
            </a:r>
            <a:endParaRPr lang="bg-BG" sz="3100" dirty="0" smtClean="0"/>
          </a:p>
          <a:p>
            <a:pPr lvl="2"/>
            <a:r>
              <a:rPr lang="bg-BG" sz="3100" dirty="0" smtClean="0"/>
              <a:t>през </a:t>
            </a:r>
            <a:r>
              <a:rPr lang="bg-BG" sz="3100" dirty="0"/>
              <a:t>2003 г. -SQL:2003 (ISO, 2003</a:t>
            </a:r>
            <a:r>
              <a:rPr lang="bg-BG" sz="3100" dirty="0" smtClean="0"/>
              <a:t>);</a:t>
            </a:r>
          </a:p>
          <a:p>
            <a:pPr lvl="2"/>
            <a:r>
              <a:rPr lang="bg-BG" sz="3100" dirty="0" smtClean="0"/>
              <a:t>през </a:t>
            </a:r>
            <a:r>
              <a:rPr lang="bg-BG" sz="3100" dirty="0"/>
              <a:t>лятото на 2008 г.- SQL:2008 (ISO/IEC</a:t>
            </a:r>
            <a:r>
              <a:rPr lang="en-US" sz="3100" dirty="0"/>
              <a:t>, </a:t>
            </a:r>
            <a:r>
              <a:rPr lang="bg-BG" sz="3100" dirty="0"/>
              <a:t>2008</a:t>
            </a:r>
            <a:r>
              <a:rPr lang="bg-BG" sz="3100" dirty="0" smtClean="0"/>
              <a:t>); </a:t>
            </a:r>
          </a:p>
          <a:p>
            <a:pPr lvl="2"/>
            <a:r>
              <a:rPr lang="bg-BG" sz="3100" dirty="0" smtClean="0"/>
              <a:t>през </a:t>
            </a:r>
            <a:r>
              <a:rPr lang="bg-BG" sz="3100" dirty="0"/>
              <a:t>2011 - SQL:2011 (ISO, 2011). </a:t>
            </a:r>
            <a:endParaRPr lang="bg-BG" sz="3100" dirty="0" smtClean="0"/>
          </a:p>
          <a:p>
            <a:pPr marL="560070" indent="-514350">
              <a:buFont typeface="+mj-lt"/>
              <a:buAutoNum type="arabicPeriod"/>
            </a:pPr>
            <a:r>
              <a:rPr lang="bg-BG" sz="3100" dirty="0" smtClean="0"/>
              <a:t>Последна </a:t>
            </a:r>
            <a:r>
              <a:rPr lang="bg-BG" sz="3100" dirty="0"/>
              <a:t>версия на стандарта</a:t>
            </a:r>
            <a:r>
              <a:rPr lang="en-US" sz="3100" dirty="0"/>
              <a:t> (</a:t>
            </a:r>
            <a:r>
              <a:rPr lang="bg-BG" sz="3100" dirty="0"/>
              <a:t>ISO/IEC</a:t>
            </a:r>
            <a:r>
              <a:rPr lang="en-US" sz="3100" dirty="0"/>
              <a:t>, </a:t>
            </a:r>
            <a:r>
              <a:rPr lang="bg-BG" sz="3100" dirty="0"/>
              <a:t>2016) е предложена през 2016 г</a:t>
            </a:r>
            <a:r>
              <a:rPr lang="bg-BG" sz="3100" dirty="0" smtClean="0"/>
              <a:t>.</a:t>
            </a:r>
            <a:endParaRPr lang="bg-BG" altLang="bg-BG" sz="3100" dirty="0" smtClean="0"/>
          </a:p>
          <a:p>
            <a:pPr marL="609600" indent="-609600">
              <a:buFontTx/>
              <a:buAutoNum type="arabicPeriod"/>
            </a:pPr>
            <a:endParaRPr lang="bg-BG" altLang="bg-BG" sz="2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734CD595-8D52-4901-8F3D-59EB63B05B74}" type="slidenum">
              <a:rPr lang="bg-BG" altLang="bg-BG"/>
              <a:pPr/>
              <a:t>5</a:t>
            </a:fld>
            <a:endParaRPr lang="bg-BG" altLang="bg-BG"/>
          </a:p>
        </p:txBody>
      </p:sp>
    </p:spTree>
    <p:extLst>
      <p:ext uri="{BB962C8B-B14F-4D97-AF65-F5344CB8AC3E}">
        <p14:creationId xmlns:p14="http://schemas.microsoft.com/office/powerpoint/2010/main" val="424528547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187624" y="404664"/>
            <a:ext cx="6781800" cy="654968"/>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54275" name="Rectangle 3"/>
          <p:cNvSpPr>
            <a:spLocks noGrp="1" noChangeArrowheads="1"/>
          </p:cNvSpPr>
          <p:nvPr>
            <p:ph idx="1"/>
          </p:nvPr>
        </p:nvSpPr>
        <p:spPr>
          <a:xfrm>
            <a:off x="611560" y="1124744"/>
            <a:ext cx="8229600" cy="4787900"/>
          </a:xfrm>
        </p:spPr>
        <p:txBody>
          <a:bodyPr>
            <a:normAutofit lnSpcReduction="10000"/>
          </a:bodyPr>
          <a:lstStyle/>
          <a:p>
            <a:pPr marL="609600" indent="-609600" algn="ctr">
              <a:buFontTx/>
              <a:buNone/>
            </a:pPr>
            <a:r>
              <a:rPr lang="bg-BG" altLang="bg-BG" sz="2800" dirty="0">
                <a:solidFill>
                  <a:srgbClr val="C00000"/>
                </a:solidFill>
              </a:rPr>
              <a:t>Основни понятия при </a:t>
            </a:r>
            <a:r>
              <a:rPr lang="en-US" altLang="bg-BG" sz="2800" dirty="0">
                <a:solidFill>
                  <a:srgbClr val="C00000"/>
                </a:solidFill>
              </a:rPr>
              <a:t>SQL</a:t>
            </a:r>
            <a:endParaRPr lang="bg-BG" altLang="bg-BG" sz="2800" dirty="0">
              <a:solidFill>
                <a:srgbClr val="C00000"/>
              </a:solidFill>
            </a:endParaRPr>
          </a:p>
          <a:p>
            <a:pPr marL="609600" indent="-609600">
              <a:buFontTx/>
              <a:buAutoNum type="arabicPeriod"/>
            </a:pPr>
            <a:r>
              <a:rPr lang="bg-BG" altLang="bg-BG" sz="2800" dirty="0"/>
              <a:t>SQL използува термините "таблица", "редица" и "колона" съответно за "релация", "кортеж" и "атрибут". </a:t>
            </a:r>
          </a:p>
          <a:p>
            <a:pPr marL="609600" indent="-609600">
              <a:buFontTx/>
              <a:buAutoNum type="arabicPeriod"/>
            </a:pPr>
            <a:r>
              <a:rPr lang="bg-BG" altLang="bg-BG" sz="2800" dirty="0"/>
              <a:t>Среда (</a:t>
            </a:r>
            <a:r>
              <a:rPr lang="en-US" altLang="bg-BG" sz="2800" dirty="0"/>
              <a:t>environment</a:t>
            </a:r>
            <a:r>
              <a:rPr lang="bg-BG" altLang="bg-BG" sz="2800" dirty="0"/>
              <a:t>) – съдържа единствена база.</a:t>
            </a:r>
          </a:p>
          <a:p>
            <a:pPr marL="609600" indent="-609600">
              <a:buFontTx/>
              <a:buAutoNum type="arabicPeriod"/>
            </a:pPr>
            <a:r>
              <a:rPr lang="bg-BG" altLang="bg-BG" sz="2800" dirty="0"/>
              <a:t>База от данни – състои се от множеството на всички схеми, дефинирани в дадена среда.</a:t>
            </a:r>
          </a:p>
          <a:p>
            <a:pPr marL="609600" indent="-609600">
              <a:buFontTx/>
              <a:buAutoNum type="arabicPeriod"/>
            </a:pPr>
            <a:r>
              <a:rPr lang="bg-BG" altLang="bg-BG" sz="2800" dirty="0"/>
              <a:t>Схема (</a:t>
            </a:r>
            <a:r>
              <a:rPr lang="en-US" altLang="bg-BG" sz="2800" dirty="0"/>
              <a:t>schema</a:t>
            </a:r>
            <a:r>
              <a:rPr lang="bg-BG" altLang="bg-BG" sz="2800" dirty="0"/>
              <a:t>)– състои се от една или няколко таблици, потребителски представи (</a:t>
            </a:r>
            <a:r>
              <a:rPr lang="en-US" altLang="bg-BG" sz="2800" dirty="0"/>
              <a:t>view</a:t>
            </a:r>
            <a:r>
              <a:rPr lang="bg-BG" altLang="bg-BG" sz="2800" dirty="0"/>
              <a:t>) и права (</a:t>
            </a:r>
            <a:r>
              <a:rPr lang="en-US" altLang="bg-BG" sz="2800" dirty="0"/>
              <a:t>privileges</a:t>
            </a:r>
            <a:r>
              <a:rPr lang="bg-BG" altLang="bg-BG" sz="2800" dirty="0"/>
              <a:t>), принадлежащи на даден потребител.</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FB48876E-7B4B-4371-82D6-15C7705FF393}" type="slidenum">
              <a:rPr lang="bg-BG" altLang="bg-BG"/>
              <a:pPr/>
              <a:t>6</a:t>
            </a:fld>
            <a:endParaRPr lang="bg-BG" altLang="bg-BG"/>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115616" y="404664"/>
            <a:ext cx="6781800" cy="582960"/>
          </a:xfrm>
          <a:ln>
            <a:solidFill>
              <a:schemeClr val="accent1"/>
            </a:solidFill>
          </a:ln>
        </p:spPr>
        <p:txBody>
          <a:bodyPr>
            <a:normAutofit/>
          </a:bodyPr>
          <a:lstStyle/>
          <a:p>
            <a:pPr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60432" name="Rectangle 16"/>
          <p:cNvSpPr>
            <a:spLocks noGrp="1" noChangeArrowheads="1"/>
          </p:cNvSpPr>
          <p:nvPr>
            <p:ph idx="1"/>
          </p:nvPr>
        </p:nvSpPr>
        <p:spPr>
          <a:xfrm>
            <a:off x="611560" y="1268760"/>
            <a:ext cx="7543800" cy="3886200"/>
          </a:xfrm>
        </p:spPr>
        <p:txBody>
          <a:bodyPr>
            <a:normAutofit fontScale="92500" lnSpcReduction="10000"/>
          </a:bodyPr>
          <a:lstStyle/>
          <a:p>
            <a:pPr marL="609600" indent="-609600">
              <a:buFontTx/>
              <a:buAutoNum type="arabicPeriod" startAt="5"/>
            </a:pPr>
            <a:r>
              <a:rPr lang="bg-BG" altLang="bg-BG" sz="2800" dirty="0" smtClean="0"/>
              <a:t>Каталог (</a:t>
            </a:r>
            <a:r>
              <a:rPr lang="en-US" altLang="bg-BG" sz="2800" dirty="0" smtClean="0"/>
              <a:t>Information Schema</a:t>
            </a:r>
            <a:r>
              <a:rPr lang="bg-BG" altLang="bg-BG" sz="2800" dirty="0" smtClean="0"/>
              <a:t>) – именувано множество на схемите в дадена среда.</a:t>
            </a:r>
          </a:p>
          <a:p>
            <a:pPr marL="609600" indent="-609600">
              <a:buFontTx/>
              <a:buAutoNum type="arabicPeriod" startAt="5"/>
            </a:pPr>
            <a:r>
              <a:rPr lang="bg-BG" altLang="bg-BG" sz="2800" dirty="0" smtClean="0"/>
              <a:t>Пространство на базата (</a:t>
            </a:r>
            <a:r>
              <a:rPr lang="en-US" altLang="bg-BG" sz="2800" dirty="0" err="1" smtClean="0"/>
              <a:t>dbspace</a:t>
            </a:r>
            <a:r>
              <a:rPr lang="bg-BG" altLang="bg-BG" sz="2800" dirty="0" smtClean="0"/>
              <a:t>) – логическо заделяне на място за базата, което е част от общото пространство. Всеки потребител има достъп до поне едно такова пространство, което от своя страна се състои от определен брой сегменти, осигурени от АБД. Отделните пространства притежават различни нива на заключване.</a:t>
            </a:r>
            <a:endParaRPr lang="bg-BG" altLang="bg-BG" sz="2800" dirty="0"/>
          </a:p>
        </p:txBody>
      </p:sp>
      <p:sp>
        <p:nvSpPr>
          <p:cNvPr id="7" name="Date Placeholder 3"/>
          <p:cNvSpPr>
            <a:spLocks noGrp="1"/>
          </p:cNvSpPr>
          <p:nvPr>
            <p:ph type="dt" sz="half" idx="10"/>
          </p:nvPr>
        </p:nvSpPr>
        <p:spPr/>
        <p:txBody>
          <a:bodyPr/>
          <a:lstStyle/>
          <a:p>
            <a:r>
              <a:rPr lang="bg-BG" altLang="bg-BG"/>
              <a:t>Юлиана Пенева</a:t>
            </a:r>
          </a:p>
        </p:txBody>
      </p:sp>
      <p:sp>
        <p:nvSpPr>
          <p:cNvPr id="8" name="Footer Placeholder 4"/>
          <p:cNvSpPr>
            <a:spLocks noGrp="1"/>
          </p:cNvSpPr>
          <p:nvPr>
            <p:ph type="ftr" sz="quarter" idx="11"/>
          </p:nvPr>
        </p:nvSpPr>
        <p:spPr/>
        <p:txBody>
          <a:bodyPr/>
          <a:lstStyle/>
          <a:p>
            <a:r>
              <a:rPr lang="bg-BG" altLang="bg-BG"/>
              <a:t>CSCB405- модул4</a:t>
            </a:r>
          </a:p>
        </p:txBody>
      </p:sp>
      <p:sp>
        <p:nvSpPr>
          <p:cNvPr id="9" name="Slide Number Placeholder 5"/>
          <p:cNvSpPr>
            <a:spLocks noGrp="1"/>
          </p:cNvSpPr>
          <p:nvPr>
            <p:ph type="sldNum" sz="quarter" idx="12"/>
          </p:nvPr>
        </p:nvSpPr>
        <p:spPr/>
        <p:txBody>
          <a:bodyPr/>
          <a:lstStyle/>
          <a:p>
            <a:fld id="{778410D8-523B-4C41-A64C-CE6C096D2EE3}" type="slidenum">
              <a:rPr lang="bg-BG" altLang="bg-BG"/>
              <a:pPr/>
              <a:t>7</a:t>
            </a:fld>
            <a:endParaRPr lang="bg-BG" altLang="bg-BG"/>
          </a:p>
        </p:txBody>
      </p:sp>
      <p:sp>
        <p:nvSpPr>
          <p:cNvPr id="60434"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0436" name="Rectangle 2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043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115616" y="404664"/>
            <a:ext cx="6781800" cy="582960"/>
          </a:xfrm>
          <a:ln>
            <a:solidFill>
              <a:schemeClr val="accent1"/>
            </a:solidFill>
          </a:ln>
        </p:spPr>
        <p:txBody>
          <a:bodyPr>
            <a:normAutofit/>
          </a:bodyPr>
          <a:lstStyle/>
          <a:p>
            <a:pPr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4906" y="1020207"/>
            <a:ext cx="4943219" cy="5110528"/>
          </a:xfrm>
        </p:spPr>
      </p:pic>
      <p:sp>
        <p:nvSpPr>
          <p:cNvPr id="7" name="Date Placeholder 3"/>
          <p:cNvSpPr>
            <a:spLocks noGrp="1"/>
          </p:cNvSpPr>
          <p:nvPr>
            <p:ph type="dt" sz="half" idx="10"/>
          </p:nvPr>
        </p:nvSpPr>
        <p:spPr/>
        <p:txBody>
          <a:bodyPr/>
          <a:lstStyle/>
          <a:p>
            <a:r>
              <a:rPr lang="bg-BG" altLang="bg-BG"/>
              <a:t>Юлиана Пенева</a:t>
            </a:r>
          </a:p>
        </p:txBody>
      </p:sp>
      <p:sp>
        <p:nvSpPr>
          <p:cNvPr id="8" name="Footer Placeholder 4"/>
          <p:cNvSpPr>
            <a:spLocks noGrp="1"/>
          </p:cNvSpPr>
          <p:nvPr>
            <p:ph type="ftr" sz="quarter" idx="11"/>
          </p:nvPr>
        </p:nvSpPr>
        <p:spPr/>
        <p:txBody>
          <a:bodyPr/>
          <a:lstStyle/>
          <a:p>
            <a:r>
              <a:rPr lang="bg-BG" altLang="bg-BG"/>
              <a:t>CSCB405- модул4</a:t>
            </a:r>
          </a:p>
        </p:txBody>
      </p:sp>
      <p:sp>
        <p:nvSpPr>
          <p:cNvPr id="9" name="Slide Number Placeholder 5"/>
          <p:cNvSpPr>
            <a:spLocks noGrp="1"/>
          </p:cNvSpPr>
          <p:nvPr>
            <p:ph type="sldNum" sz="quarter" idx="12"/>
          </p:nvPr>
        </p:nvSpPr>
        <p:spPr/>
        <p:txBody>
          <a:bodyPr/>
          <a:lstStyle/>
          <a:p>
            <a:fld id="{778410D8-523B-4C41-A64C-CE6C096D2EE3}" type="slidenum">
              <a:rPr lang="bg-BG" altLang="bg-BG"/>
              <a:pPr/>
              <a:t>8</a:t>
            </a:fld>
            <a:endParaRPr lang="bg-BG" altLang="bg-BG"/>
          </a:p>
        </p:txBody>
      </p:sp>
      <p:sp>
        <p:nvSpPr>
          <p:cNvPr id="60434"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0436" name="Rectangle 2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0438"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extLst>
      <p:ext uri="{BB962C8B-B14F-4D97-AF65-F5344CB8AC3E}">
        <p14:creationId xmlns:p14="http://schemas.microsoft.com/office/powerpoint/2010/main" val="3904276549"/>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115616" y="404664"/>
            <a:ext cx="6781800" cy="654968"/>
          </a:xfrm>
        </p:spPr>
        <p:txBody>
          <a:bodyPr>
            <a:normAutofit/>
          </a:bodyPr>
          <a:lstStyle/>
          <a:p>
            <a:pPr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66564" name="Rectangle 4"/>
          <p:cNvSpPr>
            <a:spLocks noGrp="1" noChangeArrowheads="1"/>
          </p:cNvSpPr>
          <p:nvPr>
            <p:ph idx="1"/>
          </p:nvPr>
        </p:nvSpPr>
        <p:spPr>
          <a:xfrm>
            <a:off x="457200" y="1196752"/>
            <a:ext cx="8229600" cy="4240088"/>
          </a:xfrm>
        </p:spPr>
        <p:txBody>
          <a:bodyPr>
            <a:normAutofit fontScale="92500"/>
          </a:bodyPr>
          <a:lstStyle/>
          <a:p>
            <a:pPr marL="609600" indent="-609600">
              <a:buFontTx/>
              <a:buAutoNum type="arabicPeriod"/>
            </a:pPr>
            <a:r>
              <a:rPr lang="en-US" altLang="bg-BG" sz="2800" dirty="0"/>
              <a:t>SQL</a:t>
            </a:r>
            <a:r>
              <a:rPr lang="bg-BG" altLang="bg-BG" sz="2800" dirty="0"/>
              <a:t> притежава единствен оператор за извличане на данни от базата – </a:t>
            </a:r>
            <a:r>
              <a:rPr lang="en-US" altLang="bg-BG" sz="2800" dirty="0"/>
              <a:t>SELECT</a:t>
            </a:r>
            <a:r>
              <a:rPr lang="bg-BG" altLang="bg-BG" sz="2800" dirty="0"/>
              <a:t>, който се различава силно от операцията “селекция” на релационната алгебра.</a:t>
            </a:r>
          </a:p>
          <a:p>
            <a:pPr marL="609600" indent="-609600">
              <a:buFontTx/>
              <a:buAutoNum type="arabicPeriod"/>
            </a:pPr>
            <a:r>
              <a:rPr lang="bg-BG" altLang="bg-BG" sz="2800" dirty="0"/>
              <a:t>За разлика от формалния релационен модел, SQL допуска съществуването на </a:t>
            </a:r>
            <a:r>
              <a:rPr lang="bg-BG" altLang="bg-BG" sz="2800" dirty="0">
                <a:solidFill>
                  <a:srgbClr val="C00000"/>
                </a:solidFill>
              </a:rPr>
              <a:t>два напълно идентични </a:t>
            </a:r>
            <a:r>
              <a:rPr lang="bg-BG" altLang="bg-BG" sz="2800" dirty="0"/>
              <a:t>реда в една таблица.</a:t>
            </a:r>
          </a:p>
          <a:p>
            <a:pPr marL="609600" indent="-609600">
              <a:buFontTx/>
              <a:buAutoNum type="arabicPeriod"/>
            </a:pPr>
            <a:r>
              <a:rPr lang="bg-BG" altLang="bg-BG" sz="2800" dirty="0"/>
              <a:t>Съществуват опции и команди, които осигуряват различимост на отделните редове в дадена таблица, т.е. резултатът да представлява  множество. </a:t>
            </a:r>
          </a:p>
        </p:txBody>
      </p:sp>
      <p:sp>
        <p:nvSpPr>
          <p:cNvPr id="10" name="Date Placeholder 3"/>
          <p:cNvSpPr>
            <a:spLocks noGrp="1"/>
          </p:cNvSpPr>
          <p:nvPr>
            <p:ph type="dt" sz="half" idx="10"/>
          </p:nvPr>
        </p:nvSpPr>
        <p:spPr/>
        <p:txBody>
          <a:bodyPr/>
          <a:lstStyle/>
          <a:p>
            <a:r>
              <a:rPr lang="bg-BG" altLang="bg-BG"/>
              <a:t>Юлиана Пенева</a:t>
            </a:r>
          </a:p>
        </p:txBody>
      </p:sp>
      <p:sp>
        <p:nvSpPr>
          <p:cNvPr id="11" name="Footer Placeholder 4"/>
          <p:cNvSpPr>
            <a:spLocks noGrp="1"/>
          </p:cNvSpPr>
          <p:nvPr>
            <p:ph type="ftr" sz="quarter" idx="11"/>
          </p:nvPr>
        </p:nvSpPr>
        <p:spPr/>
        <p:txBody>
          <a:bodyPr/>
          <a:lstStyle/>
          <a:p>
            <a:r>
              <a:rPr lang="bg-BG" altLang="bg-BG"/>
              <a:t>CSCB405- модул4</a:t>
            </a:r>
          </a:p>
        </p:txBody>
      </p:sp>
      <p:sp>
        <p:nvSpPr>
          <p:cNvPr id="12" name="Slide Number Placeholder 5"/>
          <p:cNvSpPr>
            <a:spLocks noGrp="1"/>
          </p:cNvSpPr>
          <p:nvPr>
            <p:ph type="sldNum" sz="quarter" idx="12"/>
          </p:nvPr>
        </p:nvSpPr>
        <p:spPr/>
        <p:txBody>
          <a:bodyPr/>
          <a:lstStyle/>
          <a:p>
            <a:fld id="{179A6EFB-9F1A-4C64-8832-F0C8FD7E105B}" type="slidenum">
              <a:rPr lang="bg-BG" altLang="bg-BG"/>
              <a:pPr/>
              <a:t>9</a:t>
            </a:fld>
            <a:endParaRPr lang="bg-BG" altLang="bg-BG"/>
          </a:p>
        </p:txBody>
      </p:sp>
      <p:sp>
        <p:nvSpPr>
          <p:cNvPr id="66573"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75"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83" name="Rectangle 2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85" name="Rectangle 2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87" name="Rectangle 2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66589" name="Rectangle 2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467544" y="404664"/>
            <a:ext cx="8243887" cy="652934"/>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87395" name="Rectangle 3"/>
          <p:cNvSpPr>
            <a:spLocks noGrp="1" noChangeArrowheads="1"/>
          </p:cNvSpPr>
          <p:nvPr>
            <p:ph type="body" sz="half" idx="2"/>
          </p:nvPr>
        </p:nvSpPr>
        <p:spPr>
          <a:xfrm>
            <a:off x="468313" y="5300663"/>
            <a:ext cx="8229600" cy="865187"/>
          </a:xfrm>
        </p:spPr>
        <p:txBody>
          <a:bodyPr/>
          <a:lstStyle/>
          <a:p>
            <a:pPr algn="ctr">
              <a:lnSpc>
                <a:spcPct val="90000"/>
              </a:lnSpc>
              <a:buFontTx/>
              <a:buNone/>
            </a:pPr>
            <a:endParaRPr lang="bg-BG" altLang="bg-BG" sz="2400" dirty="0"/>
          </a:p>
          <a:p>
            <a:pPr algn="ctr">
              <a:lnSpc>
                <a:spcPct val="90000"/>
              </a:lnSpc>
              <a:buFontTx/>
              <a:buNone/>
            </a:pPr>
            <a:r>
              <a:rPr lang="bg-BG" altLang="bg-BG" sz="2400" dirty="0">
                <a:solidFill>
                  <a:srgbClr val="C00000"/>
                </a:solidFill>
              </a:rPr>
              <a:t>Пример: база от данни “Предприятие”</a:t>
            </a:r>
          </a:p>
        </p:txBody>
      </p:sp>
      <p:sp>
        <p:nvSpPr>
          <p:cNvPr id="5" name="Date Placeholder 4"/>
          <p:cNvSpPr>
            <a:spLocks noGrp="1"/>
          </p:cNvSpPr>
          <p:nvPr>
            <p:ph type="dt" sz="half" idx="10"/>
          </p:nvPr>
        </p:nvSpPr>
        <p:spPr>
          <a:xfrm>
            <a:off x="6516216" y="6237312"/>
            <a:ext cx="2133600" cy="457200"/>
          </a:xfrm>
        </p:spPr>
        <p:txBody>
          <a:bodyPr/>
          <a:lstStyle/>
          <a:p>
            <a:r>
              <a:rPr lang="bg-BG" altLang="bg-BG" dirty="0"/>
              <a:t>Юлиана Пенева</a:t>
            </a:r>
          </a:p>
        </p:txBody>
      </p:sp>
      <p:sp>
        <p:nvSpPr>
          <p:cNvPr id="6" name="Footer Placeholder 5"/>
          <p:cNvSpPr>
            <a:spLocks noGrp="1"/>
          </p:cNvSpPr>
          <p:nvPr>
            <p:ph type="ftr" sz="quarter" idx="11"/>
          </p:nvPr>
        </p:nvSpPr>
        <p:spPr>
          <a:xfrm>
            <a:off x="683568" y="6165304"/>
            <a:ext cx="2895600" cy="457200"/>
          </a:xfrm>
        </p:spPr>
        <p:txBody>
          <a:bodyPr/>
          <a:lstStyle/>
          <a:p>
            <a:r>
              <a:rPr lang="bg-BG" altLang="bg-BG" dirty="0"/>
              <a:t>CSCB405- модул4</a:t>
            </a:r>
          </a:p>
        </p:txBody>
      </p:sp>
      <p:sp>
        <p:nvSpPr>
          <p:cNvPr id="7" name="Slide Number Placeholder 6"/>
          <p:cNvSpPr>
            <a:spLocks noGrp="1"/>
          </p:cNvSpPr>
          <p:nvPr>
            <p:ph type="sldNum" sz="quarter" idx="12"/>
          </p:nvPr>
        </p:nvSpPr>
        <p:spPr>
          <a:xfrm>
            <a:off x="7740352" y="5733256"/>
            <a:ext cx="658416" cy="353714"/>
          </a:xfrm>
        </p:spPr>
        <p:txBody>
          <a:bodyPr/>
          <a:lstStyle/>
          <a:p>
            <a:fld id="{B9096DE2-D3E6-40D0-9230-B888D193018B}" type="slidenum">
              <a:rPr lang="bg-BG" altLang="bg-BG"/>
              <a:pPr/>
              <a:t>10</a:t>
            </a:fld>
            <a:endParaRPr lang="bg-BG" altLang="bg-BG" dirty="0"/>
          </a:p>
        </p:txBody>
      </p:sp>
      <p:pic>
        <p:nvPicPr>
          <p:cNvPr id="3" name="Content Placeholder 2"/>
          <p:cNvPicPr>
            <a:picLocks noGrp="1" noChangeAspect="1"/>
          </p:cNvPicPr>
          <p:nvPr>
            <p:ph sz="half" idx="1"/>
          </p:nvPr>
        </p:nvPicPr>
        <p:blipFill>
          <a:blip r:embed="rId2"/>
          <a:stretch>
            <a:fillRect/>
          </a:stretch>
        </p:blipFill>
        <p:spPr>
          <a:xfrm>
            <a:off x="1331640" y="1048140"/>
            <a:ext cx="6478573" cy="4613654"/>
          </a:xfrm>
          <a:prstGeom prst="rect">
            <a:avLst/>
          </a:prstGeom>
        </p:spPr>
      </p:pic>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1043608" y="404664"/>
            <a:ext cx="6781800" cy="654968"/>
          </a:xfrm>
        </p:spPr>
        <p:txBody>
          <a:bodyPr>
            <a:normAutofit/>
          </a:bodyPr>
          <a:lstStyle/>
          <a:p>
            <a:pPr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188419" name="Rectangle 3"/>
          <p:cNvSpPr>
            <a:spLocks noGrp="1" noChangeArrowheads="1"/>
          </p:cNvSpPr>
          <p:nvPr>
            <p:ph idx="1"/>
          </p:nvPr>
        </p:nvSpPr>
        <p:spPr>
          <a:xfrm>
            <a:off x="395536" y="1124744"/>
            <a:ext cx="8229600" cy="3520232"/>
          </a:xfrm>
        </p:spPr>
        <p:txBody>
          <a:bodyPr>
            <a:normAutofit/>
          </a:bodyPr>
          <a:lstStyle/>
          <a:p>
            <a:pPr algn="ctr">
              <a:buFontTx/>
              <a:buNone/>
            </a:pPr>
            <a:r>
              <a:rPr lang="bg-BG" altLang="bg-BG" sz="2800" dirty="0">
                <a:solidFill>
                  <a:srgbClr val="C00000"/>
                </a:solidFill>
              </a:rPr>
              <a:t>Основен елемент на езика SQL </a:t>
            </a:r>
            <a:endParaRPr lang="en-US" altLang="bg-BG" sz="2800" dirty="0" smtClean="0">
              <a:solidFill>
                <a:srgbClr val="C00000"/>
              </a:solidFill>
            </a:endParaRPr>
          </a:p>
          <a:p>
            <a:pPr algn="ctr">
              <a:buFontTx/>
              <a:buNone/>
            </a:pPr>
            <a:endParaRPr lang="bg-BG" altLang="bg-BG" sz="800" dirty="0">
              <a:solidFill>
                <a:srgbClr val="006699"/>
              </a:solidFill>
            </a:endParaRPr>
          </a:p>
          <a:p>
            <a:pPr>
              <a:buFontTx/>
              <a:buNone/>
            </a:pPr>
            <a:r>
              <a:rPr lang="bg-BG" altLang="bg-BG" sz="2800" dirty="0"/>
              <a:t>SELECT-FROM-WHERE блок (или изображение) </a:t>
            </a:r>
          </a:p>
          <a:p>
            <a:pPr>
              <a:buFontTx/>
              <a:buNone/>
            </a:pPr>
            <a:endParaRPr lang="bg-BG" altLang="bg-BG" sz="2800" dirty="0"/>
          </a:p>
          <a:p>
            <a:pPr>
              <a:buFontTx/>
              <a:buNone/>
            </a:pPr>
            <a:r>
              <a:rPr lang="bg-BG" altLang="bg-BG" sz="2800" dirty="0"/>
              <a:t>SELECT &lt;списък от колони&gt;</a:t>
            </a:r>
          </a:p>
          <a:p>
            <a:pPr>
              <a:buFontTx/>
              <a:buNone/>
            </a:pPr>
            <a:r>
              <a:rPr lang="bg-BG" altLang="bg-BG" sz="2800" dirty="0"/>
              <a:t>FROM   &lt;списък от таблици&gt;</a:t>
            </a:r>
          </a:p>
          <a:p>
            <a:pPr>
              <a:buFontTx/>
              <a:buNone/>
            </a:pPr>
            <a:r>
              <a:rPr lang="bg-BG" altLang="bg-BG" sz="2800" dirty="0"/>
              <a:t>WHERE  &lt;условие&gt;</a:t>
            </a:r>
          </a:p>
        </p:txBody>
      </p:sp>
      <p:sp>
        <p:nvSpPr>
          <p:cNvPr id="4" name="Date Placeholder 3"/>
          <p:cNvSpPr>
            <a:spLocks noGrp="1"/>
          </p:cNvSpPr>
          <p:nvPr>
            <p:ph type="dt" sz="half" idx="10"/>
          </p:nvPr>
        </p:nvSpPr>
        <p:spPr/>
        <p:txBody>
          <a:bodyPr/>
          <a:lstStyle/>
          <a:p>
            <a:r>
              <a:rPr lang="bg-BG" altLang="bg-BG" dirty="0"/>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94BAE743-F26A-41D8-89C4-BA0AD31EC012}" type="slidenum">
              <a:rPr lang="bg-BG" altLang="bg-BG"/>
              <a:pPr/>
              <a:t>11</a:t>
            </a:fld>
            <a:endParaRPr lang="bg-BG" altLang="bg-BG" dirty="0"/>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115616" y="404664"/>
            <a:ext cx="6781800" cy="654968"/>
          </a:xfrm>
          <a:ln>
            <a:noFill/>
          </a:ln>
        </p:spPr>
        <p:txBody>
          <a:bodyPr>
            <a:normAutofit/>
          </a:bodyPr>
          <a:lstStyle/>
          <a:p>
            <a:pPr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67587" name="Rectangle 3"/>
          <p:cNvSpPr>
            <a:spLocks noGrp="1" noChangeArrowheads="1"/>
          </p:cNvSpPr>
          <p:nvPr>
            <p:ph idx="1"/>
          </p:nvPr>
        </p:nvSpPr>
        <p:spPr>
          <a:xfrm>
            <a:off x="611560" y="1340768"/>
            <a:ext cx="8229600" cy="4787900"/>
          </a:xfrm>
        </p:spPr>
        <p:txBody>
          <a:bodyPr>
            <a:normAutofit/>
          </a:bodyPr>
          <a:lstStyle/>
          <a:p>
            <a:pPr marL="0" indent="0">
              <a:buNone/>
            </a:pPr>
            <a:r>
              <a:rPr lang="bg-BG" b="1" dirty="0"/>
              <a:t>Заявка 1:</a:t>
            </a:r>
            <a:r>
              <a:rPr lang="bg-BG" dirty="0"/>
              <a:t> Да се изведе рождената дата и адреса на служителя Иван Петров.</a:t>
            </a:r>
            <a:endParaRPr lang="en-US" dirty="0"/>
          </a:p>
          <a:p>
            <a:pPr marL="594360" lvl="2" indent="0">
              <a:buNone/>
            </a:pPr>
            <a:r>
              <a:rPr lang="bg-BG" sz="2400" dirty="0"/>
              <a:t>Q1: SELECT </a:t>
            </a:r>
            <a:r>
              <a:rPr lang="bg-BG" sz="2400" dirty="0" err="1"/>
              <a:t>Bdate</a:t>
            </a:r>
            <a:r>
              <a:rPr lang="bg-BG" sz="2400" dirty="0"/>
              <a:t>, </a:t>
            </a:r>
            <a:r>
              <a:rPr lang="bg-BG" sz="2400" dirty="0" err="1"/>
              <a:t>Address</a:t>
            </a:r>
            <a:endParaRPr lang="en-US" sz="2400" dirty="0"/>
          </a:p>
          <a:p>
            <a:pPr marL="1097280" lvl="4" indent="0">
              <a:buNone/>
            </a:pPr>
            <a:r>
              <a:rPr lang="bg-BG" sz="2400" dirty="0"/>
              <a:t>FROM EMPLOYEE</a:t>
            </a:r>
            <a:endParaRPr lang="en-US" sz="2400" dirty="0"/>
          </a:p>
          <a:p>
            <a:pPr marL="1097280" lvl="4" indent="0">
              <a:buNone/>
            </a:pPr>
            <a:r>
              <a:rPr lang="bg-BG" sz="2400" dirty="0"/>
              <a:t>WHERE </a:t>
            </a:r>
            <a:r>
              <a:rPr lang="bg-BG" sz="2400" dirty="0" err="1"/>
              <a:t>Fname</a:t>
            </a:r>
            <a:r>
              <a:rPr lang="bg-BG" sz="2400" dirty="0"/>
              <a:t> = 'Иван' AND </a:t>
            </a:r>
            <a:r>
              <a:rPr lang="bg-BG" sz="2400" dirty="0" err="1"/>
              <a:t>Lname</a:t>
            </a:r>
            <a:r>
              <a:rPr lang="bg-BG" sz="2400" dirty="0"/>
              <a:t> = 'Петров'</a:t>
            </a:r>
            <a:endParaRPr lang="en-US" sz="2400" dirty="0"/>
          </a:p>
          <a:p>
            <a:pPr marL="449580" indent="0" algn="just">
              <a:lnSpc>
                <a:spcPct val="115000"/>
              </a:lnSpc>
              <a:spcAft>
                <a:spcPts val="1000"/>
              </a:spcAft>
              <a:buNone/>
            </a:pPr>
            <a:r>
              <a:rPr lang="bg-BG" sz="3200" dirty="0">
                <a:latin typeface="Symbol" panose="05050102010706020507" pitchFamily="18" charset="2"/>
                <a:ea typeface="Calibri" panose="020F0502020204030204" pitchFamily="34" charset="0"/>
                <a:cs typeface="Times New Roman" panose="02020603050405020304" pitchFamily="18" charset="0"/>
              </a:rPr>
              <a:t>p</a:t>
            </a:r>
            <a:r>
              <a:rPr lang="bg-BG" baseline="-25000" dirty="0">
                <a:latin typeface="Times New Roman" panose="02020603050405020304" pitchFamily="18" charset="0"/>
                <a:ea typeface="Calibri" panose="020F0502020204030204" pitchFamily="34" charset="0"/>
                <a:cs typeface="Times New Roman" panose="02020603050405020304" pitchFamily="18" charset="0"/>
              </a:rPr>
              <a:t>&lt;</a:t>
            </a:r>
            <a:r>
              <a:rPr lang="bg-BG" baseline="-25000" dirty="0" err="1">
                <a:latin typeface="Times New Roman" panose="02020603050405020304" pitchFamily="18" charset="0"/>
                <a:ea typeface="Calibri" panose="020F0502020204030204" pitchFamily="34" charset="0"/>
                <a:cs typeface="Times New Roman" panose="02020603050405020304" pitchFamily="18" charset="0"/>
              </a:rPr>
              <a:t>Bdate,Address</a:t>
            </a:r>
            <a:r>
              <a:rPr lang="bg-BG" baseline="-25000" dirty="0">
                <a:latin typeface="Times New Roman" panose="02020603050405020304" pitchFamily="18" charset="0"/>
                <a:ea typeface="Calibri" panose="020F0502020204030204" pitchFamily="34" charset="0"/>
                <a:cs typeface="Times New Roman" panose="02020603050405020304" pitchFamily="18" charset="0"/>
              </a:rPr>
              <a:t>&gt;</a:t>
            </a:r>
            <a:r>
              <a:rPr lang="bg-BG" dirty="0">
                <a:latin typeface="Times New Roman" panose="02020603050405020304" pitchFamily="18" charset="0"/>
                <a:ea typeface="Calibri" panose="020F0502020204030204" pitchFamily="34" charset="0"/>
                <a:cs typeface="Times New Roman" panose="02020603050405020304" pitchFamily="18" charset="0"/>
              </a:rPr>
              <a:t>(</a:t>
            </a:r>
            <a:r>
              <a:rPr lang="bg-BG" sz="3200" dirty="0" err="1">
                <a:latin typeface="Symbol" panose="05050102010706020507" pitchFamily="18" charset="2"/>
                <a:ea typeface="Calibri" panose="020F0502020204030204" pitchFamily="34" charset="0"/>
                <a:cs typeface="Times New Roman" panose="02020603050405020304" pitchFamily="18" charset="0"/>
              </a:rPr>
              <a:t>s</a:t>
            </a:r>
            <a:r>
              <a:rPr lang="bg-BG" baseline="-25000" dirty="0" err="1">
                <a:latin typeface="Times New Roman" panose="02020603050405020304" pitchFamily="18" charset="0"/>
                <a:ea typeface="Calibri" panose="020F0502020204030204" pitchFamily="34" charset="0"/>
                <a:cs typeface="Times New Roman" panose="02020603050405020304" pitchFamily="18" charset="0"/>
              </a:rPr>
              <a:t>Fname</a:t>
            </a:r>
            <a:r>
              <a:rPr lang="bg-BG" baseline="-25000" dirty="0">
                <a:latin typeface="Times New Roman" panose="02020603050405020304" pitchFamily="18" charset="0"/>
                <a:ea typeface="Calibri" panose="020F0502020204030204" pitchFamily="34" charset="0"/>
                <a:cs typeface="Times New Roman" panose="02020603050405020304" pitchFamily="18" charset="0"/>
              </a:rPr>
              <a:t>='Иван' AND </a:t>
            </a:r>
            <a:r>
              <a:rPr lang="bg-BG" baseline="-25000" dirty="0" err="1">
                <a:latin typeface="Times New Roman" panose="02020603050405020304" pitchFamily="18" charset="0"/>
                <a:ea typeface="Calibri" panose="020F0502020204030204" pitchFamily="34" charset="0"/>
                <a:cs typeface="Times New Roman" panose="02020603050405020304" pitchFamily="18" charset="0"/>
              </a:rPr>
              <a:t>Lname</a:t>
            </a:r>
            <a:r>
              <a:rPr lang="bg-BG" baseline="-25000" dirty="0">
                <a:latin typeface="Times New Roman" panose="02020603050405020304" pitchFamily="18" charset="0"/>
                <a:ea typeface="Calibri" panose="020F0502020204030204" pitchFamily="34" charset="0"/>
                <a:cs typeface="Times New Roman" panose="02020603050405020304" pitchFamily="18" charset="0"/>
              </a:rPr>
              <a:t>='Петров'</a:t>
            </a:r>
            <a:r>
              <a:rPr lang="bg-BG" dirty="0">
                <a:latin typeface="Times New Roman" panose="02020603050405020304" pitchFamily="18" charset="0"/>
                <a:ea typeface="Calibri" panose="020F0502020204030204" pitchFamily="34" charset="0"/>
                <a:cs typeface="Times New Roman" panose="02020603050405020304" pitchFamily="18" charset="0"/>
              </a:rPr>
              <a:t>(EMPLOYEE))</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609600" indent="-609600">
              <a:lnSpc>
                <a:spcPct val="90000"/>
              </a:lnSpc>
            </a:pPr>
            <a:r>
              <a:rPr lang="bg-BG" altLang="bg-BG" sz="2400" dirty="0" smtClean="0"/>
              <a:t>SQL </a:t>
            </a:r>
            <a:r>
              <a:rPr lang="bg-BG" altLang="bg-BG" sz="2400" dirty="0"/>
              <a:t>заявка с единствена релация след FROM е еквивалентна на множеството от операции </a:t>
            </a:r>
            <a:r>
              <a:rPr lang="en-US" altLang="bg-BG" sz="2400" dirty="0"/>
              <a:t>{</a:t>
            </a:r>
            <a:r>
              <a:rPr lang="bg-BG" altLang="bg-BG" sz="2400" dirty="0">
                <a:latin typeface="Symbol" pitchFamily="18" charset="2"/>
              </a:rPr>
              <a:t>p</a:t>
            </a:r>
            <a:r>
              <a:rPr lang="bg-BG" altLang="bg-BG" sz="2400" dirty="0"/>
              <a:t>, </a:t>
            </a:r>
            <a:r>
              <a:rPr lang="bg-BG" altLang="bg-BG" sz="2400" dirty="0">
                <a:latin typeface="Symbol" pitchFamily="18" charset="2"/>
              </a:rPr>
              <a:t>s</a:t>
            </a:r>
            <a:r>
              <a:rPr lang="en-US" altLang="bg-BG" sz="2400" dirty="0">
                <a:latin typeface="Symbol" pitchFamily="18" charset="2"/>
              </a:rPr>
              <a:t>}</a:t>
            </a:r>
            <a:r>
              <a:rPr lang="bg-BG" altLang="bg-BG" sz="2400" dirty="0"/>
              <a:t> от релационната алгебра</a:t>
            </a:r>
            <a:endParaRPr lang="en-US" altLang="bg-BG" sz="2400" dirty="0"/>
          </a:p>
          <a:p>
            <a:pPr marL="609600" indent="-609600">
              <a:lnSpc>
                <a:spcPct val="90000"/>
              </a:lnSpc>
            </a:pPr>
            <a:r>
              <a:rPr lang="bg-BG" altLang="bg-BG" sz="2400" dirty="0"/>
              <a:t>Допустимо е дублирането на редове!!</a:t>
            </a:r>
          </a:p>
        </p:txBody>
      </p:sp>
      <p:sp>
        <p:nvSpPr>
          <p:cNvPr id="4" name="Date Placeholder 3"/>
          <p:cNvSpPr>
            <a:spLocks noGrp="1"/>
          </p:cNvSpPr>
          <p:nvPr>
            <p:ph type="dt" sz="half" idx="10"/>
          </p:nvPr>
        </p:nvSpPr>
        <p:spPr/>
        <p:txBody>
          <a:bodyPr/>
          <a:lstStyle/>
          <a:p>
            <a:r>
              <a:rPr lang="bg-BG" altLang="bg-BG" dirty="0"/>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a:xfrm>
            <a:off x="7740352" y="5733256"/>
            <a:ext cx="762000" cy="365125"/>
          </a:xfrm>
        </p:spPr>
        <p:txBody>
          <a:bodyPr/>
          <a:lstStyle/>
          <a:p>
            <a:fld id="{FEBB5E7E-7962-491A-BAFF-F09C0B10BC81}" type="slidenum">
              <a:rPr lang="bg-BG" altLang="bg-BG"/>
              <a:pPr/>
              <a:t>12</a:t>
            </a:fld>
            <a:endParaRPr lang="bg-BG" altLang="bg-BG" dirty="0"/>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899592" y="404664"/>
            <a:ext cx="6781800" cy="654968"/>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92515" name="Rectangle 3"/>
          <p:cNvSpPr>
            <a:spLocks noGrp="1" noChangeArrowheads="1"/>
          </p:cNvSpPr>
          <p:nvPr>
            <p:ph idx="1"/>
          </p:nvPr>
        </p:nvSpPr>
        <p:spPr>
          <a:xfrm>
            <a:off x="755576" y="1268760"/>
            <a:ext cx="7543800" cy="3886200"/>
          </a:xfrm>
        </p:spPr>
        <p:txBody>
          <a:bodyPr/>
          <a:lstStyle/>
          <a:p>
            <a:pPr marL="609600" indent="-609600">
              <a:buFontTx/>
              <a:buNone/>
            </a:pPr>
            <a:r>
              <a:rPr lang="bg-BG" altLang="bg-BG" sz="2800" u="sng" dirty="0"/>
              <a:t>Заявка 2:</a:t>
            </a:r>
            <a:r>
              <a:rPr lang="bg-BG" altLang="bg-BG" sz="2800" dirty="0"/>
              <a:t> да се изведат имената на служителите и на съответния им отдел </a:t>
            </a:r>
            <a:endParaRPr lang="bg-BG" altLang="bg-BG" sz="2800" dirty="0" smtClean="0"/>
          </a:p>
          <a:p>
            <a:pPr marL="609600" indent="-609600">
              <a:buFontTx/>
              <a:buNone/>
            </a:pPr>
            <a:endParaRPr lang="bg-BG" altLang="bg-BG" sz="2800" dirty="0"/>
          </a:p>
          <a:p>
            <a:pPr marL="609600" indent="-609600">
              <a:buFontTx/>
              <a:buNone/>
            </a:pPr>
            <a:r>
              <a:rPr lang="bg-BG" dirty="0" smtClean="0"/>
              <a:t>Q2: </a:t>
            </a:r>
            <a:r>
              <a:rPr lang="bg-BG" altLang="bg-BG" dirty="0" smtClean="0"/>
              <a:t>SELECT </a:t>
            </a:r>
            <a:r>
              <a:rPr lang="bg-BG" altLang="bg-BG" dirty="0" err="1" smtClean="0"/>
              <a:t>Fname</a:t>
            </a:r>
            <a:r>
              <a:rPr lang="bg-BG" altLang="bg-BG" dirty="0" smtClean="0"/>
              <a:t>, </a:t>
            </a:r>
            <a:r>
              <a:rPr lang="bg-BG" altLang="bg-BG" dirty="0" err="1" smtClean="0"/>
              <a:t>Lname</a:t>
            </a:r>
            <a:r>
              <a:rPr lang="bg-BG" altLang="bg-BG" dirty="0" smtClean="0"/>
              <a:t>, </a:t>
            </a:r>
            <a:r>
              <a:rPr lang="en-US" altLang="bg-BG" dirty="0" err="1" smtClean="0"/>
              <a:t>Dname</a:t>
            </a:r>
            <a:endParaRPr lang="bg-BG" altLang="bg-BG" dirty="0" smtClean="0"/>
          </a:p>
          <a:p>
            <a:pPr marL="1203960" lvl="2" indent="-609600">
              <a:buFontTx/>
              <a:buNone/>
            </a:pPr>
            <a:r>
              <a:rPr lang="bg-BG" altLang="bg-BG" sz="2400" dirty="0" smtClean="0"/>
              <a:t>FROM EMPLOYEE, DEPARTMENT</a:t>
            </a:r>
          </a:p>
          <a:p>
            <a:pPr marL="1203960" lvl="2" indent="-609600">
              <a:buFontTx/>
              <a:buNone/>
            </a:pPr>
            <a:r>
              <a:rPr lang="bg-BG" altLang="bg-BG" sz="2400" dirty="0" smtClean="0"/>
              <a:t>WHERE </a:t>
            </a:r>
            <a:r>
              <a:rPr lang="bg-BG" altLang="bg-BG" sz="2400" dirty="0" err="1" smtClean="0"/>
              <a:t>Dnumber</a:t>
            </a:r>
            <a:r>
              <a:rPr lang="bg-BG" altLang="bg-BG" sz="2400" dirty="0" smtClean="0"/>
              <a:t> = </a:t>
            </a:r>
            <a:r>
              <a:rPr lang="bg-BG" altLang="bg-BG" sz="2400" dirty="0" err="1" smtClean="0"/>
              <a:t>Dno</a:t>
            </a:r>
            <a:r>
              <a:rPr lang="bg-BG" altLang="bg-BG" sz="2400" dirty="0" smtClean="0"/>
              <a:t> – </a:t>
            </a:r>
            <a:r>
              <a:rPr lang="bg-BG" altLang="bg-BG" sz="2400" dirty="0"/>
              <a:t>съединение!</a:t>
            </a:r>
          </a:p>
          <a:p>
            <a:pPr marL="609600" indent="-609600">
              <a:buFontTx/>
              <a:buNone/>
            </a:pPr>
            <a:endParaRPr lang="bg-BG" altLang="bg-BG" sz="2800" dirty="0"/>
          </a:p>
          <a:p>
            <a:pPr marL="609600" indent="-609600">
              <a:buFontTx/>
              <a:buNone/>
            </a:pPr>
            <a:endParaRPr lang="bg-BG" altLang="bg-BG" sz="2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80F7ECF3-6223-486D-A4E8-0211BE4AA306}" type="slidenum">
              <a:rPr lang="bg-BG" altLang="bg-BG"/>
              <a:pPr/>
              <a:t>13</a:t>
            </a:fld>
            <a:endParaRPr lang="bg-BG" altLang="bg-BG"/>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971600" y="476672"/>
            <a:ext cx="6781800" cy="654968"/>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93539" name="Rectangle 3"/>
          <p:cNvSpPr>
            <a:spLocks noGrp="1" noChangeArrowheads="1"/>
          </p:cNvSpPr>
          <p:nvPr>
            <p:ph idx="1"/>
          </p:nvPr>
        </p:nvSpPr>
        <p:spPr>
          <a:xfrm>
            <a:off x="611560" y="1268760"/>
            <a:ext cx="7543800" cy="3886200"/>
          </a:xfrm>
        </p:spPr>
        <p:txBody>
          <a:bodyPr/>
          <a:lstStyle/>
          <a:p>
            <a:pPr>
              <a:buFontTx/>
              <a:buNone/>
            </a:pPr>
            <a:r>
              <a:rPr lang="bg-BG" altLang="bg-BG" sz="2800" dirty="0"/>
              <a:t>След оператора WHERE могат да се задават условия:</a:t>
            </a:r>
          </a:p>
          <a:p>
            <a:pPr lvl="1">
              <a:buFontTx/>
              <a:buChar char="•"/>
            </a:pPr>
            <a:r>
              <a:rPr lang="bg-BG" altLang="bg-BG" sz="2400" dirty="0"/>
              <a:t>за избор - </a:t>
            </a:r>
            <a:r>
              <a:rPr lang="bg-BG" altLang="bg-BG" sz="2400" dirty="0" err="1" smtClean="0"/>
              <a:t>Dname</a:t>
            </a:r>
            <a:r>
              <a:rPr lang="bg-BG" altLang="bg-BG" sz="2400" dirty="0" smtClean="0"/>
              <a:t> </a:t>
            </a:r>
            <a:r>
              <a:rPr lang="bg-BG" altLang="bg-BG" sz="2400" dirty="0"/>
              <a:t>= 'Research'</a:t>
            </a:r>
          </a:p>
          <a:p>
            <a:pPr lvl="1">
              <a:buFontTx/>
              <a:buChar char="•"/>
            </a:pPr>
            <a:r>
              <a:rPr lang="bg-BG" altLang="bg-BG" sz="2400" dirty="0"/>
              <a:t>за съединение - </a:t>
            </a:r>
            <a:r>
              <a:rPr lang="bg-BG" altLang="bg-BG" sz="2400" dirty="0" err="1" smtClean="0"/>
              <a:t>Dnumber</a:t>
            </a:r>
            <a:r>
              <a:rPr lang="bg-BG" altLang="bg-BG" sz="2400" dirty="0" smtClean="0"/>
              <a:t> = </a:t>
            </a:r>
            <a:r>
              <a:rPr lang="bg-BG" altLang="bg-BG" sz="2400" dirty="0" err="1" smtClean="0"/>
              <a:t>Dno</a:t>
            </a:r>
            <a:endParaRPr lang="bg-BG" altLang="bg-BG" sz="2400" dirty="0" smtClean="0"/>
          </a:p>
          <a:p>
            <a:pPr>
              <a:buFontTx/>
              <a:buNone/>
            </a:pPr>
            <a:endParaRPr lang="bg-BG" altLang="bg-BG" sz="2800" dirty="0"/>
          </a:p>
          <a:p>
            <a:pPr>
              <a:buFontTx/>
              <a:buNone/>
            </a:pPr>
            <a:r>
              <a:rPr lang="bg-BG" altLang="bg-BG" sz="2800" dirty="0"/>
              <a:t>В общия случай могат да се задават произволен брой условия за избор и съединение след оператора WHERE.</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B77F35EC-6554-4937-BD3E-172D95BEB337}" type="slidenum">
              <a:rPr lang="bg-BG" altLang="bg-BG"/>
              <a:pPr/>
              <a:t>14</a:t>
            </a:fld>
            <a:endParaRPr lang="bg-BG" altLang="bg-BG"/>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827584" y="404664"/>
            <a:ext cx="6781800" cy="726976"/>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36195" name="Rectangle 3"/>
          <p:cNvSpPr>
            <a:spLocks noGrp="1" noChangeArrowheads="1"/>
          </p:cNvSpPr>
          <p:nvPr>
            <p:ph idx="1"/>
          </p:nvPr>
        </p:nvSpPr>
        <p:spPr>
          <a:xfrm>
            <a:off x="755576" y="1268760"/>
            <a:ext cx="7543800" cy="3886200"/>
          </a:xfrm>
        </p:spPr>
        <p:txBody>
          <a:bodyPr/>
          <a:lstStyle/>
          <a:p>
            <a:pPr marL="0" indent="0">
              <a:buNone/>
            </a:pPr>
            <a:r>
              <a:rPr lang="bg-BG" b="1" dirty="0"/>
              <a:t>Заявка </a:t>
            </a:r>
            <a:r>
              <a:rPr lang="en-US" b="1" dirty="0" smtClean="0"/>
              <a:t>3</a:t>
            </a:r>
            <a:r>
              <a:rPr lang="bg-BG" b="1" dirty="0" smtClean="0"/>
              <a:t>:</a:t>
            </a:r>
            <a:r>
              <a:rPr lang="bg-BG" dirty="0" smtClean="0"/>
              <a:t> </a:t>
            </a:r>
            <a:r>
              <a:rPr lang="bg-BG" dirty="0"/>
              <a:t>Да се изведат имената и адресите на всички служители, които работят в отдел 'Изследователски'.</a:t>
            </a:r>
            <a:endParaRPr lang="en-US" dirty="0"/>
          </a:p>
          <a:p>
            <a:pPr marL="0" indent="0">
              <a:buNone/>
            </a:pPr>
            <a:r>
              <a:rPr lang="bg-BG" dirty="0" smtClean="0"/>
              <a:t>Q</a:t>
            </a:r>
            <a:r>
              <a:rPr lang="en-US" dirty="0" smtClean="0"/>
              <a:t>3</a:t>
            </a:r>
            <a:r>
              <a:rPr lang="bg-BG" dirty="0" smtClean="0"/>
              <a:t>: </a:t>
            </a:r>
            <a:r>
              <a:rPr lang="bg-BG" dirty="0"/>
              <a:t>SELECT </a:t>
            </a:r>
            <a:r>
              <a:rPr lang="bg-BG" dirty="0" err="1"/>
              <a:t>Fname</a:t>
            </a:r>
            <a:r>
              <a:rPr lang="bg-BG" dirty="0" smtClean="0"/>
              <a:t>,</a:t>
            </a:r>
            <a:r>
              <a:rPr lang="en-US" dirty="0" smtClean="0"/>
              <a:t> </a:t>
            </a:r>
            <a:r>
              <a:rPr lang="bg-BG" dirty="0" err="1" smtClean="0"/>
              <a:t>Lname</a:t>
            </a:r>
            <a:r>
              <a:rPr lang="bg-BG" dirty="0" smtClean="0"/>
              <a:t>,</a:t>
            </a:r>
            <a:r>
              <a:rPr lang="en-US" dirty="0" smtClean="0"/>
              <a:t> </a:t>
            </a:r>
            <a:r>
              <a:rPr lang="bg-BG" dirty="0" err="1" smtClean="0"/>
              <a:t>Address</a:t>
            </a:r>
            <a:endParaRPr lang="en-US" dirty="0"/>
          </a:p>
          <a:p>
            <a:pPr marL="594360" lvl="2" indent="0">
              <a:buNone/>
            </a:pPr>
            <a:r>
              <a:rPr lang="bg-BG" sz="2400" dirty="0" smtClean="0"/>
              <a:t>FROM EMPLOYEE,</a:t>
            </a:r>
            <a:r>
              <a:rPr lang="en-US" sz="2400" dirty="0" smtClean="0"/>
              <a:t>  </a:t>
            </a:r>
            <a:r>
              <a:rPr lang="bg-BG" sz="2400" dirty="0" smtClean="0"/>
              <a:t>DEPARTMENT</a:t>
            </a:r>
            <a:endParaRPr lang="en-US" sz="2400" dirty="0" smtClean="0"/>
          </a:p>
          <a:p>
            <a:pPr marL="594360" lvl="2" indent="0">
              <a:buNone/>
            </a:pPr>
            <a:r>
              <a:rPr lang="bg-BG" sz="2400" dirty="0" smtClean="0"/>
              <a:t>WHERE </a:t>
            </a:r>
            <a:r>
              <a:rPr lang="bg-BG" sz="2400" dirty="0" err="1"/>
              <a:t>Dname</a:t>
            </a:r>
            <a:r>
              <a:rPr lang="bg-BG" sz="2400" dirty="0"/>
              <a:t>='Изследователски</a:t>
            </a:r>
            <a:r>
              <a:rPr lang="en-US" sz="2400" dirty="0"/>
              <a:t>'</a:t>
            </a:r>
            <a:r>
              <a:rPr lang="bg-BG" sz="2400" dirty="0"/>
              <a:t> AND </a:t>
            </a:r>
            <a:r>
              <a:rPr lang="bg-BG" sz="2400" dirty="0" err="1" smtClean="0"/>
              <a:t>Dnumber</a:t>
            </a:r>
            <a:r>
              <a:rPr lang="bg-BG" sz="2400" dirty="0" smtClean="0"/>
              <a:t>=</a:t>
            </a:r>
            <a:r>
              <a:rPr lang="bg-BG" sz="2400" dirty="0" err="1" smtClean="0"/>
              <a:t>Dno</a:t>
            </a:r>
            <a:endParaRPr lang="en-US" sz="2400" dirty="0"/>
          </a:p>
          <a:p>
            <a:pPr marL="609600" indent="-609600">
              <a:buFontTx/>
              <a:buNone/>
            </a:pPr>
            <a:endParaRPr lang="bg-BG" altLang="bg-BG" sz="2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CD1178B0-5B03-4B22-85C4-063F4CE6FB6F}" type="slidenum">
              <a:rPr lang="bg-BG" altLang="bg-BG"/>
              <a:pPr/>
              <a:t>15</a:t>
            </a:fld>
            <a:endParaRPr lang="bg-BG" altLang="bg-BG"/>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1187624" y="404664"/>
            <a:ext cx="6781800" cy="582960"/>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90467" name="Rectangle 3"/>
          <p:cNvSpPr>
            <a:spLocks noGrp="1" noChangeArrowheads="1"/>
          </p:cNvSpPr>
          <p:nvPr>
            <p:ph idx="1"/>
          </p:nvPr>
        </p:nvSpPr>
        <p:spPr>
          <a:xfrm>
            <a:off x="683568" y="1124744"/>
            <a:ext cx="7543800" cy="4320480"/>
          </a:xfrm>
        </p:spPr>
        <p:txBody>
          <a:bodyPr>
            <a:normAutofit lnSpcReduction="10000"/>
          </a:bodyPr>
          <a:lstStyle/>
          <a:p>
            <a:pPr marL="609600" indent="-609600">
              <a:lnSpc>
                <a:spcPct val="90000"/>
              </a:lnSpc>
              <a:buFontTx/>
              <a:buAutoNum type="arabicPeriod"/>
            </a:pPr>
            <a:r>
              <a:rPr lang="bg-BG" altLang="bg-BG" sz="2800" dirty="0"/>
              <a:t>В SQL е допустимо две колони да носят едно и също име при условие, че се намират в отделни таблици. </a:t>
            </a:r>
            <a:endParaRPr lang="en-US" altLang="bg-BG" sz="2800" dirty="0"/>
          </a:p>
          <a:p>
            <a:pPr marL="609600" indent="-609600">
              <a:lnSpc>
                <a:spcPct val="90000"/>
              </a:lnSpc>
              <a:buFontTx/>
              <a:buAutoNum type="arabicPeriod"/>
            </a:pPr>
            <a:r>
              <a:rPr lang="bg-BG" altLang="bg-BG" sz="2800" dirty="0"/>
              <a:t>Тогава при формулирането на заявките е необходимо уточняването на името на колоната чрез това на съответната й таблица.</a:t>
            </a:r>
            <a:endParaRPr lang="en-US" altLang="bg-BG" sz="2800" dirty="0"/>
          </a:p>
          <a:p>
            <a:pPr marL="609600" indent="-609600">
              <a:lnSpc>
                <a:spcPct val="90000"/>
              </a:lnSpc>
              <a:buFontTx/>
              <a:buNone/>
            </a:pPr>
            <a:r>
              <a:rPr lang="bg-BG" altLang="bg-BG" sz="2800" dirty="0"/>
              <a:t> Например:</a:t>
            </a:r>
          </a:p>
          <a:p>
            <a:pPr marL="320040" lvl="1" indent="0">
              <a:buNone/>
            </a:pPr>
            <a:r>
              <a:rPr lang="bg-BG" sz="2400" dirty="0"/>
              <a:t>WHERE </a:t>
            </a:r>
            <a:r>
              <a:rPr lang="bg-BG" sz="2400" dirty="0" smtClean="0"/>
              <a:t>DEPARTMENT.</a:t>
            </a:r>
            <a:r>
              <a:rPr lang="en-US" sz="2400" dirty="0"/>
              <a:t>D</a:t>
            </a:r>
            <a:r>
              <a:rPr lang="bg-BG" sz="2400" dirty="0" err="1"/>
              <a:t>name</a:t>
            </a:r>
            <a:r>
              <a:rPr lang="bg-BG" sz="2400" dirty="0"/>
              <a:t> = 'Изследователски' AND </a:t>
            </a:r>
            <a:endParaRPr lang="en-US" sz="2400" dirty="0"/>
          </a:p>
          <a:p>
            <a:pPr marL="320040" lvl="1" indent="0">
              <a:buNone/>
            </a:pPr>
            <a:r>
              <a:rPr lang="bg-BG" sz="2400" dirty="0" err="1" smtClean="0"/>
              <a:t>Department.Dnumber</a:t>
            </a:r>
            <a:r>
              <a:rPr lang="bg-BG" sz="2400" dirty="0" smtClean="0"/>
              <a:t> </a:t>
            </a:r>
            <a:r>
              <a:rPr lang="bg-BG" sz="2400" dirty="0"/>
              <a:t>= </a:t>
            </a:r>
            <a:r>
              <a:rPr lang="bg-BG" sz="2400" dirty="0" err="1" smtClean="0"/>
              <a:t>EMPLOYEE.Dnumber</a:t>
            </a:r>
            <a:endParaRPr lang="en-US"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1691806F-C106-4DCA-B149-EE4034C42A80}" type="slidenum">
              <a:rPr lang="bg-BG" altLang="bg-BG"/>
              <a:pPr/>
              <a:t>16</a:t>
            </a:fld>
            <a:endParaRPr lang="bg-BG" altLang="bg-BG"/>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1115616" y="404664"/>
            <a:ext cx="6781800" cy="654968"/>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89443" name="Rectangle 3"/>
          <p:cNvSpPr>
            <a:spLocks noGrp="1" noChangeArrowheads="1"/>
          </p:cNvSpPr>
          <p:nvPr>
            <p:ph sz="half" idx="1"/>
          </p:nvPr>
        </p:nvSpPr>
        <p:spPr>
          <a:xfrm>
            <a:off x="179512" y="980729"/>
            <a:ext cx="4320480" cy="5071964"/>
          </a:xfrm>
        </p:spPr>
        <p:txBody>
          <a:bodyPr>
            <a:normAutofit/>
          </a:bodyPr>
          <a:lstStyle/>
          <a:p>
            <a:pPr marL="0" indent="0">
              <a:buNone/>
            </a:pPr>
            <a:r>
              <a:rPr lang="bg-BG" sz="2400" b="1" dirty="0"/>
              <a:t>Заявка 4:</a:t>
            </a:r>
            <a:r>
              <a:rPr lang="bg-BG" sz="2400" dirty="0"/>
              <a:t> За всеки служител да се изведе името му и последното име на ръководителя му. </a:t>
            </a:r>
            <a:endParaRPr lang="en-US" sz="2400" dirty="0"/>
          </a:p>
          <a:p>
            <a:pPr marL="0" indent="0">
              <a:buNone/>
            </a:pPr>
            <a:endParaRPr lang="en-US" sz="800" dirty="0" smtClean="0"/>
          </a:p>
          <a:p>
            <a:pPr marL="0" indent="0">
              <a:buNone/>
            </a:pPr>
            <a:r>
              <a:rPr lang="bg-BG" dirty="0" smtClean="0"/>
              <a:t>Q4</a:t>
            </a:r>
            <a:r>
              <a:rPr lang="bg-BG" dirty="0"/>
              <a:t>: </a:t>
            </a:r>
            <a:r>
              <a:rPr lang="bg-BG" sz="2400" dirty="0"/>
              <a:t>SELECT </a:t>
            </a:r>
            <a:r>
              <a:rPr lang="bg-BG" sz="2400" dirty="0" err="1"/>
              <a:t>E.Fname</a:t>
            </a:r>
            <a:r>
              <a:rPr lang="bg-BG" sz="2400" dirty="0"/>
              <a:t>, </a:t>
            </a:r>
            <a:r>
              <a:rPr lang="en-US" sz="2400" dirty="0" smtClean="0"/>
              <a:t> </a:t>
            </a:r>
          </a:p>
          <a:p>
            <a:pPr marL="0" indent="0">
              <a:buNone/>
            </a:pPr>
            <a:r>
              <a:rPr lang="en-US" sz="2400" dirty="0" smtClean="0"/>
              <a:t>       </a:t>
            </a:r>
            <a:r>
              <a:rPr lang="bg-BG" sz="2400" dirty="0" err="1" smtClean="0"/>
              <a:t>E.Lname</a:t>
            </a:r>
            <a:r>
              <a:rPr lang="bg-BG" sz="2400" dirty="0"/>
              <a:t>, </a:t>
            </a:r>
            <a:r>
              <a:rPr lang="bg-BG" sz="2400" dirty="0" err="1"/>
              <a:t>S.Lname</a:t>
            </a:r>
            <a:endParaRPr lang="en-US" sz="2400" dirty="0"/>
          </a:p>
          <a:p>
            <a:pPr marL="594360" lvl="2" indent="0">
              <a:buNone/>
            </a:pPr>
            <a:r>
              <a:rPr lang="bg-BG" sz="2400" dirty="0"/>
              <a:t>FROM EMPLOYEE E S</a:t>
            </a:r>
            <a:endParaRPr lang="en-US" sz="2400" dirty="0"/>
          </a:p>
          <a:p>
            <a:pPr marL="594360" lvl="2" indent="0">
              <a:buNone/>
            </a:pPr>
            <a:r>
              <a:rPr lang="bg-BG" sz="2400" dirty="0"/>
              <a:t>WHERE </a:t>
            </a:r>
            <a:r>
              <a:rPr lang="bg-BG" sz="2400" dirty="0" err="1"/>
              <a:t>E.Superssn</a:t>
            </a:r>
            <a:r>
              <a:rPr lang="bg-BG" sz="2400" dirty="0"/>
              <a:t> = </a:t>
            </a:r>
            <a:r>
              <a:rPr lang="bg-BG" sz="2400" dirty="0" err="1"/>
              <a:t>S.Ssn</a:t>
            </a:r>
            <a:endParaRPr lang="en-US" sz="2400" dirty="0"/>
          </a:p>
          <a:p>
            <a:pPr>
              <a:lnSpc>
                <a:spcPct val="80000"/>
              </a:lnSpc>
              <a:buFontTx/>
              <a:buNone/>
            </a:pPr>
            <a:endParaRPr lang="en-US" altLang="bg-BG" sz="2400" dirty="0"/>
          </a:p>
          <a:p>
            <a:pPr>
              <a:lnSpc>
                <a:spcPct val="80000"/>
              </a:lnSpc>
              <a:buFontTx/>
              <a:buNone/>
            </a:pPr>
            <a:r>
              <a:rPr lang="bg-BG" altLang="bg-BG" sz="2400" dirty="0">
                <a:solidFill>
                  <a:srgbClr val="C00000"/>
                </a:solidFill>
              </a:rPr>
              <a:t>Пример за използване на синоними</a:t>
            </a:r>
          </a:p>
        </p:txBody>
      </p:sp>
      <p:sp>
        <p:nvSpPr>
          <p:cNvPr id="189444" name="Rectangle 4"/>
          <p:cNvSpPr>
            <a:spLocks noGrp="1" noChangeArrowheads="1"/>
          </p:cNvSpPr>
          <p:nvPr>
            <p:ph sz="half" idx="2"/>
          </p:nvPr>
        </p:nvSpPr>
        <p:spPr>
          <a:xfrm>
            <a:off x="4514442" y="980729"/>
            <a:ext cx="4608513" cy="4968551"/>
          </a:xfrm>
        </p:spPr>
        <p:txBody>
          <a:bodyPr>
            <a:normAutofit/>
          </a:bodyPr>
          <a:lstStyle/>
          <a:p>
            <a:pPr>
              <a:lnSpc>
                <a:spcPct val="80000"/>
              </a:lnSpc>
              <a:buFontTx/>
              <a:buAutoNum type="arabicPeriod"/>
            </a:pPr>
            <a:r>
              <a:rPr lang="bg-BG" altLang="bg-BG" sz="2000" dirty="0"/>
              <a:t>В този случай се задават алтернативни имена E и S на таблицата EMPLOYEE, които се наричат синоними. </a:t>
            </a:r>
          </a:p>
          <a:p>
            <a:pPr>
              <a:lnSpc>
                <a:spcPct val="80000"/>
              </a:lnSpc>
              <a:buFontTx/>
              <a:buAutoNum type="arabicPeriod"/>
            </a:pPr>
            <a:r>
              <a:rPr lang="bg-BG" altLang="bg-BG" sz="2000" dirty="0"/>
              <a:t>По този начин, все едно че съществуват две отделни копия E и S на таблицата EMPLOYEE, върху които се изпълнява операцията "съединение". </a:t>
            </a:r>
          </a:p>
          <a:p>
            <a:pPr>
              <a:lnSpc>
                <a:spcPct val="80000"/>
              </a:lnSpc>
              <a:buFontTx/>
              <a:buAutoNum type="arabicPeriod"/>
            </a:pPr>
            <a:r>
              <a:rPr lang="bg-BG" altLang="bg-BG" sz="2000" dirty="0"/>
              <a:t>Копието Е представя служителите в ролята на подчинени, а копието </a:t>
            </a:r>
            <a:r>
              <a:rPr lang="en-US" altLang="bg-BG" sz="2000" dirty="0"/>
              <a:t>S</a:t>
            </a:r>
            <a:r>
              <a:rPr lang="bg-BG" altLang="bg-BG" sz="2000" dirty="0"/>
              <a:t> – в ролята на началници. </a:t>
            </a:r>
          </a:p>
          <a:p>
            <a:pPr>
              <a:lnSpc>
                <a:spcPct val="80000"/>
              </a:lnSpc>
              <a:buFontTx/>
              <a:buAutoNum type="arabicPeriod"/>
            </a:pPr>
            <a:r>
              <a:rPr lang="bg-BG" altLang="bg-BG" sz="2000" dirty="0"/>
              <a:t>В действителност това е съединение, в което двете  таблици съвпадат (</a:t>
            </a:r>
            <a:r>
              <a:rPr lang="bg-BG" altLang="bg-BG" sz="2000" dirty="0">
                <a:solidFill>
                  <a:srgbClr val="C00000"/>
                </a:solidFill>
              </a:rPr>
              <a:t>self-join</a:t>
            </a:r>
            <a:r>
              <a:rPr lang="bg-BG" altLang="bg-BG" sz="2000" dirty="0"/>
              <a:t>). </a:t>
            </a:r>
          </a:p>
          <a:p>
            <a:pPr>
              <a:lnSpc>
                <a:spcPct val="80000"/>
              </a:lnSpc>
              <a:buFontTx/>
              <a:buAutoNum type="arabicPeriod"/>
            </a:pPr>
            <a:r>
              <a:rPr lang="bg-BG" altLang="bg-BG" sz="2000" dirty="0"/>
              <a:t>Заявка 4 има ниво на рекурсия единица. В SQL могат да се формулират заявки с произволно, но известно ниво на рекурсия. </a:t>
            </a:r>
          </a:p>
        </p:txBody>
      </p:sp>
      <p:sp>
        <p:nvSpPr>
          <p:cNvPr id="5" name="Date Placeholder 4"/>
          <p:cNvSpPr>
            <a:spLocks noGrp="1"/>
          </p:cNvSpPr>
          <p:nvPr>
            <p:ph type="dt" sz="half" idx="10"/>
          </p:nvPr>
        </p:nvSpPr>
        <p:spPr/>
        <p:txBody>
          <a:bodyPr/>
          <a:lstStyle/>
          <a:p>
            <a:r>
              <a:rPr lang="bg-BG" altLang="bg-BG"/>
              <a:t>Юлиана Пенева</a:t>
            </a:r>
          </a:p>
        </p:txBody>
      </p:sp>
      <p:sp>
        <p:nvSpPr>
          <p:cNvPr id="6" name="Footer Placeholder 5"/>
          <p:cNvSpPr>
            <a:spLocks noGrp="1"/>
          </p:cNvSpPr>
          <p:nvPr>
            <p:ph type="ftr" sz="quarter" idx="11"/>
          </p:nvPr>
        </p:nvSpPr>
        <p:spPr/>
        <p:txBody>
          <a:bodyPr/>
          <a:lstStyle/>
          <a:p>
            <a:r>
              <a:rPr lang="bg-BG" altLang="bg-BG"/>
              <a:t>CSCB405- модул4</a:t>
            </a:r>
          </a:p>
        </p:txBody>
      </p:sp>
      <p:sp>
        <p:nvSpPr>
          <p:cNvPr id="7" name="Slide Number Placeholder 6"/>
          <p:cNvSpPr>
            <a:spLocks noGrp="1"/>
          </p:cNvSpPr>
          <p:nvPr>
            <p:ph type="sldNum" sz="quarter" idx="12"/>
          </p:nvPr>
        </p:nvSpPr>
        <p:spPr/>
        <p:txBody>
          <a:bodyPr/>
          <a:lstStyle/>
          <a:p>
            <a:fld id="{5D9F7892-EAAE-4A7D-8B98-1D08E07E1324}" type="slidenum">
              <a:rPr lang="bg-BG" altLang="bg-BG"/>
              <a:pPr/>
              <a:t>17</a:t>
            </a:fld>
            <a:endParaRPr lang="bg-BG" altLang="bg-BG"/>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4" name="Rectangle 8"/>
          <p:cNvSpPr>
            <a:spLocks noGrp="1" noChangeArrowheads="1"/>
          </p:cNvSpPr>
          <p:nvPr>
            <p:ph type="title"/>
          </p:nvPr>
        </p:nvSpPr>
        <p:spPr>
          <a:xfrm>
            <a:off x="1043608" y="325760"/>
            <a:ext cx="6781800" cy="654968"/>
          </a:xfrm>
        </p:spPr>
        <p:txBody>
          <a:bodyPr>
            <a:normAutofit/>
          </a:bodyPr>
          <a:lstStyle/>
          <a:p>
            <a:pPr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137225" name="Rectangle 9"/>
          <p:cNvSpPr>
            <a:spLocks noGrp="1" noChangeArrowheads="1"/>
          </p:cNvSpPr>
          <p:nvPr>
            <p:ph idx="1"/>
          </p:nvPr>
        </p:nvSpPr>
        <p:spPr>
          <a:xfrm>
            <a:off x="800100" y="1052736"/>
            <a:ext cx="7876356" cy="5135495"/>
          </a:xfrm>
        </p:spPr>
        <p:txBody>
          <a:bodyPr>
            <a:normAutofit fontScale="92500" lnSpcReduction="10000"/>
          </a:bodyPr>
          <a:lstStyle/>
          <a:p>
            <a:pPr marL="457200" indent="-457200">
              <a:lnSpc>
                <a:spcPct val="80000"/>
              </a:lnSpc>
              <a:buFontTx/>
              <a:buAutoNum type="arabicPeriod"/>
            </a:pPr>
            <a:r>
              <a:rPr lang="bg-BG" altLang="bg-BG" sz="2600" dirty="0"/>
              <a:t>Липсващ </a:t>
            </a:r>
            <a:r>
              <a:rPr lang="en-US" altLang="bg-BG" sz="2600" dirty="0">
                <a:solidFill>
                  <a:srgbClr val="C00000"/>
                </a:solidFill>
              </a:rPr>
              <a:t>WHERE</a:t>
            </a:r>
            <a:r>
              <a:rPr lang="en-US" altLang="bg-BG" sz="2600" dirty="0"/>
              <a:t> </a:t>
            </a:r>
            <a:r>
              <a:rPr lang="bg-BG" altLang="bg-BG" sz="2600" dirty="0"/>
              <a:t>– безусловен избор на всички редове.</a:t>
            </a:r>
          </a:p>
          <a:p>
            <a:pPr marL="457200" indent="-457200">
              <a:lnSpc>
                <a:spcPct val="80000"/>
              </a:lnSpc>
              <a:buFontTx/>
              <a:buAutoNum type="arabicPeriod"/>
            </a:pPr>
            <a:r>
              <a:rPr lang="bg-BG" altLang="bg-BG" sz="2600" dirty="0"/>
              <a:t>Ако след FROM е зададена повече от една таблица, по подразбиране се извеждат всички възможни комбинации от редове – декартово произведение.  </a:t>
            </a:r>
          </a:p>
          <a:p>
            <a:pPr marL="457200" indent="-457200">
              <a:lnSpc>
                <a:spcPct val="80000"/>
              </a:lnSpc>
              <a:buFontTx/>
              <a:buAutoNum type="arabicPeriod"/>
            </a:pPr>
            <a:r>
              <a:rPr lang="bg-BG" altLang="bg-BG" sz="2600" dirty="0"/>
              <a:t>Изпуснато условие за съединение – декартово произведение.</a:t>
            </a:r>
          </a:p>
          <a:p>
            <a:pPr marL="457200" indent="-457200">
              <a:lnSpc>
                <a:spcPct val="80000"/>
              </a:lnSpc>
              <a:buFontTx/>
              <a:buNone/>
            </a:pPr>
            <a:endParaRPr lang="bg-BG" altLang="bg-BG" sz="2000" dirty="0"/>
          </a:p>
          <a:p>
            <a:pPr marL="0" indent="0">
              <a:buNone/>
            </a:pPr>
            <a:r>
              <a:rPr lang="bg-BG" altLang="bg-BG" sz="1600" dirty="0"/>
              <a:t> </a:t>
            </a:r>
            <a:r>
              <a:rPr lang="bg-BG" sz="2600" b="1" dirty="0"/>
              <a:t>Заявка 5:</a:t>
            </a:r>
            <a:r>
              <a:rPr lang="bg-BG" sz="2600" dirty="0"/>
              <a:t> Да се изведат номерата на служителите</a:t>
            </a:r>
            <a:endParaRPr lang="en-US" sz="2600" dirty="0"/>
          </a:p>
          <a:p>
            <a:pPr marL="868680" lvl="3" indent="0">
              <a:buNone/>
            </a:pPr>
            <a:r>
              <a:rPr lang="bg-BG" sz="2600" dirty="0"/>
              <a:t>Q5: SELECT </a:t>
            </a:r>
            <a:r>
              <a:rPr lang="bg-BG" sz="2600" dirty="0" err="1"/>
              <a:t>Ssn</a:t>
            </a:r>
            <a:endParaRPr lang="en-US" sz="2600" dirty="0"/>
          </a:p>
          <a:p>
            <a:pPr marL="868680" lvl="3" indent="0">
              <a:buNone/>
            </a:pPr>
            <a:r>
              <a:rPr lang="bg-BG" sz="2600" dirty="0"/>
              <a:t>FROM </a:t>
            </a:r>
            <a:r>
              <a:rPr lang="bg-BG" sz="2600" dirty="0" smtClean="0"/>
              <a:t>EMPLOYEE</a:t>
            </a:r>
            <a:endParaRPr lang="en-US" sz="2600" dirty="0" smtClean="0"/>
          </a:p>
          <a:p>
            <a:pPr marL="0" indent="0">
              <a:buNone/>
            </a:pPr>
            <a:r>
              <a:rPr lang="bg-BG" sz="2600" b="1" dirty="0" smtClean="0"/>
              <a:t>Заявка </a:t>
            </a:r>
            <a:r>
              <a:rPr lang="bg-BG" sz="2600" b="1" dirty="0"/>
              <a:t>6: </a:t>
            </a:r>
            <a:r>
              <a:rPr lang="bg-BG" sz="2600" dirty="0"/>
              <a:t>Да се изведат номерата на служителите и имената на отделите, в които работят.</a:t>
            </a:r>
            <a:endParaRPr lang="en-US" sz="2600" dirty="0"/>
          </a:p>
          <a:p>
            <a:pPr marL="868680" lvl="3" indent="0">
              <a:buNone/>
            </a:pPr>
            <a:r>
              <a:rPr lang="bg-BG" sz="2600" dirty="0"/>
              <a:t>Q6: SELECT </a:t>
            </a:r>
            <a:r>
              <a:rPr lang="bg-BG" sz="2600" dirty="0" err="1"/>
              <a:t>Ssn</a:t>
            </a:r>
            <a:r>
              <a:rPr lang="bg-BG" sz="2600" dirty="0"/>
              <a:t>, </a:t>
            </a:r>
            <a:r>
              <a:rPr lang="bg-BG" sz="2600" dirty="0" err="1"/>
              <a:t>Dname</a:t>
            </a:r>
            <a:endParaRPr lang="en-US" sz="2600" dirty="0"/>
          </a:p>
          <a:p>
            <a:pPr marL="868680" lvl="3" indent="0">
              <a:buNone/>
            </a:pPr>
            <a:r>
              <a:rPr lang="bg-BG" sz="2600" dirty="0"/>
              <a:t>FROM </a:t>
            </a:r>
            <a:r>
              <a:rPr lang="bg-BG" sz="2600" dirty="0" smtClean="0"/>
              <a:t>EMPLOYEE, DEPARTMENT</a:t>
            </a:r>
            <a:r>
              <a:rPr lang="bg-BG" altLang="bg-BG" sz="2600" dirty="0" smtClean="0"/>
              <a:t> – </a:t>
            </a:r>
            <a:r>
              <a:rPr lang="bg-BG" altLang="bg-BG" sz="2600" dirty="0">
                <a:solidFill>
                  <a:srgbClr val="C00000"/>
                </a:solidFill>
              </a:rPr>
              <a:t>грешка!</a:t>
            </a:r>
          </a:p>
          <a:p>
            <a:pPr marL="457200" indent="-457200">
              <a:lnSpc>
                <a:spcPct val="80000"/>
              </a:lnSpc>
            </a:pPr>
            <a:endParaRPr lang="bg-BG" altLang="bg-BG" sz="1600" dirty="0"/>
          </a:p>
        </p:txBody>
      </p:sp>
      <p:sp>
        <p:nvSpPr>
          <p:cNvPr id="6" name="Date Placeholder 3"/>
          <p:cNvSpPr>
            <a:spLocks noGrp="1"/>
          </p:cNvSpPr>
          <p:nvPr>
            <p:ph type="dt" sz="half" idx="10"/>
          </p:nvPr>
        </p:nvSpPr>
        <p:spPr/>
        <p:txBody>
          <a:bodyPr/>
          <a:lstStyle/>
          <a:p>
            <a:r>
              <a:rPr lang="bg-BG" altLang="bg-BG"/>
              <a:t>Юлиана Пенева</a:t>
            </a:r>
          </a:p>
        </p:txBody>
      </p:sp>
      <p:sp>
        <p:nvSpPr>
          <p:cNvPr id="7" name="Footer Placeholder 4"/>
          <p:cNvSpPr>
            <a:spLocks noGrp="1"/>
          </p:cNvSpPr>
          <p:nvPr>
            <p:ph type="ftr" sz="quarter" idx="11"/>
          </p:nvPr>
        </p:nvSpPr>
        <p:spPr/>
        <p:txBody>
          <a:bodyPr/>
          <a:lstStyle/>
          <a:p>
            <a:r>
              <a:rPr lang="bg-BG" altLang="bg-BG"/>
              <a:t>CSCB405- модул4</a:t>
            </a:r>
          </a:p>
        </p:txBody>
      </p:sp>
      <p:sp>
        <p:nvSpPr>
          <p:cNvPr id="8" name="Slide Number Placeholder 5"/>
          <p:cNvSpPr>
            <a:spLocks noGrp="1"/>
          </p:cNvSpPr>
          <p:nvPr>
            <p:ph type="sldNum" sz="quarter" idx="12"/>
          </p:nvPr>
        </p:nvSpPr>
        <p:spPr/>
        <p:txBody>
          <a:bodyPr/>
          <a:lstStyle/>
          <a:p>
            <a:fld id="{D4CA682D-F9AB-432D-8D9C-8936E7EADD5D}" type="slidenum">
              <a:rPr lang="bg-BG" altLang="bg-BG"/>
              <a:pPr/>
              <a:t>18</a:t>
            </a:fld>
            <a:endParaRPr lang="bg-BG" altLang="bg-BG"/>
          </a:p>
        </p:txBody>
      </p:sp>
      <p:sp>
        <p:nvSpPr>
          <p:cNvPr id="137221"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7223"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971600" y="404664"/>
            <a:ext cx="6781800" cy="654968"/>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38243" name="Rectangle 3"/>
          <p:cNvSpPr>
            <a:spLocks noGrp="1" noChangeArrowheads="1"/>
          </p:cNvSpPr>
          <p:nvPr>
            <p:ph idx="1"/>
          </p:nvPr>
        </p:nvSpPr>
        <p:spPr>
          <a:xfrm>
            <a:off x="800100" y="1196752"/>
            <a:ext cx="7543800" cy="4248472"/>
          </a:xfrm>
        </p:spPr>
        <p:txBody>
          <a:bodyPr>
            <a:normAutofit fontScale="92500" lnSpcReduction="20000"/>
          </a:bodyPr>
          <a:lstStyle/>
          <a:p>
            <a:pPr marL="609600" indent="-609600">
              <a:buFontTx/>
              <a:buNone/>
            </a:pPr>
            <a:r>
              <a:rPr lang="bg-BG" altLang="bg-BG" sz="2400" dirty="0"/>
              <a:t>Символът  </a:t>
            </a:r>
            <a:r>
              <a:rPr lang="bg-BG" altLang="bg-BG" sz="2400" dirty="0">
                <a:solidFill>
                  <a:srgbClr val="C00000"/>
                </a:solidFill>
              </a:rPr>
              <a:t>*</a:t>
            </a:r>
            <a:r>
              <a:rPr lang="bg-BG" altLang="bg-BG" sz="2400" dirty="0"/>
              <a:t> означава </a:t>
            </a:r>
            <a:r>
              <a:rPr lang="bg-BG" altLang="bg-BG" sz="2400" dirty="0">
                <a:solidFill>
                  <a:srgbClr val="C00000"/>
                </a:solidFill>
              </a:rPr>
              <a:t>ВСИЧКИ КОЛОНИ </a:t>
            </a:r>
          </a:p>
          <a:p>
            <a:pPr marL="0" indent="0">
              <a:buNone/>
            </a:pPr>
            <a:r>
              <a:rPr lang="bg-BG" b="1" dirty="0"/>
              <a:t>Заявка 7:</a:t>
            </a:r>
            <a:r>
              <a:rPr lang="bg-BG" dirty="0"/>
              <a:t> Да се изведат данните за служителите, работещи в отдел номер 5.</a:t>
            </a:r>
            <a:endParaRPr lang="en-US" dirty="0"/>
          </a:p>
          <a:p>
            <a:pPr marL="868680" lvl="3" indent="0">
              <a:buNone/>
            </a:pPr>
            <a:r>
              <a:rPr lang="bg-BG" sz="2600" dirty="0"/>
              <a:t>Q7: SELECT * </a:t>
            </a:r>
            <a:endParaRPr lang="en-US" sz="2600" dirty="0"/>
          </a:p>
          <a:p>
            <a:pPr marL="1371600" lvl="5" indent="0">
              <a:buNone/>
            </a:pPr>
            <a:r>
              <a:rPr lang="bg-BG" sz="2600" dirty="0"/>
              <a:t>FROM </a:t>
            </a:r>
            <a:r>
              <a:rPr lang="bg-BG" sz="2600" dirty="0" smtClean="0"/>
              <a:t>EMPLOYEE </a:t>
            </a:r>
            <a:endParaRPr lang="en-US" sz="2600" dirty="0" smtClean="0"/>
          </a:p>
          <a:p>
            <a:pPr marL="1371600" lvl="5" indent="0">
              <a:buNone/>
            </a:pPr>
            <a:r>
              <a:rPr lang="bg-BG" sz="2600" dirty="0" smtClean="0"/>
              <a:t>WHERE </a:t>
            </a:r>
            <a:r>
              <a:rPr lang="bg-BG" sz="2600" dirty="0" err="1"/>
              <a:t>Dno</a:t>
            </a:r>
            <a:r>
              <a:rPr lang="bg-BG" sz="2600" dirty="0"/>
              <a:t> = 5</a:t>
            </a:r>
            <a:endParaRPr lang="en-US" sz="2600" dirty="0"/>
          </a:p>
          <a:p>
            <a:pPr marL="990600" lvl="1" indent="-533400">
              <a:buFontTx/>
              <a:buNone/>
            </a:pPr>
            <a:endParaRPr lang="bg-BG" altLang="bg-BG" sz="900" u="sng" dirty="0"/>
          </a:p>
          <a:p>
            <a:pPr marL="0" indent="0">
              <a:buNone/>
            </a:pPr>
            <a:r>
              <a:rPr lang="bg-BG" b="1" dirty="0"/>
              <a:t>Заявка 8:</a:t>
            </a:r>
            <a:r>
              <a:rPr lang="bg-BG" dirty="0"/>
              <a:t> Да се изведат данните за служителите, работещи в отдел ‘Изследователски’.</a:t>
            </a:r>
            <a:endParaRPr lang="en-US" dirty="0"/>
          </a:p>
          <a:p>
            <a:pPr marL="1097280" lvl="4" indent="0">
              <a:buNone/>
            </a:pPr>
            <a:r>
              <a:rPr lang="bg-BG" sz="2600" dirty="0"/>
              <a:t>Q8: SELECT * </a:t>
            </a:r>
            <a:endParaRPr lang="en-US" sz="2600" dirty="0"/>
          </a:p>
          <a:p>
            <a:pPr marL="1627632" lvl="6" indent="0">
              <a:buNone/>
            </a:pPr>
            <a:r>
              <a:rPr lang="bg-BG" sz="2600" dirty="0"/>
              <a:t>FROM </a:t>
            </a:r>
            <a:r>
              <a:rPr lang="bg-BG" sz="2600" dirty="0" smtClean="0"/>
              <a:t>EMPLOYEE, DEPARTMENT</a:t>
            </a:r>
            <a:endParaRPr lang="en-US" sz="2600" dirty="0" smtClean="0"/>
          </a:p>
          <a:p>
            <a:pPr marL="1627632" lvl="6" indent="0">
              <a:buNone/>
            </a:pPr>
            <a:r>
              <a:rPr lang="bg-BG" sz="2600" dirty="0" smtClean="0"/>
              <a:t>WHERE </a:t>
            </a:r>
            <a:r>
              <a:rPr lang="bg-BG" sz="2600" dirty="0" err="1"/>
              <a:t>Dname</a:t>
            </a:r>
            <a:r>
              <a:rPr lang="bg-BG" sz="2600" dirty="0"/>
              <a:t> = ' Изследователски' AND </a:t>
            </a:r>
            <a:r>
              <a:rPr lang="bg-BG" sz="2600" dirty="0" err="1"/>
              <a:t>Dno</a:t>
            </a:r>
            <a:r>
              <a:rPr lang="bg-BG" sz="2600" dirty="0"/>
              <a:t> = </a:t>
            </a:r>
            <a:r>
              <a:rPr lang="bg-BG" sz="2600" dirty="0" err="1"/>
              <a:t>Dnumber</a:t>
            </a:r>
            <a:endParaRPr lang="en-US" sz="2600" dirty="0"/>
          </a:p>
        </p:txBody>
      </p:sp>
      <p:sp>
        <p:nvSpPr>
          <p:cNvPr id="10" name="Date Placeholder 3"/>
          <p:cNvSpPr>
            <a:spLocks noGrp="1"/>
          </p:cNvSpPr>
          <p:nvPr>
            <p:ph type="dt" sz="half" idx="10"/>
          </p:nvPr>
        </p:nvSpPr>
        <p:spPr/>
        <p:txBody>
          <a:bodyPr/>
          <a:lstStyle/>
          <a:p>
            <a:r>
              <a:rPr lang="bg-BG" altLang="bg-BG"/>
              <a:t>Юлиана Пенева</a:t>
            </a:r>
          </a:p>
        </p:txBody>
      </p:sp>
      <p:sp>
        <p:nvSpPr>
          <p:cNvPr id="11" name="Footer Placeholder 4"/>
          <p:cNvSpPr>
            <a:spLocks noGrp="1"/>
          </p:cNvSpPr>
          <p:nvPr>
            <p:ph type="ftr" sz="quarter" idx="11"/>
          </p:nvPr>
        </p:nvSpPr>
        <p:spPr/>
        <p:txBody>
          <a:bodyPr/>
          <a:lstStyle/>
          <a:p>
            <a:r>
              <a:rPr lang="bg-BG" altLang="bg-BG"/>
              <a:t>CSCB405- модул4</a:t>
            </a:r>
          </a:p>
        </p:txBody>
      </p:sp>
      <p:sp>
        <p:nvSpPr>
          <p:cNvPr id="12" name="Slide Number Placeholder 5"/>
          <p:cNvSpPr>
            <a:spLocks noGrp="1"/>
          </p:cNvSpPr>
          <p:nvPr>
            <p:ph type="sldNum" sz="quarter" idx="12"/>
          </p:nvPr>
        </p:nvSpPr>
        <p:spPr/>
        <p:txBody>
          <a:bodyPr/>
          <a:lstStyle/>
          <a:p>
            <a:fld id="{AAF29F07-64D8-4D57-B27C-856FA8273EC5}" type="slidenum">
              <a:rPr lang="bg-BG" altLang="bg-BG"/>
              <a:pPr/>
              <a:t>19</a:t>
            </a:fld>
            <a:endParaRPr lang="bg-BG" altLang="bg-BG"/>
          </a:p>
        </p:txBody>
      </p:sp>
      <p:sp>
        <p:nvSpPr>
          <p:cNvPr id="13824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47"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49"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51"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53"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38255" name="Rectangle 1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838200" y="267587"/>
            <a:ext cx="6781800" cy="654968"/>
          </a:xfrm>
        </p:spPr>
        <p:txBody>
          <a:bodyPr>
            <a:normAutofit/>
          </a:bodyPr>
          <a:lstStyle/>
          <a:p>
            <a:pPr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139267" name="Rectangle 3"/>
          <p:cNvSpPr>
            <a:spLocks noGrp="1" noChangeArrowheads="1"/>
          </p:cNvSpPr>
          <p:nvPr>
            <p:ph idx="1"/>
          </p:nvPr>
        </p:nvSpPr>
        <p:spPr>
          <a:xfrm>
            <a:off x="457200" y="922555"/>
            <a:ext cx="8229600" cy="5130138"/>
          </a:xfrm>
        </p:spPr>
        <p:txBody>
          <a:bodyPr>
            <a:normAutofit fontScale="77500" lnSpcReduction="20000"/>
          </a:bodyPr>
          <a:lstStyle/>
          <a:p>
            <a:pPr marL="609600" indent="-609600">
              <a:lnSpc>
                <a:spcPct val="120000"/>
              </a:lnSpc>
              <a:buFontTx/>
              <a:buNone/>
            </a:pPr>
            <a:r>
              <a:rPr lang="bg-BG" altLang="bg-BG" sz="2800" dirty="0"/>
              <a:t>Елиминиране на дублираните редове  - указва се от потребителя с ключовата дума </a:t>
            </a:r>
            <a:r>
              <a:rPr lang="bg-BG" altLang="bg-BG" sz="2800" dirty="0">
                <a:solidFill>
                  <a:srgbClr val="C00000"/>
                </a:solidFill>
              </a:rPr>
              <a:t>DISTINCT</a:t>
            </a:r>
            <a:r>
              <a:rPr lang="bg-BG" altLang="bg-BG" sz="2800" dirty="0">
                <a:solidFill>
                  <a:schemeClr val="accent1"/>
                </a:solidFill>
              </a:rPr>
              <a:t>. </a:t>
            </a:r>
          </a:p>
          <a:p>
            <a:pPr marL="0" indent="0">
              <a:buNone/>
            </a:pPr>
            <a:r>
              <a:rPr lang="bg-BG" sz="2800" b="1" dirty="0" smtClean="0"/>
              <a:t>Заявка </a:t>
            </a:r>
            <a:r>
              <a:rPr lang="bg-BG" sz="2800" b="1" dirty="0"/>
              <a:t>9:</a:t>
            </a:r>
            <a:r>
              <a:rPr lang="bg-BG" sz="2800" dirty="0"/>
              <a:t> Да се изведат заплатите на служителите.</a:t>
            </a:r>
            <a:endParaRPr lang="en-US" sz="2800" dirty="0"/>
          </a:p>
          <a:p>
            <a:pPr marL="0" indent="0">
              <a:buNone/>
            </a:pPr>
            <a:r>
              <a:rPr lang="bg-BG" sz="2800" dirty="0"/>
              <a:t>Вариант 1:</a:t>
            </a:r>
            <a:endParaRPr lang="en-US" sz="2800" dirty="0"/>
          </a:p>
          <a:p>
            <a:pPr marL="1097280" lvl="4" indent="0">
              <a:buNone/>
            </a:pPr>
            <a:r>
              <a:rPr lang="bg-BG" sz="2800" dirty="0"/>
              <a:t>Q9: SELECT </a:t>
            </a:r>
            <a:r>
              <a:rPr lang="bg-BG" sz="2800" dirty="0" err="1"/>
              <a:t>Salary</a:t>
            </a:r>
            <a:endParaRPr lang="en-US" sz="2800" dirty="0"/>
          </a:p>
          <a:p>
            <a:pPr marL="1097280" lvl="4" indent="0">
              <a:buNone/>
            </a:pPr>
            <a:r>
              <a:rPr lang="bg-BG" sz="2800" dirty="0"/>
              <a:t>FROM </a:t>
            </a:r>
            <a:r>
              <a:rPr lang="bg-BG" sz="2800" dirty="0" smtClean="0"/>
              <a:t>EMPLOYEE</a:t>
            </a:r>
            <a:endParaRPr lang="en-US" sz="2800" dirty="0" smtClean="0"/>
          </a:p>
          <a:p>
            <a:pPr marL="609600" indent="-609600">
              <a:lnSpc>
                <a:spcPct val="120000"/>
              </a:lnSpc>
              <a:buFontTx/>
              <a:buNone/>
            </a:pPr>
            <a:r>
              <a:rPr lang="bg-BG" altLang="bg-BG" sz="2800" dirty="0" smtClean="0"/>
              <a:t>Резултатът </a:t>
            </a:r>
            <a:r>
              <a:rPr lang="bg-BG" altLang="bg-BG" sz="2800" dirty="0"/>
              <a:t>съдържа заплатите на всички служители. Съществуват поне двама души с една и съща заплата  и резултатът съдържа два или повече идентични редове.</a:t>
            </a:r>
          </a:p>
          <a:p>
            <a:pPr marL="609600" indent="-609600">
              <a:lnSpc>
                <a:spcPct val="80000"/>
              </a:lnSpc>
              <a:buFontTx/>
              <a:buNone/>
            </a:pPr>
            <a:endParaRPr lang="en-US" altLang="bg-BG" sz="1000" dirty="0" smtClean="0"/>
          </a:p>
          <a:p>
            <a:pPr marL="609600" indent="-609600">
              <a:lnSpc>
                <a:spcPct val="80000"/>
              </a:lnSpc>
              <a:buFontTx/>
              <a:buNone/>
            </a:pPr>
            <a:r>
              <a:rPr lang="bg-BG" altLang="bg-BG" sz="2800" dirty="0" smtClean="0"/>
              <a:t>Вариант 2</a:t>
            </a:r>
            <a:r>
              <a:rPr lang="en-US" altLang="bg-BG" sz="2800" dirty="0"/>
              <a:t>:</a:t>
            </a:r>
            <a:endParaRPr lang="bg-BG" altLang="bg-BG" sz="2800" dirty="0"/>
          </a:p>
          <a:p>
            <a:pPr marL="1097280" lvl="4" indent="0">
              <a:buNone/>
            </a:pPr>
            <a:r>
              <a:rPr lang="bg-BG" sz="3100" dirty="0"/>
              <a:t>Q9А: SELECT </a:t>
            </a:r>
            <a:r>
              <a:rPr lang="bg-BG" sz="3100" dirty="0">
                <a:solidFill>
                  <a:srgbClr val="C00000"/>
                </a:solidFill>
              </a:rPr>
              <a:t>DI</a:t>
            </a:r>
            <a:r>
              <a:rPr lang="en-US" sz="3100" dirty="0">
                <a:solidFill>
                  <a:srgbClr val="C00000"/>
                </a:solidFill>
              </a:rPr>
              <a:t>S</a:t>
            </a:r>
            <a:r>
              <a:rPr lang="bg-BG" sz="3100" dirty="0">
                <a:solidFill>
                  <a:srgbClr val="C00000"/>
                </a:solidFill>
              </a:rPr>
              <a:t>TINCT </a:t>
            </a:r>
            <a:r>
              <a:rPr lang="bg-BG" sz="3100" dirty="0" err="1"/>
              <a:t>Salary</a:t>
            </a:r>
            <a:r>
              <a:rPr lang="bg-BG" sz="3100" dirty="0"/>
              <a:t> </a:t>
            </a:r>
            <a:endParaRPr lang="en-US" sz="3100" dirty="0"/>
          </a:p>
          <a:p>
            <a:pPr marL="1097280" lvl="4" indent="0">
              <a:buNone/>
            </a:pPr>
            <a:r>
              <a:rPr lang="bg-BG" sz="3100" dirty="0"/>
              <a:t>FROM </a:t>
            </a:r>
            <a:r>
              <a:rPr lang="bg-BG" sz="3100" dirty="0" smtClean="0"/>
              <a:t>EMPLOYEE</a:t>
            </a:r>
            <a:endParaRPr lang="en-US" sz="3100" dirty="0" smtClean="0"/>
          </a:p>
          <a:p>
            <a:pPr marL="609600" indent="-609600">
              <a:lnSpc>
                <a:spcPct val="120000"/>
              </a:lnSpc>
              <a:buFontTx/>
              <a:buNone/>
            </a:pPr>
            <a:r>
              <a:rPr lang="bg-BG" altLang="bg-BG" sz="2800" dirty="0" smtClean="0"/>
              <a:t>Резултатът </a:t>
            </a:r>
            <a:r>
              <a:rPr lang="bg-BG" altLang="bg-BG" sz="2800" dirty="0"/>
              <a:t>съдържа само различните стойности на заплатите, независимо колко служители имат такава заплата.</a:t>
            </a:r>
          </a:p>
        </p:txBody>
      </p:sp>
      <p:sp>
        <p:nvSpPr>
          <p:cNvPr id="5" name="Date Placeholder 3"/>
          <p:cNvSpPr>
            <a:spLocks noGrp="1"/>
          </p:cNvSpPr>
          <p:nvPr>
            <p:ph type="dt" sz="half" idx="10"/>
          </p:nvPr>
        </p:nvSpPr>
        <p:spPr/>
        <p:txBody>
          <a:bodyPr/>
          <a:lstStyle/>
          <a:p>
            <a:r>
              <a:rPr lang="bg-BG" altLang="bg-BG"/>
              <a:t>Юлиана Пенева</a:t>
            </a:r>
          </a:p>
        </p:txBody>
      </p:sp>
      <p:sp>
        <p:nvSpPr>
          <p:cNvPr id="6" name="Footer Placeholder 4"/>
          <p:cNvSpPr>
            <a:spLocks noGrp="1"/>
          </p:cNvSpPr>
          <p:nvPr>
            <p:ph type="ftr" sz="quarter" idx="11"/>
          </p:nvPr>
        </p:nvSpPr>
        <p:spPr/>
        <p:txBody>
          <a:bodyPr/>
          <a:lstStyle/>
          <a:p>
            <a:r>
              <a:rPr lang="bg-BG" altLang="bg-BG" dirty="0"/>
              <a:t>CSCB405- модул4</a:t>
            </a:r>
          </a:p>
        </p:txBody>
      </p:sp>
      <p:sp>
        <p:nvSpPr>
          <p:cNvPr id="7" name="Slide Number Placeholder 5"/>
          <p:cNvSpPr>
            <a:spLocks noGrp="1"/>
          </p:cNvSpPr>
          <p:nvPr>
            <p:ph type="sldNum" sz="quarter" idx="12"/>
          </p:nvPr>
        </p:nvSpPr>
        <p:spPr/>
        <p:txBody>
          <a:bodyPr/>
          <a:lstStyle/>
          <a:p>
            <a:fld id="{5E1C19C1-F9D8-4F7F-9CB8-0200A5472AC3}" type="slidenum">
              <a:rPr lang="bg-BG" altLang="bg-BG"/>
              <a:pPr/>
              <a:t>20</a:t>
            </a:fld>
            <a:endParaRPr lang="bg-BG" altLang="bg-BG"/>
          </a:p>
        </p:txBody>
      </p:sp>
      <p:sp>
        <p:nvSpPr>
          <p:cNvPr id="139271"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1219200" y="332656"/>
            <a:ext cx="6781800" cy="582960"/>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40291" name="Rectangle 3"/>
          <p:cNvSpPr>
            <a:spLocks noGrp="1" noChangeArrowheads="1"/>
          </p:cNvSpPr>
          <p:nvPr>
            <p:ph sz="half" idx="1"/>
          </p:nvPr>
        </p:nvSpPr>
        <p:spPr>
          <a:xfrm>
            <a:off x="395536" y="1124743"/>
            <a:ext cx="3744416" cy="4464497"/>
          </a:xfrm>
        </p:spPr>
        <p:txBody>
          <a:bodyPr>
            <a:noAutofit/>
          </a:bodyPr>
          <a:lstStyle/>
          <a:p>
            <a:pPr marL="609600" indent="-609600">
              <a:buFontTx/>
              <a:buAutoNum type="arabicPeriod"/>
            </a:pPr>
            <a:r>
              <a:rPr lang="bg-BG" altLang="bg-BG" sz="2400" dirty="0"/>
              <a:t>Множествена операция – обединение (</a:t>
            </a:r>
            <a:r>
              <a:rPr lang="en-US" altLang="bg-BG" sz="2400" dirty="0"/>
              <a:t>UNION</a:t>
            </a:r>
            <a:r>
              <a:rPr lang="bg-BG" altLang="bg-BG" sz="2400" dirty="0"/>
              <a:t>)</a:t>
            </a:r>
          </a:p>
          <a:p>
            <a:pPr marL="609600" indent="-609600">
              <a:buFontTx/>
              <a:buAutoNum type="arabicPeriod"/>
            </a:pPr>
            <a:r>
              <a:rPr lang="bg-BG" altLang="bg-BG" sz="2400" dirty="0"/>
              <a:t>В някои версии се реализират сечение и разлика на две таблици.</a:t>
            </a:r>
          </a:p>
          <a:p>
            <a:pPr marL="609600" indent="-609600">
              <a:buFontTx/>
              <a:buAutoNum type="arabicPeriod"/>
            </a:pPr>
            <a:r>
              <a:rPr lang="bg-BG" altLang="bg-BG" sz="2400" dirty="0"/>
              <a:t>Резултатната таблица </a:t>
            </a:r>
            <a:r>
              <a:rPr lang="bg-BG" altLang="bg-BG" sz="2400" dirty="0">
                <a:solidFill>
                  <a:srgbClr val="C00000"/>
                </a:solidFill>
              </a:rPr>
              <a:t>не</a:t>
            </a:r>
            <a:r>
              <a:rPr lang="bg-BG" altLang="bg-BG" sz="2400" dirty="0"/>
              <a:t> съдържа дублирани редове. </a:t>
            </a:r>
          </a:p>
        </p:txBody>
      </p:sp>
      <p:sp>
        <p:nvSpPr>
          <p:cNvPr id="140292" name="Rectangle 4"/>
          <p:cNvSpPr>
            <a:spLocks noGrp="1" noChangeArrowheads="1"/>
          </p:cNvSpPr>
          <p:nvPr>
            <p:ph sz="half" idx="2"/>
          </p:nvPr>
        </p:nvSpPr>
        <p:spPr>
          <a:xfrm>
            <a:off x="4211638" y="836712"/>
            <a:ext cx="4752975" cy="5219601"/>
          </a:xfrm>
        </p:spPr>
        <p:txBody>
          <a:bodyPr>
            <a:normAutofit fontScale="85000" lnSpcReduction="20000"/>
          </a:bodyPr>
          <a:lstStyle/>
          <a:p>
            <a:pPr marL="0" indent="0">
              <a:buNone/>
            </a:pPr>
            <a:r>
              <a:rPr lang="bg-BG" sz="2600" b="1" dirty="0"/>
              <a:t>Заявка 10: </a:t>
            </a:r>
            <a:r>
              <a:rPr lang="bg-BG" sz="2600" dirty="0"/>
              <a:t>Да се изведе списък на всички имена на проекти, в които </a:t>
            </a:r>
            <a:r>
              <a:rPr lang="bg-BG" sz="2600" dirty="0" smtClean="0"/>
              <a:t>участва </a:t>
            </a:r>
            <a:r>
              <a:rPr lang="bg-BG" sz="2600" dirty="0"/>
              <a:t>служителя 'Иванов' като проектант или като ръководител на отдела, в който те се разработват.</a:t>
            </a:r>
            <a:endParaRPr lang="en-US" sz="2600" dirty="0"/>
          </a:p>
          <a:p>
            <a:pPr>
              <a:lnSpc>
                <a:spcPct val="80000"/>
              </a:lnSpc>
              <a:buFontTx/>
              <a:buNone/>
            </a:pPr>
            <a:endParaRPr lang="bg-BG" altLang="bg-BG" sz="1000" dirty="0"/>
          </a:p>
          <a:p>
            <a:pPr marL="0" indent="0">
              <a:buNone/>
            </a:pPr>
            <a:r>
              <a:rPr lang="bg-BG" sz="2400" dirty="0"/>
              <a:t>Q10: (SELECT </a:t>
            </a:r>
            <a:r>
              <a:rPr lang="bg-BG" sz="2400" dirty="0" err="1"/>
              <a:t>Pname</a:t>
            </a:r>
            <a:endParaRPr lang="en-US" sz="2400" dirty="0"/>
          </a:p>
          <a:p>
            <a:pPr marL="868680" lvl="3" indent="0">
              <a:buNone/>
            </a:pPr>
            <a:r>
              <a:rPr lang="bg-BG" sz="2400" dirty="0"/>
              <a:t>FROM </a:t>
            </a:r>
            <a:r>
              <a:rPr lang="bg-BG" sz="2400" dirty="0" smtClean="0"/>
              <a:t>PROJECT, DEPARTMENT, EMPLOYEE</a:t>
            </a:r>
            <a:endParaRPr lang="en-US" sz="2400" dirty="0" smtClean="0"/>
          </a:p>
          <a:p>
            <a:pPr marL="868680" lvl="3" indent="0">
              <a:buNone/>
            </a:pPr>
            <a:r>
              <a:rPr lang="bg-BG" sz="2400" dirty="0" smtClean="0"/>
              <a:t>WHERE </a:t>
            </a:r>
            <a:r>
              <a:rPr lang="bg-BG" sz="2400" dirty="0" err="1"/>
              <a:t>Dnum</a:t>
            </a:r>
            <a:r>
              <a:rPr lang="bg-BG" sz="2400" dirty="0"/>
              <a:t>=</a:t>
            </a:r>
            <a:r>
              <a:rPr lang="bg-BG" sz="2400" dirty="0" err="1"/>
              <a:t>Dnumber</a:t>
            </a:r>
            <a:r>
              <a:rPr lang="bg-BG" sz="2400" dirty="0"/>
              <a:t> AND </a:t>
            </a:r>
            <a:r>
              <a:rPr lang="bg-BG" sz="2400" dirty="0" err="1"/>
              <a:t>Mgrssn</a:t>
            </a:r>
            <a:r>
              <a:rPr lang="bg-BG" sz="2400" dirty="0"/>
              <a:t>=</a:t>
            </a:r>
            <a:r>
              <a:rPr lang="bg-BG" sz="2400" dirty="0" err="1"/>
              <a:t>Ssn</a:t>
            </a:r>
            <a:r>
              <a:rPr lang="bg-BG" sz="2400" dirty="0"/>
              <a:t> </a:t>
            </a:r>
            <a:endParaRPr lang="en-US" sz="2400" dirty="0"/>
          </a:p>
          <a:p>
            <a:pPr marL="868680" lvl="3" indent="0">
              <a:buNone/>
            </a:pPr>
            <a:r>
              <a:rPr lang="bg-BG" sz="2400" dirty="0"/>
              <a:t>AND </a:t>
            </a:r>
            <a:r>
              <a:rPr lang="bg-BG" sz="2400" dirty="0" err="1"/>
              <a:t>Lname</a:t>
            </a:r>
            <a:r>
              <a:rPr lang="bg-BG" sz="2400" dirty="0"/>
              <a:t> ='Иванов')</a:t>
            </a:r>
            <a:endParaRPr lang="en-US" sz="2400" dirty="0"/>
          </a:p>
          <a:p>
            <a:pPr marL="0" indent="0">
              <a:buNone/>
            </a:pPr>
            <a:r>
              <a:rPr lang="bg-BG" sz="2400" dirty="0">
                <a:solidFill>
                  <a:srgbClr val="C00000"/>
                </a:solidFill>
              </a:rPr>
              <a:t>UNION</a:t>
            </a:r>
            <a:endParaRPr lang="en-US" sz="2400" dirty="0">
              <a:solidFill>
                <a:srgbClr val="C00000"/>
              </a:solidFill>
            </a:endParaRPr>
          </a:p>
          <a:p>
            <a:pPr marL="594360" lvl="2" indent="0">
              <a:buNone/>
            </a:pPr>
            <a:r>
              <a:rPr lang="bg-BG" sz="2400" dirty="0"/>
              <a:t>(SELECT </a:t>
            </a:r>
            <a:r>
              <a:rPr lang="bg-BG" sz="2400" dirty="0" err="1"/>
              <a:t>Pname</a:t>
            </a:r>
            <a:endParaRPr lang="en-US" sz="2400" dirty="0"/>
          </a:p>
          <a:p>
            <a:pPr marL="594360" lvl="2" indent="0">
              <a:buNone/>
            </a:pPr>
            <a:r>
              <a:rPr lang="bg-BG" sz="2400" dirty="0"/>
              <a:t>FROM </a:t>
            </a:r>
            <a:r>
              <a:rPr lang="bg-BG" sz="2400" dirty="0" smtClean="0"/>
              <a:t>PROJECT, WORKS_ON, EMPLOYEE</a:t>
            </a:r>
            <a:endParaRPr lang="en-US" sz="2400" dirty="0" smtClean="0"/>
          </a:p>
          <a:p>
            <a:pPr marL="594360" lvl="2" indent="0">
              <a:buNone/>
            </a:pPr>
            <a:r>
              <a:rPr lang="bg-BG" sz="2400" dirty="0" smtClean="0"/>
              <a:t>WHERE </a:t>
            </a:r>
            <a:r>
              <a:rPr lang="bg-BG" sz="2400" dirty="0" err="1"/>
              <a:t>Pnumber</a:t>
            </a:r>
            <a:r>
              <a:rPr lang="bg-BG" sz="2400" dirty="0"/>
              <a:t>=</a:t>
            </a:r>
            <a:r>
              <a:rPr lang="bg-BG" sz="2400" dirty="0" err="1"/>
              <a:t>Pno</a:t>
            </a:r>
            <a:r>
              <a:rPr lang="bg-BG" sz="2400" dirty="0"/>
              <a:t> AND </a:t>
            </a:r>
            <a:r>
              <a:rPr lang="bg-BG" sz="2400" dirty="0" err="1"/>
              <a:t>Essn</a:t>
            </a:r>
            <a:r>
              <a:rPr lang="bg-BG" sz="2400" dirty="0"/>
              <a:t>=</a:t>
            </a:r>
            <a:r>
              <a:rPr lang="bg-BG" sz="2400" dirty="0" err="1"/>
              <a:t>Ssn</a:t>
            </a:r>
            <a:r>
              <a:rPr lang="bg-BG" sz="2400" dirty="0"/>
              <a:t> AND </a:t>
            </a:r>
            <a:r>
              <a:rPr lang="bg-BG" sz="2400" dirty="0" err="1"/>
              <a:t>Lname</a:t>
            </a:r>
            <a:r>
              <a:rPr lang="bg-BG" sz="2400" dirty="0"/>
              <a:t> = 'Иванов')</a:t>
            </a:r>
            <a:endParaRPr lang="en-US" sz="2400" dirty="0"/>
          </a:p>
          <a:p>
            <a:pPr>
              <a:lnSpc>
                <a:spcPct val="80000"/>
              </a:lnSpc>
            </a:pPr>
            <a:endParaRPr lang="bg-BG" altLang="bg-BG" sz="1800" dirty="0"/>
          </a:p>
        </p:txBody>
      </p:sp>
      <p:sp>
        <p:nvSpPr>
          <p:cNvPr id="5" name="Date Placeholder 4"/>
          <p:cNvSpPr>
            <a:spLocks noGrp="1"/>
          </p:cNvSpPr>
          <p:nvPr>
            <p:ph type="dt" sz="half" idx="10"/>
          </p:nvPr>
        </p:nvSpPr>
        <p:spPr/>
        <p:txBody>
          <a:bodyPr/>
          <a:lstStyle/>
          <a:p>
            <a:r>
              <a:rPr lang="bg-BG" altLang="bg-BG"/>
              <a:t>Юлиана Пенева</a:t>
            </a:r>
          </a:p>
        </p:txBody>
      </p:sp>
      <p:sp>
        <p:nvSpPr>
          <p:cNvPr id="6" name="Footer Placeholder 5"/>
          <p:cNvSpPr>
            <a:spLocks noGrp="1"/>
          </p:cNvSpPr>
          <p:nvPr>
            <p:ph type="ftr" sz="quarter" idx="11"/>
          </p:nvPr>
        </p:nvSpPr>
        <p:spPr/>
        <p:txBody>
          <a:bodyPr/>
          <a:lstStyle/>
          <a:p>
            <a:r>
              <a:rPr lang="bg-BG" altLang="bg-BG"/>
              <a:t>CSCB405- модул4</a:t>
            </a:r>
          </a:p>
        </p:txBody>
      </p:sp>
      <p:sp>
        <p:nvSpPr>
          <p:cNvPr id="7" name="Slide Number Placeholder 6"/>
          <p:cNvSpPr>
            <a:spLocks noGrp="1"/>
          </p:cNvSpPr>
          <p:nvPr>
            <p:ph type="sldNum" sz="quarter" idx="12"/>
          </p:nvPr>
        </p:nvSpPr>
        <p:spPr/>
        <p:txBody>
          <a:bodyPr/>
          <a:lstStyle/>
          <a:p>
            <a:fld id="{31FBD976-606A-4DC2-9D25-0B678848F62C}" type="slidenum">
              <a:rPr lang="bg-BG" altLang="bg-BG"/>
              <a:pPr/>
              <a:t>21</a:t>
            </a:fld>
            <a:endParaRPr lang="bg-BG" altLang="bg-BG"/>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1115616" y="404664"/>
            <a:ext cx="6781800" cy="654968"/>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41320" name="Rectangle 8"/>
          <p:cNvSpPr>
            <a:spLocks noGrp="1" noChangeArrowheads="1"/>
          </p:cNvSpPr>
          <p:nvPr>
            <p:ph idx="1"/>
          </p:nvPr>
        </p:nvSpPr>
        <p:spPr>
          <a:xfrm>
            <a:off x="683568" y="628767"/>
            <a:ext cx="7698432" cy="3670176"/>
          </a:xfrm>
        </p:spPr>
        <p:txBody>
          <a:bodyPr/>
          <a:lstStyle/>
          <a:p>
            <a:pPr algn="ctr">
              <a:lnSpc>
                <a:spcPct val="90000"/>
              </a:lnSpc>
              <a:buFontTx/>
              <a:buNone/>
            </a:pPr>
            <a:r>
              <a:rPr lang="bg-BG" altLang="bg-BG" sz="2800" dirty="0">
                <a:solidFill>
                  <a:srgbClr val="C00000"/>
                </a:solidFill>
              </a:rPr>
              <a:t>Задаване на явни множества от стойности </a:t>
            </a:r>
          </a:p>
          <a:p>
            <a:pPr>
              <a:lnSpc>
                <a:spcPct val="90000"/>
              </a:lnSpc>
              <a:buFontTx/>
              <a:buNone/>
            </a:pPr>
            <a:endParaRPr lang="bg-BG" altLang="bg-BG" sz="800" dirty="0"/>
          </a:p>
          <a:p>
            <a:pPr marL="0" indent="0">
              <a:buNone/>
            </a:pPr>
            <a:r>
              <a:rPr lang="bg-BG" b="1" dirty="0"/>
              <a:t>Заявка 11:</a:t>
            </a:r>
            <a:r>
              <a:rPr lang="bg-BG" dirty="0"/>
              <a:t> Да се изведат номерата на всички служители, които работят по проекти с номера 1,2 или 3.</a:t>
            </a:r>
            <a:endParaRPr lang="en-US" dirty="0"/>
          </a:p>
          <a:p>
            <a:pPr marL="0" indent="0">
              <a:buNone/>
            </a:pPr>
            <a:r>
              <a:rPr lang="bg-BG" dirty="0"/>
              <a:t>Q11: SELECT DISTINCT </a:t>
            </a:r>
            <a:r>
              <a:rPr lang="bg-BG" dirty="0" err="1"/>
              <a:t>Essn</a:t>
            </a:r>
            <a:endParaRPr lang="en-US" dirty="0"/>
          </a:p>
          <a:p>
            <a:pPr marL="868680" lvl="3" indent="0">
              <a:buNone/>
            </a:pPr>
            <a:r>
              <a:rPr lang="bg-BG" sz="2400" dirty="0"/>
              <a:t>FROM WORKS_ON</a:t>
            </a:r>
            <a:endParaRPr lang="en-US" sz="2400" dirty="0"/>
          </a:p>
          <a:p>
            <a:pPr marL="868680" lvl="3" indent="0">
              <a:buNone/>
            </a:pPr>
            <a:r>
              <a:rPr lang="bg-BG" sz="2400" dirty="0"/>
              <a:t>WHERE </a:t>
            </a:r>
            <a:r>
              <a:rPr lang="bg-BG" sz="2400" dirty="0" err="1"/>
              <a:t>Pno</a:t>
            </a:r>
            <a:r>
              <a:rPr lang="bg-BG" sz="2400" dirty="0"/>
              <a:t> IN (1,2,3</a:t>
            </a:r>
            <a:r>
              <a:rPr lang="bg-BG" sz="2400" dirty="0" smtClean="0"/>
              <a:t>)</a:t>
            </a:r>
            <a:endParaRPr lang="bg-BG" altLang="bg-BG"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61865565-FB0A-488F-A7AC-E6FA2E33A60C}" type="slidenum">
              <a:rPr lang="bg-BG" altLang="bg-BG"/>
              <a:pPr/>
              <a:t>22</a:t>
            </a:fld>
            <a:endParaRPr lang="bg-BG" altLang="bg-BG"/>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971600" y="404664"/>
            <a:ext cx="6781800" cy="654968"/>
          </a:xfrm>
        </p:spPr>
        <p:txBody>
          <a:bodyPr>
            <a:normAutofit/>
          </a:bodyPr>
          <a:lstStyle/>
          <a:p>
            <a:pPr algn="ctr"/>
            <a:r>
              <a:rPr lang="bg-BG" altLang="bg-BG" sz="3600" dirty="0">
                <a:solidFill>
                  <a:schemeClr val="accent1"/>
                </a:solidFill>
              </a:rPr>
              <a:t>Основни заявки на </a:t>
            </a:r>
            <a:r>
              <a:rPr lang="en-US" altLang="bg-BG" sz="3600" dirty="0">
                <a:solidFill>
                  <a:schemeClr val="accent1"/>
                </a:solidFill>
              </a:rPr>
              <a:t>SQL</a:t>
            </a:r>
            <a:r>
              <a:rPr lang="bg-BG" altLang="bg-BG" sz="3600" dirty="0">
                <a:solidFill>
                  <a:schemeClr val="accent1"/>
                </a:solidFill>
              </a:rPr>
              <a:t> </a:t>
            </a:r>
          </a:p>
        </p:txBody>
      </p:sp>
      <p:sp>
        <p:nvSpPr>
          <p:cNvPr id="142339" name="Rectangle 3"/>
          <p:cNvSpPr>
            <a:spLocks noGrp="1" noChangeArrowheads="1"/>
          </p:cNvSpPr>
          <p:nvPr>
            <p:ph idx="1"/>
          </p:nvPr>
        </p:nvSpPr>
        <p:spPr>
          <a:xfrm>
            <a:off x="467544" y="897871"/>
            <a:ext cx="8229600" cy="4456112"/>
          </a:xfrm>
        </p:spPr>
        <p:txBody>
          <a:bodyPr>
            <a:normAutofit lnSpcReduction="10000"/>
          </a:bodyPr>
          <a:lstStyle/>
          <a:p>
            <a:pPr marL="609600" indent="-609600" algn="ctr">
              <a:buFontTx/>
              <a:buNone/>
            </a:pPr>
            <a:r>
              <a:rPr lang="bg-BG" altLang="bg-BG" sz="2800" dirty="0">
                <a:solidFill>
                  <a:srgbClr val="C00000"/>
                </a:solidFill>
              </a:rPr>
              <a:t>Проверка дали стойността на дадена колона е NULL </a:t>
            </a:r>
          </a:p>
          <a:p>
            <a:pPr marL="0" indent="0">
              <a:buNone/>
            </a:pPr>
            <a:r>
              <a:rPr lang="bg-BG" b="1" dirty="0"/>
              <a:t>Заявка 12:</a:t>
            </a:r>
            <a:r>
              <a:rPr lang="bg-BG" dirty="0"/>
              <a:t> Да се изведат имената на служители, които нямат ръководители.</a:t>
            </a:r>
            <a:endParaRPr lang="en-US" dirty="0"/>
          </a:p>
          <a:p>
            <a:pPr marL="0" indent="0">
              <a:buNone/>
            </a:pPr>
            <a:r>
              <a:rPr lang="bg-BG" dirty="0"/>
              <a:t>Q12: SELECT </a:t>
            </a:r>
            <a:r>
              <a:rPr lang="bg-BG" dirty="0" err="1"/>
              <a:t>Fname</a:t>
            </a:r>
            <a:r>
              <a:rPr lang="bg-BG" dirty="0"/>
              <a:t>, </a:t>
            </a:r>
            <a:r>
              <a:rPr lang="bg-BG" dirty="0" err="1"/>
              <a:t>Lname</a:t>
            </a:r>
            <a:endParaRPr lang="en-US" dirty="0"/>
          </a:p>
          <a:p>
            <a:pPr marL="868680" lvl="3" indent="0">
              <a:buNone/>
            </a:pPr>
            <a:r>
              <a:rPr lang="bg-BG" sz="2400" dirty="0"/>
              <a:t>FROM EMPLOYEE</a:t>
            </a:r>
            <a:endParaRPr lang="en-US" sz="2400" dirty="0"/>
          </a:p>
          <a:p>
            <a:pPr marL="868680" lvl="3" indent="0">
              <a:buNone/>
            </a:pPr>
            <a:r>
              <a:rPr lang="bg-BG" sz="2400" dirty="0"/>
              <a:t>WHERE </a:t>
            </a:r>
            <a:r>
              <a:rPr lang="bg-BG" sz="2400" dirty="0" err="1"/>
              <a:t>Superssn</a:t>
            </a:r>
            <a:r>
              <a:rPr lang="bg-BG" sz="2400" dirty="0"/>
              <a:t> IS NULL</a:t>
            </a:r>
            <a:r>
              <a:rPr lang="bg-BG" altLang="bg-BG" dirty="0" smtClean="0"/>
              <a:t>.</a:t>
            </a:r>
            <a:endParaRPr lang="en-US" altLang="bg-BG" dirty="0" smtClean="0"/>
          </a:p>
          <a:p>
            <a:pPr marL="990600" lvl="1" indent="-533400">
              <a:buFontTx/>
              <a:buNone/>
            </a:pPr>
            <a:endParaRPr lang="bg-BG" altLang="bg-BG" sz="900" dirty="0"/>
          </a:p>
          <a:p>
            <a:pPr marL="609600" indent="-609600" algn="just">
              <a:buFontTx/>
              <a:buNone/>
            </a:pPr>
            <a:r>
              <a:rPr lang="bg-BG" altLang="bg-BG" sz="2800" dirty="0"/>
              <a:t>Забележка: ако е зададено условие за съединение, редовете, в които колоните, участвуващи в него са със стойности </a:t>
            </a:r>
            <a:r>
              <a:rPr lang="en-US" altLang="bg-BG" sz="2800" dirty="0" smtClean="0"/>
              <a:t>Null </a:t>
            </a:r>
            <a:r>
              <a:rPr lang="bg-BG" altLang="bg-BG" sz="2800" dirty="0" smtClean="0"/>
              <a:t>не </a:t>
            </a:r>
            <a:r>
              <a:rPr lang="bg-BG" altLang="bg-BG" sz="2800" dirty="0"/>
              <a:t>се включват в резултата. </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7B75E404-90B4-4875-985D-8D42B9EFD2B7}" type="slidenum">
              <a:rPr lang="bg-BG" altLang="bg-BG"/>
              <a:pPr/>
              <a:t>23</a:t>
            </a:fld>
            <a:endParaRPr lang="bg-BG" altLang="bg-BG"/>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1259632" y="404664"/>
            <a:ext cx="6781800" cy="582960"/>
          </a:xfrm>
        </p:spPr>
        <p:txBody>
          <a:bodyPr>
            <a:normAutofit/>
          </a:bodyPr>
          <a:lstStyle/>
          <a:p>
            <a:pPr algn="ctr"/>
            <a:r>
              <a:rPr lang="bg-BG" altLang="bg-BG" sz="3200" dirty="0">
                <a:solidFill>
                  <a:schemeClr val="accent1"/>
                </a:solidFill>
              </a:rPr>
              <a:t>Основни заявки на </a:t>
            </a:r>
            <a:r>
              <a:rPr lang="en-US" altLang="bg-BG" sz="3200" dirty="0" smtClean="0">
                <a:solidFill>
                  <a:schemeClr val="accent1"/>
                </a:solidFill>
              </a:rPr>
              <a:t>SQL</a:t>
            </a:r>
            <a:endParaRPr lang="bg-BG" altLang="bg-BG" sz="3200" dirty="0">
              <a:solidFill>
                <a:schemeClr val="accent1"/>
              </a:solidFill>
            </a:endParaRPr>
          </a:p>
        </p:txBody>
      </p:sp>
      <p:sp>
        <p:nvSpPr>
          <p:cNvPr id="143363" name="Rectangle 3"/>
          <p:cNvSpPr>
            <a:spLocks noGrp="1" noChangeArrowheads="1"/>
          </p:cNvSpPr>
          <p:nvPr>
            <p:ph sz="half" idx="1"/>
          </p:nvPr>
        </p:nvSpPr>
        <p:spPr>
          <a:xfrm>
            <a:off x="611932" y="1018354"/>
            <a:ext cx="4038600" cy="4967287"/>
          </a:xfrm>
        </p:spPr>
        <p:txBody>
          <a:bodyPr>
            <a:normAutofit lnSpcReduction="10000"/>
          </a:bodyPr>
          <a:lstStyle/>
          <a:p>
            <a:pPr marL="609600" indent="-609600" algn="ctr">
              <a:buFontTx/>
              <a:buNone/>
            </a:pPr>
            <a:r>
              <a:rPr lang="bg-BG" altLang="bg-BG" sz="2400" dirty="0">
                <a:solidFill>
                  <a:srgbClr val="C00000"/>
                </a:solidFill>
              </a:rPr>
              <a:t>Оператор </a:t>
            </a:r>
            <a:r>
              <a:rPr lang="en-US" altLang="bg-BG" sz="2400" dirty="0">
                <a:solidFill>
                  <a:srgbClr val="C00000"/>
                </a:solidFill>
              </a:rPr>
              <a:t>LIKE</a:t>
            </a:r>
            <a:r>
              <a:rPr lang="bg-BG" altLang="bg-BG" sz="2400" dirty="0">
                <a:solidFill>
                  <a:srgbClr val="C00000"/>
                </a:solidFill>
              </a:rPr>
              <a:t> </a:t>
            </a:r>
          </a:p>
          <a:p>
            <a:pPr marL="609600" indent="-609600">
              <a:buFontTx/>
              <a:buAutoNum type="arabicPeriod"/>
            </a:pPr>
            <a:r>
              <a:rPr lang="bg-BG" altLang="bg-BG" sz="2400" dirty="0"/>
              <a:t>Служи за сравняване на части от даден низ или за търсене на определен подниз.</a:t>
            </a:r>
          </a:p>
          <a:p>
            <a:pPr marL="609600" indent="-609600">
              <a:buFontTx/>
              <a:buAutoNum type="arabicPeriod"/>
            </a:pPr>
            <a:r>
              <a:rPr lang="bg-BG" altLang="bg-BG" sz="2400" dirty="0"/>
              <a:t>Символите ‘%’ (в някои реализации на </a:t>
            </a:r>
            <a:r>
              <a:rPr lang="en-US" altLang="bg-BG" sz="2400" dirty="0"/>
              <a:t>SQL</a:t>
            </a:r>
            <a:r>
              <a:rPr lang="bg-BG" altLang="bg-BG" sz="2400" dirty="0"/>
              <a:t> се използува ‘*’) и ‘_’ са запазени. </a:t>
            </a:r>
          </a:p>
          <a:p>
            <a:pPr marL="609600" indent="-609600">
              <a:buFontTx/>
              <a:buAutoNum type="arabicPeriod"/>
            </a:pPr>
            <a:r>
              <a:rPr lang="en-US" altLang="bg-BG" sz="2400" dirty="0"/>
              <a:t>‘</a:t>
            </a:r>
            <a:r>
              <a:rPr lang="bg-BG" altLang="bg-BG" sz="2400" dirty="0"/>
              <a:t>%</a:t>
            </a:r>
            <a:r>
              <a:rPr lang="en-US" altLang="bg-BG" sz="2400" dirty="0"/>
              <a:t>’</a:t>
            </a:r>
            <a:r>
              <a:rPr lang="bg-BG" altLang="bg-BG" sz="2400" dirty="0"/>
              <a:t> заменя произволен брой символи в низа, а </a:t>
            </a:r>
            <a:r>
              <a:rPr lang="en-US" altLang="bg-BG" sz="2400" dirty="0"/>
              <a:t>‘_’</a:t>
            </a:r>
            <a:r>
              <a:rPr lang="bg-BG" altLang="bg-BG" sz="2400" dirty="0"/>
              <a:t> – точно един, който и </a:t>
            </a:r>
            <a:r>
              <a:rPr lang="bg-BG" altLang="bg-BG" sz="2400" dirty="0" smtClean="0"/>
              <a:t>да </a:t>
            </a:r>
            <a:r>
              <a:rPr lang="bg-BG" altLang="bg-BG" sz="2400" dirty="0"/>
              <a:t>е символ. </a:t>
            </a:r>
          </a:p>
        </p:txBody>
      </p:sp>
      <p:sp>
        <p:nvSpPr>
          <p:cNvPr id="143364" name="Rectangle 4"/>
          <p:cNvSpPr>
            <a:spLocks noGrp="1" noChangeArrowheads="1"/>
          </p:cNvSpPr>
          <p:nvPr>
            <p:ph sz="half" idx="2"/>
          </p:nvPr>
        </p:nvSpPr>
        <p:spPr>
          <a:xfrm>
            <a:off x="4661807" y="1115109"/>
            <a:ext cx="4248472" cy="4024064"/>
          </a:xfrm>
        </p:spPr>
        <p:txBody>
          <a:bodyPr>
            <a:normAutofit lnSpcReduction="10000"/>
          </a:bodyPr>
          <a:lstStyle/>
          <a:p>
            <a:pPr marL="0" indent="0">
              <a:buNone/>
            </a:pPr>
            <a:r>
              <a:rPr lang="bg-BG" sz="2400" b="1" dirty="0"/>
              <a:t>Заявка 13:</a:t>
            </a:r>
            <a:r>
              <a:rPr lang="bg-BG" sz="2400" dirty="0"/>
              <a:t> Да се изведат имената на служителите, които живеят в Пловдив. </a:t>
            </a:r>
            <a:endParaRPr lang="bg-BG" sz="2400" dirty="0" smtClean="0"/>
          </a:p>
          <a:p>
            <a:pPr marL="0" indent="0">
              <a:buNone/>
            </a:pPr>
            <a:endParaRPr lang="en-US" sz="2400" dirty="0"/>
          </a:p>
          <a:p>
            <a:pPr marL="0" indent="0">
              <a:buNone/>
            </a:pPr>
            <a:r>
              <a:rPr lang="bg-BG" sz="2400" dirty="0" smtClean="0"/>
              <a:t>Q13</a:t>
            </a:r>
            <a:r>
              <a:rPr lang="bg-BG" sz="2400" dirty="0"/>
              <a:t>: SELECT </a:t>
            </a:r>
            <a:r>
              <a:rPr lang="bg-BG" sz="2400" dirty="0" err="1"/>
              <a:t>Fname</a:t>
            </a:r>
            <a:r>
              <a:rPr lang="bg-BG" sz="2400" dirty="0"/>
              <a:t>, </a:t>
            </a:r>
            <a:r>
              <a:rPr lang="bg-BG" sz="2400" dirty="0" err="1" smtClean="0"/>
              <a:t>Lname</a:t>
            </a:r>
            <a:endParaRPr lang="en-US" sz="2400" dirty="0" smtClean="0"/>
          </a:p>
          <a:p>
            <a:pPr marL="868680" lvl="3" indent="0">
              <a:buNone/>
            </a:pPr>
            <a:r>
              <a:rPr lang="bg-BG" sz="2400" dirty="0" smtClean="0"/>
              <a:t>FROM </a:t>
            </a:r>
            <a:r>
              <a:rPr lang="bg-BG" sz="2400" dirty="0"/>
              <a:t>EMPLOYEE</a:t>
            </a:r>
            <a:endParaRPr lang="en-US" sz="2400" dirty="0"/>
          </a:p>
          <a:p>
            <a:pPr marL="868680" lvl="3" indent="0">
              <a:buNone/>
            </a:pPr>
            <a:r>
              <a:rPr lang="bg-BG" sz="2400" dirty="0"/>
              <a:t>WHERE </a:t>
            </a:r>
            <a:r>
              <a:rPr lang="bg-BG" sz="2400" dirty="0" err="1"/>
              <a:t>Address</a:t>
            </a:r>
            <a:r>
              <a:rPr lang="bg-BG" sz="2400" dirty="0"/>
              <a:t> LIKE '%Пловдив%'</a:t>
            </a:r>
            <a:endParaRPr lang="en-US" sz="2400" dirty="0"/>
          </a:p>
        </p:txBody>
      </p:sp>
      <p:sp>
        <p:nvSpPr>
          <p:cNvPr id="5" name="Date Placeholder 4"/>
          <p:cNvSpPr>
            <a:spLocks noGrp="1"/>
          </p:cNvSpPr>
          <p:nvPr>
            <p:ph type="dt" sz="half" idx="10"/>
          </p:nvPr>
        </p:nvSpPr>
        <p:spPr/>
        <p:txBody>
          <a:bodyPr/>
          <a:lstStyle/>
          <a:p>
            <a:r>
              <a:rPr lang="bg-BG" altLang="bg-BG"/>
              <a:t>Юлиана Пенева</a:t>
            </a:r>
          </a:p>
        </p:txBody>
      </p:sp>
      <p:sp>
        <p:nvSpPr>
          <p:cNvPr id="6" name="Footer Placeholder 5"/>
          <p:cNvSpPr>
            <a:spLocks noGrp="1"/>
          </p:cNvSpPr>
          <p:nvPr>
            <p:ph type="ftr" sz="quarter" idx="11"/>
          </p:nvPr>
        </p:nvSpPr>
        <p:spPr/>
        <p:txBody>
          <a:bodyPr/>
          <a:lstStyle/>
          <a:p>
            <a:r>
              <a:rPr lang="bg-BG" altLang="bg-BG"/>
              <a:t>CSCB405- модул4</a:t>
            </a:r>
          </a:p>
        </p:txBody>
      </p:sp>
      <p:sp>
        <p:nvSpPr>
          <p:cNvPr id="7" name="Slide Number Placeholder 6"/>
          <p:cNvSpPr>
            <a:spLocks noGrp="1"/>
          </p:cNvSpPr>
          <p:nvPr>
            <p:ph type="sldNum" sz="quarter" idx="12"/>
          </p:nvPr>
        </p:nvSpPr>
        <p:spPr/>
        <p:txBody>
          <a:bodyPr/>
          <a:lstStyle/>
          <a:p>
            <a:fld id="{5FA864EC-2E96-4EB5-83D5-6BC75DF8CBB2}" type="slidenum">
              <a:rPr lang="bg-BG" altLang="bg-BG"/>
              <a:pPr/>
              <a:t>24</a:t>
            </a:fld>
            <a:endParaRPr lang="bg-BG" altLang="bg-BG"/>
          </a:p>
        </p:txBody>
      </p:sp>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1331640" y="404664"/>
            <a:ext cx="6781800" cy="582960"/>
          </a:xfrm>
        </p:spPr>
        <p:txBody>
          <a:bodyPr>
            <a:normAutofit/>
          </a:bodyPr>
          <a:lstStyle/>
          <a:p>
            <a:pPr algn="ctr"/>
            <a:r>
              <a:rPr lang="bg-BG" altLang="bg-BG" sz="3200" dirty="0">
                <a:solidFill>
                  <a:schemeClr val="accent1"/>
                </a:solidFill>
              </a:rPr>
              <a:t>Основни заявки на </a:t>
            </a:r>
            <a:r>
              <a:rPr lang="en-US" altLang="bg-BG" sz="3200" dirty="0">
                <a:solidFill>
                  <a:schemeClr val="accent1"/>
                </a:solidFill>
              </a:rPr>
              <a:t>SQL</a:t>
            </a:r>
            <a:r>
              <a:rPr lang="bg-BG" altLang="bg-BG" sz="3200" dirty="0">
                <a:solidFill>
                  <a:schemeClr val="accent1"/>
                </a:solidFill>
              </a:rPr>
              <a:t> </a:t>
            </a:r>
          </a:p>
        </p:txBody>
      </p:sp>
      <p:sp>
        <p:nvSpPr>
          <p:cNvPr id="144387" name="Rectangle 3"/>
          <p:cNvSpPr>
            <a:spLocks noGrp="1" noChangeArrowheads="1"/>
          </p:cNvSpPr>
          <p:nvPr>
            <p:ph idx="1"/>
          </p:nvPr>
        </p:nvSpPr>
        <p:spPr>
          <a:xfrm>
            <a:off x="457200" y="670742"/>
            <a:ext cx="8229600" cy="3808040"/>
          </a:xfrm>
        </p:spPr>
        <p:txBody>
          <a:bodyPr/>
          <a:lstStyle/>
          <a:p>
            <a:pPr algn="ctr">
              <a:lnSpc>
                <a:spcPct val="90000"/>
              </a:lnSpc>
              <a:buFontTx/>
              <a:buNone/>
            </a:pPr>
            <a:r>
              <a:rPr lang="bg-BG" altLang="bg-BG" sz="2800" dirty="0">
                <a:solidFill>
                  <a:srgbClr val="C00000"/>
                </a:solidFill>
              </a:rPr>
              <a:t>Аритметични операции</a:t>
            </a:r>
          </a:p>
          <a:p>
            <a:pPr marL="0" indent="0">
              <a:buNone/>
            </a:pPr>
            <a:r>
              <a:rPr lang="bg-BG" b="1" dirty="0"/>
              <a:t>Заявка </a:t>
            </a:r>
            <a:r>
              <a:rPr lang="bg-BG" b="1" dirty="0" smtClean="0"/>
              <a:t>14:</a:t>
            </a:r>
            <a:r>
              <a:rPr lang="bg-BG" dirty="0" smtClean="0"/>
              <a:t> </a:t>
            </a:r>
            <a:r>
              <a:rPr lang="bg-BG" dirty="0"/>
              <a:t>Какъв ще бъде ефектът от 10% увеличение на заплатите на служителите, които работят върху '</a:t>
            </a:r>
            <a:r>
              <a:rPr lang="bg-BG" dirty="0" err="1"/>
              <a:t>Product</a:t>
            </a:r>
            <a:r>
              <a:rPr lang="bg-BG" dirty="0"/>
              <a:t> X</a:t>
            </a:r>
            <a:r>
              <a:rPr lang="bg-BG" dirty="0" smtClean="0"/>
              <a:t>'.</a:t>
            </a:r>
          </a:p>
          <a:p>
            <a:pPr marL="0" indent="0">
              <a:buNone/>
            </a:pPr>
            <a:endParaRPr lang="en-US" dirty="0"/>
          </a:p>
          <a:p>
            <a:pPr marL="0" indent="0">
              <a:buNone/>
            </a:pPr>
            <a:r>
              <a:rPr lang="bg-BG" dirty="0"/>
              <a:t>Q15: SELECT </a:t>
            </a:r>
            <a:r>
              <a:rPr lang="bg-BG" dirty="0" err="1"/>
              <a:t>Fname</a:t>
            </a:r>
            <a:r>
              <a:rPr lang="bg-BG" dirty="0"/>
              <a:t>, </a:t>
            </a:r>
            <a:r>
              <a:rPr lang="bg-BG" dirty="0" err="1"/>
              <a:t>Lname</a:t>
            </a:r>
            <a:r>
              <a:rPr lang="bg-BG" dirty="0"/>
              <a:t>, 1.1*</a:t>
            </a:r>
            <a:r>
              <a:rPr lang="bg-BG" dirty="0" err="1"/>
              <a:t>Salary</a:t>
            </a:r>
            <a:endParaRPr lang="en-US" dirty="0"/>
          </a:p>
          <a:p>
            <a:pPr marL="868680" lvl="3" indent="0">
              <a:buNone/>
            </a:pPr>
            <a:r>
              <a:rPr lang="bg-BG" sz="2400" dirty="0"/>
              <a:t>FROM EMPLOYEE, WORKS_ON, PROJECT</a:t>
            </a:r>
            <a:endParaRPr lang="en-US" sz="2400" dirty="0"/>
          </a:p>
          <a:p>
            <a:pPr marL="868680" lvl="3" indent="0">
              <a:buNone/>
            </a:pPr>
            <a:r>
              <a:rPr lang="bg-BG" sz="2400" dirty="0"/>
              <a:t>WHERE </a:t>
            </a:r>
            <a:r>
              <a:rPr lang="bg-BG" dirty="0" err="1"/>
              <a:t>Ssn</a:t>
            </a:r>
            <a:r>
              <a:rPr lang="bg-BG" dirty="0"/>
              <a:t>=</a:t>
            </a:r>
            <a:r>
              <a:rPr lang="bg-BG" dirty="0" err="1"/>
              <a:t>Essn</a:t>
            </a:r>
            <a:r>
              <a:rPr lang="bg-BG" dirty="0"/>
              <a:t> AND </a:t>
            </a:r>
            <a:r>
              <a:rPr lang="bg-BG" dirty="0" err="1"/>
              <a:t>Pno</a:t>
            </a:r>
            <a:r>
              <a:rPr lang="bg-BG" dirty="0"/>
              <a:t>=</a:t>
            </a:r>
            <a:r>
              <a:rPr lang="bg-BG" dirty="0" err="1"/>
              <a:t>Pnumber</a:t>
            </a:r>
            <a:r>
              <a:rPr lang="bg-BG" dirty="0"/>
              <a:t> AND </a:t>
            </a:r>
            <a:r>
              <a:rPr lang="bg-BG" dirty="0" err="1"/>
              <a:t>Pname</a:t>
            </a:r>
            <a:r>
              <a:rPr lang="bg-BG" dirty="0"/>
              <a:t>='</a:t>
            </a:r>
            <a:r>
              <a:rPr lang="bg-BG" dirty="0" err="1"/>
              <a:t>ProductX</a:t>
            </a:r>
            <a:r>
              <a:rPr lang="bg-BG" dirty="0"/>
              <a:t>'</a:t>
            </a:r>
            <a:endParaRPr lang="en-US" dirty="0"/>
          </a:p>
        </p:txBody>
      </p:sp>
      <p:sp>
        <p:nvSpPr>
          <p:cNvPr id="5" name="Date Placeholder 3"/>
          <p:cNvSpPr>
            <a:spLocks noGrp="1"/>
          </p:cNvSpPr>
          <p:nvPr>
            <p:ph type="dt" sz="half" idx="10"/>
          </p:nvPr>
        </p:nvSpPr>
        <p:spPr/>
        <p:txBody>
          <a:bodyPr/>
          <a:lstStyle/>
          <a:p>
            <a:r>
              <a:rPr lang="bg-BG" altLang="bg-BG"/>
              <a:t>Юлиана Пенева</a:t>
            </a:r>
          </a:p>
        </p:txBody>
      </p:sp>
      <p:sp>
        <p:nvSpPr>
          <p:cNvPr id="6" name="Footer Placeholder 4"/>
          <p:cNvSpPr>
            <a:spLocks noGrp="1"/>
          </p:cNvSpPr>
          <p:nvPr>
            <p:ph type="ftr" sz="quarter" idx="11"/>
          </p:nvPr>
        </p:nvSpPr>
        <p:spPr/>
        <p:txBody>
          <a:bodyPr/>
          <a:lstStyle/>
          <a:p>
            <a:r>
              <a:rPr lang="bg-BG" altLang="bg-BG"/>
              <a:t>CSCB405- модул4</a:t>
            </a:r>
          </a:p>
        </p:txBody>
      </p:sp>
      <p:sp>
        <p:nvSpPr>
          <p:cNvPr id="7" name="Slide Number Placeholder 5"/>
          <p:cNvSpPr>
            <a:spLocks noGrp="1"/>
          </p:cNvSpPr>
          <p:nvPr>
            <p:ph type="sldNum" sz="quarter" idx="12"/>
          </p:nvPr>
        </p:nvSpPr>
        <p:spPr/>
        <p:txBody>
          <a:bodyPr/>
          <a:lstStyle/>
          <a:p>
            <a:fld id="{B26E7750-998E-4DE4-B2E3-2DE7CC6A871A}" type="slidenum">
              <a:rPr lang="bg-BG" altLang="bg-BG"/>
              <a:pPr/>
              <a:t>25</a:t>
            </a:fld>
            <a:endParaRPr lang="bg-BG" altLang="bg-BG"/>
          </a:p>
        </p:txBody>
      </p:sp>
      <p:sp>
        <p:nvSpPr>
          <p:cNvPr id="144389"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899592" y="404664"/>
            <a:ext cx="6781800" cy="510952"/>
          </a:xfrm>
        </p:spPr>
        <p:txBody>
          <a:bodyPr>
            <a:normAutofit fontScale="90000"/>
          </a:bodyPr>
          <a:lstStyle/>
          <a:p>
            <a:pPr algn="ctr"/>
            <a:r>
              <a:rPr lang="bg-BG" altLang="bg-BG" sz="3200" dirty="0">
                <a:solidFill>
                  <a:schemeClr val="accent1"/>
                </a:solidFill>
              </a:rPr>
              <a:t>Агрегатни функции в </a:t>
            </a:r>
            <a:r>
              <a:rPr lang="en-US" altLang="bg-BG" sz="3200" dirty="0">
                <a:solidFill>
                  <a:schemeClr val="accent1"/>
                </a:solidFill>
              </a:rPr>
              <a:t>SQL </a:t>
            </a:r>
            <a:endParaRPr lang="bg-BG" altLang="bg-BG" sz="3200" dirty="0">
              <a:solidFill>
                <a:schemeClr val="accent1"/>
              </a:solidFill>
            </a:endParaRPr>
          </a:p>
        </p:txBody>
      </p:sp>
      <p:sp>
        <p:nvSpPr>
          <p:cNvPr id="148483" name="Rectangle 3"/>
          <p:cNvSpPr>
            <a:spLocks noGrp="1" noChangeArrowheads="1"/>
          </p:cNvSpPr>
          <p:nvPr>
            <p:ph idx="1"/>
          </p:nvPr>
        </p:nvSpPr>
        <p:spPr>
          <a:xfrm>
            <a:off x="683568" y="891250"/>
            <a:ext cx="7543800" cy="4927949"/>
          </a:xfrm>
        </p:spPr>
        <p:txBody>
          <a:bodyPr>
            <a:normAutofit lnSpcReduction="10000"/>
          </a:bodyPr>
          <a:lstStyle/>
          <a:p>
            <a:pPr marL="533400" indent="-533400">
              <a:lnSpc>
                <a:spcPct val="80000"/>
              </a:lnSpc>
              <a:buFontTx/>
              <a:buAutoNum type="arabicPeriod"/>
            </a:pPr>
            <a:r>
              <a:rPr lang="bg-BG" altLang="bg-BG" sz="2400" dirty="0"/>
              <a:t>В SQL са предвидени основните агрегатни функции:</a:t>
            </a:r>
          </a:p>
          <a:p>
            <a:pPr marL="914400" lvl="1" indent="-457200">
              <a:lnSpc>
                <a:spcPct val="80000"/>
              </a:lnSpc>
              <a:buFontTx/>
              <a:buChar char="•"/>
            </a:pPr>
            <a:r>
              <a:rPr lang="bg-BG" altLang="bg-BG" sz="2400" dirty="0"/>
              <a:t>COUNT – връща броя на стойностите в дадена колона или броя на редовете в </a:t>
            </a:r>
            <a:r>
              <a:rPr lang="bg-BG" altLang="bg-BG" sz="2400" dirty="0" smtClean="0"/>
              <a:t>таблицата</a:t>
            </a:r>
            <a:r>
              <a:rPr lang="en-US" altLang="bg-BG" sz="2400" dirty="0" smtClean="0"/>
              <a:t>;</a:t>
            </a:r>
            <a:endParaRPr lang="bg-BG" altLang="bg-BG" sz="2400" dirty="0"/>
          </a:p>
          <a:p>
            <a:pPr marL="914400" lvl="1" indent="-457200">
              <a:lnSpc>
                <a:spcPct val="80000"/>
              </a:lnSpc>
              <a:buFontTx/>
              <a:buChar char="•"/>
            </a:pPr>
            <a:r>
              <a:rPr lang="bg-BG" altLang="bg-BG" sz="2400" dirty="0"/>
              <a:t>SUM – връща сумата от стойностите на посочената </a:t>
            </a:r>
            <a:r>
              <a:rPr lang="bg-BG" altLang="bg-BG" sz="2400" dirty="0" smtClean="0"/>
              <a:t>колона</a:t>
            </a:r>
            <a:r>
              <a:rPr lang="en-US" altLang="bg-BG" sz="2400" dirty="0" smtClean="0"/>
              <a:t>;</a:t>
            </a:r>
            <a:endParaRPr lang="bg-BG" altLang="bg-BG" sz="2400" dirty="0"/>
          </a:p>
          <a:p>
            <a:pPr marL="914400" lvl="1" indent="-457200">
              <a:lnSpc>
                <a:spcPct val="80000"/>
              </a:lnSpc>
              <a:buFontTx/>
              <a:buChar char="•"/>
            </a:pPr>
            <a:r>
              <a:rPr lang="bg-BG" altLang="bg-BG" sz="2400" dirty="0"/>
              <a:t>MIN – връща най-малката стойност в посочената </a:t>
            </a:r>
            <a:r>
              <a:rPr lang="bg-BG" altLang="bg-BG" sz="2400" dirty="0" smtClean="0"/>
              <a:t>колона</a:t>
            </a:r>
            <a:r>
              <a:rPr lang="en-US" altLang="bg-BG" sz="2400" dirty="0" smtClean="0"/>
              <a:t>;</a:t>
            </a:r>
            <a:endParaRPr lang="bg-BG" altLang="bg-BG" sz="2400" dirty="0"/>
          </a:p>
          <a:p>
            <a:pPr marL="914400" lvl="1" indent="-457200">
              <a:lnSpc>
                <a:spcPct val="80000"/>
              </a:lnSpc>
              <a:buFontTx/>
              <a:buChar char="•"/>
            </a:pPr>
            <a:r>
              <a:rPr lang="bg-BG" altLang="bg-BG" sz="2400" dirty="0"/>
              <a:t>MAX </a:t>
            </a:r>
            <a:r>
              <a:rPr lang="bg-BG" altLang="bg-BG" sz="2400" dirty="0">
                <a:solidFill>
                  <a:srgbClr val="303030"/>
                </a:solidFill>
              </a:rPr>
              <a:t>–</a:t>
            </a:r>
            <a:r>
              <a:rPr lang="bg-BG" altLang="bg-BG" sz="2400" dirty="0" smtClean="0"/>
              <a:t> </a:t>
            </a:r>
            <a:r>
              <a:rPr lang="bg-BG" altLang="bg-BG" sz="2400" dirty="0"/>
              <a:t>връща най-голямата стойност в посочената </a:t>
            </a:r>
            <a:r>
              <a:rPr lang="bg-BG" altLang="bg-BG" sz="2400" dirty="0" smtClean="0"/>
              <a:t>колона</a:t>
            </a:r>
            <a:r>
              <a:rPr lang="en-US" altLang="bg-BG" sz="2400" dirty="0" smtClean="0"/>
              <a:t>;</a:t>
            </a:r>
            <a:endParaRPr lang="bg-BG" altLang="bg-BG" sz="2400" dirty="0"/>
          </a:p>
          <a:p>
            <a:pPr marL="914400" lvl="1" indent="-457200">
              <a:lnSpc>
                <a:spcPct val="80000"/>
              </a:lnSpc>
              <a:buFontTx/>
              <a:buChar char="•"/>
            </a:pPr>
            <a:r>
              <a:rPr lang="bg-BG" altLang="bg-BG" sz="2400" dirty="0"/>
              <a:t>AVG – изчислява средна стойност в посочената </a:t>
            </a:r>
            <a:r>
              <a:rPr lang="bg-BG" altLang="bg-BG" sz="2400" dirty="0" smtClean="0"/>
              <a:t>колона</a:t>
            </a:r>
            <a:r>
              <a:rPr lang="en-US" altLang="bg-BG" sz="2400" dirty="0" smtClean="0"/>
              <a:t>.</a:t>
            </a:r>
            <a:endParaRPr lang="bg-BG" altLang="bg-BG" sz="2400" dirty="0"/>
          </a:p>
          <a:p>
            <a:pPr marL="914400" lvl="1" indent="-457200">
              <a:lnSpc>
                <a:spcPct val="80000"/>
              </a:lnSpc>
              <a:buFontTx/>
              <a:buNone/>
            </a:pPr>
            <a:endParaRPr lang="bg-BG" altLang="bg-BG" sz="2400" dirty="0"/>
          </a:p>
          <a:p>
            <a:pPr marL="533400" indent="-533400">
              <a:lnSpc>
                <a:spcPct val="80000"/>
              </a:lnSpc>
              <a:buFontTx/>
              <a:buAutoNum type="arabicPeriod" startAt="2"/>
            </a:pPr>
            <a:r>
              <a:rPr lang="bg-BG" altLang="bg-BG" sz="2400" dirty="0"/>
              <a:t>Агрегатните функции се прилагат само върху единствена колона</a:t>
            </a:r>
            <a:r>
              <a:rPr lang="bg-BG" altLang="bg-BG" sz="2000" dirty="0"/>
              <a:t>.</a:t>
            </a:r>
          </a:p>
        </p:txBody>
      </p:sp>
      <p:sp>
        <p:nvSpPr>
          <p:cNvPr id="5" name="Date Placeholder 3"/>
          <p:cNvSpPr>
            <a:spLocks noGrp="1"/>
          </p:cNvSpPr>
          <p:nvPr>
            <p:ph type="dt" sz="half" idx="10"/>
          </p:nvPr>
        </p:nvSpPr>
        <p:spPr/>
        <p:txBody>
          <a:bodyPr/>
          <a:lstStyle/>
          <a:p>
            <a:r>
              <a:rPr lang="bg-BG" altLang="bg-BG"/>
              <a:t>Юлиана Пенева</a:t>
            </a:r>
          </a:p>
        </p:txBody>
      </p:sp>
      <p:sp>
        <p:nvSpPr>
          <p:cNvPr id="6" name="Footer Placeholder 4"/>
          <p:cNvSpPr>
            <a:spLocks noGrp="1"/>
          </p:cNvSpPr>
          <p:nvPr>
            <p:ph type="ftr" sz="quarter" idx="11"/>
          </p:nvPr>
        </p:nvSpPr>
        <p:spPr/>
        <p:txBody>
          <a:bodyPr/>
          <a:lstStyle/>
          <a:p>
            <a:r>
              <a:rPr lang="bg-BG" altLang="bg-BG"/>
              <a:t>CSCB405- модул4</a:t>
            </a:r>
          </a:p>
        </p:txBody>
      </p:sp>
      <p:sp>
        <p:nvSpPr>
          <p:cNvPr id="7" name="Slide Number Placeholder 5"/>
          <p:cNvSpPr>
            <a:spLocks noGrp="1"/>
          </p:cNvSpPr>
          <p:nvPr>
            <p:ph type="sldNum" sz="quarter" idx="12"/>
          </p:nvPr>
        </p:nvSpPr>
        <p:spPr/>
        <p:txBody>
          <a:bodyPr/>
          <a:lstStyle/>
          <a:p>
            <a:fld id="{FE7BC7AF-EC70-42CC-94B4-7993A6D82F1B}" type="slidenum">
              <a:rPr lang="bg-BG" altLang="bg-BG"/>
              <a:pPr/>
              <a:t>26</a:t>
            </a:fld>
            <a:endParaRPr lang="bg-BG" altLang="bg-BG"/>
          </a:p>
        </p:txBody>
      </p:sp>
      <p:sp>
        <p:nvSpPr>
          <p:cNvPr id="14848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1181100" y="425151"/>
            <a:ext cx="6781800" cy="510952"/>
          </a:xfrm>
        </p:spPr>
        <p:txBody>
          <a:bodyPr>
            <a:normAutofit fontScale="90000"/>
          </a:bodyPr>
          <a:lstStyle/>
          <a:p>
            <a:pPr algn="ctr"/>
            <a:r>
              <a:rPr lang="bg-BG" altLang="bg-BG" sz="3200" dirty="0">
                <a:solidFill>
                  <a:schemeClr val="accent1"/>
                </a:solidFill>
              </a:rPr>
              <a:t>Агрегатни функции в </a:t>
            </a:r>
            <a:r>
              <a:rPr lang="en-US" altLang="bg-BG" sz="3200" dirty="0">
                <a:solidFill>
                  <a:schemeClr val="accent1"/>
                </a:solidFill>
              </a:rPr>
              <a:t>SQL</a:t>
            </a:r>
            <a:endParaRPr lang="bg-BG" altLang="bg-BG" sz="3200" dirty="0">
              <a:solidFill>
                <a:schemeClr val="accent1"/>
              </a:solidFill>
            </a:endParaRPr>
          </a:p>
        </p:txBody>
      </p:sp>
      <p:sp>
        <p:nvSpPr>
          <p:cNvPr id="149514" name="Rectangle 10"/>
          <p:cNvSpPr>
            <a:spLocks noGrp="1" noChangeArrowheads="1"/>
          </p:cNvSpPr>
          <p:nvPr>
            <p:ph idx="1"/>
          </p:nvPr>
        </p:nvSpPr>
        <p:spPr>
          <a:xfrm>
            <a:off x="899592" y="836711"/>
            <a:ext cx="7543800" cy="5215981"/>
          </a:xfrm>
        </p:spPr>
        <p:txBody>
          <a:bodyPr>
            <a:normAutofit lnSpcReduction="10000"/>
          </a:bodyPr>
          <a:lstStyle/>
          <a:p>
            <a:pPr marL="609600" indent="-609600">
              <a:lnSpc>
                <a:spcPct val="80000"/>
              </a:lnSpc>
              <a:buFontTx/>
              <a:buAutoNum type="arabicPeriod" startAt="3"/>
            </a:pPr>
            <a:r>
              <a:rPr lang="en-US" altLang="bg-BG" sz="2400" dirty="0"/>
              <a:t>COUNT</a:t>
            </a:r>
            <a:r>
              <a:rPr lang="bg-BG" altLang="bg-BG" sz="2400" dirty="0"/>
              <a:t>, </a:t>
            </a:r>
            <a:r>
              <a:rPr lang="en-US" altLang="bg-BG" sz="2400" dirty="0"/>
              <a:t>MIN </a:t>
            </a:r>
            <a:r>
              <a:rPr lang="bg-BG" altLang="bg-BG" sz="2400" dirty="0"/>
              <a:t>и </a:t>
            </a:r>
            <a:r>
              <a:rPr lang="en-US" altLang="bg-BG" sz="2400" dirty="0"/>
              <a:t>MAX</a:t>
            </a:r>
            <a:r>
              <a:rPr lang="bg-BG" altLang="bg-BG" sz="2400" dirty="0"/>
              <a:t> могат да се прилагат върху числови или нечислови полета</a:t>
            </a:r>
          </a:p>
          <a:p>
            <a:pPr marL="609600" indent="-609600">
              <a:lnSpc>
                <a:spcPct val="80000"/>
              </a:lnSpc>
              <a:buFontTx/>
              <a:buAutoNum type="arabicPeriod" startAt="3"/>
            </a:pPr>
            <a:r>
              <a:rPr lang="en-US" altLang="bg-BG" sz="2400" dirty="0"/>
              <a:t>SUM </a:t>
            </a:r>
            <a:r>
              <a:rPr lang="bg-BG" altLang="bg-BG" sz="2400" dirty="0"/>
              <a:t>и </a:t>
            </a:r>
            <a:r>
              <a:rPr lang="en-US" altLang="bg-BG" sz="2400" dirty="0"/>
              <a:t>AVG</a:t>
            </a:r>
            <a:r>
              <a:rPr lang="bg-BG" altLang="bg-BG" sz="2400" dirty="0"/>
              <a:t> се прилагат само върху числови полета. </a:t>
            </a:r>
          </a:p>
          <a:p>
            <a:pPr marL="609600" indent="-609600">
              <a:lnSpc>
                <a:spcPct val="80000"/>
              </a:lnSpc>
              <a:buFontTx/>
              <a:buAutoNum type="arabicPeriod" startAt="3"/>
            </a:pPr>
            <a:endParaRPr lang="bg-BG" altLang="bg-BG" sz="2400" dirty="0"/>
          </a:p>
          <a:p>
            <a:pPr marL="609600" indent="-609600">
              <a:lnSpc>
                <a:spcPct val="80000"/>
              </a:lnSpc>
              <a:buFontTx/>
              <a:buAutoNum type="arabicPeriod" startAt="3"/>
            </a:pPr>
            <a:r>
              <a:rPr lang="bg-BG" altLang="bg-BG" sz="2400" dirty="0"/>
              <a:t>Всички функции първо  изключват стойностите </a:t>
            </a:r>
            <a:r>
              <a:rPr lang="en-US" altLang="bg-BG" sz="2400" dirty="0"/>
              <a:t>Null</a:t>
            </a:r>
            <a:r>
              <a:rPr lang="bg-BG" altLang="bg-BG" sz="2400" dirty="0"/>
              <a:t> и работят върху останалите стойности.</a:t>
            </a:r>
          </a:p>
          <a:p>
            <a:pPr marL="609600" indent="-609600">
              <a:lnSpc>
                <a:spcPct val="80000"/>
              </a:lnSpc>
              <a:buFontTx/>
              <a:buAutoNum type="arabicPeriod" startAt="3"/>
            </a:pPr>
            <a:endParaRPr lang="en-US" altLang="bg-BG" sz="2400" dirty="0"/>
          </a:p>
          <a:p>
            <a:pPr marL="609600" indent="-609600">
              <a:lnSpc>
                <a:spcPct val="80000"/>
              </a:lnSpc>
              <a:buFontTx/>
              <a:buAutoNum type="arabicPeriod" startAt="3"/>
            </a:pPr>
            <a:r>
              <a:rPr lang="en-US" altLang="bg-BG" sz="2400" dirty="0"/>
              <a:t>COUNT</a:t>
            </a:r>
            <a:r>
              <a:rPr lang="bg-BG" altLang="bg-BG" sz="2400" dirty="0"/>
              <a:t>(*) представлява специален начин на използуване на </a:t>
            </a:r>
            <a:r>
              <a:rPr lang="en-US" altLang="bg-BG" sz="2400" dirty="0"/>
              <a:t>COUNT</a:t>
            </a:r>
            <a:r>
              <a:rPr lang="bg-BG" altLang="bg-BG" sz="2400" dirty="0"/>
              <a:t> и връща броя на редовете в указана таблица, независимо от наличните стойности </a:t>
            </a:r>
            <a:r>
              <a:rPr lang="en-US" altLang="bg-BG" sz="2400" dirty="0"/>
              <a:t>Null</a:t>
            </a:r>
            <a:r>
              <a:rPr lang="bg-BG" altLang="bg-BG" sz="2400" dirty="0"/>
              <a:t>.</a:t>
            </a:r>
          </a:p>
          <a:p>
            <a:pPr marL="609600" indent="-609600">
              <a:lnSpc>
                <a:spcPct val="80000"/>
              </a:lnSpc>
              <a:buFontTx/>
              <a:buAutoNum type="arabicPeriod" startAt="3"/>
            </a:pPr>
            <a:endParaRPr lang="bg-BG" altLang="bg-BG" sz="2400" dirty="0"/>
          </a:p>
          <a:p>
            <a:pPr marL="609600" indent="-609600">
              <a:lnSpc>
                <a:spcPct val="80000"/>
              </a:lnSpc>
              <a:buFontTx/>
              <a:buAutoNum type="arabicPeriod" startAt="3"/>
            </a:pPr>
            <a:r>
              <a:rPr lang="bg-BG" altLang="bg-BG" sz="2400" dirty="0"/>
              <a:t>Агрегатните функции се използуват само в оператора SELECT или заедно с ключовата дума HAVING. </a:t>
            </a:r>
          </a:p>
        </p:txBody>
      </p:sp>
      <p:sp>
        <p:nvSpPr>
          <p:cNvPr id="5" name="Date Placeholder 3"/>
          <p:cNvSpPr>
            <a:spLocks noGrp="1"/>
          </p:cNvSpPr>
          <p:nvPr>
            <p:ph type="dt" sz="half" idx="10"/>
          </p:nvPr>
        </p:nvSpPr>
        <p:spPr/>
        <p:txBody>
          <a:bodyPr/>
          <a:lstStyle/>
          <a:p>
            <a:r>
              <a:rPr lang="bg-BG" altLang="bg-BG"/>
              <a:t>Юлиана Пенева</a:t>
            </a:r>
          </a:p>
        </p:txBody>
      </p:sp>
      <p:sp>
        <p:nvSpPr>
          <p:cNvPr id="6" name="Footer Placeholder 4"/>
          <p:cNvSpPr>
            <a:spLocks noGrp="1"/>
          </p:cNvSpPr>
          <p:nvPr>
            <p:ph type="ftr" sz="quarter" idx="11"/>
          </p:nvPr>
        </p:nvSpPr>
        <p:spPr/>
        <p:txBody>
          <a:bodyPr/>
          <a:lstStyle/>
          <a:p>
            <a:r>
              <a:rPr lang="bg-BG" altLang="bg-BG"/>
              <a:t>CSCB405- модул4</a:t>
            </a:r>
          </a:p>
        </p:txBody>
      </p:sp>
      <p:sp>
        <p:nvSpPr>
          <p:cNvPr id="7" name="Slide Number Placeholder 5"/>
          <p:cNvSpPr>
            <a:spLocks noGrp="1"/>
          </p:cNvSpPr>
          <p:nvPr>
            <p:ph type="sldNum" sz="quarter" idx="12"/>
          </p:nvPr>
        </p:nvSpPr>
        <p:spPr/>
        <p:txBody>
          <a:bodyPr/>
          <a:lstStyle/>
          <a:p>
            <a:fld id="{F2AB7803-86A7-45EF-90E6-66553954281D}" type="slidenum">
              <a:rPr lang="bg-BG" altLang="bg-BG"/>
              <a:pPr/>
              <a:t>27</a:t>
            </a:fld>
            <a:endParaRPr lang="bg-BG" altLang="bg-BG"/>
          </a:p>
        </p:txBody>
      </p:sp>
      <p:sp>
        <p:nvSpPr>
          <p:cNvPr id="149511"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1115616" y="476672"/>
            <a:ext cx="6781800" cy="654968"/>
          </a:xfrm>
        </p:spPr>
        <p:txBody>
          <a:bodyPr>
            <a:normAutofit fontScale="90000"/>
          </a:bodyPr>
          <a:lstStyle/>
          <a:p>
            <a:pPr algn="ctr"/>
            <a:r>
              <a:rPr lang="bg-BG" altLang="bg-BG" sz="3600" dirty="0">
                <a:solidFill>
                  <a:schemeClr val="accent1"/>
                </a:solidFill>
              </a:rPr>
              <a:t>Агрегатни функции в </a:t>
            </a:r>
            <a:r>
              <a:rPr lang="en-US" altLang="bg-BG" sz="3600" dirty="0">
                <a:solidFill>
                  <a:schemeClr val="accent1"/>
                </a:solidFill>
              </a:rPr>
              <a:t>SQL</a:t>
            </a:r>
            <a:r>
              <a:rPr lang="bg-BG" altLang="bg-BG" dirty="0"/>
              <a:t> </a:t>
            </a:r>
          </a:p>
        </p:txBody>
      </p:sp>
      <p:sp>
        <p:nvSpPr>
          <p:cNvPr id="150538" name="Rectangle 10"/>
          <p:cNvSpPr>
            <a:spLocks noGrp="1" noChangeArrowheads="1"/>
          </p:cNvSpPr>
          <p:nvPr>
            <p:ph idx="1"/>
          </p:nvPr>
        </p:nvSpPr>
        <p:spPr>
          <a:xfrm>
            <a:off x="899592" y="1268760"/>
            <a:ext cx="7543800" cy="3886200"/>
          </a:xfrm>
        </p:spPr>
        <p:txBody>
          <a:bodyPr>
            <a:normAutofit fontScale="92500"/>
          </a:bodyPr>
          <a:lstStyle/>
          <a:p>
            <a:pPr>
              <a:lnSpc>
                <a:spcPct val="90000"/>
              </a:lnSpc>
              <a:buFontTx/>
              <a:buNone/>
            </a:pPr>
            <a:r>
              <a:rPr lang="bg-BG" altLang="bg-BG" sz="2800" b="1" dirty="0"/>
              <a:t>Заявка 15: </a:t>
            </a:r>
            <a:r>
              <a:rPr lang="bg-BG" altLang="bg-BG" sz="2800" dirty="0"/>
              <a:t>да се изчислят сумата от заплатите на всички служители, максималната и минималната  заплати в предприятието.</a:t>
            </a:r>
          </a:p>
          <a:p>
            <a:pPr>
              <a:lnSpc>
                <a:spcPct val="90000"/>
              </a:lnSpc>
              <a:buFontTx/>
              <a:buNone/>
            </a:pPr>
            <a:endParaRPr lang="bg-BG" altLang="bg-BG" sz="2800" dirty="0"/>
          </a:p>
          <a:p>
            <a:pPr>
              <a:lnSpc>
                <a:spcPct val="90000"/>
              </a:lnSpc>
              <a:buFontTx/>
              <a:buNone/>
            </a:pPr>
            <a:r>
              <a:rPr lang="bg-BG" altLang="bg-BG" sz="2800" dirty="0"/>
              <a:t>SELECT </a:t>
            </a:r>
            <a:r>
              <a:rPr lang="bg-BG" dirty="0" err="1"/>
              <a:t>SELECT</a:t>
            </a:r>
            <a:r>
              <a:rPr lang="bg-BG" dirty="0"/>
              <a:t> SUM(</a:t>
            </a:r>
            <a:r>
              <a:rPr lang="bg-BG" dirty="0" err="1"/>
              <a:t>Salary</a:t>
            </a:r>
            <a:r>
              <a:rPr lang="bg-BG" dirty="0"/>
              <a:t>), MAX(</a:t>
            </a:r>
            <a:r>
              <a:rPr lang="bg-BG" dirty="0" err="1"/>
              <a:t>Salary</a:t>
            </a:r>
            <a:r>
              <a:rPr lang="bg-BG" dirty="0"/>
              <a:t>), MIN(</a:t>
            </a:r>
            <a:r>
              <a:rPr lang="bg-BG" dirty="0" err="1"/>
              <a:t>Salary</a:t>
            </a:r>
            <a:r>
              <a:rPr lang="bg-BG" dirty="0"/>
              <a:t>) </a:t>
            </a:r>
            <a:endParaRPr lang="bg-BG" dirty="0" smtClean="0"/>
          </a:p>
          <a:p>
            <a:pPr>
              <a:lnSpc>
                <a:spcPct val="90000"/>
              </a:lnSpc>
              <a:buFontTx/>
              <a:buNone/>
            </a:pPr>
            <a:r>
              <a:rPr lang="bg-BG" altLang="bg-BG" sz="2800" dirty="0" smtClean="0"/>
              <a:t>FROM </a:t>
            </a:r>
            <a:r>
              <a:rPr lang="bg-BG" altLang="bg-BG" sz="2800" dirty="0"/>
              <a:t>EMPLOYEE.</a:t>
            </a:r>
          </a:p>
          <a:p>
            <a:pPr>
              <a:lnSpc>
                <a:spcPct val="90000"/>
              </a:lnSpc>
              <a:buFontTx/>
              <a:buNone/>
            </a:pPr>
            <a:endParaRPr lang="bg-BG" altLang="bg-BG" sz="2800" dirty="0"/>
          </a:p>
          <a:p>
            <a:pPr>
              <a:lnSpc>
                <a:spcPct val="90000"/>
              </a:lnSpc>
              <a:buFontTx/>
              <a:buNone/>
            </a:pPr>
            <a:r>
              <a:rPr lang="bg-BG" altLang="bg-BG" sz="2800" dirty="0"/>
              <a:t>Забележка: при някои реализации на </a:t>
            </a:r>
            <a:r>
              <a:rPr lang="en-US" altLang="bg-BG" sz="2800" dirty="0"/>
              <a:t>SQL</a:t>
            </a:r>
            <a:r>
              <a:rPr lang="bg-BG" altLang="bg-BG" sz="2800" dirty="0"/>
              <a:t> не може да се указва повече от една агрегатна функция.</a:t>
            </a:r>
          </a:p>
        </p:txBody>
      </p:sp>
      <p:sp>
        <p:nvSpPr>
          <p:cNvPr id="5" name="Date Placeholder 3"/>
          <p:cNvSpPr>
            <a:spLocks noGrp="1"/>
          </p:cNvSpPr>
          <p:nvPr>
            <p:ph type="dt" sz="half" idx="10"/>
          </p:nvPr>
        </p:nvSpPr>
        <p:spPr/>
        <p:txBody>
          <a:bodyPr/>
          <a:lstStyle/>
          <a:p>
            <a:r>
              <a:rPr lang="bg-BG" altLang="bg-BG"/>
              <a:t>Юлиана Пенева</a:t>
            </a:r>
          </a:p>
        </p:txBody>
      </p:sp>
      <p:sp>
        <p:nvSpPr>
          <p:cNvPr id="6" name="Footer Placeholder 4"/>
          <p:cNvSpPr>
            <a:spLocks noGrp="1"/>
          </p:cNvSpPr>
          <p:nvPr>
            <p:ph type="ftr" sz="quarter" idx="11"/>
          </p:nvPr>
        </p:nvSpPr>
        <p:spPr/>
        <p:txBody>
          <a:bodyPr/>
          <a:lstStyle/>
          <a:p>
            <a:r>
              <a:rPr lang="bg-BG" altLang="bg-BG"/>
              <a:t>CSCB405- модул4</a:t>
            </a:r>
          </a:p>
        </p:txBody>
      </p:sp>
      <p:sp>
        <p:nvSpPr>
          <p:cNvPr id="7" name="Slide Number Placeholder 5"/>
          <p:cNvSpPr>
            <a:spLocks noGrp="1"/>
          </p:cNvSpPr>
          <p:nvPr>
            <p:ph type="sldNum" sz="quarter" idx="12"/>
          </p:nvPr>
        </p:nvSpPr>
        <p:spPr/>
        <p:txBody>
          <a:bodyPr/>
          <a:lstStyle/>
          <a:p>
            <a:fld id="{75BAA541-74D3-41AE-B8C9-7B906DCC2DF8}" type="slidenum">
              <a:rPr lang="bg-BG" altLang="bg-BG"/>
              <a:pPr/>
              <a:t>28</a:t>
            </a:fld>
            <a:endParaRPr lang="bg-BG" altLang="bg-BG"/>
          </a:p>
        </p:txBody>
      </p:sp>
      <p:sp>
        <p:nvSpPr>
          <p:cNvPr id="15053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1181100" y="476672"/>
            <a:ext cx="6781800" cy="582960"/>
          </a:xfrm>
        </p:spPr>
        <p:txBody>
          <a:bodyPr>
            <a:normAutofit/>
          </a:bodyPr>
          <a:lstStyle/>
          <a:p>
            <a:pPr algn="ctr"/>
            <a:r>
              <a:rPr lang="bg-BG" altLang="bg-BG" sz="3200" dirty="0">
                <a:solidFill>
                  <a:schemeClr val="accent1"/>
                </a:solidFill>
              </a:rPr>
              <a:t>Агрегатни функции в </a:t>
            </a:r>
            <a:r>
              <a:rPr lang="en-US" altLang="bg-BG" sz="3200" dirty="0" smtClean="0">
                <a:solidFill>
                  <a:schemeClr val="accent1"/>
                </a:solidFill>
              </a:rPr>
              <a:t>SQL</a:t>
            </a:r>
            <a:endParaRPr lang="bg-BG" altLang="bg-BG" sz="3200" dirty="0">
              <a:solidFill>
                <a:schemeClr val="accent1"/>
              </a:solidFill>
            </a:endParaRPr>
          </a:p>
        </p:txBody>
      </p:sp>
      <p:sp>
        <p:nvSpPr>
          <p:cNvPr id="151555" name="Rectangle 3"/>
          <p:cNvSpPr>
            <a:spLocks noGrp="1" noChangeArrowheads="1"/>
          </p:cNvSpPr>
          <p:nvPr>
            <p:ph idx="1"/>
          </p:nvPr>
        </p:nvSpPr>
        <p:spPr>
          <a:xfrm>
            <a:off x="152400" y="1185032"/>
            <a:ext cx="8229600" cy="2448272"/>
          </a:xfrm>
        </p:spPr>
        <p:txBody>
          <a:bodyPr>
            <a:normAutofit lnSpcReduction="10000"/>
          </a:bodyPr>
          <a:lstStyle/>
          <a:p>
            <a:pPr marL="0" indent="0">
              <a:buNone/>
            </a:pPr>
            <a:r>
              <a:rPr lang="bg-BG" altLang="bg-BG" sz="2800" b="1" dirty="0"/>
              <a:t>Заявка 16: </a:t>
            </a:r>
            <a:r>
              <a:rPr lang="bg-BG" dirty="0"/>
              <a:t>Да се изчислят средната, максималната и минималната заплати на служителите от отдел 'Маркетинг'. </a:t>
            </a:r>
            <a:endParaRPr lang="bg-BG" dirty="0" smtClean="0"/>
          </a:p>
          <a:p>
            <a:endParaRPr lang="en-US" dirty="0"/>
          </a:p>
          <a:p>
            <a:pPr marL="0" indent="0">
              <a:buNone/>
            </a:pPr>
            <a:r>
              <a:rPr lang="bg-BG" dirty="0" smtClean="0"/>
              <a:t>Q16: </a:t>
            </a:r>
            <a:r>
              <a:rPr lang="bg-BG" dirty="0"/>
              <a:t>SELECT MAX (</a:t>
            </a:r>
            <a:r>
              <a:rPr lang="bg-BG" dirty="0" err="1"/>
              <a:t>Salary</a:t>
            </a:r>
            <a:r>
              <a:rPr lang="bg-BG" dirty="0"/>
              <a:t>), MIN (</a:t>
            </a:r>
            <a:r>
              <a:rPr lang="bg-BG" dirty="0" err="1"/>
              <a:t>Salary</a:t>
            </a:r>
            <a:r>
              <a:rPr lang="bg-BG" dirty="0"/>
              <a:t>), AVG(</a:t>
            </a:r>
            <a:r>
              <a:rPr lang="bg-BG" dirty="0" err="1"/>
              <a:t>Salary</a:t>
            </a:r>
            <a:r>
              <a:rPr lang="bg-BG" dirty="0"/>
              <a:t>)</a:t>
            </a:r>
            <a:endParaRPr lang="en-US" dirty="0"/>
          </a:p>
          <a:p>
            <a:pPr marL="868680" lvl="3" indent="0">
              <a:buNone/>
            </a:pPr>
            <a:r>
              <a:rPr lang="bg-BG" sz="2400" dirty="0"/>
              <a:t>FROM EMPLOYEE, DEPARTMENT</a:t>
            </a:r>
            <a:endParaRPr lang="en-US" sz="2400" dirty="0"/>
          </a:p>
          <a:p>
            <a:pPr marL="868680" lvl="3" indent="0">
              <a:buNone/>
            </a:pPr>
            <a:r>
              <a:rPr lang="bg-BG" sz="2400" dirty="0"/>
              <a:t>WHERE </a:t>
            </a:r>
            <a:r>
              <a:rPr lang="bg-BG" sz="2400" dirty="0" err="1"/>
              <a:t>Dno</a:t>
            </a:r>
            <a:r>
              <a:rPr lang="bg-BG" sz="2400" dirty="0"/>
              <a:t>=</a:t>
            </a:r>
            <a:r>
              <a:rPr lang="bg-BG" sz="2400" dirty="0" err="1"/>
              <a:t>Dnumber</a:t>
            </a:r>
            <a:r>
              <a:rPr lang="bg-BG" sz="2400" dirty="0"/>
              <a:t> AND </a:t>
            </a:r>
            <a:r>
              <a:rPr lang="bg-BG" sz="2400" dirty="0" err="1"/>
              <a:t>Dname</a:t>
            </a:r>
            <a:r>
              <a:rPr lang="bg-BG" sz="2400" dirty="0"/>
              <a:t>='Маркетинг'</a:t>
            </a:r>
            <a:endParaRPr lang="en-US" sz="2400" dirty="0"/>
          </a:p>
        </p:txBody>
      </p:sp>
      <p:sp>
        <p:nvSpPr>
          <p:cNvPr id="6" name="Date Placeholder 3"/>
          <p:cNvSpPr>
            <a:spLocks noGrp="1"/>
          </p:cNvSpPr>
          <p:nvPr>
            <p:ph type="dt" sz="half" idx="10"/>
          </p:nvPr>
        </p:nvSpPr>
        <p:spPr/>
        <p:txBody>
          <a:bodyPr/>
          <a:lstStyle/>
          <a:p>
            <a:r>
              <a:rPr lang="bg-BG" altLang="bg-BG"/>
              <a:t>Юлиана Пенева</a:t>
            </a:r>
          </a:p>
        </p:txBody>
      </p:sp>
      <p:sp>
        <p:nvSpPr>
          <p:cNvPr id="7" name="Footer Placeholder 4"/>
          <p:cNvSpPr>
            <a:spLocks noGrp="1"/>
          </p:cNvSpPr>
          <p:nvPr>
            <p:ph type="ftr" sz="quarter" idx="11"/>
          </p:nvPr>
        </p:nvSpPr>
        <p:spPr/>
        <p:txBody>
          <a:bodyPr/>
          <a:lstStyle/>
          <a:p>
            <a:r>
              <a:rPr lang="bg-BG" altLang="bg-BG"/>
              <a:t>CSCB405- модул4</a:t>
            </a:r>
          </a:p>
        </p:txBody>
      </p:sp>
      <p:sp>
        <p:nvSpPr>
          <p:cNvPr id="8" name="Slide Number Placeholder 5"/>
          <p:cNvSpPr>
            <a:spLocks noGrp="1"/>
          </p:cNvSpPr>
          <p:nvPr>
            <p:ph type="sldNum" sz="quarter" idx="12"/>
          </p:nvPr>
        </p:nvSpPr>
        <p:spPr/>
        <p:txBody>
          <a:bodyPr/>
          <a:lstStyle/>
          <a:p>
            <a:fld id="{84A7D000-4909-49B4-9D4C-0763A601944A}" type="slidenum">
              <a:rPr lang="bg-BG" altLang="bg-BG"/>
              <a:pPr/>
              <a:t>29</a:t>
            </a:fld>
            <a:endParaRPr lang="bg-BG" altLang="bg-BG"/>
          </a:p>
        </p:txBody>
      </p:sp>
      <p:sp>
        <p:nvSpPr>
          <p:cNvPr id="15155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51559"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1259632" y="404664"/>
            <a:ext cx="6781800" cy="654968"/>
          </a:xfrm>
        </p:spPr>
        <p:txBody>
          <a:bodyPr>
            <a:normAutofit/>
          </a:bodyPr>
          <a:lstStyle/>
          <a:p>
            <a:pPr algn="ctr"/>
            <a:r>
              <a:rPr lang="bg-BG" altLang="bg-BG" sz="3200" dirty="0">
                <a:solidFill>
                  <a:schemeClr val="accent1"/>
                </a:solidFill>
              </a:rPr>
              <a:t>Агрегатни функции в </a:t>
            </a:r>
            <a:r>
              <a:rPr lang="en-US" altLang="bg-BG" sz="3200" dirty="0" smtClean="0">
                <a:solidFill>
                  <a:schemeClr val="accent1"/>
                </a:solidFill>
              </a:rPr>
              <a:t>SQL</a:t>
            </a:r>
            <a:endParaRPr lang="bg-BG" altLang="bg-BG" sz="3200" dirty="0">
              <a:solidFill>
                <a:schemeClr val="accent1"/>
              </a:solidFill>
            </a:endParaRPr>
          </a:p>
        </p:txBody>
      </p:sp>
      <p:sp>
        <p:nvSpPr>
          <p:cNvPr id="155651" name="Rectangle 3"/>
          <p:cNvSpPr>
            <a:spLocks noGrp="1" noChangeArrowheads="1"/>
          </p:cNvSpPr>
          <p:nvPr>
            <p:ph idx="1"/>
          </p:nvPr>
        </p:nvSpPr>
        <p:spPr>
          <a:xfrm>
            <a:off x="204292" y="1115257"/>
            <a:ext cx="8892480" cy="4536504"/>
          </a:xfrm>
        </p:spPr>
        <p:txBody>
          <a:bodyPr>
            <a:normAutofit fontScale="92500" lnSpcReduction="10000"/>
          </a:bodyPr>
          <a:lstStyle/>
          <a:p>
            <a:pPr marL="0" indent="0">
              <a:buNone/>
            </a:pPr>
            <a:r>
              <a:rPr lang="bg-BG" altLang="bg-BG" sz="2600" b="1" dirty="0"/>
              <a:t>Заявка 17 : </a:t>
            </a:r>
            <a:r>
              <a:rPr lang="bg-BG" sz="2600" dirty="0"/>
              <a:t>Да се намери общия брой на служителите в </a:t>
            </a:r>
            <a:r>
              <a:rPr lang="bg-BG" sz="2600" dirty="0" smtClean="0"/>
              <a:t>предприятието. </a:t>
            </a:r>
          </a:p>
          <a:p>
            <a:pPr marL="0" indent="0">
              <a:buNone/>
            </a:pPr>
            <a:endParaRPr lang="en-US" sz="900" dirty="0"/>
          </a:p>
          <a:p>
            <a:pPr marL="0" indent="0">
              <a:buNone/>
            </a:pPr>
            <a:r>
              <a:rPr lang="bg-BG" sz="2600" dirty="0" smtClean="0"/>
              <a:t>Q17: </a:t>
            </a:r>
            <a:r>
              <a:rPr lang="bg-BG" sz="2600" dirty="0"/>
              <a:t>SELECT COUNT(*)</a:t>
            </a:r>
            <a:endParaRPr lang="en-US" sz="2600" dirty="0"/>
          </a:p>
          <a:p>
            <a:pPr marL="640080" lvl="2" indent="0">
              <a:buNone/>
            </a:pPr>
            <a:r>
              <a:rPr lang="bg-BG" sz="2600" dirty="0"/>
              <a:t>FROM EMPLOYEE</a:t>
            </a:r>
            <a:endParaRPr lang="en-US" sz="2600" dirty="0"/>
          </a:p>
          <a:p>
            <a:pPr>
              <a:lnSpc>
                <a:spcPct val="90000"/>
              </a:lnSpc>
              <a:buFontTx/>
              <a:buNone/>
            </a:pPr>
            <a:endParaRPr lang="bg-BG" altLang="bg-BG" sz="2800" dirty="0"/>
          </a:p>
          <a:p>
            <a:pPr>
              <a:lnSpc>
                <a:spcPct val="90000"/>
              </a:lnSpc>
              <a:buFontTx/>
              <a:buNone/>
            </a:pPr>
            <a:r>
              <a:rPr lang="bg-BG" altLang="bg-BG" sz="2600" b="1" dirty="0"/>
              <a:t>Заявка </a:t>
            </a:r>
            <a:r>
              <a:rPr lang="bg-BG" altLang="bg-BG" sz="2600" b="1" dirty="0" smtClean="0"/>
              <a:t>18 </a:t>
            </a:r>
            <a:r>
              <a:rPr lang="bg-BG" altLang="bg-BG" sz="2600" dirty="0"/>
              <a:t>: да се намери общия брой на служителите, работещи в отдел </a:t>
            </a:r>
            <a:r>
              <a:rPr lang="bg-BG" sz="2600" dirty="0" smtClean="0"/>
              <a:t>'Изследователски</a:t>
            </a:r>
            <a:r>
              <a:rPr lang="bg-BG" sz="2600" dirty="0"/>
              <a:t>'</a:t>
            </a:r>
            <a:r>
              <a:rPr lang="bg-BG" sz="2600" dirty="0" smtClean="0"/>
              <a:t>.</a:t>
            </a:r>
          </a:p>
          <a:p>
            <a:pPr>
              <a:lnSpc>
                <a:spcPct val="90000"/>
              </a:lnSpc>
              <a:buFontTx/>
              <a:buNone/>
            </a:pPr>
            <a:endParaRPr lang="bg-BG" sz="2800" dirty="0" smtClean="0"/>
          </a:p>
          <a:p>
            <a:pPr marL="0" indent="0">
              <a:buNone/>
            </a:pPr>
            <a:r>
              <a:rPr lang="bg-BG" sz="2600" dirty="0" smtClean="0"/>
              <a:t>Q18: </a:t>
            </a:r>
            <a:r>
              <a:rPr lang="bg-BG" sz="2600" dirty="0"/>
              <a:t>SELECT COUNT(*)</a:t>
            </a:r>
            <a:endParaRPr lang="en-US" sz="2600" dirty="0"/>
          </a:p>
          <a:p>
            <a:pPr marL="594360" lvl="2" indent="0">
              <a:buNone/>
            </a:pPr>
            <a:r>
              <a:rPr lang="bg-BG" sz="2600" dirty="0"/>
              <a:t>FROM EMPLOYEE, DEPARTMENT</a:t>
            </a:r>
            <a:endParaRPr lang="en-US" sz="2600" dirty="0"/>
          </a:p>
          <a:p>
            <a:pPr marL="594360" lvl="2" indent="0">
              <a:buNone/>
            </a:pPr>
            <a:r>
              <a:rPr lang="bg-BG" sz="2600" dirty="0"/>
              <a:t>WHERE </a:t>
            </a:r>
            <a:r>
              <a:rPr lang="bg-BG" sz="2600" dirty="0" err="1"/>
              <a:t>Dno</a:t>
            </a:r>
            <a:r>
              <a:rPr lang="bg-BG" sz="2600" dirty="0"/>
              <a:t>=</a:t>
            </a:r>
            <a:r>
              <a:rPr lang="bg-BG" sz="2600" dirty="0" err="1"/>
              <a:t>Dnumber</a:t>
            </a:r>
            <a:r>
              <a:rPr lang="bg-BG" sz="2600" dirty="0"/>
              <a:t> AND </a:t>
            </a:r>
            <a:r>
              <a:rPr lang="bg-BG" sz="2600" dirty="0" err="1"/>
              <a:t>Dname</a:t>
            </a:r>
            <a:r>
              <a:rPr lang="bg-BG" sz="2600" dirty="0"/>
              <a:t> = 'Изследователски'</a:t>
            </a:r>
            <a:endParaRPr lang="bg-BG" altLang="bg-BG" sz="26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E52AD0DB-64BF-44A4-AA5B-3E15513A899B}" type="slidenum">
              <a:rPr lang="bg-BG" altLang="bg-BG"/>
              <a:pPr/>
              <a:t>30</a:t>
            </a:fld>
            <a:endParaRPr lang="bg-BG" altLang="bg-BG"/>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1187624" y="476672"/>
            <a:ext cx="6781800" cy="654968"/>
          </a:xfrm>
        </p:spPr>
        <p:txBody>
          <a:bodyPr>
            <a:normAutofit/>
          </a:bodyPr>
          <a:lstStyle/>
          <a:p>
            <a:pPr algn="ctr"/>
            <a:r>
              <a:rPr lang="bg-BG" altLang="bg-BG" sz="3200" dirty="0">
                <a:solidFill>
                  <a:schemeClr val="accent1"/>
                </a:solidFill>
              </a:rPr>
              <a:t>Агрегатни функции в </a:t>
            </a:r>
            <a:r>
              <a:rPr lang="en-US" altLang="bg-BG" sz="3200" dirty="0" smtClean="0">
                <a:solidFill>
                  <a:schemeClr val="accent1"/>
                </a:solidFill>
              </a:rPr>
              <a:t>SQL</a:t>
            </a:r>
            <a:endParaRPr lang="bg-BG" altLang="bg-BG" sz="3200" dirty="0">
              <a:solidFill>
                <a:schemeClr val="accent1"/>
              </a:solidFill>
            </a:endParaRPr>
          </a:p>
        </p:txBody>
      </p:sp>
      <p:sp>
        <p:nvSpPr>
          <p:cNvPr id="156675" name="Rectangle 3"/>
          <p:cNvSpPr>
            <a:spLocks noGrp="1" noChangeArrowheads="1"/>
          </p:cNvSpPr>
          <p:nvPr>
            <p:ph idx="1"/>
          </p:nvPr>
        </p:nvSpPr>
        <p:spPr>
          <a:xfrm>
            <a:off x="611560" y="1052736"/>
            <a:ext cx="7543800" cy="3310136"/>
          </a:xfrm>
        </p:spPr>
        <p:txBody>
          <a:bodyPr/>
          <a:lstStyle/>
          <a:p>
            <a:pPr>
              <a:buFontTx/>
              <a:buNone/>
            </a:pPr>
            <a:r>
              <a:rPr lang="bg-BG" altLang="bg-BG" b="1" dirty="0"/>
              <a:t>Заявка </a:t>
            </a:r>
            <a:r>
              <a:rPr lang="bg-BG" altLang="bg-BG" b="1" dirty="0" smtClean="0"/>
              <a:t>19:</a:t>
            </a:r>
            <a:r>
              <a:rPr lang="bg-BG" altLang="bg-BG" dirty="0" smtClean="0"/>
              <a:t> </a:t>
            </a:r>
            <a:r>
              <a:rPr lang="bg-BG" altLang="bg-BG" dirty="0"/>
              <a:t>да се преброят различните стойности на атрибута SALARY в базата (колко различни заплати има в предприятието).</a:t>
            </a:r>
          </a:p>
          <a:p>
            <a:pPr>
              <a:buFontTx/>
              <a:buNone/>
            </a:pPr>
            <a:endParaRPr lang="bg-BG" altLang="bg-BG" sz="2800" dirty="0"/>
          </a:p>
          <a:p>
            <a:pPr lvl="1">
              <a:buFontTx/>
              <a:buNone/>
            </a:pPr>
            <a:r>
              <a:rPr lang="bg-BG" sz="2400" dirty="0" smtClean="0"/>
              <a:t>Q19: </a:t>
            </a:r>
            <a:r>
              <a:rPr lang="bg-BG" altLang="bg-BG" sz="2400" dirty="0" smtClean="0"/>
              <a:t>SELECT </a:t>
            </a:r>
            <a:r>
              <a:rPr lang="bg-BG" altLang="bg-BG" sz="2400" dirty="0"/>
              <a:t>COUNT(DISTINCT </a:t>
            </a:r>
            <a:r>
              <a:rPr lang="bg-BG" altLang="bg-BG" sz="2400" dirty="0" err="1" smtClean="0"/>
              <a:t>Salary</a:t>
            </a:r>
            <a:r>
              <a:rPr lang="bg-BG" altLang="bg-BG" sz="2400" dirty="0" smtClean="0"/>
              <a:t>)</a:t>
            </a:r>
            <a:endParaRPr lang="bg-BG" altLang="bg-BG" sz="2400" dirty="0"/>
          </a:p>
          <a:p>
            <a:pPr lvl="4">
              <a:buFontTx/>
              <a:buNone/>
            </a:pPr>
            <a:r>
              <a:rPr lang="bg-BG" altLang="bg-BG" sz="2400" dirty="0"/>
              <a:t>FROM EMPLOYEE.</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B81E0349-005B-4048-B2B8-DE764D87DB4E}" type="slidenum">
              <a:rPr lang="bg-BG" altLang="bg-BG"/>
              <a:pPr/>
              <a:t>31</a:t>
            </a:fld>
            <a:endParaRPr lang="bg-BG" altLang="bg-BG"/>
          </a:p>
        </p:txBody>
      </p:sp>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1115616" y="397768"/>
            <a:ext cx="6781800" cy="654968"/>
          </a:xfrm>
        </p:spPr>
        <p:txBody>
          <a:bodyPr>
            <a:normAutofit fontScale="90000"/>
          </a:bodyPr>
          <a:lstStyle/>
          <a:p>
            <a:pPr algn="ctr"/>
            <a:r>
              <a:rPr lang="bg-BG" altLang="bg-BG" sz="3600" dirty="0">
                <a:solidFill>
                  <a:schemeClr val="accent1"/>
                </a:solidFill>
              </a:rPr>
              <a:t>Групиране и сортиране</a:t>
            </a:r>
            <a:r>
              <a:rPr lang="bg-BG" altLang="bg-BG" dirty="0"/>
              <a:t> </a:t>
            </a:r>
          </a:p>
        </p:txBody>
      </p:sp>
      <p:sp>
        <p:nvSpPr>
          <p:cNvPr id="157699" name="Rectangle 3"/>
          <p:cNvSpPr>
            <a:spLocks noGrp="1" noChangeArrowheads="1"/>
          </p:cNvSpPr>
          <p:nvPr>
            <p:ph idx="1"/>
          </p:nvPr>
        </p:nvSpPr>
        <p:spPr>
          <a:xfrm>
            <a:off x="391716" y="980728"/>
            <a:ext cx="8229600" cy="4706840"/>
          </a:xfrm>
        </p:spPr>
        <p:txBody>
          <a:bodyPr>
            <a:noAutofit/>
          </a:bodyPr>
          <a:lstStyle/>
          <a:p>
            <a:pPr marL="609600" indent="-609600">
              <a:buFontTx/>
              <a:buAutoNum type="arabicPeriod"/>
            </a:pPr>
            <a:r>
              <a:rPr lang="bg-BG" altLang="bg-BG" sz="2800" dirty="0"/>
              <a:t>Групирането е възможно чрез използуването оператора </a:t>
            </a:r>
            <a:r>
              <a:rPr lang="bg-BG" altLang="bg-BG" sz="2800" dirty="0">
                <a:solidFill>
                  <a:srgbClr val="C00000"/>
                </a:solidFill>
              </a:rPr>
              <a:t>GROUP BY</a:t>
            </a:r>
            <a:r>
              <a:rPr lang="bg-BG" altLang="bg-BG" sz="2800" dirty="0"/>
              <a:t>. </a:t>
            </a:r>
          </a:p>
          <a:p>
            <a:pPr marL="609600" indent="-609600">
              <a:buFontTx/>
              <a:buAutoNum type="arabicPeriod"/>
            </a:pPr>
            <a:r>
              <a:rPr lang="bg-BG" altLang="bg-BG" sz="2800" dirty="0"/>
              <a:t>След него се изброяват колоните, по чиито стойности таблицата ще се дели на групи. Тези колони се изброяват задължително и след SELECT. </a:t>
            </a:r>
          </a:p>
          <a:p>
            <a:pPr marL="1371600" lvl="2" indent="-457200">
              <a:buFontTx/>
              <a:buNone/>
            </a:pPr>
            <a:r>
              <a:rPr lang="bg-BG" altLang="bg-BG" sz="2800" dirty="0"/>
              <a:t>SELECT &lt;списък от атрибути&gt;</a:t>
            </a:r>
          </a:p>
          <a:p>
            <a:pPr marL="1371600" lvl="2" indent="-457200">
              <a:buFontTx/>
              <a:buNone/>
            </a:pPr>
            <a:r>
              <a:rPr lang="bg-BG" altLang="bg-BG" sz="2800" dirty="0"/>
              <a:t>FROM &lt;списък от релации&gt;</a:t>
            </a:r>
          </a:p>
          <a:p>
            <a:pPr marL="1371600" lvl="2" indent="-457200">
              <a:buFontTx/>
              <a:buNone/>
            </a:pPr>
            <a:r>
              <a:rPr lang="bg-BG" altLang="bg-BG" sz="2800" dirty="0"/>
              <a:t>[WHERE &lt;условие&gt;]</a:t>
            </a:r>
          </a:p>
          <a:p>
            <a:pPr marL="1371600" lvl="2" indent="-457200">
              <a:buFontTx/>
              <a:buNone/>
            </a:pPr>
            <a:r>
              <a:rPr lang="bg-BG" altLang="bg-BG" sz="2800" dirty="0"/>
              <a:t>[GROUP BY &lt;атрибути на групиране&gt;]</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C83F83C8-662C-4008-B4B2-47A29E8838F5}" type="slidenum">
              <a:rPr lang="bg-BG" altLang="bg-BG"/>
              <a:pPr/>
              <a:t>32</a:t>
            </a:fld>
            <a:endParaRPr lang="bg-BG" altLang="bg-BG"/>
          </a:p>
        </p:txBody>
      </p:sp>
    </p:spTree>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1115616" y="404664"/>
            <a:ext cx="6781800" cy="654968"/>
          </a:xfrm>
        </p:spPr>
        <p:txBody>
          <a:bodyPr>
            <a:normAutofit/>
          </a:bodyPr>
          <a:lstStyle/>
          <a:p>
            <a:pPr algn="ctr"/>
            <a:r>
              <a:rPr lang="bg-BG" altLang="bg-BG" sz="3200" dirty="0">
                <a:solidFill>
                  <a:schemeClr val="accent1"/>
                </a:solidFill>
              </a:rPr>
              <a:t>Групиране и сортиране </a:t>
            </a:r>
          </a:p>
        </p:txBody>
      </p:sp>
      <p:sp>
        <p:nvSpPr>
          <p:cNvPr id="158723" name="Rectangle 3"/>
          <p:cNvSpPr>
            <a:spLocks noGrp="1" noChangeArrowheads="1"/>
          </p:cNvSpPr>
          <p:nvPr>
            <p:ph idx="1"/>
          </p:nvPr>
        </p:nvSpPr>
        <p:spPr>
          <a:xfrm>
            <a:off x="800100" y="1196752"/>
            <a:ext cx="7543800" cy="3670176"/>
          </a:xfrm>
        </p:spPr>
        <p:txBody>
          <a:bodyPr/>
          <a:lstStyle/>
          <a:p>
            <a:pPr>
              <a:buFontTx/>
              <a:buNone/>
            </a:pPr>
            <a:r>
              <a:rPr lang="bg-BG" altLang="bg-BG" sz="2800" b="1" dirty="0"/>
              <a:t>Заявка </a:t>
            </a:r>
            <a:r>
              <a:rPr lang="bg-BG" altLang="bg-BG" sz="2800" b="1" dirty="0" smtClean="0"/>
              <a:t>20: </a:t>
            </a:r>
            <a:r>
              <a:rPr lang="bg-BG" altLang="bg-BG" sz="2800" dirty="0"/>
              <a:t>за всеки отдел да се изведат номерът му, броят на служителите и средната им заплата.</a:t>
            </a:r>
          </a:p>
          <a:p>
            <a:endParaRPr lang="en-US" altLang="bg-BG" sz="2800" dirty="0"/>
          </a:p>
          <a:p>
            <a:pPr marL="0" indent="0">
              <a:buNone/>
            </a:pPr>
            <a:r>
              <a:rPr lang="bg-BG" dirty="0" smtClean="0"/>
              <a:t>Q20: </a:t>
            </a:r>
            <a:r>
              <a:rPr lang="bg-BG" dirty="0"/>
              <a:t>SELECT DNO, COUNT(*), </a:t>
            </a:r>
            <a:r>
              <a:rPr lang="bg-BG" dirty="0" smtClean="0"/>
              <a:t>AVG(</a:t>
            </a:r>
            <a:r>
              <a:rPr lang="bg-BG" dirty="0" err="1" smtClean="0"/>
              <a:t>Salary</a:t>
            </a:r>
            <a:r>
              <a:rPr lang="bg-BG" dirty="0" smtClean="0"/>
              <a:t>)</a:t>
            </a:r>
            <a:endParaRPr lang="en-US" sz="2000" dirty="0"/>
          </a:p>
          <a:p>
            <a:pPr marL="868680" lvl="3" indent="0">
              <a:buNone/>
            </a:pPr>
            <a:r>
              <a:rPr lang="bg-BG" sz="2400" dirty="0"/>
              <a:t>FROM EMPLOYEE</a:t>
            </a:r>
            <a:endParaRPr lang="en-US" sz="2400" dirty="0"/>
          </a:p>
          <a:p>
            <a:pPr marL="868680" lvl="3" indent="0">
              <a:buNone/>
            </a:pPr>
            <a:r>
              <a:rPr lang="bg-BG" sz="2400" dirty="0"/>
              <a:t>GROUP BY </a:t>
            </a:r>
            <a:r>
              <a:rPr lang="bg-BG" sz="2400" dirty="0" err="1" smtClean="0"/>
              <a:t>Dno</a:t>
            </a:r>
            <a:endParaRPr lang="en-US" sz="2400" dirty="0"/>
          </a:p>
        </p:txBody>
      </p:sp>
      <p:sp>
        <p:nvSpPr>
          <p:cNvPr id="5" name="Date Placeholder 3"/>
          <p:cNvSpPr>
            <a:spLocks noGrp="1"/>
          </p:cNvSpPr>
          <p:nvPr>
            <p:ph type="dt" sz="half" idx="10"/>
          </p:nvPr>
        </p:nvSpPr>
        <p:spPr/>
        <p:txBody>
          <a:bodyPr/>
          <a:lstStyle/>
          <a:p>
            <a:r>
              <a:rPr lang="bg-BG" altLang="bg-BG"/>
              <a:t>Юлиана Пенева</a:t>
            </a:r>
          </a:p>
        </p:txBody>
      </p:sp>
      <p:sp>
        <p:nvSpPr>
          <p:cNvPr id="6" name="Footer Placeholder 4"/>
          <p:cNvSpPr>
            <a:spLocks noGrp="1"/>
          </p:cNvSpPr>
          <p:nvPr>
            <p:ph type="ftr" sz="quarter" idx="11"/>
          </p:nvPr>
        </p:nvSpPr>
        <p:spPr/>
        <p:txBody>
          <a:bodyPr/>
          <a:lstStyle/>
          <a:p>
            <a:r>
              <a:rPr lang="bg-BG" altLang="bg-BG"/>
              <a:t>CSCB405- модул4</a:t>
            </a:r>
          </a:p>
        </p:txBody>
      </p:sp>
      <p:sp>
        <p:nvSpPr>
          <p:cNvPr id="7" name="Slide Number Placeholder 5"/>
          <p:cNvSpPr>
            <a:spLocks noGrp="1"/>
          </p:cNvSpPr>
          <p:nvPr>
            <p:ph type="sldNum" sz="quarter" idx="12"/>
          </p:nvPr>
        </p:nvSpPr>
        <p:spPr/>
        <p:txBody>
          <a:bodyPr/>
          <a:lstStyle/>
          <a:p>
            <a:fld id="{6841265D-8CCE-45BB-B2D3-C2D753F628B8}" type="slidenum">
              <a:rPr lang="bg-BG" altLang="bg-BG"/>
              <a:pPr/>
              <a:t>33</a:t>
            </a:fld>
            <a:endParaRPr lang="bg-BG" altLang="bg-BG"/>
          </a:p>
        </p:txBody>
      </p:sp>
      <p:sp>
        <p:nvSpPr>
          <p:cNvPr id="15872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1181100" y="404664"/>
            <a:ext cx="6781800" cy="654968"/>
          </a:xfrm>
        </p:spPr>
        <p:txBody>
          <a:bodyPr>
            <a:normAutofit/>
          </a:bodyPr>
          <a:lstStyle/>
          <a:p>
            <a:pPr algn="ctr"/>
            <a:r>
              <a:rPr lang="bg-BG" altLang="bg-BG" sz="3200" dirty="0">
                <a:solidFill>
                  <a:schemeClr val="accent1"/>
                </a:solidFill>
              </a:rPr>
              <a:t>Групиране и сортиране </a:t>
            </a:r>
          </a:p>
        </p:txBody>
      </p:sp>
      <p:sp>
        <p:nvSpPr>
          <p:cNvPr id="159747" name="Rectangle 3"/>
          <p:cNvSpPr>
            <a:spLocks noGrp="1" noChangeArrowheads="1"/>
          </p:cNvSpPr>
          <p:nvPr>
            <p:ph idx="1"/>
          </p:nvPr>
        </p:nvSpPr>
        <p:spPr>
          <a:xfrm>
            <a:off x="457200" y="1124744"/>
            <a:ext cx="8229600" cy="4427860"/>
          </a:xfrm>
        </p:spPr>
        <p:txBody>
          <a:bodyPr>
            <a:noAutofit/>
          </a:bodyPr>
          <a:lstStyle/>
          <a:p>
            <a:pPr>
              <a:buFontTx/>
              <a:buNone/>
            </a:pPr>
            <a:r>
              <a:rPr lang="bg-BG" altLang="bg-BG" b="1" dirty="0">
                <a:sym typeface="Math3Mono" pitchFamily="2" charset="2"/>
              </a:rPr>
              <a:t>Заявка </a:t>
            </a:r>
            <a:r>
              <a:rPr lang="bg-BG" altLang="bg-BG" b="1" dirty="0" smtClean="0">
                <a:sym typeface="Math3Mono" pitchFamily="2" charset="2"/>
              </a:rPr>
              <a:t>21: </a:t>
            </a:r>
            <a:r>
              <a:rPr lang="bg-BG" altLang="bg-BG" dirty="0">
                <a:sym typeface="Math3Mono" pitchFamily="2" charset="2"/>
              </a:rPr>
              <a:t>за всеки проект да се изведат номер, име и брой на служителите, които работят по него</a:t>
            </a:r>
            <a:r>
              <a:rPr lang="bg-BG" altLang="bg-BG" dirty="0" smtClean="0">
                <a:sym typeface="Math3Mono" pitchFamily="2" charset="2"/>
              </a:rPr>
              <a:t>.</a:t>
            </a:r>
          </a:p>
          <a:p>
            <a:pPr>
              <a:buFontTx/>
              <a:buNone/>
            </a:pPr>
            <a:endParaRPr lang="bg-BG" altLang="bg-BG" sz="800" dirty="0">
              <a:sym typeface="Math3Mono" pitchFamily="2" charset="2"/>
            </a:endParaRPr>
          </a:p>
          <a:p>
            <a:pPr marL="0" indent="0">
              <a:buNone/>
            </a:pPr>
            <a:r>
              <a:rPr lang="bg-BG" dirty="0" smtClean="0"/>
              <a:t>Q21: </a:t>
            </a:r>
            <a:r>
              <a:rPr lang="bg-BG" dirty="0"/>
              <a:t>SELECT </a:t>
            </a:r>
            <a:r>
              <a:rPr lang="bg-BG" dirty="0" err="1"/>
              <a:t>Pnumber,Pname,COUNT</a:t>
            </a:r>
            <a:r>
              <a:rPr lang="bg-BG" dirty="0"/>
              <a:t>(*)</a:t>
            </a:r>
            <a:endParaRPr lang="en-US" sz="2000" dirty="0"/>
          </a:p>
          <a:p>
            <a:pPr marL="868680" lvl="3" indent="0">
              <a:buNone/>
            </a:pPr>
            <a:r>
              <a:rPr lang="bg-BG" sz="2400" dirty="0"/>
              <a:t>FROM PROJECT, WORKS_ON</a:t>
            </a:r>
            <a:endParaRPr lang="en-US" sz="2400" dirty="0"/>
          </a:p>
          <a:p>
            <a:pPr marL="868680" lvl="3" indent="0">
              <a:buNone/>
            </a:pPr>
            <a:r>
              <a:rPr lang="bg-BG" sz="2400" dirty="0"/>
              <a:t>WHERE </a:t>
            </a:r>
            <a:r>
              <a:rPr lang="bg-BG" sz="2400" dirty="0" err="1"/>
              <a:t>Pnumber</a:t>
            </a:r>
            <a:r>
              <a:rPr lang="bg-BG" sz="2400" dirty="0"/>
              <a:t>=</a:t>
            </a:r>
            <a:r>
              <a:rPr lang="bg-BG" sz="2400" dirty="0" err="1"/>
              <a:t>Pno</a:t>
            </a:r>
            <a:endParaRPr lang="en-US" sz="2400" dirty="0"/>
          </a:p>
          <a:p>
            <a:pPr marL="868680" lvl="3" indent="0">
              <a:buNone/>
            </a:pPr>
            <a:r>
              <a:rPr lang="bg-BG" sz="2400" dirty="0"/>
              <a:t>GROUP BY </a:t>
            </a:r>
            <a:r>
              <a:rPr lang="bg-BG" sz="2400" dirty="0" err="1"/>
              <a:t>Pnumber</a:t>
            </a:r>
            <a:r>
              <a:rPr lang="bg-BG" sz="2400" dirty="0"/>
              <a:t>, </a:t>
            </a:r>
            <a:r>
              <a:rPr lang="bg-BG" sz="2400" dirty="0" err="1" smtClean="0"/>
              <a:t>Pname</a:t>
            </a:r>
            <a:endParaRPr lang="bg-BG" sz="2400" dirty="0" smtClean="0"/>
          </a:p>
          <a:p>
            <a:pPr marL="0" indent="0">
              <a:buNone/>
            </a:pPr>
            <a:endParaRPr lang="bg-BG" altLang="bg-BG" sz="800" dirty="0">
              <a:sym typeface="Math3Mono" pitchFamily="2" charset="2"/>
            </a:endParaRPr>
          </a:p>
          <a:p>
            <a:pPr marL="320040" lvl="1" indent="0">
              <a:buNone/>
            </a:pPr>
            <a:r>
              <a:rPr lang="bg-BG" altLang="bg-BG" sz="2400" dirty="0">
                <a:sym typeface="Math3Mono" pitchFamily="2" charset="2"/>
              </a:rPr>
              <a:t>При съвместната употреба на операцията съединение с GROUP BY групиращата функция се прилага след като се изпълни съединението! </a:t>
            </a:r>
          </a:p>
        </p:txBody>
      </p:sp>
      <p:sp>
        <p:nvSpPr>
          <p:cNvPr id="7" name="Date Placeholder 3"/>
          <p:cNvSpPr>
            <a:spLocks noGrp="1"/>
          </p:cNvSpPr>
          <p:nvPr>
            <p:ph type="dt" sz="half" idx="10"/>
          </p:nvPr>
        </p:nvSpPr>
        <p:spPr/>
        <p:txBody>
          <a:bodyPr/>
          <a:lstStyle/>
          <a:p>
            <a:r>
              <a:rPr lang="bg-BG" altLang="bg-BG"/>
              <a:t>Юлиана Пенева</a:t>
            </a:r>
          </a:p>
        </p:txBody>
      </p:sp>
      <p:sp>
        <p:nvSpPr>
          <p:cNvPr id="8" name="Footer Placeholder 4"/>
          <p:cNvSpPr>
            <a:spLocks noGrp="1"/>
          </p:cNvSpPr>
          <p:nvPr>
            <p:ph type="ftr" sz="quarter" idx="11"/>
          </p:nvPr>
        </p:nvSpPr>
        <p:spPr/>
        <p:txBody>
          <a:bodyPr/>
          <a:lstStyle/>
          <a:p>
            <a:r>
              <a:rPr lang="bg-BG" altLang="bg-BG"/>
              <a:t>CSCB405- модул4</a:t>
            </a:r>
          </a:p>
        </p:txBody>
      </p:sp>
      <p:sp>
        <p:nvSpPr>
          <p:cNvPr id="9" name="Slide Number Placeholder 5"/>
          <p:cNvSpPr>
            <a:spLocks noGrp="1"/>
          </p:cNvSpPr>
          <p:nvPr>
            <p:ph type="sldNum" sz="quarter" idx="12"/>
          </p:nvPr>
        </p:nvSpPr>
        <p:spPr/>
        <p:txBody>
          <a:bodyPr/>
          <a:lstStyle/>
          <a:p>
            <a:fld id="{E50A3160-5B7C-4366-94AC-1D81DEC113A8}" type="slidenum">
              <a:rPr lang="bg-BG" altLang="bg-BG"/>
              <a:pPr/>
              <a:t>34</a:t>
            </a:fld>
            <a:endParaRPr lang="bg-BG" altLang="bg-BG"/>
          </a:p>
        </p:txBody>
      </p:sp>
      <p:sp>
        <p:nvSpPr>
          <p:cNvPr id="159749"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59751"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59753"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1181100" y="404664"/>
            <a:ext cx="6781800" cy="726976"/>
          </a:xfrm>
        </p:spPr>
        <p:txBody>
          <a:bodyPr>
            <a:normAutofit/>
          </a:bodyPr>
          <a:lstStyle/>
          <a:p>
            <a:pPr algn="ctr"/>
            <a:r>
              <a:rPr lang="bg-BG" altLang="bg-BG" sz="3200" dirty="0">
                <a:solidFill>
                  <a:schemeClr val="accent1"/>
                </a:solidFill>
              </a:rPr>
              <a:t>Групиране и </a:t>
            </a:r>
            <a:r>
              <a:rPr lang="bg-BG" altLang="bg-BG" sz="3200" dirty="0" smtClean="0">
                <a:solidFill>
                  <a:schemeClr val="accent1"/>
                </a:solidFill>
              </a:rPr>
              <a:t>сортиране</a:t>
            </a:r>
            <a:endParaRPr lang="bg-BG" altLang="bg-BG" sz="3200" dirty="0">
              <a:solidFill>
                <a:schemeClr val="accent1"/>
              </a:solidFill>
            </a:endParaRPr>
          </a:p>
        </p:txBody>
      </p:sp>
      <p:sp>
        <p:nvSpPr>
          <p:cNvPr id="160771" name="Rectangle 3"/>
          <p:cNvSpPr>
            <a:spLocks noGrp="1" noChangeArrowheads="1"/>
          </p:cNvSpPr>
          <p:nvPr>
            <p:ph idx="1"/>
          </p:nvPr>
        </p:nvSpPr>
        <p:spPr>
          <a:xfrm>
            <a:off x="323528" y="908720"/>
            <a:ext cx="8229600" cy="4031307"/>
          </a:xfrm>
        </p:spPr>
        <p:txBody>
          <a:bodyPr/>
          <a:lstStyle/>
          <a:p>
            <a:pPr marL="533400" indent="-533400" algn="ctr">
              <a:buFontTx/>
              <a:buNone/>
            </a:pPr>
            <a:r>
              <a:rPr lang="bg-BG" altLang="bg-BG" sz="2800" dirty="0">
                <a:solidFill>
                  <a:srgbClr val="C00000"/>
                </a:solidFill>
              </a:rPr>
              <a:t>Задаване на условие върху групите </a:t>
            </a:r>
          </a:p>
          <a:p>
            <a:pPr marL="533400" indent="-533400" algn="ctr">
              <a:buFontTx/>
              <a:buNone/>
            </a:pPr>
            <a:endParaRPr lang="bg-BG" altLang="bg-BG" sz="800" dirty="0"/>
          </a:p>
          <a:p>
            <a:pPr marL="533400" indent="-533400">
              <a:buFontTx/>
              <a:buAutoNum type="arabicPeriod"/>
            </a:pPr>
            <a:r>
              <a:rPr lang="bg-BG" altLang="bg-BG" sz="2800" dirty="0"/>
              <a:t>Използува се оператора </a:t>
            </a:r>
            <a:r>
              <a:rPr lang="en-US" altLang="bg-BG" sz="2800" dirty="0"/>
              <a:t>HAVING</a:t>
            </a:r>
            <a:r>
              <a:rPr lang="bg-BG" altLang="bg-BG" sz="2800" dirty="0"/>
              <a:t>, след който се формулира необходимото условие</a:t>
            </a:r>
          </a:p>
          <a:p>
            <a:pPr marL="533400" indent="-533400">
              <a:buFontTx/>
              <a:buAutoNum type="arabicPeriod"/>
            </a:pPr>
            <a:r>
              <a:rPr lang="bg-BG" altLang="bg-BG" sz="2800" dirty="0"/>
              <a:t> Агрегатните функции се изчислят само групите, които отговарят на указаното условие. </a:t>
            </a:r>
          </a:p>
          <a:p>
            <a:pPr marL="533400" indent="-533400">
              <a:buFontTx/>
              <a:buNone/>
            </a:pPr>
            <a:endParaRPr lang="bg-BG" altLang="bg-BG" sz="2800" dirty="0"/>
          </a:p>
          <a:p>
            <a:pPr marL="533400" indent="-533400">
              <a:buFontTx/>
              <a:buNone/>
            </a:pPr>
            <a:endParaRPr lang="bg-BG" altLang="bg-BG" dirty="0"/>
          </a:p>
        </p:txBody>
      </p:sp>
      <p:sp>
        <p:nvSpPr>
          <p:cNvPr id="5" name="Date Placeholder 3"/>
          <p:cNvSpPr>
            <a:spLocks noGrp="1"/>
          </p:cNvSpPr>
          <p:nvPr>
            <p:ph type="dt" sz="half" idx="10"/>
          </p:nvPr>
        </p:nvSpPr>
        <p:spPr/>
        <p:txBody>
          <a:bodyPr/>
          <a:lstStyle/>
          <a:p>
            <a:r>
              <a:rPr lang="bg-BG" altLang="bg-BG"/>
              <a:t>Юлиана Пенева</a:t>
            </a:r>
          </a:p>
        </p:txBody>
      </p:sp>
      <p:sp>
        <p:nvSpPr>
          <p:cNvPr id="6" name="Footer Placeholder 4"/>
          <p:cNvSpPr>
            <a:spLocks noGrp="1"/>
          </p:cNvSpPr>
          <p:nvPr>
            <p:ph type="ftr" sz="quarter" idx="11"/>
          </p:nvPr>
        </p:nvSpPr>
        <p:spPr/>
        <p:txBody>
          <a:bodyPr/>
          <a:lstStyle/>
          <a:p>
            <a:r>
              <a:rPr lang="bg-BG" altLang="bg-BG"/>
              <a:t>CSCB405- модул4</a:t>
            </a:r>
          </a:p>
        </p:txBody>
      </p:sp>
      <p:sp>
        <p:nvSpPr>
          <p:cNvPr id="7" name="Slide Number Placeholder 5"/>
          <p:cNvSpPr>
            <a:spLocks noGrp="1"/>
          </p:cNvSpPr>
          <p:nvPr>
            <p:ph type="sldNum" sz="quarter" idx="12"/>
          </p:nvPr>
        </p:nvSpPr>
        <p:spPr/>
        <p:txBody>
          <a:bodyPr/>
          <a:lstStyle/>
          <a:p>
            <a:fld id="{2D680163-66C1-4DEB-A1D6-725178728976}" type="slidenum">
              <a:rPr lang="bg-BG" altLang="bg-BG"/>
              <a:pPr/>
              <a:t>35</a:t>
            </a:fld>
            <a:endParaRPr lang="bg-BG" altLang="bg-BG"/>
          </a:p>
        </p:txBody>
      </p:sp>
      <p:sp>
        <p:nvSpPr>
          <p:cNvPr id="160773"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1187624" y="404664"/>
            <a:ext cx="6781800" cy="582960"/>
          </a:xfrm>
        </p:spPr>
        <p:txBody>
          <a:bodyPr>
            <a:normAutofit/>
          </a:bodyPr>
          <a:lstStyle/>
          <a:p>
            <a:pPr algn="ctr"/>
            <a:r>
              <a:rPr lang="bg-BG" altLang="bg-BG" sz="3200" dirty="0">
                <a:solidFill>
                  <a:schemeClr val="accent1"/>
                </a:solidFill>
              </a:rPr>
              <a:t>Групиране и </a:t>
            </a:r>
            <a:r>
              <a:rPr lang="bg-BG" altLang="bg-BG" sz="3200" dirty="0" smtClean="0">
                <a:solidFill>
                  <a:schemeClr val="accent1"/>
                </a:solidFill>
              </a:rPr>
              <a:t>сортиране</a:t>
            </a:r>
            <a:endParaRPr lang="bg-BG" altLang="bg-BG" sz="3200" dirty="0">
              <a:solidFill>
                <a:schemeClr val="accent1"/>
              </a:solidFill>
            </a:endParaRPr>
          </a:p>
        </p:txBody>
      </p:sp>
      <p:sp>
        <p:nvSpPr>
          <p:cNvPr id="161795" name="Rectangle 3"/>
          <p:cNvSpPr>
            <a:spLocks noGrp="1" noChangeArrowheads="1"/>
          </p:cNvSpPr>
          <p:nvPr>
            <p:ph idx="1"/>
          </p:nvPr>
        </p:nvSpPr>
        <p:spPr>
          <a:xfrm>
            <a:off x="463724" y="863571"/>
            <a:ext cx="8229600" cy="4426843"/>
          </a:xfrm>
        </p:spPr>
        <p:txBody>
          <a:bodyPr/>
          <a:lstStyle/>
          <a:p>
            <a:pPr marL="609600" indent="-609600">
              <a:lnSpc>
                <a:spcPct val="90000"/>
              </a:lnSpc>
              <a:buFontTx/>
              <a:buNone/>
            </a:pPr>
            <a:r>
              <a:rPr lang="bg-BG" altLang="bg-BG" b="1" dirty="0"/>
              <a:t>Заявка </a:t>
            </a:r>
            <a:r>
              <a:rPr lang="bg-BG" altLang="bg-BG" b="1" dirty="0" smtClean="0"/>
              <a:t>22: </a:t>
            </a:r>
            <a:r>
              <a:rPr lang="bg-BG" altLang="bg-BG" dirty="0"/>
              <a:t>за всеки проект, в който са ангажирани повече от двама души, да се изведат номер, име и брой на служителите, които работят по него.</a:t>
            </a:r>
          </a:p>
          <a:p>
            <a:pPr marL="609600" indent="-609600">
              <a:lnSpc>
                <a:spcPct val="90000"/>
              </a:lnSpc>
              <a:buFontTx/>
              <a:buNone/>
            </a:pPr>
            <a:endParaRPr lang="en-AU" altLang="bg-BG" sz="2800" dirty="0"/>
          </a:p>
          <a:p>
            <a:pPr marL="0" indent="0">
              <a:buNone/>
            </a:pPr>
            <a:r>
              <a:rPr lang="bg-BG" dirty="0" smtClean="0"/>
              <a:t>Q22: </a:t>
            </a:r>
            <a:r>
              <a:rPr lang="bg-BG" dirty="0"/>
              <a:t>SELECT </a:t>
            </a:r>
            <a:r>
              <a:rPr lang="bg-BG" dirty="0" err="1"/>
              <a:t>Pnumber</a:t>
            </a:r>
            <a:r>
              <a:rPr lang="bg-BG" dirty="0"/>
              <a:t>, </a:t>
            </a:r>
            <a:r>
              <a:rPr lang="bg-BG" dirty="0" err="1"/>
              <a:t>Pname</a:t>
            </a:r>
            <a:r>
              <a:rPr lang="bg-BG" dirty="0"/>
              <a:t>, COUNT (*)</a:t>
            </a:r>
            <a:endParaRPr lang="en-US" dirty="0"/>
          </a:p>
          <a:p>
            <a:pPr marL="868680" lvl="3" indent="0">
              <a:buNone/>
            </a:pPr>
            <a:r>
              <a:rPr lang="bg-BG" sz="2400" dirty="0"/>
              <a:t>FROM PROJECT, WORKS_ON</a:t>
            </a:r>
            <a:endParaRPr lang="en-US" sz="2400" dirty="0"/>
          </a:p>
          <a:p>
            <a:pPr marL="868680" lvl="3" indent="0">
              <a:buNone/>
            </a:pPr>
            <a:r>
              <a:rPr lang="bg-BG" sz="2400" dirty="0"/>
              <a:t>WHERE </a:t>
            </a:r>
            <a:r>
              <a:rPr lang="bg-BG" sz="2400" dirty="0" err="1"/>
              <a:t>Pnumber</a:t>
            </a:r>
            <a:r>
              <a:rPr lang="bg-BG" sz="2400" dirty="0"/>
              <a:t>=</a:t>
            </a:r>
            <a:r>
              <a:rPr lang="bg-BG" sz="2400" dirty="0" err="1"/>
              <a:t>Pno</a:t>
            </a:r>
            <a:endParaRPr lang="en-US" sz="2400" dirty="0"/>
          </a:p>
          <a:p>
            <a:pPr marL="868680" lvl="3" indent="0">
              <a:buNone/>
            </a:pPr>
            <a:r>
              <a:rPr lang="bg-BG" sz="2400" dirty="0"/>
              <a:t>GROUP BY </a:t>
            </a:r>
            <a:r>
              <a:rPr lang="bg-BG" sz="2400" dirty="0" err="1"/>
              <a:t>Pnumber</a:t>
            </a:r>
            <a:r>
              <a:rPr lang="bg-BG" sz="2400" dirty="0"/>
              <a:t>, </a:t>
            </a:r>
            <a:r>
              <a:rPr lang="bg-BG" sz="2400" dirty="0" err="1"/>
              <a:t>Pname</a:t>
            </a:r>
            <a:endParaRPr lang="en-US" sz="2400" dirty="0"/>
          </a:p>
          <a:p>
            <a:pPr marL="868680" lvl="3" indent="0">
              <a:buNone/>
            </a:pPr>
            <a:r>
              <a:rPr lang="bg-BG" sz="2400" dirty="0"/>
              <a:t>HAVING COUNT (*) &gt; </a:t>
            </a:r>
            <a:r>
              <a:rPr lang="bg-BG" sz="2400" dirty="0" smtClean="0"/>
              <a:t>2</a:t>
            </a:r>
            <a:endParaRPr lang="en-US"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D51F4FE1-8B31-4206-9FDE-2C20A8884128}" type="slidenum">
              <a:rPr lang="bg-BG" altLang="bg-BG"/>
              <a:pPr/>
              <a:t>36</a:t>
            </a:fld>
            <a:endParaRPr lang="bg-BG" altLang="bg-BG"/>
          </a:p>
        </p:txBody>
      </p:sp>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1115616" y="404664"/>
            <a:ext cx="6781800" cy="582960"/>
          </a:xfrm>
        </p:spPr>
        <p:txBody>
          <a:bodyPr>
            <a:normAutofit/>
          </a:bodyPr>
          <a:lstStyle/>
          <a:p>
            <a:pPr algn="ctr"/>
            <a:r>
              <a:rPr lang="bg-BG" altLang="bg-BG" sz="3200" dirty="0">
                <a:solidFill>
                  <a:schemeClr val="accent1"/>
                </a:solidFill>
              </a:rPr>
              <a:t>Групиране и </a:t>
            </a:r>
            <a:r>
              <a:rPr lang="bg-BG" altLang="bg-BG" sz="3200" dirty="0" smtClean="0">
                <a:solidFill>
                  <a:schemeClr val="accent1"/>
                </a:solidFill>
              </a:rPr>
              <a:t>сортиране</a:t>
            </a:r>
            <a:endParaRPr lang="bg-BG" altLang="bg-BG" sz="3200" dirty="0">
              <a:solidFill>
                <a:schemeClr val="accent1"/>
              </a:solidFill>
            </a:endParaRPr>
          </a:p>
        </p:txBody>
      </p:sp>
      <p:sp>
        <p:nvSpPr>
          <p:cNvPr id="168963" name="Rectangle 3"/>
          <p:cNvSpPr>
            <a:spLocks noGrp="1" noChangeArrowheads="1"/>
          </p:cNvSpPr>
          <p:nvPr>
            <p:ph idx="1"/>
          </p:nvPr>
        </p:nvSpPr>
        <p:spPr>
          <a:xfrm>
            <a:off x="467544" y="1124744"/>
            <a:ext cx="8229600" cy="4312097"/>
          </a:xfrm>
        </p:spPr>
        <p:txBody>
          <a:bodyPr/>
          <a:lstStyle/>
          <a:p>
            <a:pPr marL="609600" indent="-609600">
              <a:buFontTx/>
              <a:buAutoNum type="arabicPeriod"/>
            </a:pPr>
            <a:r>
              <a:rPr lang="bg-BG" altLang="bg-BG" sz="2800" dirty="0"/>
              <a:t>Сортирането на резултатната таблица по стойностите на една или няколко колони, възходящо или низходящо е възможно чрез оператора ORDER BY.</a:t>
            </a:r>
          </a:p>
          <a:p>
            <a:pPr marL="609600" indent="-609600">
              <a:buFontTx/>
              <a:buAutoNum type="arabicPeriod"/>
            </a:pPr>
            <a:r>
              <a:rPr lang="bg-BG" altLang="bg-BG" sz="2800" dirty="0"/>
              <a:t>След него се изброяват колоните, по чиито стойности таблицата ще се сортира.</a:t>
            </a:r>
          </a:p>
          <a:p>
            <a:pPr marL="609600" indent="-609600">
              <a:buFontTx/>
              <a:buAutoNum type="arabicPeriod"/>
            </a:pPr>
            <a:r>
              <a:rPr lang="bg-BG" altLang="bg-BG" sz="2800" dirty="0"/>
              <a:t>По подразбиране сортирането се извършва възходящо. Ключовата дума </a:t>
            </a:r>
            <a:r>
              <a:rPr lang="en-US" altLang="bg-BG" sz="2800" dirty="0"/>
              <a:t>DESC</a:t>
            </a:r>
            <a:r>
              <a:rPr lang="bg-BG" altLang="bg-BG" sz="2800" dirty="0"/>
              <a:t> позволява низходяща подредба. </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F40BA350-B9C0-4508-9124-90A994F4F29A}" type="slidenum">
              <a:rPr lang="bg-BG" altLang="bg-BG"/>
              <a:pPr/>
              <a:t>37</a:t>
            </a:fld>
            <a:endParaRPr lang="bg-BG" altLang="bg-BG"/>
          </a:p>
        </p:txBody>
      </p:sp>
    </p:spTree>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1187624" y="476672"/>
            <a:ext cx="6781800" cy="654968"/>
          </a:xfrm>
        </p:spPr>
        <p:txBody>
          <a:bodyPr>
            <a:normAutofit/>
          </a:bodyPr>
          <a:lstStyle/>
          <a:p>
            <a:pPr algn="ctr"/>
            <a:r>
              <a:rPr lang="bg-BG" altLang="bg-BG" sz="3200" dirty="0">
                <a:solidFill>
                  <a:schemeClr val="accent1"/>
                </a:solidFill>
              </a:rPr>
              <a:t>Групиране и сортиране </a:t>
            </a:r>
          </a:p>
        </p:txBody>
      </p:sp>
      <p:sp>
        <p:nvSpPr>
          <p:cNvPr id="169992" name="Rectangle 8"/>
          <p:cNvSpPr>
            <a:spLocks noGrp="1" noChangeArrowheads="1"/>
          </p:cNvSpPr>
          <p:nvPr>
            <p:ph idx="1"/>
          </p:nvPr>
        </p:nvSpPr>
        <p:spPr>
          <a:xfrm>
            <a:off x="683568" y="1268759"/>
            <a:ext cx="8064896" cy="4536505"/>
          </a:xfrm>
        </p:spPr>
        <p:txBody>
          <a:bodyPr>
            <a:normAutofit/>
          </a:bodyPr>
          <a:lstStyle/>
          <a:p>
            <a:pPr>
              <a:buFontTx/>
              <a:buNone/>
            </a:pPr>
            <a:r>
              <a:rPr lang="bg-BG" altLang="bg-BG" b="1" dirty="0"/>
              <a:t>Заявка </a:t>
            </a:r>
            <a:r>
              <a:rPr lang="bg-BG" altLang="bg-BG" b="1" dirty="0" smtClean="0"/>
              <a:t>23: </a:t>
            </a:r>
            <a:r>
              <a:rPr lang="bg-BG" altLang="bg-BG" dirty="0"/>
              <a:t>да се изведе списък с имената на служителите и имената на проектите, по които работи всеки от тях, подреден по име на отдел, а в рамките на отдела – по име на служител.</a:t>
            </a:r>
          </a:p>
          <a:p>
            <a:pPr>
              <a:buFontTx/>
              <a:buNone/>
            </a:pPr>
            <a:endParaRPr lang="en-AU" altLang="bg-BG" dirty="0"/>
          </a:p>
          <a:p>
            <a:pPr marL="0" indent="0">
              <a:buNone/>
            </a:pPr>
            <a:r>
              <a:rPr lang="bg-BG" dirty="0" smtClean="0"/>
              <a:t>Q23: </a:t>
            </a:r>
            <a:r>
              <a:rPr lang="bg-BG" dirty="0"/>
              <a:t>SELECT </a:t>
            </a:r>
            <a:r>
              <a:rPr lang="bg-BG" dirty="0" err="1"/>
              <a:t>Dname</a:t>
            </a:r>
            <a:r>
              <a:rPr lang="bg-BG" dirty="0"/>
              <a:t>, </a:t>
            </a:r>
            <a:r>
              <a:rPr lang="bg-BG" dirty="0" err="1"/>
              <a:t>Lname</a:t>
            </a:r>
            <a:r>
              <a:rPr lang="bg-BG" dirty="0"/>
              <a:t>, </a:t>
            </a:r>
            <a:r>
              <a:rPr lang="bg-BG" dirty="0" err="1"/>
              <a:t>Fname</a:t>
            </a:r>
            <a:r>
              <a:rPr lang="bg-BG" dirty="0"/>
              <a:t>, </a:t>
            </a:r>
            <a:r>
              <a:rPr lang="bg-BG" dirty="0" err="1"/>
              <a:t>Pname</a:t>
            </a:r>
            <a:endParaRPr lang="en-US" dirty="0"/>
          </a:p>
          <a:p>
            <a:pPr marL="868680" lvl="3" indent="0">
              <a:buNone/>
            </a:pPr>
            <a:r>
              <a:rPr lang="bg-BG" sz="2400" dirty="0"/>
              <a:t>FROM DEPARTMENT, EMPLOYEE, WORKS_ON, PROJECT</a:t>
            </a:r>
            <a:endParaRPr lang="en-US" sz="2400" dirty="0"/>
          </a:p>
          <a:p>
            <a:pPr marL="868680" lvl="3" indent="0">
              <a:buNone/>
            </a:pPr>
            <a:r>
              <a:rPr lang="bg-BG" sz="2400" dirty="0"/>
              <a:t>WHERE </a:t>
            </a:r>
            <a:r>
              <a:rPr lang="bg-BG" sz="2400" dirty="0" err="1"/>
              <a:t>Dnumber</a:t>
            </a:r>
            <a:r>
              <a:rPr lang="bg-BG" sz="2400" dirty="0"/>
              <a:t>=</a:t>
            </a:r>
            <a:r>
              <a:rPr lang="bg-BG" sz="2400" dirty="0" err="1"/>
              <a:t>Dno</a:t>
            </a:r>
            <a:r>
              <a:rPr lang="bg-BG" sz="2400" dirty="0"/>
              <a:t> AND </a:t>
            </a:r>
            <a:r>
              <a:rPr lang="bg-BG" sz="2400" dirty="0" err="1"/>
              <a:t>Ssn</a:t>
            </a:r>
            <a:r>
              <a:rPr lang="bg-BG" sz="2400" dirty="0"/>
              <a:t>=</a:t>
            </a:r>
            <a:r>
              <a:rPr lang="bg-BG" sz="2400" dirty="0" err="1"/>
              <a:t>Essn</a:t>
            </a:r>
            <a:r>
              <a:rPr lang="bg-BG" sz="2400" dirty="0"/>
              <a:t> AND </a:t>
            </a:r>
            <a:r>
              <a:rPr lang="bg-BG" sz="2400" dirty="0" err="1"/>
              <a:t>Pno</a:t>
            </a:r>
            <a:r>
              <a:rPr lang="bg-BG" sz="2400" dirty="0"/>
              <a:t>=</a:t>
            </a:r>
            <a:r>
              <a:rPr lang="bg-BG" sz="2400" dirty="0" err="1"/>
              <a:t>Pnumber</a:t>
            </a:r>
            <a:endParaRPr lang="en-US" sz="2400" dirty="0"/>
          </a:p>
          <a:p>
            <a:pPr marL="868680" lvl="3" indent="0">
              <a:buNone/>
            </a:pPr>
            <a:r>
              <a:rPr lang="bg-BG" sz="2400" dirty="0"/>
              <a:t>ORDER BY </a:t>
            </a:r>
            <a:r>
              <a:rPr lang="bg-BG" sz="2400" dirty="0" err="1"/>
              <a:t>Dname</a:t>
            </a:r>
            <a:r>
              <a:rPr lang="bg-BG" sz="2400" dirty="0"/>
              <a:t>, </a:t>
            </a:r>
            <a:r>
              <a:rPr lang="bg-BG" sz="2400" dirty="0" err="1"/>
              <a:t>Lname</a:t>
            </a:r>
            <a:endParaRPr lang="en-US"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F0A14319-0EFB-47C4-B670-66DD39519541}" type="slidenum">
              <a:rPr lang="bg-BG" altLang="bg-BG"/>
              <a:pPr/>
              <a:t>38</a:t>
            </a:fld>
            <a:endParaRPr lang="bg-BG" altLang="bg-BG"/>
          </a:p>
        </p:txBody>
      </p:sp>
    </p:spTree>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1115616" y="404664"/>
            <a:ext cx="6781800" cy="582960"/>
          </a:xfrm>
        </p:spPr>
        <p:txBody>
          <a:bodyPr>
            <a:normAutofit/>
          </a:bodyPr>
          <a:lstStyle/>
          <a:p>
            <a:pPr algn="ctr"/>
            <a:r>
              <a:rPr lang="bg-BG" altLang="bg-BG" sz="3200" dirty="0">
                <a:solidFill>
                  <a:schemeClr val="accent1"/>
                </a:solidFill>
              </a:rPr>
              <a:t>Обновяване на </a:t>
            </a:r>
            <a:r>
              <a:rPr lang="bg-BG" altLang="bg-BG" sz="3200" dirty="0" smtClean="0">
                <a:solidFill>
                  <a:schemeClr val="accent1"/>
                </a:solidFill>
              </a:rPr>
              <a:t>базата</a:t>
            </a:r>
            <a:endParaRPr lang="bg-BG" altLang="bg-BG" sz="3200" dirty="0">
              <a:solidFill>
                <a:schemeClr val="accent1"/>
              </a:solidFill>
            </a:endParaRPr>
          </a:p>
        </p:txBody>
      </p:sp>
      <p:sp>
        <p:nvSpPr>
          <p:cNvPr id="203779" name="Rectangle 3"/>
          <p:cNvSpPr>
            <a:spLocks noGrp="1" noChangeArrowheads="1"/>
          </p:cNvSpPr>
          <p:nvPr>
            <p:ph idx="1"/>
          </p:nvPr>
        </p:nvSpPr>
        <p:spPr>
          <a:xfrm>
            <a:off x="827584" y="1268760"/>
            <a:ext cx="7543800" cy="3886200"/>
          </a:xfrm>
        </p:spPr>
        <p:txBody>
          <a:bodyPr>
            <a:normAutofit fontScale="92500"/>
          </a:bodyPr>
          <a:lstStyle/>
          <a:p>
            <a:pPr>
              <a:buFontTx/>
              <a:buNone/>
            </a:pPr>
            <a:r>
              <a:rPr lang="bg-BG" altLang="bg-BG" sz="2800" dirty="0"/>
              <a:t>В </a:t>
            </a:r>
            <a:r>
              <a:rPr lang="en-US" altLang="bg-BG" sz="2800" dirty="0"/>
              <a:t>SQL</a:t>
            </a:r>
            <a:r>
              <a:rPr lang="bg-BG" altLang="bg-BG" sz="2800" dirty="0"/>
              <a:t> има три операции за обновяване на базата:</a:t>
            </a:r>
          </a:p>
          <a:p>
            <a:pPr marL="0" indent="0">
              <a:buNone/>
            </a:pPr>
            <a:r>
              <a:rPr lang="bg-BG" altLang="bg-BG" sz="2800" dirty="0"/>
              <a:t>1. </a:t>
            </a:r>
            <a:r>
              <a:rPr lang="en-AU" altLang="bg-BG" sz="2800" dirty="0"/>
              <a:t>INSERT</a:t>
            </a:r>
            <a:r>
              <a:rPr lang="bg-BG" altLang="bg-BG" sz="2800" dirty="0"/>
              <a:t> – въвежда редове в указаната таблица.</a:t>
            </a:r>
          </a:p>
          <a:p>
            <a:pPr marL="0" indent="0">
              <a:buNone/>
            </a:pPr>
            <a:r>
              <a:rPr lang="bg-BG" altLang="bg-BG" sz="2800" dirty="0"/>
              <a:t>2. </a:t>
            </a:r>
            <a:r>
              <a:rPr lang="en-AU" altLang="bg-BG" sz="2800" dirty="0"/>
              <a:t>DELETE</a:t>
            </a:r>
            <a:r>
              <a:rPr lang="bg-BG" altLang="bg-BG" sz="2800" dirty="0"/>
              <a:t> – премахва редове от указаната таблица.</a:t>
            </a:r>
          </a:p>
          <a:p>
            <a:pPr marL="0" indent="0">
              <a:buNone/>
            </a:pPr>
            <a:r>
              <a:rPr lang="bg-BG" altLang="bg-BG" sz="2800" dirty="0"/>
              <a:t>3. UPDATE – модифицира данни в указаната таблица.</a:t>
            </a:r>
          </a:p>
          <a:p>
            <a:pPr>
              <a:buFontTx/>
              <a:buNone/>
            </a:pPr>
            <a:endParaRPr lang="bg-BG" altLang="bg-BG" sz="2800" dirty="0"/>
          </a:p>
          <a:p>
            <a:pPr>
              <a:buFontTx/>
              <a:buNone/>
            </a:pPr>
            <a:r>
              <a:rPr lang="bg-BG" altLang="bg-BG" sz="2800" dirty="0"/>
              <a:t>Всяка команда за обновяване важи само за единствена таблица.</a:t>
            </a:r>
          </a:p>
          <a:p>
            <a:endParaRPr lang="bg-BG" altLang="bg-BG" sz="2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4CFB01ED-0B49-4BFF-A0A3-DF9D3C3C03FA}" type="slidenum">
              <a:rPr lang="bg-BG" altLang="bg-BG"/>
              <a:pPr/>
              <a:t>39</a:t>
            </a:fld>
            <a:endParaRPr lang="bg-BG" altLang="bg-BG"/>
          </a:p>
        </p:txBody>
      </p:sp>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a:xfrm>
            <a:off x="1187624" y="404664"/>
            <a:ext cx="6781800" cy="510952"/>
          </a:xfrm>
        </p:spPr>
        <p:txBody>
          <a:bodyPr>
            <a:noAutofit/>
          </a:bodyPr>
          <a:lstStyle/>
          <a:p>
            <a:pPr algn="ctr"/>
            <a:r>
              <a:rPr lang="bg-BG" altLang="bg-BG" sz="3200" dirty="0">
                <a:solidFill>
                  <a:schemeClr val="accent1"/>
                </a:solidFill>
              </a:rPr>
              <a:t>Обновяване на </a:t>
            </a:r>
            <a:r>
              <a:rPr lang="bg-BG" altLang="bg-BG" sz="3200" dirty="0" smtClean="0">
                <a:solidFill>
                  <a:schemeClr val="accent1"/>
                </a:solidFill>
              </a:rPr>
              <a:t>базата</a:t>
            </a:r>
            <a:endParaRPr lang="bg-BG" altLang="bg-BG" sz="3200" dirty="0">
              <a:solidFill>
                <a:schemeClr val="accent1"/>
              </a:solidFill>
            </a:endParaRPr>
          </a:p>
        </p:txBody>
      </p:sp>
      <p:sp>
        <p:nvSpPr>
          <p:cNvPr id="204803" name="Rectangle 3"/>
          <p:cNvSpPr>
            <a:spLocks noGrp="1" noChangeArrowheads="1"/>
          </p:cNvSpPr>
          <p:nvPr>
            <p:ph idx="1"/>
          </p:nvPr>
        </p:nvSpPr>
        <p:spPr>
          <a:xfrm>
            <a:off x="761999" y="804936"/>
            <a:ext cx="7992888" cy="4536504"/>
          </a:xfrm>
        </p:spPr>
        <p:txBody>
          <a:bodyPr>
            <a:normAutofit fontScale="92500" lnSpcReduction="10000"/>
          </a:bodyPr>
          <a:lstStyle/>
          <a:p>
            <a:pPr marL="533400" indent="-533400" algn="ctr">
              <a:lnSpc>
                <a:spcPct val="90000"/>
              </a:lnSpc>
              <a:buFontTx/>
              <a:buNone/>
            </a:pPr>
            <a:r>
              <a:rPr lang="bg-BG" altLang="bg-BG" sz="2800" dirty="0">
                <a:solidFill>
                  <a:srgbClr val="C00000"/>
                </a:solidFill>
              </a:rPr>
              <a:t>INSERT</a:t>
            </a:r>
          </a:p>
          <a:p>
            <a:pPr marL="533400" indent="-533400">
              <a:lnSpc>
                <a:spcPct val="90000"/>
              </a:lnSpc>
              <a:buFontTx/>
              <a:buAutoNum type="arabicPeriod"/>
            </a:pPr>
            <a:r>
              <a:rPr lang="bg-BG" altLang="bg-BG" sz="2800" dirty="0"/>
              <a:t>Позволява добавянето на един или няколко реда в указаната таблица. Има няколко варианта.</a:t>
            </a:r>
          </a:p>
          <a:p>
            <a:pPr marL="533400" indent="-533400">
              <a:lnSpc>
                <a:spcPct val="90000"/>
              </a:lnSpc>
              <a:buFontTx/>
              <a:buAutoNum type="arabicPeriod"/>
            </a:pPr>
            <a:r>
              <a:rPr lang="bg-BG" altLang="bg-BG" sz="2800" dirty="0"/>
              <a:t>Задават се стойностите на всяка колона, като се спазва редът, наложен при дефинирането на таблицата. </a:t>
            </a:r>
            <a:endParaRPr lang="bg-BG" altLang="bg-BG" sz="2800" dirty="0" smtClean="0"/>
          </a:p>
          <a:p>
            <a:pPr marL="533400" indent="-533400">
              <a:lnSpc>
                <a:spcPct val="90000"/>
              </a:lnSpc>
              <a:buFontTx/>
              <a:buAutoNum type="arabicPeriod"/>
            </a:pPr>
            <a:endParaRPr lang="bg-BG" altLang="bg-BG" sz="2800" dirty="0"/>
          </a:p>
          <a:p>
            <a:pPr marL="533400" indent="-533400">
              <a:lnSpc>
                <a:spcPct val="90000"/>
              </a:lnSpc>
              <a:buFontTx/>
              <a:buNone/>
            </a:pPr>
            <a:r>
              <a:rPr lang="bg-BG" altLang="bg-BG" sz="2600" dirty="0"/>
              <a:t>Пример 1: да се добавят данни за новоназначен служител.</a:t>
            </a:r>
          </a:p>
          <a:p>
            <a:pPr marL="0" indent="0">
              <a:buNone/>
            </a:pPr>
            <a:r>
              <a:rPr lang="bg-BG" sz="2600" dirty="0"/>
              <a:t>U1: INSERT INTO EMPLOYEE</a:t>
            </a:r>
            <a:endParaRPr lang="en-US" sz="2600" dirty="0"/>
          </a:p>
          <a:p>
            <a:pPr marL="0" indent="0">
              <a:buNone/>
            </a:pPr>
            <a:r>
              <a:rPr lang="bg-BG" sz="2600" dirty="0"/>
              <a:t>VALUES('Стоян','K','Маринов','653298653','30-DEC-92',</a:t>
            </a:r>
            <a:endParaRPr lang="en-US" sz="2600" dirty="0"/>
          </a:p>
          <a:p>
            <a:pPr marL="1097280" lvl="4" indent="0">
              <a:buNone/>
            </a:pPr>
            <a:r>
              <a:rPr lang="bg-BG" sz="2600" dirty="0"/>
              <a:t>'Люлин,бл.744,Вх.А,София','M',3700,'987654321',4)</a:t>
            </a:r>
            <a:endParaRPr lang="en-US" sz="26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8455FF4A-3741-4553-9A07-5A19549D58E4}" type="slidenum">
              <a:rPr lang="bg-BG" altLang="bg-BG"/>
              <a:pPr/>
              <a:t>40</a:t>
            </a:fld>
            <a:endParaRPr lang="bg-BG" altLang="bg-BG"/>
          </a:p>
        </p:txBody>
      </p:sp>
    </p:spTree>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1043608" y="404664"/>
            <a:ext cx="6781800" cy="654968"/>
          </a:xfrm>
        </p:spPr>
        <p:txBody>
          <a:bodyPr>
            <a:normAutofit/>
          </a:bodyPr>
          <a:lstStyle/>
          <a:p>
            <a:pPr algn="ctr"/>
            <a:r>
              <a:rPr lang="bg-BG" altLang="bg-BG" sz="3200" dirty="0">
                <a:solidFill>
                  <a:schemeClr val="accent1"/>
                </a:solidFill>
              </a:rPr>
              <a:t>Обновяване на </a:t>
            </a:r>
            <a:r>
              <a:rPr lang="bg-BG" altLang="bg-BG" sz="3200" dirty="0" smtClean="0">
                <a:solidFill>
                  <a:schemeClr val="accent1"/>
                </a:solidFill>
              </a:rPr>
              <a:t>базата</a:t>
            </a:r>
            <a:endParaRPr lang="bg-BG" altLang="bg-BG" sz="3200" dirty="0">
              <a:solidFill>
                <a:schemeClr val="accent1"/>
              </a:solidFill>
            </a:endParaRPr>
          </a:p>
        </p:txBody>
      </p:sp>
      <p:sp>
        <p:nvSpPr>
          <p:cNvPr id="205827" name="Rectangle 3"/>
          <p:cNvSpPr>
            <a:spLocks noGrp="1" noChangeArrowheads="1"/>
          </p:cNvSpPr>
          <p:nvPr>
            <p:ph idx="1"/>
          </p:nvPr>
        </p:nvSpPr>
        <p:spPr>
          <a:xfrm>
            <a:off x="827584" y="1196752"/>
            <a:ext cx="7543800" cy="2592288"/>
          </a:xfrm>
        </p:spPr>
        <p:txBody>
          <a:bodyPr/>
          <a:lstStyle/>
          <a:p>
            <a:pPr>
              <a:buFontTx/>
              <a:buNone/>
            </a:pPr>
            <a:r>
              <a:rPr lang="bg-BG" altLang="bg-BG" sz="2800" dirty="0"/>
              <a:t>Пример 2: да се въведат имената и номера на новоназначен служител</a:t>
            </a:r>
            <a:r>
              <a:rPr lang="bg-BG" altLang="bg-BG" sz="2800" dirty="0" smtClean="0"/>
              <a:t>.</a:t>
            </a:r>
          </a:p>
          <a:p>
            <a:pPr>
              <a:buFontTx/>
              <a:buNone/>
            </a:pPr>
            <a:endParaRPr lang="bg-BG" altLang="bg-BG" sz="2800" dirty="0"/>
          </a:p>
          <a:p>
            <a:pPr marL="0" indent="0">
              <a:buNone/>
            </a:pPr>
            <a:r>
              <a:rPr lang="bg-BG" dirty="0"/>
              <a:t>U2: INSERT INTO EMPLOYEE (</a:t>
            </a:r>
            <a:r>
              <a:rPr lang="bg-BG" dirty="0" err="1"/>
              <a:t>Fname,Lname,Ssn</a:t>
            </a:r>
            <a:r>
              <a:rPr lang="bg-BG" dirty="0"/>
              <a:t>)</a:t>
            </a:r>
            <a:endParaRPr lang="en-US" sz="2000" dirty="0"/>
          </a:p>
          <a:p>
            <a:pPr marL="0" indent="0">
              <a:buNone/>
            </a:pPr>
            <a:r>
              <a:rPr lang="bg-BG" dirty="0"/>
              <a:t>VALUES ('Стоян','Маринов',653298653).</a:t>
            </a:r>
            <a:endParaRPr lang="en-US" sz="20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4114A2A9-902A-4288-9042-44229D6E82E2}" type="slidenum">
              <a:rPr lang="bg-BG" altLang="bg-BG"/>
              <a:pPr/>
              <a:t>41</a:t>
            </a:fld>
            <a:endParaRPr lang="bg-BG" altLang="bg-BG"/>
          </a:p>
        </p:txBody>
      </p:sp>
    </p:spTree>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1230772" y="266103"/>
            <a:ext cx="6781800" cy="726976"/>
          </a:xfrm>
        </p:spPr>
        <p:txBody>
          <a:bodyPr>
            <a:normAutofit/>
          </a:bodyPr>
          <a:lstStyle/>
          <a:p>
            <a:pPr algn="ctr"/>
            <a:r>
              <a:rPr lang="bg-BG" altLang="bg-BG" sz="3200" dirty="0">
                <a:solidFill>
                  <a:schemeClr val="accent1"/>
                </a:solidFill>
              </a:rPr>
              <a:t>Обновяване на </a:t>
            </a:r>
            <a:r>
              <a:rPr lang="bg-BG" altLang="bg-BG" sz="3200" dirty="0" smtClean="0">
                <a:solidFill>
                  <a:schemeClr val="accent1"/>
                </a:solidFill>
              </a:rPr>
              <a:t>базата</a:t>
            </a:r>
            <a:endParaRPr lang="bg-BG" altLang="bg-BG" sz="3200" dirty="0">
              <a:solidFill>
                <a:schemeClr val="accent1"/>
              </a:solidFill>
            </a:endParaRPr>
          </a:p>
        </p:txBody>
      </p:sp>
      <p:sp>
        <p:nvSpPr>
          <p:cNvPr id="206851" name="Rectangle 3"/>
          <p:cNvSpPr>
            <a:spLocks noGrp="1" noChangeArrowheads="1"/>
          </p:cNvSpPr>
          <p:nvPr>
            <p:ph idx="1"/>
          </p:nvPr>
        </p:nvSpPr>
        <p:spPr>
          <a:xfrm>
            <a:off x="506872" y="945959"/>
            <a:ext cx="8229600" cy="5184775"/>
          </a:xfrm>
        </p:spPr>
        <p:txBody>
          <a:bodyPr>
            <a:normAutofit fontScale="92500" lnSpcReduction="10000"/>
          </a:bodyPr>
          <a:lstStyle/>
          <a:p>
            <a:pPr>
              <a:lnSpc>
                <a:spcPct val="80000"/>
              </a:lnSpc>
              <a:buFontTx/>
              <a:buNone/>
            </a:pPr>
            <a:r>
              <a:rPr lang="bg-BG" altLang="bg-BG" sz="2400" dirty="0"/>
              <a:t>Пример 3: да се изведе справка по отдели, която да включва данни за името на отдела, броя на служителите и сумата от заплатите им.</a:t>
            </a:r>
          </a:p>
          <a:p>
            <a:pPr>
              <a:lnSpc>
                <a:spcPct val="80000"/>
              </a:lnSpc>
              <a:buFontTx/>
              <a:buAutoNum type="arabicPeriod"/>
            </a:pPr>
            <a:r>
              <a:rPr lang="bg-BG" altLang="bg-BG" sz="2400" dirty="0"/>
              <a:t>За да се генерира тази справка, първо е нужно да се създаде временна таблица, която да съхранява данните. Това се постига след изпълнението на:</a:t>
            </a:r>
            <a:endParaRPr lang="en-AU" altLang="bg-BG" sz="2400" dirty="0"/>
          </a:p>
          <a:p>
            <a:pPr marL="868680" lvl="3" indent="0">
              <a:lnSpc>
                <a:spcPct val="110000"/>
              </a:lnSpc>
              <a:buNone/>
            </a:pPr>
            <a:r>
              <a:rPr lang="bg-BG" dirty="0"/>
              <a:t>U3A: CREATE TABLE DEPTS_INFO</a:t>
            </a:r>
            <a:endParaRPr lang="en-US" dirty="0"/>
          </a:p>
          <a:p>
            <a:pPr marL="868680" lvl="3" indent="0">
              <a:lnSpc>
                <a:spcPct val="110000"/>
              </a:lnSpc>
              <a:buNone/>
            </a:pPr>
            <a:r>
              <a:rPr lang="bg-BG" dirty="0"/>
              <a:t>(DEPT_NAME VARCHAR(20),</a:t>
            </a:r>
            <a:endParaRPr lang="en-US" dirty="0"/>
          </a:p>
          <a:p>
            <a:pPr marL="868680" lvl="3" indent="0">
              <a:lnSpc>
                <a:spcPct val="110000"/>
              </a:lnSpc>
              <a:buNone/>
            </a:pPr>
            <a:r>
              <a:rPr lang="bg-BG" dirty="0"/>
              <a:t> NO_OF_EMPS INTEGER,</a:t>
            </a:r>
            <a:endParaRPr lang="en-US" dirty="0"/>
          </a:p>
          <a:p>
            <a:pPr marL="868680" lvl="3" indent="0">
              <a:lnSpc>
                <a:spcPct val="110000"/>
              </a:lnSpc>
              <a:buNone/>
            </a:pPr>
            <a:r>
              <a:rPr lang="bg-BG" dirty="0"/>
              <a:t> TOTAL_SAL INTEGER);</a:t>
            </a:r>
            <a:endParaRPr lang="en-US" dirty="0"/>
          </a:p>
          <a:p>
            <a:pPr>
              <a:lnSpc>
                <a:spcPct val="80000"/>
              </a:lnSpc>
              <a:buFontTx/>
              <a:buAutoNum type="arabicPeriod"/>
            </a:pPr>
            <a:r>
              <a:rPr lang="bg-BG" altLang="bg-BG" sz="2400" dirty="0" smtClean="0"/>
              <a:t>След </a:t>
            </a:r>
            <a:r>
              <a:rPr lang="bg-BG" altLang="bg-BG" sz="2400" dirty="0"/>
              <a:t>това се изпълнява следната команда:</a:t>
            </a:r>
            <a:endParaRPr lang="en-AU" altLang="bg-BG" sz="2400" dirty="0"/>
          </a:p>
          <a:p>
            <a:pPr marL="594360" lvl="2" indent="0">
              <a:buNone/>
            </a:pPr>
            <a:r>
              <a:rPr lang="bg-BG" dirty="0"/>
              <a:t>U3B: INSERT INTO</a:t>
            </a:r>
            <a:endParaRPr lang="en-US" sz="1600" dirty="0"/>
          </a:p>
          <a:p>
            <a:pPr marL="594360" lvl="2" indent="0">
              <a:buNone/>
            </a:pPr>
            <a:r>
              <a:rPr lang="bg-BG" dirty="0"/>
              <a:t>DEPTS_INFO (DEPT_NAME, NO_OF_EMPS, TOTAL_SAL)</a:t>
            </a:r>
            <a:endParaRPr lang="en-US" sz="1600" dirty="0"/>
          </a:p>
          <a:p>
            <a:pPr marL="868680" lvl="3" indent="0">
              <a:buNone/>
            </a:pPr>
            <a:r>
              <a:rPr lang="bg-BG" dirty="0"/>
              <a:t>SELECT </a:t>
            </a:r>
            <a:r>
              <a:rPr lang="bg-BG" dirty="0" err="1"/>
              <a:t>Dname</a:t>
            </a:r>
            <a:r>
              <a:rPr lang="bg-BG" dirty="0"/>
              <a:t>, COUNT (*), SUM (</a:t>
            </a:r>
            <a:r>
              <a:rPr lang="bg-BG" dirty="0" err="1"/>
              <a:t>Salary</a:t>
            </a:r>
            <a:r>
              <a:rPr lang="bg-BG" dirty="0"/>
              <a:t>)</a:t>
            </a:r>
            <a:endParaRPr lang="en-US" sz="1400" dirty="0"/>
          </a:p>
          <a:p>
            <a:pPr marL="868680" lvl="3" indent="0">
              <a:buNone/>
            </a:pPr>
            <a:r>
              <a:rPr lang="bg-BG" dirty="0"/>
              <a:t>FROM DEPARTMENT, EMPLOYEE</a:t>
            </a:r>
            <a:endParaRPr lang="en-US" sz="1400" dirty="0"/>
          </a:p>
          <a:p>
            <a:pPr marL="868680" lvl="3" indent="0">
              <a:buNone/>
            </a:pPr>
            <a:r>
              <a:rPr lang="bg-BG" dirty="0"/>
              <a:t>WHERE </a:t>
            </a:r>
            <a:r>
              <a:rPr lang="bg-BG" dirty="0" err="1"/>
              <a:t>Dnumber</a:t>
            </a:r>
            <a:r>
              <a:rPr lang="bg-BG" dirty="0"/>
              <a:t>=</a:t>
            </a:r>
            <a:r>
              <a:rPr lang="bg-BG" dirty="0" err="1"/>
              <a:t>Dno</a:t>
            </a:r>
            <a:endParaRPr lang="en-US" sz="1400" dirty="0"/>
          </a:p>
          <a:p>
            <a:pPr marL="868680" lvl="3" indent="0">
              <a:buNone/>
            </a:pPr>
            <a:r>
              <a:rPr lang="bg-BG" dirty="0"/>
              <a:t>GROUP BY </a:t>
            </a:r>
            <a:r>
              <a:rPr lang="bg-BG" dirty="0" err="1"/>
              <a:t>Dname</a:t>
            </a:r>
            <a:r>
              <a:rPr lang="bg-BG" dirty="0"/>
              <a:t> </a:t>
            </a:r>
            <a:endParaRPr lang="bg-BG" altLang="bg-BG"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dirty="0"/>
              <a:t>CSCB405- модул4</a:t>
            </a:r>
          </a:p>
        </p:txBody>
      </p:sp>
      <p:sp>
        <p:nvSpPr>
          <p:cNvPr id="6" name="Slide Number Placeholder 5"/>
          <p:cNvSpPr>
            <a:spLocks noGrp="1"/>
          </p:cNvSpPr>
          <p:nvPr>
            <p:ph type="sldNum" sz="quarter" idx="12"/>
          </p:nvPr>
        </p:nvSpPr>
        <p:spPr/>
        <p:txBody>
          <a:bodyPr/>
          <a:lstStyle/>
          <a:p>
            <a:fld id="{9CCBEC17-7729-47E3-A92D-E0E1C0F2513C}" type="slidenum">
              <a:rPr lang="bg-BG" altLang="bg-BG"/>
              <a:pPr/>
              <a:t>42</a:t>
            </a:fld>
            <a:endParaRPr lang="bg-BG" altLang="bg-BG"/>
          </a:p>
        </p:txBody>
      </p:sp>
    </p:spTree>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1136576" y="294641"/>
            <a:ext cx="6781800" cy="654968"/>
          </a:xfrm>
        </p:spPr>
        <p:txBody>
          <a:bodyPr>
            <a:normAutofit/>
          </a:bodyPr>
          <a:lstStyle/>
          <a:p>
            <a:pPr algn="ctr"/>
            <a:r>
              <a:rPr lang="bg-BG" altLang="bg-BG" sz="3200" dirty="0">
                <a:solidFill>
                  <a:schemeClr val="accent1"/>
                </a:solidFill>
              </a:rPr>
              <a:t>Обновяване на </a:t>
            </a:r>
            <a:r>
              <a:rPr lang="bg-BG" altLang="bg-BG" sz="3200" dirty="0" smtClean="0">
                <a:solidFill>
                  <a:schemeClr val="accent1"/>
                </a:solidFill>
              </a:rPr>
              <a:t>базата</a:t>
            </a:r>
            <a:endParaRPr lang="bg-BG" altLang="bg-BG" sz="3200" dirty="0">
              <a:solidFill>
                <a:schemeClr val="accent1"/>
              </a:solidFill>
            </a:endParaRPr>
          </a:p>
        </p:txBody>
      </p:sp>
      <p:sp>
        <p:nvSpPr>
          <p:cNvPr id="207875" name="Rectangle 3"/>
          <p:cNvSpPr>
            <a:spLocks noGrp="1" noChangeArrowheads="1"/>
          </p:cNvSpPr>
          <p:nvPr>
            <p:ph idx="1"/>
          </p:nvPr>
        </p:nvSpPr>
        <p:spPr>
          <a:xfrm>
            <a:off x="739636" y="1053084"/>
            <a:ext cx="7543800" cy="3886200"/>
          </a:xfrm>
        </p:spPr>
        <p:txBody>
          <a:bodyPr>
            <a:normAutofit lnSpcReduction="10000"/>
          </a:bodyPr>
          <a:lstStyle/>
          <a:p>
            <a:pPr marL="609600" indent="-609600" algn="ctr">
              <a:buFontTx/>
              <a:buNone/>
            </a:pPr>
            <a:r>
              <a:rPr lang="bg-BG" altLang="bg-BG" sz="2800" dirty="0">
                <a:solidFill>
                  <a:srgbClr val="C00000"/>
                </a:solidFill>
              </a:rPr>
              <a:t>DELETE</a:t>
            </a:r>
          </a:p>
          <a:p>
            <a:pPr marL="609600" indent="-609600">
              <a:buFontTx/>
              <a:buAutoNum type="arabicPeriod"/>
            </a:pPr>
            <a:r>
              <a:rPr lang="bg-BG" altLang="bg-BG" sz="2800" dirty="0"/>
              <a:t>Позволява премахването на онези редове от указаната таблица, които удовлетворяват зададеното условие. </a:t>
            </a:r>
          </a:p>
          <a:p>
            <a:pPr marL="609600" indent="-609600">
              <a:buFontTx/>
              <a:buAutoNum type="arabicPeriod"/>
            </a:pPr>
            <a:r>
              <a:rPr lang="bg-BG" altLang="bg-BG" sz="2800" dirty="0"/>
              <a:t>Ако не е зададено явно условие всички редове се изтриват и таблицата остава празна. </a:t>
            </a:r>
          </a:p>
          <a:p>
            <a:pPr marL="609600" indent="-609600">
              <a:buFontTx/>
              <a:buAutoNum type="arabicPeriod"/>
            </a:pPr>
            <a:r>
              <a:rPr lang="bg-BG" altLang="bg-BG" sz="2800" dirty="0"/>
              <a:t>Окончателното премахване на таблица от базата става с командата DROP. </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0AD43CE4-DCE6-495E-8EDC-0FC06B330E72}" type="slidenum">
              <a:rPr lang="bg-BG" altLang="bg-BG"/>
              <a:pPr/>
              <a:t>43</a:t>
            </a:fld>
            <a:endParaRPr lang="bg-BG" altLang="bg-BG"/>
          </a:p>
        </p:txBody>
      </p:sp>
    </p:spTree>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1115616" y="278170"/>
            <a:ext cx="6781800" cy="582960"/>
          </a:xfrm>
        </p:spPr>
        <p:txBody>
          <a:bodyPr>
            <a:normAutofit/>
          </a:bodyPr>
          <a:lstStyle/>
          <a:p>
            <a:pPr algn="ctr"/>
            <a:r>
              <a:rPr lang="bg-BG" altLang="bg-BG" sz="3200" dirty="0">
                <a:solidFill>
                  <a:schemeClr val="accent1"/>
                </a:solidFill>
              </a:rPr>
              <a:t>Обновяване на </a:t>
            </a:r>
            <a:r>
              <a:rPr lang="bg-BG" altLang="bg-BG" sz="3200" dirty="0" smtClean="0">
                <a:solidFill>
                  <a:schemeClr val="accent1"/>
                </a:solidFill>
              </a:rPr>
              <a:t>базата</a:t>
            </a:r>
            <a:endParaRPr lang="bg-BG" altLang="bg-BG" sz="3200" dirty="0">
              <a:solidFill>
                <a:schemeClr val="accent1"/>
              </a:solidFill>
            </a:endParaRPr>
          </a:p>
        </p:txBody>
      </p:sp>
      <p:sp>
        <p:nvSpPr>
          <p:cNvPr id="208899" name="Rectangle 3"/>
          <p:cNvSpPr>
            <a:spLocks noGrp="1" noChangeArrowheads="1"/>
          </p:cNvSpPr>
          <p:nvPr>
            <p:ph idx="1"/>
          </p:nvPr>
        </p:nvSpPr>
        <p:spPr>
          <a:xfrm>
            <a:off x="467544" y="836711"/>
            <a:ext cx="8229600" cy="5328593"/>
          </a:xfrm>
        </p:spPr>
        <p:txBody>
          <a:bodyPr>
            <a:noAutofit/>
          </a:bodyPr>
          <a:lstStyle/>
          <a:p>
            <a:pPr marL="0" indent="0">
              <a:buNone/>
            </a:pPr>
            <a:r>
              <a:rPr lang="bg-BG" sz="2200" dirty="0"/>
              <a:t>Пример 4: Да се изтрият данните за служителя с указаното име.</a:t>
            </a:r>
            <a:endParaRPr lang="en-US" sz="2200" dirty="0"/>
          </a:p>
          <a:p>
            <a:pPr marL="594360" lvl="2" indent="0">
              <a:buNone/>
            </a:pPr>
            <a:r>
              <a:rPr lang="bg-BG" sz="2200" dirty="0"/>
              <a:t>U4: DELETE FROM EMPLOYEE</a:t>
            </a:r>
            <a:endParaRPr lang="en-US" sz="2200" dirty="0"/>
          </a:p>
          <a:p>
            <a:pPr marL="1097280" lvl="4" indent="0">
              <a:buNone/>
            </a:pPr>
            <a:r>
              <a:rPr lang="bg-BG" sz="2200" dirty="0"/>
              <a:t>WHERE LNAME = 'Петров'</a:t>
            </a:r>
            <a:endParaRPr lang="en-US" sz="2200" dirty="0"/>
          </a:p>
          <a:p>
            <a:pPr marL="0" indent="0">
              <a:buNone/>
            </a:pPr>
            <a:r>
              <a:rPr lang="bg-BG" sz="2200" dirty="0"/>
              <a:t>Пример 5: Да се изтрият данните за служителя с указания номер.</a:t>
            </a:r>
            <a:endParaRPr lang="en-US" sz="2200" dirty="0"/>
          </a:p>
          <a:p>
            <a:pPr marL="594360" lvl="2" indent="0">
              <a:buNone/>
            </a:pPr>
            <a:r>
              <a:rPr lang="bg-BG" sz="2200" dirty="0"/>
              <a:t>U5: DELETE FROM EMPLOYEE</a:t>
            </a:r>
            <a:endParaRPr lang="en-US" sz="2200" dirty="0"/>
          </a:p>
          <a:p>
            <a:pPr marL="1097280" lvl="4" indent="0">
              <a:buNone/>
            </a:pPr>
            <a:r>
              <a:rPr lang="bg-BG" sz="2200" dirty="0"/>
              <a:t>WHERE SSN = '123456789'</a:t>
            </a:r>
            <a:endParaRPr lang="en-US" sz="2200" dirty="0"/>
          </a:p>
          <a:p>
            <a:pPr marL="0" indent="0">
              <a:buNone/>
            </a:pPr>
            <a:r>
              <a:rPr lang="bg-BG" sz="2200" dirty="0"/>
              <a:t>Пример 6: Да се изтрият данните за служителите, работещи в указания отдел.</a:t>
            </a:r>
            <a:endParaRPr lang="en-US" sz="2200" dirty="0"/>
          </a:p>
          <a:p>
            <a:pPr marL="594360" lvl="2" indent="0">
              <a:buNone/>
            </a:pPr>
            <a:r>
              <a:rPr lang="bg-BG" sz="2200" dirty="0"/>
              <a:t>U6: DELETE FROM EMPLOYEE</a:t>
            </a:r>
            <a:endParaRPr lang="en-US" sz="2200" dirty="0"/>
          </a:p>
          <a:p>
            <a:pPr marL="1097280" lvl="4" indent="0">
              <a:buNone/>
            </a:pPr>
            <a:r>
              <a:rPr lang="bg-BG" sz="2200" dirty="0"/>
              <a:t>WHERE DNO IN (SELECT </a:t>
            </a:r>
            <a:r>
              <a:rPr lang="bg-BG" sz="2200" dirty="0" err="1"/>
              <a:t>Dnumber</a:t>
            </a:r>
            <a:endParaRPr lang="en-US" sz="2200" dirty="0"/>
          </a:p>
          <a:p>
            <a:pPr marL="2194560" lvl="8" indent="0">
              <a:buNone/>
            </a:pPr>
            <a:r>
              <a:rPr lang="bg-BG" sz="2200" dirty="0"/>
              <a:t>FROM DEPARTMENT</a:t>
            </a:r>
            <a:endParaRPr lang="en-US" sz="2200" dirty="0"/>
          </a:p>
          <a:p>
            <a:pPr marL="2194560" lvl="8" indent="0">
              <a:buNone/>
            </a:pPr>
            <a:r>
              <a:rPr lang="bg-BG" sz="2200" dirty="0"/>
              <a:t>WHERE </a:t>
            </a:r>
            <a:r>
              <a:rPr lang="bg-BG" sz="2200" dirty="0" err="1"/>
              <a:t>Dname</a:t>
            </a:r>
            <a:r>
              <a:rPr lang="bg-BG" sz="2200" dirty="0"/>
              <a:t> = 'Маркетинг')</a:t>
            </a:r>
            <a:endParaRPr lang="en-US" sz="2200" dirty="0"/>
          </a:p>
          <a:p>
            <a:pPr marL="0" indent="0">
              <a:buNone/>
            </a:pPr>
            <a:r>
              <a:rPr lang="bg-BG" sz="2200" dirty="0"/>
              <a:t>Пример 7: Да се изтрият данните за всички служители.</a:t>
            </a:r>
            <a:endParaRPr lang="en-US" sz="2200" dirty="0"/>
          </a:p>
          <a:p>
            <a:pPr marL="594360" lvl="2" indent="0">
              <a:buNone/>
            </a:pPr>
            <a:r>
              <a:rPr lang="bg-BG" sz="2200" dirty="0"/>
              <a:t>U7: DELETE FROM EMPLOYEE</a:t>
            </a:r>
            <a:endParaRPr lang="en-US" sz="22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2263A9D7-090A-4C20-A8F3-C245357F2AD5}" type="slidenum">
              <a:rPr lang="bg-BG" altLang="bg-BG"/>
              <a:pPr/>
              <a:t>44</a:t>
            </a:fld>
            <a:endParaRPr lang="bg-BG" altLang="bg-BG"/>
          </a:p>
        </p:txBody>
      </p:sp>
    </p:spTree>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1187202" y="239904"/>
            <a:ext cx="6781800" cy="726976"/>
          </a:xfrm>
        </p:spPr>
        <p:txBody>
          <a:bodyPr>
            <a:normAutofit/>
          </a:bodyPr>
          <a:lstStyle/>
          <a:p>
            <a:pPr algn="ctr"/>
            <a:r>
              <a:rPr lang="bg-BG" altLang="bg-BG" sz="3200" dirty="0">
                <a:solidFill>
                  <a:schemeClr val="accent1"/>
                </a:solidFill>
              </a:rPr>
              <a:t>Обновяване на </a:t>
            </a:r>
            <a:r>
              <a:rPr lang="bg-BG" altLang="bg-BG" sz="3200" dirty="0" smtClean="0">
                <a:solidFill>
                  <a:schemeClr val="accent1"/>
                </a:solidFill>
              </a:rPr>
              <a:t>базата</a:t>
            </a:r>
            <a:endParaRPr lang="bg-BG" altLang="bg-BG" sz="3200" dirty="0">
              <a:solidFill>
                <a:schemeClr val="accent1"/>
              </a:solidFill>
            </a:endParaRPr>
          </a:p>
        </p:txBody>
      </p:sp>
      <p:sp>
        <p:nvSpPr>
          <p:cNvPr id="209923" name="Rectangle 3"/>
          <p:cNvSpPr>
            <a:spLocks noGrp="1" noChangeArrowheads="1"/>
          </p:cNvSpPr>
          <p:nvPr>
            <p:ph idx="1"/>
          </p:nvPr>
        </p:nvSpPr>
        <p:spPr>
          <a:xfrm>
            <a:off x="769352" y="404664"/>
            <a:ext cx="7543800" cy="3886200"/>
          </a:xfrm>
        </p:spPr>
        <p:txBody>
          <a:bodyPr/>
          <a:lstStyle/>
          <a:p>
            <a:pPr marL="609600" indent="-609600" algn="ctr">
              <a:buFontTx/>
              <a:buNone/>
            </a:pPr>
            <a:r>
              <a:rPr lang="bg-BG" altLang="bg-BG" sz="2800" dirty="0">
                <a:solidFill>
                  <a:srgbClr val="C00000"/>
                </a:solidFill>
              </a:rPr>
              <a:t>UPDATE </a:t>
            </a:r>
          </a:p>
          <a:p>
            <a:pPr marL="609600" indent="-609600">
              <a:buFontTx/>
              <a:buAutoNum type="arabicPeriod"/>
            </a:pPr>
            <a:r>
              <a:rPr lang="bg-BG" altLang="bg-BG" sz="2800" dirty="0"/>
              <a:t>Променя стойностите на указаните колони, удовлетворяващи зададеното условие. </a:t>
            </a:r>
          </a:p>
          <a:p>
            <a:pPr marL="609600" indent="-609600">
              <a:buFontTx/>
              <a:buAutoNum type="arabicPeriod"/>
            </a:pPr>
            <a:r>
              <a:rPr lang="bg-BG" altLang="bg-BG" sz="2800" dirty="0"/>
              <a:t>Имената на колоните, подлежащи на актуализация се указват след ключовата дума </a:t>
            </a:r>
            <a:r>
              <a:rPr lang="bg-BG" altLang="bg-BG" sz="2800" dirty="0">
                <a:solidFill>
                  <a:srgbClr val="C00000"/>
                </a:solidFill>
              </a:rPr>
              <a:t>SET</a:t>
            </a:r>
            <a:r>
              <a:rPr lang="bg-BG" altLang="bg-BG" sz="2800" dirty="0"/>
              <a:t>.</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E3384397-46B5-41EB-A31D-5F384CD1DFBB}" type="slidenum">
              <a:rPr lang="bg-BG" altLang="bg-BG"/>
              <a:pPr/>
              <a:t>45</a:t>
            </a:fld>
            <a:endParaRPr lang="bg-BG" altLang="bg-BG"/>
          </a:p>
        </p:txBody>
      </p:sp>
    </p:spTree>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1115616" y="404664"/>
            <a:ext cx="6781800" cy="582960"/>
          </a:xfrm>
        </p:spPr>
        <p:txBody>
          <a:bodyPr>
            <a:normAutofit/>
          </a:bodyPr>
          <a:lstStyle/>
          <a:p>
            <a:pPr algn="ctr"/>
            <a:r>
              <a:rPr lang="bg-BG" altLang="bg-BG" sz="3200" dirty="0">
                <a:solidFill>
                  <a:schemeClr val="accent1"/>
                </a:solidFill>
              </a:rPr>
              <a:t>Обновяване на </a:t>
            </a:r>
            <a:r>
              <a:rPr lang="bg-BG" altLang="bg-BG" sz="3200" dirty="0" smtClean="0">
                <a:solidFill>
                  <a:schemeClr val="accent1"/>
                </a:solidFill>
              </a:rPr>
              <a:t>базата</a:t>
            </a:r>
            <a:endParaRPr lang="bg-BG" altLang="bg-BG" sz="3200" dirty="0">
              <a:solidFill>
                <a:schemeClr val="accent1"/>
              </a:solidFill>
            </a:endParaRPr>
          </a:p>
        </p:txBody>
      </p:sp>
      <p:sp>
        <p:nvSpPr>
          <p:cNvPr id="211971" name="Rectangle 3"/>
          <p:cNvSpPr>
            <a:spLocks noGrp="1" noChangeArrowheads="1"/>
          </p:cNvSpPr>
          <p:nvPr>
            <p:ph idx="1"/>
          </p:nvPr>
        </p:nvSpPr>
        <p:spPr>
          <a:xfrm>
            <a:off x="755576" y="908719"/>
            <a:ext cx="7920880" cy="5143973"/>
          </a:xfrm>
        </p:spPr>
        <p:txBody>
          <a:bodyPr>
            <a:normAutofit/>
          </a:bodyPr>
          <a:lstStyle/>
          <a:p>
            <a:pPr marL="0" indent="0">
              <a:buNone/>
            </a:pPr>
            <a:r>
              <a:rPr lang="bg-BG" dirty="0"/>
              <a:t>Пример 8: Да се промени местоположението и номера на указания отдел</a:t>
            </a:r>
            <a:r>
              <a:rPr lang="bg-BG" dirty="0" smtClean="0"/>
              <a:t>.</a:t>
            </a:r>
          </a:p>
          <a:p>
            <a:pPr marL="0" indent="0">
              <a:buNone/>
            </a:pPr>
            <a:endParaRPr lang="en-US" sz="800" dirty="0"/>
          </a:p>
          <a:p>
            <a:pPr marL="0" indent="0">
              <a:buNone/>
            </a:pPr>
            <a:r>
              <a:rPr lang="bg-BG" dirty="0"/>
              <a:t>U8: UPDATE PROJECT</a:t>
            </a:r>
            <a:endParaRPr lang="en-US" dirty="0"/>
          </a:p>
          <a:p>
            <a:pPr marL="594360" lvl="2" indent="0">
              <a:buNone/>
            </a:pPr>
            <a:r>
              <a:rPr lang="bg-BG" sz="2400" dirty="0"/>
              <a:t>SET </a:t>
            </a:r>
            <a:r>
              <a:rPr lang="bg-BG" sz="2400" dirty="0" err="1"/>
              <a:t>Plocation</a:t>
            </a:r>
            <a:r>
              <a:rPr lang="bg-BG" sz="2400" dirty="0"/>
              <a:t> = 'Варна', </a:t>
            </a:r>
            <a:r>
              <a:rPr lang="bg-BG" sz="2400" dirty="0" err="1"/>
              <a:t>Dnum</a:t>
            </a:r>
            <a:r>
              <a:rPr lang="bg-BG" sz="2400" dirty="0"/>
              <a:t> = 5 WHERE </a:t>
            </a:r>
            <a:r>
              <a:rPr lang="bg-BG" sz="2400" dirty="0" err="1"/>
              <a:t>Pnum</a:t>
            </a:r>
            <a:r>
              <a:rPr lang="bg-BG" sz="2400" dirty="0"/>
              <a:t> = </a:t>
            </a:r>
            <a:r>
              <a:rPr lang="bg-BG" sz="2400" dirty="0" smtClean="0"/>
              <a:t>10</a:t>
            </a:r>
          </a:p>
          <a:p>
            <a:pPr marL="594360" lvl="2" indent="0">
              <a:buNone/>
            </a:pPr>
            <a:endParaRPr lang="en-US" sz="800" dirty="0"/>
          </a:p>
          <a:p>
            <a:pPr marL="0" indent="0">
              <a:buNone/>
            </a:pPr>
            <a:r>
              <a:rPr lang="bg-BG" dirty="0"/>
              <a:t>Пример 9: Да се повишат с 10% заплатите на служителите от указания отдел</a:t>
            </a:r>
            <a:r>
              <a:rPr lang="bg-BG" dirty="0" smtClean="0"/>
              <a:t>.</a:t>
            </a:r>
          </a:p>
          <a:p>
            <a:pPr marL="0" indent="0">
              <a:buNone/>
            </a:pPr>
            <a:endParaRPr lang="en-US" sz="800" dirty="0"/>
          </a:p>
          <a:p>
            <a:pPr marL="0" indent="0">
              <a:buNone/>
            </a:pPr>
            <a:r>
              <a:rPr lang="bg-BG" dirty="0"/>
              <a:t>U9: UPDATE EMPLOYEE</a:t>
            </a:r>
            <a:endParaRPr lang="en-US" dirty="0"/>
          </a:p>
          <a:p>
            <a:pPr marL="594360" lvl="2" indent="0">
              <a:buNone/>
            </a:pPr>
            <a:r>
              <a:rPr lang="bg-BG" sz="2400" dirty="0"/>
              <a:t>SET </a:t>
            </a:r>
            <a:r>
              <a:rPr lang="bg-BG" sz="2400" dirty="0" err="1"/>
              <a:t>Salary</a:t>
            </a:r>
            <a:r>
              <a:rPr lang="bg-BG" sz="2400" dirty="0"/>
              <a:t> = </a:t>
            </a:r>
            <a:r>
              <a:rPr lang="bg-BG" sz="2400" dirty="0" err="1"/>
              <a:t>Salary</a:t>
            </a:r>
            <a:r>
              <a:rPr lang="bg-BG" sz="2400" dirty="0"/>
              <a:t>*1.1</a:t>
            </a:r>
            <a:endParaRPr lang="en-US" sz="2400" dirty="0"/>
          </a:p>
          <a:p>
            <a:pPr marL="594360" lvl="2" indent="0">
              <a:buNone/>
            </a:pPr>
            <a:r>
              <a:rPr lang="bg-BG" sz="2400" dirty="0"/>
              <a:t>WHERE </a:t>
            </a:r>
            <a:r>
              <a:rPr lang="bg-BG" sz="2400" dirty="0" err="1"/>
              <a:t>Dno</a:t>
            </a:r>
            <a:r>
              <a:rPr lang="bg-BG" sz="2400" dirty="0"/>
              <a:t> IN (SELECT </a:t>
            </a:r>
            <a:r>
              <a:rPr lang="bg-BG" sz="2400" dirty="0" err="1"/>
              <a:t>Dnumber</a:t>
            </a:r>
            <a:endParaRPr lang="en-US" sz="2400" dirty="0"/>
          </a:p>
          <a:p>
            <a:pPr marL="1920240" lvl="7" indent="0">
              <a:buNone/>
            </a:pPr>
            <a:r>
              <a:rPr lang="bg-BG" sz="2400" dirty="0"/>
              <a:t>FROM DEPARTMENT</a:t>
            </a:r>
            <a:endParaRPr lang="en-US" sz="2400" dirty="0"/>
          </a:p>
          <a:p>
            <a:pPr marL="1920240" lvl="7" indent="0">
              <a:buNone/>
            </a:pPr>
            <a:r>
              <a:rPr lang="bg-BG" sz="2400" dirty="0"/>
              <a:t>WHERE </a:t>
            </a:r>
            <a:r>
              <a:rPr lang="bg-BG" sz="2400" dirty="0" err="1"/>
              <a:t>Dname</a:t>
            </a:r>
            <a:r>
              <a:rPr lang="bg-BG" sz="2400" dirty="0"/>
              <a:t> = 'Финанси')</a:t>
            </a:r>
            <a:endParaRPr lang="en-US"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03181318-27FD-4F2B-B45D-6F23DEB1995B}" type="slidenum">
              <a:rPr lang="bg-BG" altLang="bg-BG"/>
              <a:pPr/>
              <a:t>46</a:t>
            </a:fld>
            <a:endParaRPr lang="bg-BG" altLang="bg-BG"/>
          </a:p>
        </p:txBody>
      </p:sp>
    </p:spTree>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1259632" y="404664"/>
            <a:ext cx="6781800" cy="582960"/>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12995" name="Rectangle 3"/>
          <p:cNvSpPr>
            <a:spLocks noGrp="1" noChangeArrowheads="1"/>
          </p:cNvSpPr>
          <p:nvPr>
            <p:ph idx="1"/>
          </p:nvPr>
        </p:nvSpPr>
        <p:spPr>
          <a:xfrm>
            <a:off x="758094" y="904986"/>
            <a:ext cx="7543800" cy="4392488"/>
          </a:xfrm>
        </p:spPr>
        <p:txBody>
          <a:bodyPr>
            <a:normAutofit/>
          </a:bodyPr>
          <a:lstStyle/>
          <a:p>
            <a:pPr marL="533400" indent="-533400" algn="ctr">
              <a:lnSpc>
                <a:spcPct val="80000"/>
              </a:lnSpc>
              <a:buFontTx/>
              <a:buNone/>
            </a:pPr>
            <a:r>
              <a:rPr lang="bg-BG" altLang="bg-BG" sz="2800" u="sng" dirty="0">
                <a:solidFill>
                  <a:srgbClr val="C00000"/>
                </a:solidFill>
              </a:rPr>
              <a:t>Команди </a:t>
            </a:r>
            <a:r>
              <a:rPr lang="en-US" altLang="bg-BG" sz="2800" u="sng" dirty="0">
                <a:solidFill>
                  <a:srgbClr val="C00000"/>
                </a:solidFill>
              </a:rPr>
              <a:t>CREATE/DROP</a:t>
            </a:r>
            <a:endParaRPr lang="bg-BG" altLang="bg-BG" sz="2800" dirty="0">
              <a:solidFill>
                <a:srgbClr val="C00000"/>
              </a:solidFill>
            </a:endParaRPr>
          </a:p>
          <a:p>
            <a:pPr marL="533400" indent="-533400">
              <a:lnSpc>
                <a:spcPct val="80000"/>
              </a:lnSpc>
              <a:buFontTx/>
              <a:buNone/>
            </a:pPr>
            <a:r>
              <a:rPr lang="bg-BG" altLang="bg-BG" sz="2800" dirty="0"/>
              <a:t>Използуват се за създаване и унищожаване на различни обекти:</a:t>
            </a:r>
          </a:p>
          <a:p>
            <a:pPr marL="914400" lvl="1" indent="-457200">
              <a:lnSpc>
                <a:spcPct val="80000"/>
              </a:lnSpc>
              <a:buFontTx/>
              <a:buAutoNum type="arabicPeriod"/>
            </a:pPr>
            <a:r>
              <a:rPr lang="bg-BG" altLang="bg-BG" sz="2400" dirty="0"/>
              <a:t>Създаване / унищожаване на база. </a:t>
            </a:r>
          </a:p>
          <a:p>
            <a:pPr marL="1295400" lvl="2" indent="-381000">
              <a:lnSpc>
                <a:spcPct val="80000"/>
              </a:lnSpc>
              <a:buFontTx/>
              <a:buNone/>
            </a:pPr>
            <a:r>
              <a:rPr lang="bg-BG" altLang="bg-BG" dirty="0"/>
              <a:t>CREATE DATABASE database_name</a:t>
            </a:r>
          </a:p>
          <a:p>
            <a:pPr marL="1295400" lvl="2" indent="-381000">
              <a:lnSpc>
                <a:spcPct val="80000"/>
              </a:lnSpc>
              <a:buFontTx/>
              <a:buNone/>
            </a:pPr>
            <a:r>
              <a:rPr lang="bg-BG" altLang="bg-BG" dirty="0"/>
              <a:t>DROP DATABASE</a:t>
            </a:r>
            <a:r>
              <a:rPr lang="bg-BG" altLang="bg-BG" sz="2000" dirty="0"/>
              <a:t> database_name</a:t>
            </a:r>
            <a:endParaRPr lang="en-US" altLang="bg-BG" sz="2000" dirty="0"/>
          </a:p>
          <a:p>
            <a:pPr marL="1295400" lvl="2" indent="-381000">
              <a:lnSpc>
                <a:spcPct val="80000"/>
              </a:lnSpc>
              <a:buFontTx/>
              <a:buNone/>
            </a:pPr>
            <a:endParaRPr lang="bg-BG" altLang="bg-BG" sz="2000" dirty="0"/>
          </a:p>
          <a:p>
            <a:pPr marL="914400" lvl="1" indent="-457200">
              <a:lnSpc>
                <a:spcPct val="80000"/>
              </a:lnSpc>
              <a:buFontTx/>
              <a:buAutoNum type="arabicPeriod"/>
            </a:pPr>
            <a:r>
              <a:rPr lang="bg-BG" altLang="bg-BG" sz="2400" dirty="0"/>
              <a:t>Създаване /унищожаване на пространство.</a:t>
            </a:r>
          </a:p>
          <a:p>
            <a:pPr marL="1295400" lvl="2" indent="-381000">
              <a:lnSpc>
                <a:spcPct val="80000"/>
              </a:lnSpc>
              <a:buFontTx/>
              <a:buNone/>
            </a:pPr>
            <a:r>
              <a:rPr lang="bg-BG" altLang="bg-BG" dirty="0"/>
              <a:t>ACQUIRE [PUBLIC | PRIVATE] DBSPACE </a:t>
            </a:r>
          </a:p>
          <a:p>
            <a:pPr marL="1295400" lvl="2" indent="-381000">
              <a:lnSpc>
                <a:spcPct val="80000"/>
              </a:lnSpc>
              <a:buFontTx/>
              <a:buNone/>
            </a:pPr>
            <a:r>
              <a:rPr lang="bg-BG" altLang="bg-BG" dirty="0"/>
              <a:t>NAMED dbspace_name [option [,option]...] </a:t>
            </a:r>
          </a:p>
          <a:p>
            <a:pPr marL="1295400" lvl="2" indent="-381000">
              <a:lnSpc>
                <a:spcPct val="80000"/>
              </a:lnSpc>
              <a:buFontTx/>
              <a:buNone/>
            </a:pPr>
            <a:r>
              <a:rPr lang="bg-BG" altLang="bg-BG" dirty="0"/>
              <a:t>Option: LOCK = {DBSPACE| PAGE | ROW} </a:t>
            </a:r>
          </a:p>
          <a:p>
            <a:pPr marL="1295400" lvl="2" indent="-381000">
              <a:lnSpc>
                <a:spcPct val="80000"/>
              </a:lnSpc>
              <a:buFontTx/>
              <a:buNone/>
            </a:pPr>
            <a:r>
              <a:rPr lang="bg-BG" altLang="bg-BG" dirty="0"/>
              <a:t>DROP DBSPACE dbspace_name</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C826766C-DFD6-47FD-BF95-FC26C4E40954}" type="slidenum">
              <a:rPr lang="bg-BG" altLang="bg-BG"/>
              <a:pPr/>
              <a:t>47</a:t>
            </a:fld>
            <a:endParaRPr lang="bg-BG" altLang="bg-BG"/>
          </a:p>
        </p:txBody>
      </p:sp>
    </p:spTree>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1259632" y="404664"/>
            <a:ext cx="6781800" cy="582960"/>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14019" name="Rectangle 3"/>
          <p:cNvSpPr>
            <a:spLocks noGrp="1" noChangeArrowheads="1"/>
          </p:cNvSpPr>
          <p:nvPr>
            <p:ph idx="1"/>
          </p:nvPr>
        </p:nvSpPr>
        <p:spPr>
          <a:xfrm>
            <a:off x="827584" y="1124744"/>
            <a:ext cx="7543800" cy="4248472"/>
          </a:xfrm>
        </p:spPr>
        <p:txBody>
          <a:bodyPr>
            <a:normAutofit lnSpcReduction="10000"/>
          </a:bodyPr>
          <a:lstStyle/>
          <a:p>
            <a:pPr marL="609600" indent="-609600">
              <a:buFontTx/>
              <a:buAutoNum type="arabicPeriod" startAt="3"/>
            </a:pPr>
            <a:r>
              <a:rPr lang="bg-BG" altLang="bg-BG" sz="2400" dirty="0"/>
              <a:t>Създаване / унищожаване на схеми.</a:t>
            </a:r>
          </a:p>
          <a:p>
            <a:pPr marL="990600" lvl="1" indent="-533400">
              <a:buFontTx/>
              <a:buChar char="•"/>
            </a:pPr>
            <a:r>
              <a:rPr lang="bg-BG" altLang="bg-BG" sz="2400" dirty="0"/>
              <a:t>Преди да се създаде дадена таблица е необходимо да бъдат създадени базата и пространството, което ще съдържа таблиците. </a:t>
            </a:r>
            <a:endParaRPr lang="en-US" altLang="bg-BG" sz="2400" dirty="0"/>
          </a:p>
          <a:p>
            <a:pPr marL="990600" lvl="1" indent="-533400">
              <a:buFontTx/>
              <a:buChar char="•"/>
            </a:pPr>
            <a:r>
              <a:rPr lang="bg-BG" altLang="bg-BG" sz="2400" dirty="0"/>
              <a:t>Потребителят трябва да бъде упълномощен, т.е. да му бъдат дадени права да създава таблици и схеми. </a:t>
            </a:r>
            <a:endParaRPr lang="en-US" altLang="bg-BG" sz="2400" dirty="0"/>
          </a:p>
          <a:p>
            <a:pPr marL="990600" lvl="1" indent="-533400">
              <a:buFontTx/>
              <a:buChar char="•"/>
            </a:pPr>
            <a:r>
              <a:rPr lang="bg-BG" altLang="bg-BG" sz="2400" dirty="0"/>
              <a:t>Преди операцията базата трябва да се направи активна с помощта на една от следните команди:</a:t>
            </a:r>
          </a:p>
          <a:p>
            <a:pPr marL="1752600" lvl="3" indent="-381000">
              <a:buFontTx/>
              <a:buNone/>
            </a:pPr>
            <a:r>
              <a:rPr lang="bg-BG" altLang="bg-BG" sz="2400" dirty="0"/>
              <a:t>USE database_name</a:t>
            </a:r>
          </a:p>
          <a:p>
            <a:pPr marL="1752600" lvl="3" indent="-381000">
              <a:buFontTx/>
              <a:buNone/>
            </a:pPr>
            <a:r>
              <a:rPr lang="bg-BG" altLang="bg-BG" sz="2400" dirty="0"/>
              <a:t>START database_name</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E5FACCB4-635C-4B28-B349-E6C443A96D6B}" type="slidenum">
              <a:rPr lang="bg-BG" altLang="bg-BG"/>
              <a:pPr/>
              <a:t>48</a:t>
            </a:fld>
            <a:endParaRPr lang="bg-BG" altLang="bg-BG"/>
          </a:p>
        </p:txBody>
      </p:sp>
    </p:spTree>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187624" y="404664"/>
            <a:ext cx="6781800" cy="510952"/>
          </a:xfrm>
        </p:spPr>
        <p:txBody>
          <a:bodyPr>
            <a:normAutofit fontScale="90000"/>
          </a:bodyPr>
          <a:lstStyle/>
          <a:p>
            <a:pPr algn="ctr"/>
            <a:r>
              <a:rPr lang="bg-BG" altLang="bg-BG" sz="3200" dirty="0">
                <a:solidFill>
                  <a:srgbClr val="C00000"/>
                </a:solidFill>
              </a:rPr>
              <a:t>Дефиниране на </a:t>
            </a:r>
            <a:r>
              <a:rPr lang="bg-BG" altLang="bg-BG" sz="3200" dirty="0" smtClean="0">
                <a:solidFill>
                  <a:srgbClr val="C00000"/>
                </a:solidFill>
              </a:rPr>
              <a:t>данните</a:t>
            </a:r>
            <a:endParaRPr lang="bg-BG" altLang="bg-BG" sz="3200" dirty="0">
              <a:solidFill>
                <a:srgbClr val="C00000"/>
              </a:solidFill>
            </a:endParaRPr>
          </a:p>
        </p:txBody>
      </p:sp>
      <p:sp>
        <p:nvSpPr>
          <p:cNvPr id="215043" name="Rectangle 3"/>
          <p:cNvSpPr>
            <a:spLocks noGrp="1" noChangeArrowheads="1"/>
          </p:cNvSpPr>
          <p:nvPr>
            <p:ph idx="1"/>
          </p:nvPr>
        </p:nvSpPr>
        <p:spPr>
          <a:xfrm>
            <a:off x="827584" y="980727"/>
            <a:ext cx="7848872" cy="5071965"/>
          </a:xfrm>
        </p:spPr>
        <p:txBody>
          <a:bodyPr>
            <a:normAutofit/>
          </a:bodyPr>
          <a:lstStyle/>
          <a:p>
            <a:pPr lvl="1">
              <a:lnSpc>
                <a:spcPct val="90000"/>
              </a:lnSpc>
              <a:buFontTx/>
              <a:buChar char="•"/>
            </a:pPr>
            <a:r>
              <a:rPr lang="bg-BG" altLang="bg-BG" sz="2400" dirty="0"/>
              <a:t>Понятието “</a:t>
            </a:r>
            <a:r>
              <a:rPr lang="en-US" altLang="bg-BG" sz="2400" dirty="0"/>
              <a:t>SQL</a:t>
            </a:r>
            <a:r>
              <a:rPr lang="bg-BG" altLang="bg-BG" sz="2400" dirty="0"/>
              <a:t>-схема” се използува за групирането на таблици и други конструкции, които принадлежат на едно и също приложение. </a:t>
            </a:r>
            <a:endParaRPr lang="en-US" altLang="bg-BG" sz="2400" dirty="0"/>
          </a:p>
          <a:p>
            <a:pPr lvl="1">
              <a:lnSpc>
                <a:spcPct val="90000"/>
              </a:lnSpc>
              <a:buFontTx/>
              <a:buChar char="•"/>
            </a:pPr>
            <a:r>
              <a:rPr lang="bg-BG" altLang="bg-BG" sz="2400" dirty="0"/>
              <a:t>Схемата се дефинира чрез име и идентификатор за правата, показващ кой потребител има достъп до нея.</a:t>
            </a:r>
            <a:endParaRPr lang="en-US" altLang="bg-BG" sz="2400" dirty="0"/>
          </a:p>
          <a:p>
            <a:pPr lvl="1">
              <a:lnSpc>
                <a:spcPct val="90000"/>
              </a:lnSpc>
              <a:buFontTx/>
              <a:buChar char="•"/>
            </a:pPr>
            <a:r>
              <a:rPr lang="bg-BG" altLang="bg-BG" sz="2400" dirty="0"/>
              <a:t> Елементите на схемата включват таблици, ограничения за цялостност, потребителски представи, домейни и други конструкции, които я описват напълно. </a:t>
            </a:r>
            <a:endParaRPr lang="en-US" altLang="bg-BG" sz="2400" dirty="0"/>
          </a:p>
          <a:p>
            <a:pPr lvl="1">
              <a:lnSpc>
                <a:spcPct val="90000"/>
              </a:lnSpc>
              <a:buFontTx/>
              <a:buChar char="•"/>
            </a:pPr>
            <a:r>
              <a:rPr lang="bg-BG" altLang="bg-BG" sz="2400" dirty="0"/>
              <a:t>Командата за създаване на схема има вида:</a:t>
            </a:r>
          </a:p>
          <a:p>
            <a:pPr lvl="2">
              <a:lnSpc>
                <a:spcPct val="90000"/>
              </a:lnSpc>
              <a:buFontTx/>
              <a:buNone/>
            </a:pPr>
            <a:r>
              <a:rPr lang="bg-BG" altLang="bg-BG" sz="2400" dirty="0"/>
              <a:t>CREATE SCHEMA schema_name AUTHORIZATION owner_name;</a:t>
            </a:r>
          </a:p>
          <a:p>
            <a:pPr>
              <a:lnSpc>
                <a:spcPct val="90000"/>
              </a:lnSpc>
              <a:buFontTx/>
              <a:buNone/>
            </a:pPr>
            <a:r>
              <a:rPr lang="bg-BG" altLang="bg-BG" sz="2400" dirty="0"/>
              <a:t>Например: </a:t>
            </a:r>
          </a:p>
          <a:p>
            <a:pPr lvl="2">
              <a:lnSpc>
                <a:spcPct val="90000"/>
              </a:lnSpc>
              <a:buFontTx/>
              <a:buNone/>
            </a:pPr>
            <a:r>
              <a:rPr lang="bg-BG" altLang="bg-BG" sz="2000" dirty="0"/>
              <a:t>CREATE SCHEMA COMPANY AUTHORIZATION July;</a:t>
            </a:r>
            <a:endParaRPr lang="bg-BG" altLang="bg-BG" sz="1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B6749A03-77EE-47E7-9E65-F5FE108F42B8}" type="slidenum">
              <a:rPr lang="bg-BG" altLang="bg-BG"/>
              <a:pPr/>
              <a:t>49</a:t>
            </a:fld>
            <a:endParaRPr lang="bg-BG" altLang="bg-BG"/>
          </a:p>
        </p:txBody>
      </p:sp>
    </p:spTree>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1181099" y="404665"/>
            <a:ext cx="6781800" cy="510952"/>
          </a:xfrm>
        </p:spPr>
        <p:txBody>
          <a:bodyPr>
            <a:noAutofit/>
          </a:bodyPr>
          <a:lstStyle/>
          <a:p>
            <a:pPr algn="ctr"/>
            <a:r>
              <a:rPr lang="bg-BG" altLang="bg-BG" sz="2800" dirty="0">
                <a:solidFill>
                  <a:schemeClr val="accent1"/>
                </a:solidFill>
              </a:rPr>
              <a:t>Дефиниране на </a:t>
            </a:r>
            <a:r>
              <a:rPr lang="bg-BG" altLang="bg-BG" sz="2800" dirty="0" smtClean="0">
                <a:solidFill>
                  <a:schemeClr val="accent1"/>
                </a:solidFill>
              </a:rPr>
              <a:t>данните</a:t>
            </a:r>
            <a:endParaRPr lang="bg-BG" altLang="bg-BG" sz="2800" dirty="0">
              <a:solidFill>
                <a:schemeClr val="accent1"/>
              </a:solidFill>
            </a:endParaRPr>
          </a:p>
        </p:txBody>
      </p:sp>
      <p:sp>
        <p:nvSpPr>
          <p:cNvPr id="216067" name="Rectangle 3"/>
          <p:cNvSpPr>
            <a:spLocks noGrp="1" noChangeArrowheads="1"/>
          </p:cNvSpPr>
          <p:nvPr>
            <p:ph idx="1"/>
          </p:nvPr>
        </p:nvSpPr>
        <p:spPr>
          <a:xfrm>
            <a:off x="761999" y="993658"/>
            <a:ext cx="7620001" cy="5294376"/>
          </a:xfrm>
        </p:spPr>
        <p:txBody>
          <a:bodyPr>
            <a:normAutofit/>
          </a:bodyPr>
          <a:lstStyle/>
          <a:p>
            <a:pPr lvl="1">
              <a:lnSpc>
                <a:spcPct val="90000"/>
              </a:lnSpc>
              <a:buFontTx/>
              <a:buChar char="•"/>
            </a:pPr>
            <a:r>
              <a:rPr lang="bg-BG" altLang="bg-BG" sz="2400" dirty="0"/>
              <a:t>Описанието на всяка създадена схема се пази в каталога. </a:t>
            </a:r>
            <a:endParaRPr lang="en-US" altLang="bg-BG" sz="2400" dirty="0"/>
          </a:p>
          <a:p>
            <a:pPr lvl="1">
              <a:lnSpc>
                <a:spcPct val="90000"/>
              </a:lnSpc>
              <a:buFontTx/>
              <a:buChar char="•"/>
            </a:pPr>
            <a:r>
              <a:rPr lang="bg-BG" altLang="bg-BG" sz="2400" dirty="0"/>
              <a:t>В него специална схема, наречена INFORMATION_SCHEMA съхранява данни относно всички елементи на всички схеми и ги предоставя на потребители със съответните права.</a:t>
            </a:r>
          </a:p>
          <a:p>
            <a:pPr lvl="1">
              <a:lnSpc>
                <a:spcPct val="90000"/>
              </a:lnSpc>
              <a:buFontTx/>
              <a:buChar char="•"/>
            </a:pPr>
            <a:r>
              <a:rPr lang="bg-BG" altLang="bg-BG" sz="2400" dirty="0"/>
              <a:t>Схема се изтрива по следния начин:</a:t>
            </a:r>
          </a:p>
          <a:p>
            <a:pPr lvl="2">
              <a:lnSpc>
                <a:spcPct val="90000"/>
              </a:lnSpc>
              <a:buFontTx/>
              <a:buNone/>
            </a:pPr>
            <a:r>
              <a:rPr lang="bg-BG" altLang="bg-BG" sz="2400" dirty="0"/>
              <a:t>DROP SCHEMA database schema_name {CASCADE </a:t>
            </a:r>
            <a:r>
              <a:rPr lang="en-US" altLang="bg-BG" sz="2400" dirty="0" smtClean="0"/>
              <a:t>/</a:t>
            </a:r>
            <a:r>
              <a:rPr lang="bg-BG" altLang="bg-BG" sz="2400" dirty="0" smtClean="0"/>
              <a:t>RESTRICT</a:t>
            </a:r>
            <a:r>
              <a:rPr lang="bg-BG" altLang="bg-BG" sz="2400" dirty="0"/>
              <a:t>};</a:t>
            </a:r>
          </a:p>
          <a:p>
            <a:pPr lvl="1">
              <a:lnSpc>
                <a:spcPct val="90000"/>
              </a:lnSpc>
              <a:buFontTx/>
              <a:buChar char="•"/>
            </a:pPr>
            <a:r>
              <a:rPr lang="bg-BG" altLang="bg-BG" sz="2400" dirty="0"/>
              <a:t>Опцията CASCADE се използува за премахване на схемата заедно с всичките й елементи. </a:t>
            </a:r>
          </a:p>
          <a:p>
            <a:pPr lvl="2">
              <a:lnSpc>
                <a:spcPct val="90000"/>
              </a:lnSpc>
              <a:buFontTx/>
              <a:buNone/>
            </a:pPr>
            <a:r>
              <a:rPr lang="bg-BG" altLang="bg-BG" sz="2400" dirty="0"/>
              <a:t>DROP SCHEMA COMPANY CASCADE;</a:t>
            </a:r>
          </a:p>
          <a:p>
            <a:pPr lvl="1">
              <a:lnSpc>
                <a:spcPct val="90000"/>
              </a:lnSpc>
              <a:buFontTx/>
              <a:buChar char="•"/>
            </a:pPr>
            <a:r>
              <a:rPr lang="bg-BG" altLang="bg-BG" sz="2400" dirty="0"/>
              <a:t>Опцията RESTRICT премахва схемата само ако преди това са премахнати всички нейни елементи.</a:t>
            </a:r>
          </a:p>
          <a:p>
            <a:pPr>
              <a:lnSpc>
                <a:spcPct val="90000"/>
              </a:lnSpc>
            </a:pPr>
            <a:endParaRPr lang="bg-BG" altLang="bg-BG" sz="2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8A349983-DB14-4D4D-BB25-D98733C245F8}" type="slidenum">
              <a:rPr lang="bg-BG" altLang="bg-BG"/>
              <a:pPr/>
              <a:t>50</a:t>
            </a:fld>
            <a:endParaRPr lang="bg-BG" altLang="bg-BG"/>
          </a:p>
        </p:txBody>
      </p:sp>
    </p:spTree>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1115616" y="404664"/>
            <a:ext cx="6781800" cy="582960"/>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17091" name="Rectangle 3"/>
          <p:cNvSpPr>
            <a:spLocks noGrp="1" noChangeArrowheads="1"/>
          </p:cNvSpPr>
          <p:nvPr>
            <p:ph idx="1"/>
          </p:nvPr>
        </p:nvSpPr>
        <p:spPr>
          <a:xfrm>
            <a:off x="827584" y="1124744"/>
            <a:ext cx="7543800" cy="4392488"/>
          </a:xfrm>
        </p:spPr>
        <p:txBody>
          <a:bodyPr>
            <a:normAutofit lnSpcReduction="10000"/>
          </a:bodyPr>
          <a:lstStyle/>
          <a:p>
            <a:pPr marL="609600" indent="-609600">
              <a:lnSpc>
                <a:spcPct val="90000"/>
              </a:lnSpc>
              <a:buFontTx/>
              <a:buAutoNum type="arabicPeriod" startAt="4"/>
            </a:pPr>
            <a:r>
              <a:rPr lang="bg-BG" altLang="bg-BG" sz="2400" dirty="0"/>
              <a:t>Създаване / унищожаване на таблица.</a:t>
            </a:r>
          </a:p>
          <a:p>
            <a:pPr marL="990600" lvl="1" indent="-533400">
              <a:lnSpc>
                <a:spcPct val="90000"/>
              </a:lnSpc>
              <a:buFontTx/>
              <a:buChar char="•"/>
            </a:pPr>
            <a:r>
              <a:rPr lang="bg-BG" altLang="bg-BG" sz="2400" dirty="0"/>
              <a:t>Таблица се създава с помощта на командата CREATE TABLE, като се указва съответното име, описват се изграждащите я колони, като за всяка от тях се задава тип на данните, дефинират се отделните типове ограничения и ключове.</a:t>
            </a:r>
          </a:p>
          <a:p>
            <a:pPr marL="990600" lvl="1" indent="-533400">
              <a:lnSpc>
                <a:spcPct val="90000"/>
              </a:lnSpc>
              <a:buFontTx/>
              <a:buChar char="•"/>
            </a:pPr>
            <a:r>
              <a:rPr lang="bg-BG" altLang="bg-BG" sz="2400" dirty="0"/>
              <a:t>Типовете данни попадат в една от следните категории:</a:t>
            </a:r>
          </a:p>
          <a:p>
            <a:pPr marL="1752600" lvl="3" indent="-381000">
              <a:lnSpc>
                <a:spcPct val="90000"/>
              </a:lnSpc>
              <a:buFontTx/>
              <a:buNone/>
            </a:pPr>
            <a:r>
              <a:rPr lang="bg-BG" altLang="bg-BG" sz="2400" dirty="0"/>
              <a:t>Цифрови </a:t>
            </a:r>
            <a:r>
              <a:rPr lang="en-US" altLang="bg-BG" sz="2400" dirty="0"/>
              <a:t>(</a:t>
            </a:r>
            <a:r>
              <a:rPr lang="bg-BG" altLang="bg-BG" sz="2400" dirty="0"/>
              <a:t>numeric</a:t>
            </a:r>
            <a:r>
              <a:rPr lang="en-US" altLang="bg-BG" sz="2400" dirty="0"/>
              <a:t>).</a:t>
            </a:r>
            <a:endParaRPr lang="bg-BG" altLang="bg-BG" sz="2400" dirty="0"/>
          </a:p>
          <a:p>
            <a:pPr marL="1752600" lvl="3" indent="-381000">
              <a:lnSpc>
                <a:spcPct val="90000"/>
              </a:lnSpc>
              <a:buFontTx/>
              <a:buNone/>
            </a:pPr>
            <a:r>
              <a:rPr lang="bg-BG" altLang="bg-BG" sz="2400" dirty="0"/>
              <a:t>Символни низове </a:t>
            </a:r>
            <a:r>
              <a:rPr lang="en-US" altLang="bg-BG" sz="2400" dirty="0"/>
              <a:t>(</a:t>
            </a:r>
            <a:r>
              <a:rPr lang="bg-BG" altLang="bg-BG" sz="2400" dirty="0"/>
              <a:t>character string</a:t>
            </a:r>
            <a:r>
              <a:rPr lang="en-US" altLang="bg-BG" sz="2400" dirty="0"/>
              <a:t>)</a:t>
            </a:r>
            <a:r>
              <a:rPr lang="bg-BG" altLang="bg-BG" sz="2400" dirty="0"/>
              <a:t>.</a:t>
            </a:r>
          </a:p>
          <a:p>
            <a:pPr marL="1752600" lvl="3" indent="-381000">
              <a:lnSpc>
                <a:spcPct val="90000"/>
              </a:lnSpc>
              <a:buFontTx/>
              <a:buNone/>
            </a:pPr>
            <a:r>
              <a:rPr lang="bg-BG" altLang="bg-BG" sz="2400" dirty="0"/>
              <a:t>Битови низове </a:t>
            </a:r>
            <a:r>
              <a:rPr lang="en-US" altLang="bg-BG" sz="2400" dirty="0"/>
              <a:t>(b</a:t>
            </a:r>
            <a:r>
              <a:rPr lang="bg-BG" altLang="bg-BG" sz="2400" dirty="0"/>
              <a:t>it-string</a:t>
            </a:r>
            <a:r>
              <a:rPr lang="en-US" altLang="bg-BG" sz="2400" dirty="0"/>
              <a:t>)</a:t>
            </a:r>
            <a:r>
              <a:rPr lang="bg-BG" altLang="bg-BG" sz="2400" dirty="0"/>
              <a:t>.</a:t>
            </a:r>
          </a:p>
          <a:p>
            <a:pPr marL="1752600" lvl="3" indent="-381000">
              <a:lnSpc>
                <a:spcPct val="90000"/>
              </a:lnSpc>
              <a:buFontTx/>
              <a:buNone/>
            </a:pPr>
            <a:r>
              <a:rPr lang="bg-BG" altLang="bg-BG" sz="2400" dirty="0"/>
              <a:t>Дата / час (</a:t>
            </a:r>
            <a:r>
              <a:rPr lang="en-US" altLang="bg-BG" sz="2400" dirty="0"/>
              <a:t>d</a:t>
            </a:r>
            <a:r>
              <a:rPr lang="bg-BG" altLang="bg-BG" sz="2400" dirty="0"/>
              <a:t>ate, </a:t>
            </a:r>
            <a:r>
              <a:rPr lang="en-US" altLang="bg-BG" sz="2400" dirty="0"/>
              <a:t>time</a:t>
            </a:r>
            <a:r>
              <a:rPr lang="bg-BG" altLang="bg-BG" sz="2400" dirty="0"/>
              <a:t>).</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8650B15E-0532-4C38-B1DB-AA6ADD341D79}" type="slidenum">
              <a:rPr lang="bg-BG" altLang="bg-BG"/>
              <a:pPr/>
              <a:t>51</a:t>
            </a:fld>
            <a:endParaRPr lang="bg-BG" altLang="bg-BG"/>
          </a:p>
        </p:txBody>
      </p:sp>
    </p:spTree>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1187624" y="404664"/>
            <a:ext cx="6781800" cy="582960"/>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18115" name="Rectangle 3"/>
          <p:cNvSpPr>
            <a:spLocks noGrp="1" noChangeArrowheads="1"/>
          </p:cNvSpPr>
          <p:nvPr>
            <p:ph idx="1"/>
          </p:nvPr>
        </p:nvSpPr>
        <p:spPr>
          <a:xfrm>
            <a:off x="755576" y="980727"/>
            <a:ext cx="7543800" cy="5071965"/>
          </a:xfrm>
        </p:spPr>
        <p:txBody>
          <a:bodyPr>
            <a:normAutofit/>
          </a:bodyPr>
          <a:lstStyle/>
          <a:p>
            <a:pPr>
              <a:lnSpc>
                <a:spcPct val="80000"/>
              </a:lnSpc>
            </a:pPr>
            <a:r>
              <a:rPr lang="bg-BG" altLang="bg-BG" sz="2000" dirty="0"/>
              <a:t>Цифровите типове данни биват:</a:t>
            </a:r>
          </a:p>
          <a:p>
            <a:pPr marL="762000" lvl="1" indent="-304800">
              <a:lnSpc>
                <a:spcPct val="80000"/>
              </a:lnSpc>
            </a:pPr>
            <a:r>
              <a:rPr lang="bg-BG" altLang="bg-BG" sz="2000" dirty="0"/>
              <a:t>цели числа с различен размер: INT, and SMALLINT</a:t>
            </a:r>
          </a:p>
          <a:p>
            <a:pPr marL="762000" lvl="1" indent="-304800">
              <a:lnSpc>
                <a:spcPct val="80000"/>
              </a:lnSpc>
            </a:pPr>
            <a:r>
              <a:rPr lang="bg-BG" altLang="bg-BG" sz="2000" dirty="0"/>
              <a:t>реални числа с различна точност: FLOAT, REAL, DOUBLE PRECISION</a:t>
            </a:r>
          </a:p>
          <a:p>
            <a:pPr>
              <a:lnSpc>
                <a:spcPct val="80000"/>
              </a:lnSpc>
            </a:pPr>
            <a:r>
              <a:rPr lang="bg-BG" altLang="bg-BG" sz="2000" dirty="0"/>
              <a:t>Символните низове биват два вида:</a:t>
            </a:r>
          </a:p>
          <a:p>
            <a:pPr marL="762000" lvl="1" indent="-304800">
              <a:lnSpc>
                <a:spcPct val="80000"/>
              </a:lnSpc>
            </a:pPr>
            <a:r>
              <a:rPr lang="bg-BG" altLang="bg-BG" sz="2000" dirty="0"/>
              <a:t>с фиксирана дължина CHAR(n)</a:t>
            </a:r>
          </a:p>
          <a:p>
            <a:pPr marL="762000" lvl="1" indent="-304800">
              <a:lnSpc>
                <a:spcPct val="80000"/>
              </a:lnSpc>
            </a:pPr>
            <a:r>
              <a:rPr lang="bg-BG" altLang="bg-BG" sz="2000" dirty="0"/>
              <a:t>с променлива дължина CHAR VARYING (n) </a:t>
            </a:r>
          </a:p>
          <a:p>
            <a:pPr>
              <a:lnSpc>
                <a:spcPct val="80000"/>
              </a:lnSpc>
            </a:pPr>
            <a:r>
              <a:rPr lang="bg-BG" altLang="bg-BG" sz="2000" dirty="0"/>
              <a:t>Битовите низове също са два вида:</a:t>
            </a:r>
          </a:p>
          <a:p>
            <a:pPr marL="762000" lvl="1" indent="-304800">
              <a:lnSpc>
                <a:spcPct val="80000"/>
              </a:lnSpc>
            </a:pPr>
            <a:r>
              <a:rPr lang="bg-BG" altLang="bg-BG" sz="2000" dirty="0"/>
              <a:t>с фиксирана дължина BIT(n)</a:t>
            </a:r>
          </a:p>
          <a:p>
            <a:pPr marL="762000" lvl="1" indent="-304800">
              <a:lnSpc>
                <a:spcPct val="80000"/>
              </a:lnSpc>
            </a:pPr>
            <a:r>
              <a:rPr lang="bg-BG" altLang="bg-BG" sz="2000" dirty="0"/>
              <a:t>с променлива дължина BIT VARYING (n)</a:t>
            </a:r>
          </a:p>
          <a:p>
            <a:pPr>
              <a:lnSpc>
                <a:spcPct val="80000"/>
              </a:lnSpc>
            </a:pPr>
            <a:r>
              <a:rPr lang="bg-BG" altLang="bg-BG" sz="2000" dirty="0"/>
              <a:t>Типовете данни за дата и час са:</a:t>
            </a:r>
          </a:p>
          <a:p>
            <a:pPr marL="762000" lvl="1" indent="-304800">
              <a:lnSpc>
                <a:spcPct val="80000"/>
              </a:lnSpc>
            </a:pPr>
            <a:r>
              <a:rPr lang="bg-BG" altLang="bg-BG" sz="2000" dirty="0"/>
              <a:t>DATE – с формат yyyy-mm-dd;</a:t>
            </a:r>
          </a:p>
          <a:p>
            <a:pPr marL="762000" lvl="1" indent="-304800">
              <a:lnSpc>
                <a:spcPct val="80000"/>
              </a:lnSpc>
            </a:pPr>
            <a:r>
              <a:rPr lang="bg-BG" altLang="bg-BG" sz="2000" dirty="0"/>
              <a:t>TIME -  с формат hh:mm:ss;</a:t>
            </a:r>
          </a:p>
          <a:p>
            <a:pPr marL="762000" lvl="1" indent="-304800">
              <a:lnSpc>
                <a:spcPct val="80000"/>
              </a:lnSpc>
            </a:pPr>
            <a:r>
              <a:rPr lang="bg-BG" altLang="bg-BG" sz="2000" dirty="0"/>
              <a:t>TIMESTAMP – комбинация от горните два типа;</a:t>
            </a:r>
          </a:p>
          <a:p>
            <a:pPr marL="762000" lvl="1" indent="-304800">
              <a:lnSpc>
                <a:spcPct val="80000"/>
              </a:lnSpc>
            </a:pPr>
            <a:r>
              <a:rPr lang="bg-BG" altLang="bg-BG" sz="2000" dirty="0"/>
              <a:t>INTERVAL -  показва число, което може да се добавя или изважда от горните три типа данни.</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E1E130CD-E59D-4F94-B55E-5B1510E3D632}" type="slidenum">
              <a:rPr lang="bg-BG" altLang="bg-BG"/>
              <a:pPr/>
              <a:t>52</a:t>
            </a:fld>
            <a:endParaRPr lang="bg-BG" altLang="bg-BG"/>
          </a:p>
        </p:txBody>
      </p:sp>
    </p:spTree>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1259632" y="332656"/>
            <a:ext cx="6781800" cy="582960"/>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19139" name="Rectangle 3"/>
          <p:cNvSpPr>
            <a:spLocks noGrp="1" noChangeArrowheads="1"/>
          </p:cNvSpPr>
          <p:nvPr>
            <p:ph idx="1"/>
          </p:nvPr>
        </p:nvSpPr>
        <p:spPr>
          <a:xfrm>
            <a:off x="827584" y="836713"/>
            <a:ext cx="7543800" cy="5256584"/>
          </a:xfrm>
        </p:spPr>
        <p:txBody>
          <a:bodyPr>
            <a:normAutofit fontScale="92500" lnSpcReduction="10000"/>
          </a:bodyPr>
          <a:lstStyle/>
          <a:p>
            <a:pPr marL="457200" indent="-457200">
              <a:lnSpc>
                <a:spcPct val="90000"/>
              </a:lnSpc>
              <a:buFont typeface="+mj-lt"/>
              <a:buAutoNum type="arabicPeriod"/>
            </a:pPr>
            <a:r>
              <a:rPr lang="bg-BG" altLang="bg-BG" sz="2400" dirty="0"/>
              <a:t>Върху всяка колона може да се задава ограничението NOT NULL.</a:t>
            </a:r>
          </a:p>
          <a:p>
            <a:pPr marL="457200" indent="-457200">
              <a:lnSpc>
                <a:spcPct val="90000"/>
              </a:lnSpc>
              <a:buFont typeface="+mj-lt"/>
              <a:buAutoNum type="arabicPeriod"/>
            </a:pPr>
            <a:r>
              <a:rPr lang="bg-BG" altLang="bg-BG" sz="2400" dirty="0"/>
              <a:t> Главният ключ се задава чрез PRIMARY KEY и UNIQUE, а чуждите ключове – чрез FOREIGN KEY. </a:t>
            </a:r>
          </a:p>
          <a:p>
            <a:pPr marL="457200" indent="-457200">
              <a:lnSpc>
                <a:spcPct val="90000"/>
              </a:lnSpc>
              <a:buFont typeface="+mj-lt"/>
              <a:buAutoNum type="arabicPeriod"/>
            </a:pPr>
            <a:r>
              <a:rPr lang="bg-BG" altLang="bg-BG" sz="2400" dirty="0"/>
              <a:t>Общият вид на командата е:</a:t>
            </a:r>
          </a:p>
          <a:p>
            <a:pPr marL="594360" lvl="2" indent="0">
              <a:buNone/>
            </a:pPr>
            <a:r>
              <a:rPr lang="bg-BG" sz="2200" dirty="0"/>
              <a:t>CREATE TABLE </a:t>
            </a:r>
            <a:r>
              <a:rPr lang="bg-BG" sz="2200" dirty="0" err="1"/>
              <a:t>TableName</a:t>
            </a:r>
            <a:endParaRPr lang="en-US" sz="2200" dirty="0"/>
          </a:p>
          <a:p>
            <a:pPr marL="868680" lvl="3" indent="0">
              <a:buNone/>
            </a:pPr>
            <a:r>
              <a:rPr lang="bg-BG" sz="2000" dirty="0"/>
              <a:t>{(</a:t>
            </a:r>
            <a:r>
              <a:rPr lang="bg-BG" sz="2000" dirty="0" err="1"/>
              <a:t>columName</a:t>
            </a:r>
            <a:r>
              <a:rPr lang="bg-BG" sz="2000" dirty="0"/>
              <a:t> </a:t>
            </a:r>
            <a:r>
              <a:rPr lang="bg-BG" sz="2000" dirty="0" err="1"/>
              <a:t>dataType</a:t>
            </a:r>
            <a:r>
              <a:rPr lang="bg-BG" sz="2000" dirty="0"/>
              <a:t> [NOT NULL] [UNIQUE]</a:t>
            </a:r>
            <a:endParaRPr lang="en-US" sz="2000" dirty="0"/>
          </a:p>
          <a:p>
            <a:pPr marL="868680" lvl="3" indent="0">
              <a:buNone/>
            </a:pPr>
            <a:r>
              <a:rPr lang="bg-BG" sz="2000" dirty="0"/>
              <a:t>[</a:t>
            </a:r>
            <a:r>
              <a:rPr lang="bg-BG" sz="2000" dirty="0" err="1"/>
              <a:t>DEFAULTdefaultOption</a:t>
            </a:r>
            <a:r>
              <a:rPr lang="bg-BG" sz="2000" dirty="0"/>
              <a:t>][CHECK(</a:t>
            </a:r>
            <a:r>
              <a:rPr lang="bg-BG" sz="2000" dirty="0" err="1"/>
              <a:t>searchCondition</a:t>
            </a:r>
            <a:r>
              <a:rPr lang="bg-BG" sz="2000" dirty="0"/>
              <a:t>)][,. .]}</a:t>
            </a:r>
            <a:endParaRPr lang="en-US" sz="2000" dirty="0"/>
          </a:p>
          <a:p>
            <a:pPr marL="868680" lvl="3" indent="0">
              <a:buNone/>
            </a:pPr>
            <a:r>
              <a:rPr lang="bg-BG" sz="2000" dirty="0"/>
              <a:t>[PRIMARY KEY (</a:t>
            </a:r>
            <a:r>
              <a:rPr lang="bg-BG" sz="2000" dirty="0" err="1"/>
              <a:t>listOfColumns</a:t>
            </a:r>
            <a:r>
              <a:rPr lang="bg-BG" sz="2000" dirty="0"/>
              <a:t>),]</a:t>
            </a:r>
            <a:endParaRPr lang="en-US" sz="2000" dirty="0"/>
          </a:p>
          <a:p>
            <a:pPr marL="868680" lvl="3" indent="0">
              <a:buNone/>
            </a:pPr>
            <a:r>
              <a:rPr lang="bg-BG" sz="2000" dirty="0"/>
              <a:t>{[UNIQUE (</a:t>
            </a:r>
            <a:r>
              <a:rPr lang="bg-BG" sz="2000" dirty="0" err="1"/>
              <a:t>listOfColumns</a:t>
            </a:r>
            <a:r>
              <a:rPr lang="bg-BG" sz="2000" dirty="0"/>
              <a:t>)] [, . . .]}</a:t>
            </a:r>
            <a:endParaRPr lang="en-US" sz="2000" dirty="0"/>
          </a:p>
          <a:p>
            <a:pPr marL="868680" lvl="3" indent="0">
              <a:buNone/>
            </a:pPr>
            <a:r>
              <a:rPr lang="bg-BG" sz="2000" dirty="0"/>
              <a:t>{[FOREIGN KEY (</a:t>
            </a:r>
            <a:r>
              <a:rPr lang="bg-BG" sz="2000" dirty="0" err="1"/>
              <a:t>listOfForeignKeyColumns</a:t>
            </a:r>
            <a:r>
              <a:rPr lang="bg-BG" sz="2000" dirty="0"/>
              <a:t>)</a:t>
            </a:r>
            <a:endParaRPr lang="en-US" sz="2000" dirty="0"/>
          </a:p>
          <a:p>
            <a:pPr marL="594360" lvl="2" indent="0">
              <a:buNone/>
            </a:pPr>
            <a:r>
              <a:rPr lang="bg-BG" sz="2200" dirty="0"/>
              <a:t>REFERENCES </a:t>
            </a:r>
            <a:r>
              <a:rPr lang="bg-BG" sz="2200" dirty="0" err="1"/>
              <a:t>ParentTableName</a:t>
            </a:r>
            <a:r>
              <a:rPr lang="bg-BG" sz="2200" dirty="0"/>
              <a:t> </a:t>
            </a:r>
            <a:r>
              <a:rPr lang="bg-BG" sz="2200" dirty="0" smtClean="0"/>
              <a:t>(</a:t>
            </a:r>
            <a:r>
              <a:rPr lang="bg-BG" sz="2200" dirty="0" err="1"/>
              <a:t>listOfCandidateKeyColumns</a:t>
            </a:r>
            <a:r>
              <a:rPr lang="bg-BG" sz="2200" dirty="0"/>
              <a:t>)]</a:t>
            </a:r>
            <a:endParaRPr lang="en-US" sz="2200" dirty="0"/>
          </a:p>
          <a:p>
            <a:pPr marL="868680" lvl="3" indent="0">
              <a:buNone/>
            </a:pPr>
            <a:r>
              <a:rPr lang="bg-BG" sz="2000" dirty="0"/>
              <a:t>[MATCH {PARTIAL | FULL}</a:t>
            </a:r>
            <a:endParaRPr lang="en-US" sz="2000" dirty="0"/>
          </a:p>
          <a:p>
            <a:pPr marL="868680" lvl="3" indent="0">
              <a:buNone/>
            </a:pPr>
            <a:r>
              <a:rPr lang="bg-BG" sz="2000" dirty="0"/>
              <a:t>[ON UPDATE </a:t>
            </a:r>
            <a:r>
              <a:rPr lang="bg-BG" sz="2000" dirty="0" err="1"/>
              <a:t>referentialAction</a:t>
            </a:r>
            <a:r>
              <a:rPr lang="bg-BG" sz="2000" dirty="0"/>
              <a:t>]</a:t>
            </a:r>
            <a:endParaRPr lang="en-US" sz="2000" dirty="0"/>
          </a:p>
          <a:p>
            <a:pPr marL="868680" lvl="3" indent="0">
              <a:buNone/>
            </a:pPr>
            <a:r>
              <a:rPr lang="bg-BG" sz="2000" dirty="0"/>
              <a:t>[ON DELETE </a:t>
            </a:r>
            <a:r>
              <a:rPr lang="bg-BG" sz="2000" dirty="0" err="1"/>
              <a:t>referentialAction</a:t>
            </a:r>
            <a:r>
              <a:rPr lang="bg-BG" sz="2000" dirty="0"/>
              <a:t>]] [, . . .]}</a:t>
            </a:r>
            <a:endParaRPr lang="en-US" sz="2000" dirty="0"/>
          </a:p>
          <a:p>
            <a:pPr marL="868680" lvl="3" indent="0">
              <a:buNone/>
            </a:pPr>
            <a:r>
              <a:rPr lang="bg-BG" sz="2000" dirty="0"/>
              <a:t>{[CHECK (</a:t>
            </a:r>
            <a:r>
              <a:rPr lang="bg-BG" sz="2000" dirty="0" err="1"/>
              <a:t>searchCondition</a:t>
            </a:r>
            <a:r>
              <a:rPr lang="bg-BG" sz="2000" dirty="0"/>
              <a:t>)] [, . . .]})</a:t>
            </a:r>
            <a:endParaRPr lang="en-US" sz="20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193D6561-5347-446B-8B71-F20F165E44BE}" type="slidenum">
              <a:rPr lang="bg-BG" altLang="bg-BG"/>
              <a:pPr/>
              <a:t>53</a:t>
            </a:fld>
            <a:endParaRPr lang="bg-BG" altLang="bg-BG"/>
          </a:p>
        </p:txBody>
      </p:sp>
    </p:spTree>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1187624" y="404664"/>
            <a:ext cx="6781800" cy="582960"/>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20163" name="Rectangle 3"/>
          <p:cNvSpPr>
            <a:spLocks noGrp="1" noChangeArrowheads="1"/>
          </p:cNvSpPr>
          <p:nvPr>
            <p:ph idx="1"/>
          </p:nvPr>
        </p:nvSpPr>
        <p:spPr>
          <a:xfrm>
            <a:off x="114028" y="1117287"/>
            <a:ext cx="8928992" cy="4320480"/>
          </a:xfrm>
        </p:spPr>
        <p:txBody>
          <a:bodyPr>
            <a:normAutofit/>
          </a:bodyPr>
          <a:lstStyle/>
          <a:p>
            <a:pPr>
              <a:buFontTx/>
              <a:buNone/>
            </a:pPr>
            <a:r>
              <a:rPr lang="bg-BG" altLang="bg-BG" sz="2400" dirty="0"/>
              <a:t>Пример 1:</a:t>
            </a:r>
            <a:r>
              <a:rPr lang="en-US" altLang="bg-BG" sz="2400" dirty="0"/>
              <a:t> </a:t>
            </a:r>
            <a:r>
              <a:rPr lang="bg-BG" altLang="bg-BG" sz="2400" dirty="0"/>
              <a:t>създаване на таблица </a:t>
            </a:r>
            <a:r>
              <a:rPr lang="en-US" altLang="bg-BG" sz="2400" dirty="0"/>
              <a:t>DEPARTMENT</a:t>
            </a:r>
            <a:endParaRPr lang="bg-BG" altLang="bg-BG" sz="2400" dirty="0"/>
          </a:p>
          <a:p>
            <a:pPr marL="594360" lvl="2" indent="0">
              <a:buNone/>
            </a:pPr>
            <a:r>
              <a:rPr lang="bg-BG" sz="2400" dirty="0"/>
              <a:t>CREATE TABLE DEPARTMENT</a:t>
            </a:r>
            <a:endParaRPr lang="en-US" sz="2400" dirty="0"/>
          </a:p>
          <a:p>
            <a:pPr marL="868680" lvl="3" indent="0">
              <a:buNone/>
            </a:pPr>
            <a:r>
              <a:rPr lang="bg-BG" sz="2400" dirty="0"/>
              <a:t>(</a:t>
            </a:r>
            <a:r>
              <a:rPr lang="bg-BG" sz="2400" dirty="0" err="1"/>
              <a:t>Dname</a:t>
            </a:r>
            <a:r>
              <a:rPr lang="bg-BG" sz="2400" dirty="0"/>
              <a:t> VARCHAR(15) NOT NULL,</a:t>
            </a:r>
            <a:endParaRPr lang="en-US" sz="2400" dirty="0"/>
          </a:p>
          <a:p>
            <a:pPr marL="868680" lvl="3" indent="0">
              <a:buNone/>
            </a:pPr>
            <a:r>
              <a:rPr lang="bg-BG" sz="2400" dirty="0" err="1"/>
              <a:t>Dnumber</a:t>
            </a:r>
            <a:r>
              <a:rPr lang="bg-BG" sz="2400" dirty="0"/>
              <a:t> INT NOT NULL,</a:t>
            </a:r>
            <a:endParaRPr lang="en-US" sz="2400" dirty="0"/>
          </a:p>
          <a:p>
            <a:pPr marL="868680" lvl="3" indent="0">
              <a:buNone/>
            </a:pPr>
            <a:r>
              <a:rPr lang="bg-BG" sz="2400" dirty="0" err="1"/>
              <a:t>Mgrssn</a:t>
            </a:r>
            <a:r>
              <a:rPr lang="bg-BG" sz="2400" dirty="0"/>
              <a:t> CHAR(9) NOT NULL,</a:t>
            </a:r>
            <a:endParaRPr lang="en-US" sz="2400" dirty="0"/>
          </a:p>
          <a:p>
            <a:pPr marL="868680" lvl="3" indent="0">
              <a:buNone/>
            </a:pPr>
            <a:r>
              <a:rPr lang="bg-BG" sz="2400" dirty="0" err="1"/>
              <a:t>Mgrstartdate</a:t>
            </a:r>
            <a:r>
              <a:rPr lang="bg-BG" sz="2400" dirty="0"/>
              <a:t> DATE,</a:t>
            </a:r>
            <a:endParaRPr lang="en-US" sz="2400" dirty="0"/>
          </a:p>
          <a:p>
            <a:pPr marL="868680" lvl="3" indent="0">
              <a:buNone/>
            </a:pPr>
            <a:r>
              <a:rPr lang="bg-BG" sz="2400" dirty="0"/>
              <a:t>PRIMARY KEY (</a:t>
            </a:r>
            <a:r>
              <a:rPr lang="bg-BG" sz="2400" dirty="0" err="1"/>
              <a:t>Dnumber</a:t>
            </a:r>
            <a:r>
              <a:rPr lang="bg-BG" sz="2400" dirty="0"/>
              <a:t>),</a:t>
            </a:r>
            <a:endParaRPr lang="en-US" sz="2400" dirty="0"/>
          </a:p>
          <a:p>
            <a:pPr marL="868680" lvl="3" indent="0">
              <a:buNone/>
            </a:pPr>
            <a:r>
              <a:rPr lang="bg-BG" sz="2400" dirty="0"/>
              <a:t>UNIQUE (</a:t>
            </a:r>
            <a:r>
              <a:rPr lang="bg-BG" sz="2400" dirty="0" err="1"/>
              <a:t>Dname</a:t>
            </a:r>
            <a:r>
              <a:rPr lang="bg-BG" sz="2400" dirty="0"/>
              <a:t>),</a:t>
            </a:r>
            <a:endParaRPr lang="en-US" sz="2400" dirty="0"/>
          </a:p>
          <a:p>
            <a:pPr marL="868680" lvl="3" indent="0">
              <a:buNone/>
            </a:pPr>
            <a:r>
              <a:rPr lang="bg-BG" sz="2400" dirty="0"/>
              <a:t>FOREIGN KEY (</a:t>
            </a:r>
            <a:r>
              <a:rPr lang="bg-BG" sz="2400" dirty="0" err="1"/>
              <a:t>Mgrssn</a:t>
            </a:r>
            <a:r>
              <a:rPr lang="bg-BG" sz="2400" dirty="0"/>
              <a:t>) REFERENCES EMPLOYEE (</a:t>
            </a:r>
            <a:r>
              <a:rPr lang="bg-BG" sz="2400" dirty="0" err="1"/>
              <a:t>Ssn</a:t>
            </a:r>
            <a:r>
              <a:rPr lang="bg-BG" sz="2400" dirty="0"/>
              <a:t>)</a:t>
            </a:r>
            <a:r>
              <a:rPr lang="en-US" sz="2400" dirty="0"/>
              <a:t>)</a:t>
            </a:r>
            <a:r>
              <a:rPr lang="bg-BG" sz="2400" dirty="0"/>
              <a:t>;</a:t>
            </a:r>
            <a:endParaRPr lang="en-US"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9C18161E-28EB-4132-9C4D-9AE57D4D50FC}" type="slidenum">
              <a:rPr lang="bg-BG" altLang="bg-BG"/>
              <a:pPr/>
              <a:t>54</a:t>
            </a:fld>
            <a:endParaRPr lang="bg-BG" altLang="bg-BG"/>
          </a:p>
        </p:txBody>
      </p:sp>
    </p:spTree>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1115616" y="247997"/>
            <a:ext cx="6781800" cy="582960"/>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21187" name="Rectangle 3"/>
          <p:cNvSpPr>
            <a:spLocks noGrp="1" noChangeArrowheads="1"/>
          </p:cNvSpPr>
          <p:nvPr>
            <p:ph idx="1"/>
          </p:nvPr>
        </p:nvSpPr>
        <p:spPr>
          <a:xfrm>
            <a:off x="971600" y="830957"/>
            <a:ext cx="7543800" cy="5334347"/>
          </a:xfrm>
        </p:spPr>
        <p:txBody>
          <a:bodyPr>
            <a:normAutofit lnSpcReduction="10000"/>
          </a:bodyPr>
          <a:lstStyle/>
          <a:p>
            <a:pPr>
              <a:lnSpc>
                <a:spcPct val="80000"/>
              </a:lnSpc>
              <a:buFontTx/>
              <a:buNone/>
            </a:pPr>
            <a:r>
              <a:rPr lang="bg-BG" altLang="bg-BG" sz="2400" dirty="0"/>
              <a:t>Пример 2: създаване на таблица </a:t>
            </a:r>
            <a:r>
              <a:rPr lang="en-US" altLang="bg-BG" sz="2400" dirty="0"/>
              <a:t>EMPLOYEE</a:t>
            </a:r>
            <a:endParaRPr lang="bg-BG" altLang="bg-BG" sz="2400" dirty="0"/>
          </a:p>
          <a:p>
            <a:pPr marL="0" indent="0">
              <a:buNone/>
            </a:pPr>
            <a:r>
              <a:rPr lang="bg-BG" dirty="0"/>
              <a:t>CREATE TABLE EMPLOYEE	(</a:t>
            </a:r>
            <a:endParaRPr lang="en-US" sz="2000" dirty="0"/>
          </a:p>
          <a:p>
            <a:pPr marL="320040" lvl="1" indent="0">
              <a:buNone/>
            </a:pPr>
            <a:r>
              <a:rPr lang="bg-BG" dirty="0" err="1"/>
              <a:t>Fname</a:t>
            </a:r>
            <a:r>
              <a:rPr lang="bg-BG" dirty="0"/>
              <a:t> VARCHAR(15) NOT NULL,</a:t>
            </a:r>
            <a:endParaRPr lang="en-US" sz="1800" dirty="0"/>
          </a:p>
          <a:p>
            <a:pPr marL="320040" lvl="1" indent="0">
              <a:buNone/>
            </a:pPr>
            <a:r>
              <a:rPr lang="bg-BG" dirty="0" err="1"/>
              <a:t>Lname</a:t>
            </a:r>
            <a:r>
              <a:rPr lang="bg-BG" dirty="0"/>
              <a:t> VARCHAR(15) NOT NULL,</a:t>
            </a:r>
            <a:endParaRPr lang="en-US" sz="1800" dirty="0"/>
          </a:p>
          <a:p>
            <a:pPr marL="320040" lvl="1" indent="0">
              <a:buNone/>
            </a:pPr>
            <a:r>
              <a:rPr lang="bg-BG" dirty="0" err="1"/>
              <a:t>Ssn</a:t>
            </a:r>
            <a:r>
              <a:rPr lang="bg-BG" dirty="0"/>
              <a:t> CHAR(9),</a:t>
            </a:r>
            <a:endParaRPr lang="en-US" sz="1800" dirty="0"/>
          </a:p>
          <a:p>
            <a:pPr marL="320040" lvl="1" indent="0">
              <a:buNone/>
            </a:pPr>
            <a:r>
              <a:rPr lang="bg-BG" dirty="0" err="1"/>
              <a:t>Bdate</a:t>
            </a:r>
            <a:r>
              <a:rPr lang="bg-BG" dirty="0"/>
              <a:t> CHAR(9),</a:t>
            </a:r>
            <a:endParaRPr lang="en-US" sz="1800" dirty="0"/>
          </a:p>
          <a:p>
            <a:pPr marL="320040" lvl="1" indent="0">
              <a:buNone/>
            </a:pPr>
            <a:r>
              <a:rPr lang="bg-BG" dirty="0" err="1"/>
              <a:t>Address</a:t>
            </a:r>
            <a:r>
              <a:rPr lang="bg-BG" dirty="0"/>
              <a:t> VARCHAR(30),</a:t>
            </a:r>
            <a:endParaRPr lang="en-US" sz="1800" dirty="0"/>
          </a:p>
          <a:p>
            <a:pPr marL="320040" lvl="1" indent="0">
              <a:buNone/>
            </a:pPr>
            <a:r>
              <a:rPr lang="bg-BG" dirty="0" err="1"/>
              <a:t>Sex</a:t>
            </a:r>
            <a:r>
              <a:rPr lang="bg-BG" dirty="0"/>
              <a:t> CHAR(1),</a:t>
            </a:r>
            <a:endParaRPr lang="en-US" sz="1800" dirty="0"/>
          </a:p>
          <a:p>
            <a:pPr marL="320040" lvl="1" indent="0">
              <a:buNone/>
            </a:pPr>
            <a:r>
              <a:rPr lang="bg-BG" dirty="0" err="1"/>
              <a:t>Salary</a:t>
            </a:r>
            <a:r>
              <a:rPr lang="bg-BG" dirty="0"/>
              <a:t> INTEGER,</a:t>
            </a:r>
            <a:endParaRPr lang="en-US" sz="1800" dirty="0"/>
          </a:p>
          <a:p>
            <a:pPr marL="320040" lvl="1" indent="0">
              <a:buNone/>
            </a:pPr>
            <a:r>
              <a:rPr lang="bg-BG" dirty="0"/>
              <a:t>CHECK (</a:t>
            </a:r>
            <a:r>
              <a:rPr lang="bg-BG" dirty="0" err="1"/>
              <a:t>Salary</a:t>
            </a:r>
            <a:r>
              <a:rPr lang="bg-BG" dirty="0"/>
              <a:t> &gt;= 460),</a:t>
            </a:r>
            <a:endParaRPr lang="en-US" sz="1800" dirty="0"/>
          </a:p>
          <a:p>
            <a:pPr marL="320040" lvl="1" indent="0">
              <a:buNone/>
            </a:pPr>
            <a:r>
              <a:rPr lang="bg-BG" dirty="0" err="1"/>
              <a:t>Superssn</a:t>
            </a:r>
            <a:r>
              <a:rPr lang="bg-BG" dirty="0"/>
              <a:t> CHAR(9)</a:t>
            </a:r>
            <a:endParaRPr lang="en-US" sz="1800" dirty="0"/>
          </a:p>
          <a:p>
            <a:pPr marL="320040" lvl="1" indent="0">
              <a:buNone/>
            </a:pPr>
            <a:r>
              <a:rPr lang="bg-BG" dirty="0" err="1"/>
              <a:t>Dno</a:t>
            </a:r>
            <a:r>
              <a:rPr lang="bg-BG" dirty="0"/>
              <a:t> INTEGER, </a:t>
            </a:r>
            <a:endParaRPr lang="en-US" sz="1800" dirty="0"/>
          </a:p>
          <a:p>
            <a:pPr marL="320040" lvl="1" indent="0">
              <a:buNone/>
            </a:pPr>
            <a:r>
              <a:rPr lang="bg-BG" dirty="0"/>
              <a:t>PRIMARY KEY (</a:t>
            </a:r>
            <a:r>
              <a:rPr lang="bg-BG" dirty="0" err="1"/>
              <a:t>Ssn</a:t>
            </a:r>
            <a:r>
              <a:rPr lang="bg-BG" dirty="0"/>
              <a:t>),</a:t>
            </a:r>
            <a:endParaRPr lang="en-US" sz="1800" dirty="0"/>
          </a:p>
          <a:p>
            <a:pPr marL="320040" lvl="1" indent="0">
              <a:buNone/>
            </a:pPr>
            <a:r>
              <a:rPr lang="bg-BG" dirty="0"/>
              <a:t>FOREGN KEY (</a:t>
            </a:r>
            <a:r>
              <a:rPr lang="bg-BG" dirty="0" err="1"/>
              <a:t>Dno</a:t>
            </a:r>
            <a:r>
              <a:rPr lang="bg-BG" dirty="0"/>
              <a:t>) </a:t>
            </a:r>
            <a:r>
              <a:rPr lang="en-US" dirty="0"/>
              <a:t>REFERENCES</a:t>
            </a:r>
            <a:r>
              <a:rPr lang="bg-BG" dirty="0"/>
              <a:t> DEPARTMENT;</a:t>
            </a:r>
            <a:endParaRPr lang="en-US" sz="1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39AF87A0-F8B2-4EBA-97E5-EC44855A5842}" type="slidenum">
              <a:rPr lang="bg-BG" altLang="bg-BG"/>
              <a:pPr/>
              <a:t>55</a:t>
            </a:fld>
            <a:endParaRPr lang="bg-BG" altLang="bg-BG"/>
          </a:p>
        </p:txBody>
      </p:sp>
    </p:spTree>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1115616" y="404080"/>
            <a:ext cx="6781800" cy="582960"/>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21187" name="Rectangle 3"/>
          <p:cNvSpPr>
            <a:spLocks noGrp="1" noChangeArrowheads="1"/>
          </p:cNvSpPr>
          <p:nvPr>
            <p:ph idx="1"/>
          </p:nvPr>
        </p:nvSpPr>
        <p:spPr>
          <a:xfrm>
            <a:off x="838200" y="987040"/>
            <a:ext cx="7543800" cy="4320480"/>
          </a:xfrm>
        </p:spPr>
        <p:txBody>
          <a:bodyPr>
            <a:normAutofit/>
          </a:bodyPr>
          <a:lstStyle/>
          <a:p>
            <a:pPr marL="0" indent="0">
              <a:buNone/>
            </a:pPr>
            <a:r>
              <a:rPr lang="bg-BG" dirty="0"/>
              <a:t>Ограниченията за цялостност на базата могат да се описват подробно чрез конструкцията </a:t>
            </a:r>
            <a:r>
              <a:rPr lang="bg-BG" dirty="0" err="1">
                <a:solidFill>
                  <a:srgbClr val="C00000"/>
                </a:solidFill>
              </a:rPr>
              <a:t>Constraint</a:t>
            </a:r>
            <a:r>
              <a:rPr lang="bg-BG" dirty="0"/>
              <a:t>:</a:t>
            </a:r>
            <a:endParaRPr lang="en-US" dirty="0"/>
          </a:p>
          <a:p>
            <a:pPr marL="320040" lvl="1" indent="0">
              <a:buNone/>
            </a:pPr>
            <a:r>
              <a:rPr lang="bg-BG" sz="2400" dirty="0" err="1"/>
              <a:t>Constraint</a:t>
            </a:r>
            <a:r>
              <a:rPr lang="bg-BG" sz="2400" dirty="0"/>
              <a:t> &lt;име на ограничение&gt; &lt;тип&gt; (колона)</a:t>
            </a:r>
            <a:endParaRPr lang="en-US" sz="2400" dirty="0"/>
          </a:p>
          <a:p>
            <a:pPr marL="0" indent="0">
              <a:buNone/>
            </a:pPr>
            <a:r>
              <a:rPr lang="bg-BG" dirty="0"/>
              <a:t>или</a:t>
            </a:r>
            <a:endParaRPr lang="en-US" dirty="0"/>
          </a:p>
          <a:p>
            <a:pPr marL="320040" lvl="1" indent="0">
              <a:buNone/>
            </a:pPr>
            <a:r>
              <a:rPr lang="bg-BG" sz="2400" dirty="0" err="1"/>
              <a:t>Constraint</a:t>
            </a:r>
            <a:r>
              <a:rPr lang="bg-BG" sz="2400" dirty="0"/>
              <a:t> &lt;име на ограничение&gt; &lt;тип&gt; (колона) </a:t>
            </a:r>
            <a:r>
              <a:rPr lang="bg-BG" sz="2400" dirty="0" err="1"/>
              <a:t>references</a:t>
            </a:r>
            <a:r>
              <a:rPr lang="bg-BG" sz="2400" dirty="0"/>
              <a:t> &lt;име на таблица&gt; (колона)</a:t>
            </a:r>
            <a:endParaRPr lang="en-US" sz="2400" dirty="0"/>
          </a:p>
          <a:p>
            <a:pPr marL="0" indent="0">
              <a:buNone/>
            </a:pPr>
            <a:r>
              <a:rPr lang="bg-BG" dirty="0"/>
              <a:t>Примери:</a:t>
            </a:r>
            <a:endParaRPr lang="en-US" dirty="0"/>
          </a:p>
          <a:p>
            <a:pPr marL="320040" lvl="1" indent="0">
              <a:buNone/>
            </a:pPr>
            <a:r>
              <a:rPr lang="bg-BG" sz="2400" dirty="0" err="1"/>
              <a:t>Constraint</a:t>
            </a:r>
            <a:r>
              <a:rPr lang="bg-BG" sz="2400" dirty="0"/>
              <a:t> A1 </a:t>
            </a:r>
            <a:r>
              <a:rPr lang="bg-BG" sz="2400" dirty="0" err="1"/>
              <a:t>primary</a:t>
            </a:r>
            <a:r>
              <a:rPr lang="bg-BG" sz="2400" dirty="0"/>
              <a:t> </a:t>
            </a:r>
            <a:r>
              <a:rPr lang="bg-BG" sz="2400" dirty="0" err="1"/>
              <a:t>key</a:t>
            </a:r>
            <a:r>
              <a:rPr lang="bg-BG" sz="2400" dirty="0"/>
              <a:t> (</a:t>
            </a:r>
            <a:r>
              <a:rPr lang="bg-BG" sz="2400" dirty="0" err="1"/>
              <a:t>Ssn</a:t>
            </a:r>
            <a:r>
              <a:rPr lang="bg-BG" sz="2400" dirty="0"/>
              <a:t>)</a:t>
            </a:r>
            <a:endParaRPr lang="en-US" sz="2400" dirty="0"/>
          </a:p>
          <a:p>
            <a:pPr marL="320040" lvl="1" indent="0">
              <a:buNone/>
            </a:pPr>
            <a:r>
              <a:rPr lang="bg-BG" sz="2400" dirty="0" err="1"/>
              <a:t>Constraint</a:t>
            </a:r>
            <a:r>
              <a:rPr lang="bg-BG" sz="2400" dirty="0"/>
              <a:t> A2 </a:t>
            </a:r>
            <a:r>
              <a:rPr lang="bg-BG" sz="2400" dirty="0" err="1"/>
              <a:t>foreign</a:t>
            </a:r>
            <a:r>
              <a:rPr lang="bg-BG" sz="2400" dirty="0"/>
              <a:t> </a:t>
            </a:r>
            <a:r>
              <a:rPr lang="bg-BG" sz="2400" dirty="0" err="1"/>
              <a:t>key</a:t>
            </a:r>
            <a:r>
              <a:rPr lang="bg-BG" sz="2400" dirty="0"/>
              <a:t> (</a:t>
            </a:r>
            <a:r>
              <a:rPr lang="bg-BG" sz="2400" dirty="0" err="1"/>
              <a:t>Dno</a:t>
            </a:r>
            <a:r>
              <a:rPr lang="bg-BG" sz="2400" dirty="0"/>
              <a:t>) </a:t>
            </a:r>
            <a:r>
              <a:rPr lang="bg-BG" sz="2400" dirty="0" err="1"/>
              <a:t>references</a:t>
            </a:r>
            <a:r>
              <a:rPr lang="bg-BG" sz="2400" dirty="0"/>
              <a:t> DEPARTMENT (DNUM</a:t>
            </a:r>
            <a:r>
              <a:rPr lang="bg-BG" sz="2400" dirty="0" smtClean="0"/>
              <a:t>)</a:t>
            </a:r>
            <a:endParaRPr lang="en-US"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39AF87A0-F8B2-4EBA-97E5-EC44855A5842}" type="slidenum">
              <a:rPr lang="bg-BG" altLang="bg-BG"/>
              <a:pPr/>
              <a:t>56</a:t>
            </a:fld>
            <a:endParaRPr lang="bg-BG" altLang="bg-BG"/>
          </a:p>
        </p:txBody>
      </p:sp>
    </p:spTree>
    <p:extLst>
      <p:ext uri="{BB962C8B-B14F-4D97-AF65-F5344CB8AC3E}">
        <p14:creationId xmlns:p14="http://schemas.microsoft.com/office/powerpoint/2010/main" val="221685684"/>
      </p:ext>
    </p:extLst>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1228023" y="472969"/>
            <a:ext cx="6781800" cy="654968"/>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22211" name="Rectangle 3"/>
          <p:cNvSpPr>
            <a:spLocks noGrp="1" noChangeArrowheads="1"/>
          </p:cNvSpPr>
          <p:nvPr>
            <p:ph idx="1"/>
          </p:nvPr>
        </p:nvSpPr>
        <p:spPr>
          <a:xfrm>
            <a:off x="838200" y="692696"/>
            <a:ext cx="7543800" cy="4200655"/>
          </a:xfrm>
        </p:spPr>
        <p:txBody>
          <a:bodyPr>
            <a:normAutofit/>
          </a:bodyPr>
          <a:lstStyle/>
          <a:p>
            <a:r>
              <a:rPr lang="bg-BG" altLang="bg-BG" dirty="0"/>
              <a:t>Премахването на таблица се извършва чрез командата:</a:t>
            </a:r>
          </a:p>
          <a:p>
            <a:pPr lvl="2">
              <a:buFontTx/>
              <a:buNone/>
            </a:pPr>
            <a:r>
              <a:rPr lang="bg-BG" altLang="bg-BG" sz="2400" dirty="0"/>
              <a:t>DROP TABLE table_name;</a:t>
            </a:r>
          </a:p>
          <a:p>
            <a:r>
              <a:rPr lang="bg-BG" altLang="bg-BG" dirty="0"/>
              <a:t>След нейното изпълнение таблицата не може да се използува, защото нейното описание е изтрито от каталога.</a:t>
            </a:r>
          </a:p>
          <a:p>
            <a:pPr lvl="1">
              <a:buFontTx/>
              <a:buNone/>
            </a:pPr>
            <a:r>
              <a:rPr lang="bg-BG" altLang="bg-BG" sz="2400" dirty="0"/>
              <a:t>Пример:</a:t>
            </a:r>
          </a:p>
          <a:p>
            <a:pPr lvl="1">
              <a:buFontTx/>
              <a:buNone/>
            </a:pPr>
            <a:r>
              <a:rPr lang="bg-BG" altLang="bg-BG" sz="2400" dirty="0"/>
              <a:t>DROP TABLE DEPENDENT;</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18CBD404-E0D6-42C6-AE79-3CBBBD5E5635}" type="slidenum">
              <a:rPr lang="bg-BG" altLang="bg-BG"/>
              <a:pPr/>
              <a:t>57</a:t>
            </a:fld>
            <a:endParaRPr lang="bg-BG" altLang="bg-BG"/>
          </a:p>
        </p:txBody>
      </p:sp>
    </p:spTree>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1115616" y="290752"/>
            <a:ext cx="6781800" cy="654968"/>
          </a:xfrm>
        </p:spPr>
        <p:txBody>
          <a:bodyPr>
            <a:norm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23235" name="Rectangle 3"/>
          <p:cNvSpPr>
            <a:spLocks noGrp="1" noChangeArrowheads="1"/>
          </p:cNvSpPr>
          <p:nvPr>
            <p:ph idx="1"/>
          </p:nvPr>
        </p:nvSpPr>
        <p:spPr>
          <a:xfrm>
            <a:off x="463588" y="945720"/>
            <a:ext cx="8085856" cy="3744416"/>
          </a:xfrm>
        </p:spPr>
        <p:txBody>
          <a:bodyPr>
            <a:normAutofit/>
          </a:bodyPr>
          <a:lstStyle/>
          <a:p>
            <a:pPr marL="533400" indent="-533400" algn="ctr">
              <a:lnSpc>
                <a:spcPct val="90000"/>
              </a:lnSpc>
              <a:buFontTx/>
              <a:buNone/>
            </a:pPr>
            <a:r>
              <a:rPr lang="bg-BG" altLang="bg-BG" sz="2400" u="sng" dirty="0">
                <a:solidFill>
                  <a:srgbClr val="C00000"/>
                </a:solidFill>
              </a:rPr>
              <a:t>Команда </a:t>
            </a:r>
            <a:r>
              <a:rPr lang="en-US" altLang="bg-BG" sz="2400" u="sng" dirty="0">
                <a:solidFill>
                  <a:srgbClr val="C00000"/>
                </a:solidFill>
              </a:rPr>
              <a:t>ALTER</a:t>
            </a:r>
            <a:endParaRPr lang="bg-BG" altLang="bg-BG" sz="2400" u="sng" dirty="0">
              <a:solidFill>
                <a:srgbClr val="C00000"/>
              </a:solidFill>
            </a:endParaRPr>
          </a:p>
          <a:p>
            <a:pPr marL="533400" indent="-533400">
              <a:lnSpc>
                <a:spcPct val="90000"/>
              </a:lnSpc>
              <a:buFontTx/>
              <a:buAutoNum type="arabicPeriod"/>
            </a:pPr>
            <a:r>
              <a:rPr lang="bg-BG" altLang="bg-BG" sz="2400" dirty="0"/>
              <a:t>Модификации в описанието на вече създадена таблица се извършват чрез командата ALTER </a:t>
            </a:r>
            <a:r>
              <a:rPr lang="bg-BG" altLang="bg-BG" sz="2400" dirty="0" smtClean="0"/>
              <a:t>TABLE.</a:t>
            </a:r>
            <a:endParaRPr lang="bg-BG" altLang="bg-BG" sz="2400" dirty="0"/>
          </a:p>
          <a:p>
            <a:pPr marL="533400" indent="-533400">
              <a:lnSpc>
                <a:spcPct val="90000"/>
              </a:lnSpc>
              <a:buFontTx/>
              <a:buAutoNum type="arabicPeriod"/>
            </a:pPr>
            <a:r>
              <a:rPr lang="bg-BG" altLang="bg-BG" sz="2400" dirty="0"/>
              <a:t>Тя променя структурата на схемата. </a:t>
            </a:r>
          </a:p>
          <a:p>
            <a:pPr marL="533400" indent="-533400">
              <a:lnSpc>
                <a:spcPct val="90000"/>
              </a:lnSpc>
              <a:buFontTx/>
              <a:buAutoNum type="arabicPeriod"/>
            </a:pPr>
            <a:r>
              <a:rPr lang="bg-BG" altLang="bg-BG" sz="2400" dirty="0"/>
              <a:t>Съществува в няколко варианта и дава възможности за:</a:t>
            </a:r>
          </a:p>
          <a:p>
            <a:pPr marL="914400" lvl="1" indent="-457200">
              <a:lnSpc>
                <a:spcPct val="90000"/>
              </a:lnSpc>
              <a:buFontTx/>
              <a:buChar char="•"/>
            </a:pPr>
            <a:r>
              <a:rPr lang="bg-BG" altLang="bg-BG" sz="2400" dirty="0"/>
              <a:t>добавяне / унищожаване на колона;</a:t>
            </a:r>
          </a:p>
          <a:p>
            <a:pPr marL="914400" lvl="1" indent="-457200">
              <a:lnSpc>
                <a:spcPct val="90000"/>
              </a:lnSpc>
              <a:buFontTx/>
              <a:buChar char="•"/>
            </a:pPr>
            <a:r>
              <a:rPr lang="bg-BG" altLang="bg-BG" sz="2400" dirty="0"/>
              <a:t>промяна на дефинициите на колона;</a:t>
            </a:r>
          </a:p>
          <a:p>
            <a:pPr marL="914400" lvl="1" indent="-457200">
              <a:lnSpc>
                <a:spcPct val="90000"/>
              </a:lnSpc>
              <a:buFontTx/>
              <a:buChar char="•"/>
            </a:pPr>
            <a:r>
              <a:rPr lang="bg-BG" altLang="bg-BG" sz="2400" dirty="0"/>
              <a:t>добавяне / промяна на ограниченията, наложени върху таблицата</a:t>
            </a:r>
            <a:r>
              <a:rPr lang="bg-BG" altLang="bg-BG" sz="2400" dirty="0" smtClean="0"/>
              <a:t>.</a:t>
            </a:r>
            <a:endParaRPr lang="bg-BG" altLang="bg-BG"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3022F558-2BBE-4761-B3BB-F2CD59AF1684}" type="slidenum">
              <a:rPr lang="bg-BG" altLang="bg-BG"/>
              <a:pPr/>
              <a:t>58</a:t>
            </a:fld>
            <a:endParaRPr lang="bg-BG" altLang="bg-BG"/>
          </a:p>
        </p:txBody>
      </p:sp>
    </p:spTree>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1115616" y="290752"/>
            <a:ext cx="6781800" cy="654968"/>
          </a:xfrm>
        </p:spPr>
        <p:txBody>
          <a:bodyPr>
            <a:normAutofit/>
          </a:bodyPr>
          <a:lstStyle/>
          <a:p>
            <a:pPr algn="ctr"/>
            <a:r>
              <a:rPr lang="bg-BG" altLang="bg-BG" sz="3200" dirty="0">
                <a:solidFill>
                  <a:srgbClr val="C00000"/>
                </a:solidFill>
              </a:rPr>
              <a:t>Дефиниране на </a:t>
            </a:r>
            <a:r>
              <a:rPr lang="bg-BG" altLang="bg-BG" sz="3200" dirty="0" smtClean="0">
                <a:solidFill>
                  <a:srgbClr val="C00000"/>
                </a:solidFill>
              </a:rPr>
              <a:t>данните</a:t>
            </a:r>
            <a:endParaRPr lang="bg-BG" altLang="bg-BG" sz="3200" dirty="0">
              <a:solidFill>
                <a:srgbClr val="C00000"/>
              </a:solidFill>
            </a:endParaRPr>
          </a:p>
        </p:txBody>
      </p:sp>
      <p:sp>
        <p:nvSpPr>
          <p:cNvPr id="223235" name="Rectangle 3"/>
          <p:cNvSpPr>
            <a:spLocks noGrp="1" noChangeArrowheads="1"/>
          </p:cNvSpPr>
          <p:nvPr>
            <p:ph idx="1"/>
          </p:nvPr>
        </p:nvSpPr>
        <p:spPr>
          <a:xfrm>
            <a:off x="323528" y="789689"/>
            <a:ext cx="8712968" cy="5258110"/>
          </a:xfrm>
        </p:spPr>
        <p:txBody>
          <a:bodyPr>
            <a:normAutofit fontScale="92500"/>
          </a:bodyPr>
          <a:lstStyle/>
          <a:p>
            <a:pPr marL="533400" indent="-533400" algn="ctr">
              <a:lnSpc>
                <a:spcPct val="90000"/>
              </a:lnSpc>
              <a:buFontTx/>
              <a:buNone/>
            </a:pPr>
            <a:r>
              <a:rPr lang="bg-BG" altLang="bg-BG" sz="3000" u="sng" dirty="0">
                <a:solidFill>
                  <a:srgbClr val="C00000"/>
                </a:solidFill>
              </a:rPr>
              <a:t>Команда </a:t>
            </a:r>
            <a:r>
              <a:rPr lang="en-US" altLang="bg-BG" sz="3000" u="sng" dirty="0" smtClean="0">
                <a:solidFill>
                  <a:srgbClr val="C00000"/>
                </a:solidFill>
              </a:rPr>
              <a:t>ALTER</a:t>
            </a:r>
            <a:r>
              <a:rPr lang="bg-BG" altLang="bg-BG" sz="3000" u="sng" dirty="0" smtClean="0">
                <a:solidFill>
                  <a:srgbClr val="C00000"/>
                </a:solidFill>
              </a:rPr>
              <a:t> – общ вид</a:t>
            </a:r>
            <a:endParaRPr lang="bg-BG" altLang="bg-BG" sz="3000" u="sng" dirty="0">
              <a:solidFill>
                <a:srgbClr val="C00000"/>
              </a:solidFill>
            </a:endParaRPr>
          </a:p>
          <a:p>
            <a:pPr marL="0" indent="0">
              <a:buNone/>
            </a:pPr>
            <a:r>
              <a:rPr lang="bg-BG" sz="2600" dirty="0"/>
              <a:t>ALTER TABLE </a:t>
            </a:r>
            <a:r>
              <a:rPr lang="bg-BG" sz="2600" dirty="0" err="1"/>
              <a:t>TableName</a:t>
            </a:r>
            <a:endParaRPr lang="en-US" sz="2600" dirty="0"/>
          </a:p>
          <a:p>
            <a:pPr marL="0" indent="0">
              <a:buNone/>
            </a:pPr>
            <a:r>
              <a:rPr lang="bg-BG" sz="2600" dirty="0"/>
              <a:t>[ADD [COLUMN] </a:t>
            </a:r>
            <a:r>
              <a:rPr lang="bg-BG" sz="2600" dirty="0" err="1"/>
              <a:t>columnName</a:t>
            </a:r>
            <a:r>
              <a:rPr lang="bg-BG" sz="2600" dirty="0"/>
              <a:t> </a:t>
            </a:r>
            <a:r>
              <a:rPr lang="bg-BG" sz="2600" dirty="0" err="1"/>
              <a:t>dataType</a:t>
            </a:r>
            <a:r>
              <a:rPr lang="bg-BG" sz="2600" dirty="0"/>
              <a:t> [NOT NULL] [UNIQUE]</a:t>
            </a:r>
            <a:endParaRPr lang="en-US" sz="2600" dirty="0"/>
          </a:p>
          <a:p>
            <a:pPr marL="0" indent="0">
              <a:buNone/>
            </a:pPr>
            <a:r>
              <a:rPr lang="bg-BG" sz="2600" dirty="0"/>
              <a:t>[DEFAULT </a:t>
            </a:r>
            <a:r>
              <a:rPr lang="bg-BG" sz="2600" dirty="0" err="1"/>
              <a:t>defaultOption</a:t>
            </a:r>
            <a:r>
              <a:rPr lang="bg-BG" sz="2600" dirty="0"/>
              <a:t>] [CHECK (</a:t>
            </a:r>
            <a:r>
              <a:rPr lang="bg-BG" sz="2600" dirty="0" err="1"/>
              <a:t>searchCondition</a:t>
            </a:r>
            <a:r>
              <a:rPr lang="bg-BG" sz="2600" dirty="0"/>
              <a:t>)]]</a:t>
            </a:r>
            <a:endParaRPr lang="en-US" sz="2600" dirty="0"/>
          </a:p>
          <a:p>
            <a:pPr marL="0" indent="0">
              <a:buNone/>
            </a:pPr>
            <a:r>
              <a:rPr lang="bg-BG" sz="2600" dirty="0"/>
              <a:t>[DROP [COLUMN] </a:t>
            </a:r>
            <a:r>
              <a:rPr lang="bg-BG" sz="2600" dirty="0" err="1"/>
              <a:t>columnName</a:t>
            </a:r>
            <a:r>
              <a:rPr lang="bg-BG" sz="2600" dirty="0"/>
              <a:t> [RESTRICT | CASCADE]]</a:t>
            </a:r>
            <a:endParaRPr lang="en-US" sz="2600" dirty="0"/>
          </a:p>
          <a:p>
            <a:pPr marL="0" indent="0">
              <a:buNone/>
            </a:pPr>
            <a:r>
              <a:rPr lang="bg-BG" sz="2600" dirty="0"/>
              <a:t>[ADD[CONSTRAINT[</a:t>
            </a:r>
            <a:r>
              <a:rPr lang="bg-BG" sz="2600" dirty="0" err="1"/>
              <a:t>ConstraintName</a:t>
            </a:r>
            <a:r>
              <a:rPr lang="bg-BG" sz="2600" dirty="0"/>
              <a:t>]]</a:t>
            </a:r>
            <a:r>
              <a:rPr lang="bg-BG" sz="2600" dirty="0" err="1"/>
              <a:t>tableConstraintDefinition</a:t>
            </a:r>
            <a:r>
              <a:rPr lang="bg-BG" sz="2600" dirty="0"/>
              <a:t>]</a:t>
            </a:r>
            <a:endParaRPr lang="en-US" sz="2600" dirty="0"/>
          </a:p>
          <a:p>
            <a:pPr marL="0" indent="0">
              <a:buNone/>
            </a:pPr>
            <a:r>
              <a:rPr lang="bg-BG" sz="2600" dirty="0"/>
              <a:t>[DROP CONSTRAINT </a:t>
            </a:r>
            <a:r>
              <a:rPr lang="bg-BG" sz="2600" dirty="0" err="1"/>
              <a:t>ConstraintName</a:t>
            </a:r>
            <a:r>
              <a:rPr lang="bg-BG" sz="2600" dirty="0"/>
              <a:t> [RESTRICT | CASCADE]]</a:t>
            </a:r>
            <a:endParaRPr lang="en-US" sz="2600" dirty="0"/>
          </a:p>
          <a:p>
            <a:pPr marL="0" indent="0">
              <a:buNone/>
            </a:pPr>
            <a:r>
              <a:rPr lang="bg-BG" sz="2600" dirty="0"/>
              <a:t>[ALTER [COLUMN] SET DEFAULT </a:t>
            </a:r>
            <a:r>
              <a:rPr lang="bg-BG" sz="2600" dirty="0" err="1"/>
              <a:t>defaultOption</a:t>
            </a:r>
            <a:r>
              <a:rPr lang="bg-BG" sz="2600" dirty="0"/>
              <a:t>]</a:t>
            </a:r>
            <a:endParaRPr lang="en-US" sz="2600" dirty="0"/>
          </a:p>
          <a:p>
            <a:pPr marL="0" indent="0">
              <a:buNone/>
            </a:pPr>
            <a:r>
              <a:rPr lang="bg-BG" sz="2600" dirty="0"/>
              <a:t>[ALTER [COLUMN] DROP DEFAULT]</a:t>
            </a:r>
            <a:endParaRPr lang="en-US" sz="2600" dirty="0"/>
          </a:p>
          <a:p>
            <a:pPr marL="914400" lvl="1" indent="-457200">
              <a:lnSpc>
                <a:spcPct val="90000"/>
              </a:lnSpc>
              <a:buFontTx/>
              <a:buNone/>
            </a:pPr>
            <a:r>
              <a:rPr lang="bg-BG" altLang="bg-BG" sz="2600" dirty="0" smtClean="0"/>
              <a:t>Пример</a:t>
            </a:r>
            <a:r>
              <a:rPr lang="bg-BG" altLang="bg-BG" sz="2600" dirty="0"/>
              <a:t>:</a:t>
            </a:r>
          </a:p>
          <a:p>
            <a:pPr marL="914400" lvl="1" indent="-457200">
              <a:lnSpc>
                <a:spcPct val="90000"/>
              </a:lnSpc>
              <a:buFontTx/>
              <a:buNone/>
            </a:pPr>
            <a:r>
              <a:rPr lang="bg-BG" altLang="bg-BG" sz="2600" dirty="0"/>
              <a:t>ALTER TABLE EMPLOYEE ADD JOB VARCHAR(12);</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3022F558-2BBE-4761-B3BB-F2CD59AF1684}" type="slidenum">
              <a:rPr lang="bg-BG" altLang="bg-BG"/>
              <a:pPr/>
              <a:t>59</a:t>
            </a:fld>
            <a:endParaRPr lang="bg-BG" altLang="bg-BG"/>
          </a:p>
        </p:txBody>
      </p:sp>
    </p:spTree>
    <p:extLst>
      <p:ext uri="{BB962C8B-B14F-4D97-AF65-F5344CB8AC3E}">
        <p14:creationId xmlns:p14="http://schemas.microsoft.com/office/powerpoint/2010/main" val="3508893352"/>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1187624" y="404664"/>
            <a:ext cx="6781800" cy="510952"/>
          </a:xfrm>
        </p:spPr>
        <p:txBody>
          <a:bodyPr>
            <a:noAutofit/>
          </a:bodyPr>
          <a:lstStyle/>
          <a:p>
            <a:pPr algn="ctr"/>
            <a:r>
              <a:rPr lang="bg-BG" altLang="bg-BG" sz="3200" dirty="0">
                <a:solidFill>
                  <a:schemeClr val="accent1"/>
                </a:solidFill>
              </a:rPr>
              <a:t>Дефиниране на </a:t>
            </a:r>
            <a:r>
              <a:rPr lang="bg-BG" altLang="bg-BG" sz="3200" dirty="0" smtClean="0">
                <a:solidFill>
                  <a:schemeClr val="accent1"/>
                </a:solidFill>
              </a:rPr>
              <a:t>данните</a:t>
            </a:r>
            <a:endParaRPr lang="bg-BG" altLang="bg-BG" sz="3200" dirty="0">
              <a:solidFill>
                <a:schemeClr val="accent1"/>
              </a:solidFill>
            </a:endParaRPr>
          </a:p>
        </p:txBody>
      </p:sp>
      <p:sp>
        <p:nvSpPr>
          <p:cNvPr id="224259" name="Rectangle 3"/>
          <p:cNvSpPr>
            <a:spLocks noGrp="1" noChangeArrowheads="1"/>
          </p:cNvSpPr>
          <p:nvPr>
            <p:ph idx="1"/>
          </p:nvPr>
        </p:nvSpPr>
        <p:spPr>
          <a:xfrm>
            <a:off x="971600" y="908720"/>
            <a:ext cx="7920880" cy="4824536"/>
          </a:xfrm>
        </p:spPr>
        <p:txBody>
          <a:bodyPr>
            <a:normAutofit/>
          </a:bodyPr>
          <a:lstStyle/>
          <a:p>
            <a:pPr marL="533400" indent="-533400">
              <a:buFontTx/>
              <a:buAutoNum type="arabicPeriod" startAt="4"/>
            </a:pPr>
            <a:r>
              <a:rPr lang="bg-BG" altLang="bg-BG" sz="2400" dirty="0"/>
              <a:t>При използуване на командата за добавяне на нова колона не се допуска използуването на ограничението NOT NULL, защото по премълчаване във всички редове на добавената нова колона се записва служебната стойност </a:t>
            </a:r>
            <a:r>
              <a:rPr lang="en-US" altLang="bg-BG" sz="2400" dirty="0"/>
              <a:t>Null</a:t>
            </a:r>
            <a:r>
              <a:rPr lang="bg-BG" altLang="bg-BG" sz="2400" dirty="0"/>
              <a:t>. </a:t>
            </a:r>
          </a:p>
          <a:p>
            <a:pPr marL="533400" indent="-533400">
              <a:buFontTx/>
              <a:buAutoNum type="arabicPeriod" startAt="4"/>
            </a:pPr>
            <a:r>
              <a:rPr lang="bg-BG" altLang="bg-BG" sz="2400" dirty="0"/>
              <a:t>Потребителят на базата въвежда реални стойности в новата колона чрез командата </a:t>
            </a:r>
            <a:r>
              <a:rPr lang="en-US" altLang="bg-BG" sz="2400" dirty="0"/>
              <a:t>UPDATE</a:t>
            </a:r>
            <a:r>
              <a:rPr lang="bg-BG" altLang="bg-BG" sz="2400" dirty="0" smtClean="0"/>
              <a:t>.</a:t>
            </a:r>
          </a:p>
          <a:p>
            <a:pPr marL="0" indent="0">
              <a:buNone/>
            </a:pPr>
            <a:endParaRPr lang="bg-BG" altLang="bg-BG" sz="2400" dirty="0"/>
          </a:p>
          <a:p>
            <a:pPr marL="914400" lvl="1" indent="-457200">
              <a:buFontTx/>
              <a:buNone/>
            </a:pPr>
            <a:r>
              <a:rPr lang="bg-BG" altLang="bg-BG" sz="2400" dirty="0"/>
              <a:t>Пример:</a:t>
            </a:r>
          </a:p>
          <a:p>
            <a:pPr marL="594360" lvl="2" indent="0">
              <a:buNone/>
            </a:pPr>
            <a:r>
              <a:rPr lang="bg-BG" sz="2400" dirty="0"/>
              <a:t>ALTER TABLE EMPLOYEE ADD </a:t>
            </a:r>
            <a:r>
              <a:rPr lang="bg-BG" sz="2400" dirty="0" err="1"/>
              <a:t>Job</a:t>
            </a:r>
            <a:r>
              <a:rPr lang="bg-BG" sz="2400" dirty="0"/>
              <a:t> VARCHAR(12);</a:t>
            </a:r>
            <a:endParaRPr lang="en-US" sz="2400" dirty="0"/>
          </a:p>
          <a:p>
            <a:pPr marL="533400" indent="-533400"/>
            <a:endParaRPr lang="bg-BG" altLang="bg-BG"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74EB11C2-3FCD-4AF3-BC92-2A72C7E32453}" type="slidenum">
              <a:rPr lang="bg-BG" altLang="bg-BG"/>
              <a:pPr/>
              <a:t>60</a:t>
            </a:fld>
            <a:endParaRPr lang="bg-BG" altLang="bg-BG"/>
          </a:p>
        </p:txBody>
      </p:sp>
    </p:spTree>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1259632" y="332656"/>
            <a:ext cx="6781800" cy="582960"/>
          </a:xfrm>
        </p:spPr>
        <p:txBody>
          <a:bodyPr>
            <a:normAutofit/>
          </a:bodyPr>
          <a:lstStyle/>
          <a:p>
            <a:pPr algn="ctr"/>
            <a:r>
              <a:rPr lang="bg-BG" altLang="bg-BG" sz="3200" dirty="0">
                <a:solidFill>
                  <a:schemeClr val="accent1"/>
                </a:solidFill>
              </a:rPr>
              <a:t>Работа с вложени заявки </a:t>
            </a:r>
          </a:p>
        </p:txBody>
      </p:sp>
      <p:sp>
        <p:nvSpPr>
          <p:cNvPr id="171011" name="Rectangle 3"/>
          <p:cNvSpPr>
            <a:spLocks noGrp="1" noChangeArrowheads="1"/>
          </p:cNvSpPr>
          <p:nvPr>
            <p:ph idx="1"/>
          </p:nvPr>
        </p:nvSpPr>
        <p:spPr>
          <a:xfrm>
            <a:off x="179512" y="1052736"/>
            <a:ext cx="8229600" cy="4456113"/>
          </a:xfrm>
        </p:spPr>
        <p:txBody>
          <a:bodyPr>
            <a:normAutofit lnSpcReduction="10000"/>
          </a:bodyPr>
          <a:lstStyle/>
          <a:p>
            <a:pPr marL="609600" indent="-609600">
              <a:buFontTx/>
              <a:buAutoNum type="arabicPeriod"/>
            </a:pPr>
            <a:r>
              <a:rPr lang="bg-BG" altLang="bg-BG" sz="2400" dirty="0"/>
              <a:t>Основна характеристика на езика </a:t>
            </a:r>
            <a:r>
              <a:rPr lang="en-US" altLang="bg-BG" sz="2400" dirty="0"/>
              <a:t>SQL </a:t>
            </a:r>
            <a:r>
              <a:rPr lang="bg-BG" altLang="bg-BG" sz="2400" dirty="0"/>
              <a:t>се явява възможността за влагането на няколко SELECT-FROM-WHERE израза един в друг.</a:t>
            </a:r>
          </a:p>
          <a:p>
            <a:pPr marL="609600" indent="-609600">
              <a:buFontTx/>
              <a:buAutoNum type="arabicPeriod"/>
            </a:pPr>
            <a:r>
              <a:rPr lang="bg-BG" altLang="bg-BG" sz="2400" dirty="0"/>
              <a:t> Подобни конструкции са необходими при някои задания, където се изисква намирането на определени стойности в базата и използуването им в сравнения. </a:t>
            </a:r>
          </a:p>
          <a:p>
            <a:pPr marL="609600" indent="-609600">
              <a:buFontTx/>
              <a:buAutoNum type="arabicPeriod"/>
            </a:pPr>
            <a:r>
              <a:rPr lang="bg-BG" altLang="bg-BG" sz="2400" dirty="0"/>
              <a:t>Подобни заявки се формулират като вложени блокове след WHERE оператор на друга заявка, наречена външна заявка (</a:t>
            </a:r>
            <a:r>
              <a:rPr lang="en-US" altLang="bg-BG" sz="2400" dirty="0"/>
              <a:t>outer query</a:t>
            </a:r>
            <a:r>
              <a:rPr lang="bg-BG" altLang="bg-BG" sz="2400" dirty="0"/>
              <a:t>). </a:t>
            </a:r>
          </a:p>
          <a:p>
            <a:pPr marL="609600" indent="-609600">
              <a:buFontTx/>
              <a:buAutoNum type="arabicPeriod"/>
            </a:pPr>
            <a:r>
              <a:rPr lang="bg-BG" altLang="bg-BG" sz="2400" dirty="0"/>
              <a:t>Вложеният SELECT-FROM-WHERE израз се нарича вътрешна заявка (</a:t>
            </a:r>
            <a:r>
              <a:rPr lang="en-US" altLang="bg-BG" sz="2400" dirty="0"/>
              <a:t>inner query</a:t>
            </a:r>
            <a:r>
              <a:rPr lang="bg-BG" altLang="bg-BG" sz="2400" dirty="0"/>
              <a:t>). Нивото на влагане може да е произволно. </a:t>
            </a:r>
          </a:p>
        </p:txBody>
      </p:sp>
      <p:sp>
        <p:nvSpPr>
          <p:cNvPr id="7" name="Date Placeholder 3"/>
          <p:cNvSpPr>
            <a:spLocks noGrp="1"/>
          </p:cNvSpPr>
          <p:nvPr>
            <p:ph type="dt" sz="half" idx="10"/>
          </p:nvPr>
        </p:nvSpPr>
        <p:spPr/>
        <p:txBody>
          <a:bodyPr/>
          <a:lstStyle/>
          <a:p>
            <a:r>
              <a:rPr lang="bg-BG" altLang="bg-BG"/>
              <a:t>Юлиана Пенева</a:t>
            </a:r>
          </a:p>
        </p:txBody>
      </p:sp>
      <p:sp>
        <p:nvSpPr>
          <p:cNvPr id="8" name="Footer Placeholder 4"/>
          <p:cNvSpPr>
            <a:spLocks noGrp="1"/>
          </p:cNvSpPr>
          <p:nvPr>
            <p:ph type="ftr" sz="quarter" idx="11"/>
          </p:nvPr>
        </p:nvSpPr>
        <p:spPr/>
        <p:txBody>
          <a:bodyPr/>
          <a:lstStyle/>
          <a:p>
            <a:r>
              <a:rPr lang="bg-BG" altLang="bg-BG"/>
              <a:t>CSCB405- модул4</a:t>
            </a:r>
          </a:p>
        </p:txBody>
      </p:sp>
      <p:sp>
        <p:nvSpPr>
          <p:cNvPr id="9" name="Slide Number Placeholder 5"/>
          <p:cNvSpPr>
            <a:spLocks noGrp="1"/>
          </p:cNvSpPr>
          <p:nvPr>
            <p:ph type="sldNum" sz="quarter" idx="12"/>
          </p:nvPr>
        </p:nvSpPr>
        <p:spPr/>
        <p:txBody>
          <a:bodyPr/>
          <a:lstStyle/>
          <a:p>
            <a:fld id="{7336B846-AB8F-4B95-AF52-8477B87FD996}" type="slidenum">
              <a:rPr lang="bg-BG" altLang="bg-BG"/>
              <a:pPr/>
              <a:t>61</a:t>
            </a:fld>
            <a:endParaRPr lang="bg-BG" altLang="bg-BG"/>
          </a:p>
        </p:txBody>
      </p:sp>
      <p:sp>
        <p:nvSpPr>
          <p:cNvPr id="171013"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7101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
        <p:nvSpPr>
          <p:cNvPr id="171017"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bg-BG"/>
          </a:p>
        </p:txBody>
      </p:sp>
    </p:spTree>
    <p:extLst>
      <p:ext uri="{BB962C8B-B14F-4D97-AF65-F5344CB8AC3E}">
        <p14:creationId xmlns:p14="http://schemas.microsoft.com/office/powerpoint/2010/main" val="2429940448"/>
      </p:ext>
    </p:extLst>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971600" y="476672"/>
            <a:ext cx="6781800" cy="582960"/>
          </a:xfrm>
        </p:spPr>
        <p:txBody>
          <a:bodyPr>
            <a:normAutofit/>
          </a:bodyPr>
          <a:lstStyle/>
          <a:p>
            <a:pPr algn="ctr"/>
            <a:r>
              <a:rPr lang="bg-BG" altLang="bg-BG" sz="3200" dirty="0">
                <a:solidFill>
                  <a:schemeClr val="accent1"/>
                </a:solidFill>
              </a:rPr>
              <a:t>Работа с вложени </a:t>
            </a:r>
            <a:r>
              <a:rPr lang="bg-BG" altLang="bg-BG" sz="3200" dirty="0" smtClean="0">
                <a:solidFill>
                  <a:schemeClr val="accent1"/>
                </a:solidFill>
              </a:rPr>
              <a:t>заявки</a:t>
            </a:r>
            <a:endParaRPr lang="bg-BG" altLang="bg-BG" sz="3200" dirty="0">
              <a:solidFill>
                <a:schemeClr val="accent1"/>
              </a:solidFill>
            </a:endParaRPr>
          </a:p>
        </p:txBody>
      </p:sp>
      <p:sp>
        <p:nvSpPr>
          <p:cNvPr id="172039" name="Rectangle 7"/>
          <p:cNvSpPr>
            <a:spLocks noGrp="1" noChangeArrowheads="1"/>
          </p:cNvSpPr>
          <p:nvPr>
            <p:ph idx="1"/>
          </p:nvPr>
        </p:nvSpPr>
        <p:spPr>
          <a:xfrm>
            <a:off x="755576" y="1268760"/>
            <a:ext cx="7776864" cy="3886200"/>
          </a:xfrm>
        </p:spPr>
        <p:txBody>
          <a:bodyPr>
            <a:normAutofit/>
          </a:bodyPr>
          <a:lstStyle/>
          <a:p>
            <a:pPr>
              <a:buFontTx/>
              <a:buNone/>
            </a:pPr>
            <a:r>
              <a:rPr lang="bg-BG" altLang="bg-BG" sz="2800" dirty="0"/>
              <a:t>Общият вид на вложените заявки е:</a:t>
            </a:r>
          </a:p>
          <a:p>
            <a:pPr>
              <a:buFontTx/>
              <a:buNone/>
            </a:pPr>
            <a:endParaRPr lang="bg-BG" altLang="bg-BG" sz="2800" dirty="0"/>
          </a:p>
          <a:p>
            <a:pPr>
              <a:buFontTx/>
              <a:buNone/>
            </a:pPr>
            <a:r>
              <a:rPr lang="bg-BG" altLang="bg-BG" sz="2800" dirty="0"/>
              <a:t>SELECT &lt;списък от колони&gt;</a:t>
            </a:r>
          </a:p>
          <a:p>
            <a:pPr>
              <a:buFontTx/>
              <a:buNone/>
            </a:pPr>
            <a:r>
              <a:rPr lang="bg-BG" altLang="bg-BG" sz="2800" dirty="0"/>
              <a:t>FROM &lt;списък от таблици&gt;</a:t>
            </a:r>
          </a:p>
          <a:p>
            <a:pPr>
              <a:buFontTx/>
              <a:buNone/>
            </a:pPr>
            <a:r>
              <a:rPr lang="bg-BG" altLang="bg-BG" sz="2800" dirty="0"/>
              <a:t>WHERE &lt;условие&gt; SELECT &lt;списък от колони&gt;</a:t>
            </a:r>
          </a:p>
          <a:p>
            <a:pPr lvl="4">
              <a:buFontTx/>
              <a:buNone/>
            </a:pPr>
            <a:r>
              <a:rPr lang="bg-BG" altLang="bg-BG" sz="2800" dirty="0"/>
              <a:t>FROM &lt;списък от таблици&gt;</a:t>
            </a:r>
          </a:p>
          <a:p>
            <a:pPr lvl="4">
              <a:buFontTx/>
              <a:buNone/>
            </a:pPr>
            <a:r>
              <a:rPr lang="bg-BG" altLang="bg-BG" sz="2800" dirty="0"/>
              <a:t>WHERE &lt;условие&gt; SELECT ...........</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9B17B01D-07E5-40AF-92CF-09ED315949BD}" type="slidenum">
              <a:rPr lang="bg-BG" altLang="bg-BG"/>
              <a:pPr/>
              <a:t>62</a:t>
            </a:fld>
            <a:endParaRPr lang="bg-BG" altLang="bg-BG"/>
          </a:p>
        </p:txBody>
      </p:sp>
    </p:spTree>
    <p:extLst>
      <p:ext uri="{BB962C8B-B14F-4D97-AF65-F5344CB8AC3E}">
        <p14:creationId xmlns:p14="http://schemas.microsoft.com/office/powerpoint/2010/main" val="613396426"/>
      </p:ext>
    </p:extLst>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1115616" y="404664"/>
            <a:ext cx="6781800" cy="582960"/>
          </a:xfrm>
        </p:spPr>
        <p:txBody>
          <a:bodyPr>
            <a:normAutofit/>
          </a:bodyPr>
          <a:lstStyle/>
          <a:p>
            <a:pPr algn="ctr"/>
            <a:r>
              <a:rPr lang="bg-BG" altLang="bg-BG" sz="3200" dirty="0">
                <a:solidFill>
                  <a:schemeClr val="accent1"/>
                </a:solidFill>
              </a:rPr>
              <a:t>Работа с вложени заявки </a:t>
            </a:r>
          </a:p>
        </p:txBody>
      </p:sp>
      <p:sp>
        <p:nvSpPr>
          <p:cNvPr id="173059" name="Rectangle 3"/>
          <p:cNvSpPr>
            <a:spLocks noGrp="1" noChangeArrowheads="1"/>
          </p:cNvSpPr>
          <p:nvPr>
            <p:ph idx="1"/>
          </p:nvPr>
        </p:nvSpPr>
        <p:spPr>
          <a:xfrm>
            <a:off x="323528" y="1052735"/>
            <a:ext cx="8229600" cy="4999957"/>
          </a:xfrm>
        </p:spPr>
        <p:txBody>
          <a:bodyPr>
            <a:normAutofit lnSpcReduction="10000"/>
          </a:bodyPr>
          <a:lstStyle/>
          <a:p>
            <a:pPr marL="609600" indent="-609600">
              <a:buFontTx/>
              <a:buAutoNum type="arabicPeriod"/>
            </a:pPr>
            <a:r>
              <a:rPr lang="bg-BG" altLang="bg-BG" sz="2400" dirty="0"/>
              <a:t>Ако във външната и вложената заявки след оператора FROM се срещат колони с еднакви имена, е необходимо тяхното уточняване чрез синоними. </a:t>
            </a:r>
          </a:p>
          <a:p>
            <a:pPr marL="609600" indent="-609600">
              <a:buFontTx/>
              <a:buAutoNum type="arabicPeriod"/>
            </a:pPr>
            <a:r>
              <a:rPr lang="bg-BG" altLang="bg-BG" sz="2400" dirty="0"/>
              <a:t>По подразбиране неуточнената колона се свързва с таблицата, указана в най-вътрешния SELECT-FROM-WHERE блок.</a:t>
            </a:r>
          </a:p>
          <a:p>
            <a:pPr marL="609600" indent="-609600">
              <a:buFontTx/>
              <a:buAutoNum type="arabicPeriod"/>
            </a:pPr>
            <a:r>
              <a:rPr lang="bg-BG" altLang="bg-BG" sz="2400" dirty="0"/>
              <a:t>Външната и вложената заявки са независими (некорелирани), когато във вложената заявка не се използуват имена на колони от таблицата, зададена във външната заявка.</a:t>
            </a:r>
          </a:p>
          <a:p>
            <a:pPr marL="609600" indent="-609600">
              <a:buFontTx/>
              <a:buAutoNum type="arabicPeriod"/>
            </a:pPr>
            <a:r>
              <a:rPr lang="bg-BG" altLang="bg-BG" sz="2400" dirty="0"/>
              <a:t>Ако във вложената заявка се използува колона, принадлежаща на таблица от външната заявка, двете заявки са свързани помежду си и се наричат зависими (корелирани).</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5558021A-4CBE-40F8-A3EC-FFB49FAAFE88}" type="slidenum">
              <a:rPr lang="bg-BG" altLang="bg-BG"/>
              <a:pPr/>
              <a:t>63</a:t>
            </a:fld>
            <a:endParaRPr lang="bg-BG" altLang="bg-BG"/>
          </a:p>
        </p:txBody>
      </p:sp>
    </p:spTree>
    <p:extLst>
      <p:ext uri="{BB962C8B-B14F-4D97-AF65-F5344CB8AC3E}">
        <p14:creationId xmlns:p14="http://schemas.microsoft.com/office/powerpoint/2010/main" val="1464931785"/>
      </p:ext>
    </p:extLst>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1187624" y="404664"/>
            <a:ext cx="6781800" cy="582960"/>
          </a:xfrm>
        </p:spPr>
        <p:txBody>
          <a:bodyPr>
            <a:normAutofit/>
          </a:bodyPr>
          <a:lstStyle/>
          <a:p>
            <a:pPr algn="ctr"/>
            <a:r>
              <a:rPr lang="bg-BG" altLang="bg-BG" sz="3200" dirty="0">
                <a:solidFill>
                  <a:schemeClr val="accent1"/>
                </a:solidFill>
              </a:rPr>
              <a:t>Работа с вложени заявки</a:t>
            </a:r>
          </a:p>
        </p:txBody>
      </p:sp>
      <p:sp>
        <p:nvSpPr>
          <p:cNvPr id="179203" name="Rectangle 3"/>
          <p:cNvSpPr>
            <a:spLocks noGrp="1" noChangeArrowheads="1"/>
          </p:cNvSpPr>
          <p:nvPr>
            <p:ph idx="1"/>
          </p:nvPr>
        </p:nvSpPr>
        <p:spPr>
          <a:xfrm>
            <a:off x="827584" y="1052736"/>
            <a:ext cx="7543800" cy="4320480"/>
          </a:xfrm>
        </p:spPr>
        <p:txBody>
          <a:bodyPr>
            <a:normAutofit lnSpcReduction="10000"/>
          </a:bodyPr>
          <a:lstStyle/>
          <a:p>
            <a:pPr marL="0" indent="0">
              <a:buNone/>
            </a:pPr>
            <a:r>
              <a:rPr lang="bg-BG" altLang="bg-BG" sz="2400" b="1" dirty="0"/>
              <a:t>Заявка </a:t>
            </a:r>
            <a:r>
              <a:rPr lang="bg-BG" altLang="bg-BG" sz="2400" b="1" dirty="0" smtClean="0"/>
              <a:t>24: </a:t>
            </a:r>
            <a:r>
              <a:rPr lang="bg-BG" b="1" dirty="0" smtClean="0"/>
              <a:t> </a:t>
            </a:r>
            <a:r>
              <a:rPr lang="bg-BG" dirty="0"/>
              <a:t>Да се изведат имената и адресите на служителите от отдел 'Административен</a:t>
            </a:r>
            <a:r>
              <a:rPr lang="bg-BG" dirty="0" smtClean="0"/>
              <a:t>'.</a:t>
            </a:r>
          </a:p>
          <a:p>
            <a:pPr marL="0" indent="0">
              <a:buNone/>
            </a:pPr>
            <a:endParaRPr lang="en-US" dirty="0"/>
          </a:p>
          <a:p>
            <a:pPr marL="0" indent="0">
              <a:buNone/>
            </a:pPr>
            <a:r>
              <a:rPr lang="bg-BG" dirty="0" smtClean="0"/>
              <a:t>Q24: </a:t>
            </a:r>
            <a:r>
              <a:rPr lang="bg-BG" dirty="0"/>
              <a:t>SELECT </a:t>
            </a:r>
            <a:r>
              <a:rPr lang="bg-BG" dirty="0" err="1"/>
              <a:t>Fname</a:t>
            </a:r>
            <a:r>
              <a:rPr lang="bg-BG" dirty="0"/>
              <a:t>, </a:t>
            </a:r>
            <a:r>
              <a:rPr lang="bg-BG" dirty="0" err="1"/>
              <a:t>Lname</a:t>
            </a:r>
            <a:r>
              <a:rPr lang="bg-BG" dirty="0"/>
              <a:t>, </a:t>
            </a:r>
            <a:r>
              <a:rPr lang="bg-BG" dirty="0" err="1"/>
              <a:t>Address</a:t>
            </a:r>
            <a:endParaRPr lang="en-US" dirty="0"/>
          </a:p>
          <a:p>
            <a:pPr marL="868680" lvl="3" indent="0">
              <a:buNone/>
            </a:pPr>
            <a:r>
              <a:rPr lang="bg-BG" sz="2400" dirty="0"/>
              <a:t>FROM EMPLOYEE</a:t>
            </a:r>
            <a:endParaRPr lang="en-US" sz="2400" dirty="0"/>
          </a:p>
          <a:p>
            <a:pPr marL="868680" lvl="3" indent="0">
              <a:buNone/>
            </a:pPr>
            <a:r>
              <a:rPr lang="bg-BG" sz="2400" dirty="0"/>
              <a:t>WHERE </a:t>
            </a:r>
            <a:r>
              <a:rPr lang="bg-BG" sz="2400" dirty="0" err="1"/>
              <a:t>Dno</a:t>
            </a:r>
            <a:r>
              <a:rPr lang="bg-BG" sz="2400" dirty="0"/>
              <a:t> IN (SELECT </a:t>
            </a:r>
            <a:r>
              <a:rPr lang="bg-BG" sz="2400" dirty="0" err="1"/>
              <a:t>Dnumber</a:t>
            </a:r>
            <a:endParaRPr lang="en-US" sz="2400" dirty="0"/>
          </a:p>
          <a:p>
            <a:pPr marL="2194560" lvl="8" indent="0">
              <a:buNone/>
            </a:pPr>
            <a:r>
              <a:rPr lang="bg-BG" sz="2400" dirty="0"/>
              <a:t>FROM DEPARTMENT</a:t>
            </a:r>
            <a:endParaRPr lang="en-US" sz="2400" dirty="0"/>
          </a:p>
          <a:p>
            <a:pPr marL="2194560" lvl="8" indent="0">
              <a:buNone/>
            </a:pPr>
            <a:r>
              <a:rPr lang="bg-BG" sz="2400" dirty="0"/>
              <a:t>WHERE </a:t>
            </a:r>
            <a:r>
              <a:rPr lang="bg-BG" sz="2400" dirty="0" err="1" smtClean="0"/>
              <a:t>Dname</a:t>
            </a:r>
            <a:r>
              <a:rPr lang="bg-BG" sz="2400" dirty="0" smtClean="0"/>
              <a:t> = 'Административен'</a:t>
            </a:r>
          </a:p>
          <a:p>
            <a:pPr marL="2194560" lvl="8" indent="0">
              <a:buNone/>
            </a:pPr>
            <a:endParaRPr lang="en-US" sz="2400" dirty="0"/>
          </a:p>
          <a:p>
            <a:pPr>
              <a:buFontTx/>
              <a:buNone/>
            </a:pPr>
            <a:r>
              <a:rPr lang="bg-BG" altLang="bg-BG" sz="2400" dirty="0" err="1" smtClean="0"/>
              <a:t>Некорелирана</a:t>
            </a:r>
            <a:r>
              <a:rPr lang="bg-BG" altLang="bg-BG" sz="2400" dirty="0"/>
              <a:t>, </a:t>
            </a:r>
            <a:r>
              <a:rPr lang="en-US" altLang="bg-BG" sz="2400" dirty="0"/>
              <a:t>IN </a:t>
            </a:r>
            <a:r>
              <a:rPr lang="bg-BG" altLang="bg-BG" sz="2400" dirty="0"/>
              <a:t>позволява работа с неявни множества</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B26A279F-7CBE-4A14-933D-DFFB4254CFA1}" type="slidenum">
              <a:rPr lang="bg-BG" altLang="bg-BG"/>
              <a:pPr/>
              <a:t>64</a:t>
            </a:fld>
            <a:endParaRPr lang="bg-BG" altLang="bg-BG"/>
          </a:p>
        </p:txBody>
      </p:sp>
    </p:spTree>
    <p:extLst>
      <p:ext uri="{BB962C8B-B14F-4D97-AF65-F5344CB8AC3E}">
        <p14:creationId xmlns:p14="http://schemas.microsoft.com/office/powerpoint/2010/main" val="2222012363"/>
      </p:ext>
    </p:extLst>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899592" y="404664"/>
            <a:ext cx="6781800" cy="576064"/>
          </a:xfrm>
        </p:spPr>
        <p:txBody>
          <a:bodyPr>
            <a:noAutofit/>
          </a:bodyPr>
          <a:lstStyle/>
          <a:p>
            <a:pPr marL="685800" indent="-685800" algn="ctr"/>
            <a:r>
              <a:rPr lang="bg-BG" altLang="bg-BG" sz="3200" dirty="0">
                <a:solidFill>
                  <a:schemeClr val="accent1"/>
                </a:solidFill>
              </a:rPr>
              <a:t>Работа с вложени заявки </a:t>
            </a:r>
          </a:p>
        </p:txBody>
      </p:sp>
      <p:sp>
        <p:nvSpPr>
          <p:cNvPr id="176131" name="Rectangle 3"/>
          <p:cNvSpPr>
            <a:spLocks noGrp="1" noChangeArrowheads="1"/>
          </p:cNvSpPr>
          <p:nvPr>
            <p:ph idx="1"/>
          </p:nvPr>
        </p:nvSpPr>
        <p:spPr>
          <a:xfrm>
            <a:off x="827584" y="1052736"/>
            <a:ext cx="7543800" cy="4896544"/>
          </a:xfrm>
        </p:spPr>
        <p:txBody>
          <a:bodyPr>
            <a:normAutofit fontScale="92500" lnSpcReduction="10000"/>
          </a:bodyPr>
          <a:lstStyle/>
          <a:p>
            <a:pPr>
              <a:lnSpc>
                <a:spcPct val="80000"/>
              </a:lnSpc>
              <a:buFontTx/>
              <a:buNone/>
            </a:pPr>
            <a:r>
              <a:rPr lang="bg-BG" altLang="bg-BG" sz="2400" b="1" dirty="0"/>
              <a:t>Заявка </a:t>
            </a:r>
            <a:r>
              <a:rPr lang="en-US" altLang="bg-BG" sz="2400" b="1" dirty="0" smtClean="0"/>
              <a:t>2</a:t>
            </a:r>
            <a:r>
              <a:rPr lang="bg-BG" altLang="bg-BG" sz="2400" b="1" dirty="0" smtClean="0"/>
              <a:t>5:</a:t>
            </a:r>
            <a:r>
              <a:rPr lang="bg-BG" altLang="bg-BG" sz="2400" dirty="0" smtClean="0"/>
              <a:t> </a:t>
            </a:r>
            <a:r>
              <a:rPr lang="bg-BG" altLang="bg-BG" sz="2400" dirty="0"/>
              <a:t>да се изведат имената на всички служители, които имат синове или дъщери съименници</a:t>
            </a:r>
            <a:r>
              <a:rPr lang="bg-BG" altLang="bg-BG" sz="2400" dirty="0" smtClean="0"/>
              <a:t>.</a:t>
            </a:r>
          </a:p>
          <a:p>
            <a:pPr>
              <a:lnSpc>
                <a:spcPct val="80000"/>
              </a:lnSpc>
              <a:buFontTx/>
              <a:buNone/>
            </a:pPr>
            <a:endParaRPr lang="bg-BG" altLang="bg-BG" sz="2400" dirty="0"/>
          </a:p>
          <a:p>
            <a:pPr marL="0" indent="0">
              <a:buNone/>
            </a:pPr>
            <a:r>
              <a:rPr lang="bg-BG" dirty="0"/>
              <a:t>Q17: SELECT </a:t>
            </a:r>
            <a:r>
              <a:rPr lang="bg-BG" dirty="0" err="1"/>
              <a:t>E.Fname</a:t>
            </a:r>
            <a:r>
              <a:rPr lang="bg-BG" dirty="0"/>
              <a:t>, </a:t>
            </a:r>
            <a:r>
              <a:rPr lang="bg-BG" dirty="0" err="1"/>
              <a:t>E.Lname</a:t>
            </a:r>
            <a:endParaRPr lang="en-US" dirty="0"/>
          </a:p>
          <a:p>
            <a:pPr marL="868680" lvl="3" indent="0">
              <a:buNone/>
            </a:pPr>
            <a:r>
              <a:rPr lang="bg-BG" sz="2400" dirty="0"/>
              <a:t>FROM EMPLOYEE AS E</a:t>
            </a:r>
            <a:endParaRPr lang="en-US" sz="2400" dirty="0"/>
          </a:p>
          <a:p>
            <a:pPr marL="868680" lvl="3" indent="0">
              <a:buNone/>
            </a:pPr>
            <a:r>
              <a:rPr lang="bg-BG" sz="2400" dirty="0"/>
              <a:t>WHERE </a:t>
            </a:r>
            <a:r>
              <a:rPr lang="bg-BG" sz="2400" dirty="0" err="1"/>
              <a:t>E.Ssn</a:t>
            </a:r>
            <a:r>
              <a:rPr lang="bg-BG" sz="2400" dirty="0"/>
              <a:t> IN (SELECT </a:t>
            </a:r>
            <a:r>
              <a:rPr lang="bg-BG" sz="2400" dirty="0" err="1"/>
              <a:t>Essn</a:t>
            </a:r>
            <a:endParaRPr lang="en-US" sz="2400" dirty="0"/>
          </a:p>
          <a:p>
            <a:pPr marL="2194560" lvl="8" indent="0">
              <a:buNone/>
            </a:pPr>
            <a:r>
              <a:rPr lang="bg-BG" sz="2400" dirty="0"/>
              <a:t>FROM DEPENDENT</a:t>
            </a:r>
            <a:endParaRPr lang="en-US" sz="2400" dirty="0"/>
          </a:p>
          <a:p>
            <a:pPr marL="2194560" lvl="8" indent="0">
              <a:buNone/>
            </a:pPr>
            <a:r>
              <a:rPr lang="bg-BG" sz="2400" dirty="0"/>
              <a:t>WHERE </a:t>
            </a:r>
            <a:r>
              <a:rPr lang="bg-BG" sz="2400" dirty="0" err="1"/>
              <a:t>Essn</a:t>
            </a:r>
            <a:r>
              <a:rPr lang="bg-BG" sz="2400" dirty="0"/>
              <a:t>=</a:t>
            </a:r>
            <a:r>
              <a:rPr lang="bg-BG" sz="2400" dirty="0" err="1"/>
              <a:t>E.ssn</a:t>
            </a:r>
            <a:r>
              <a:rPr lang="bg-BG" sz="2400" dirty="0"/>
              <a:t> AND </a:t>
            </a:r>
            <a:r>
              <a:rPr lang="bg-BG" sz="2400" dirty="0" err="1"/>
              <a:t>E.Fname</a:t>
            </a:r>
            <a:r>
              <a:rPr lang="bg-BG" sz="2400" dirty="0"/>
              <a:t>=</a:t>
            </a:r>
            <a:r>
              <a:rPr lang="bg-BG" sz="2400" dirty="0" err="1"/>
              <a:t>Dependent_name</a:t>
            </a:r>
            <a:r>
              <a:rPr lang="bg-BG" sz="2400" dirty="0" smtClean="0"/>
              <a:t>)</a:t>
            </a:r>
          </a:p>
          <a:p>
            <a:pPr marL="0" indent="0">
              <a:buNone/>
            </a:pPr>
            <a:endParaRPr lang="en-US" dirty="0"/>
          </a:p>
          <a:p>
            <a:pPr marL="0" indent="0">
              <a:lnSpc>
                <a:spcPct val="80000"/>
              </a:lnSpc>
              <a:buNone/>
            </a:pPr>
            <a:r>
              <a:rPr lang="bg-BG" altLang="bg-BG" sz="2400" dirty="0" smtClean="0"/>
              <a:t>Сравнението </a:t>
            </a:r>
            <a:r>
              <a:rPr lang="bg-BG" altLang="bg-BG" sz="2400" dirty="0"/>
              <a:t>SSN=ESSN в условието WHERE на вложената заявка е необходимо, защото в противен случай бихме избрали служителите, чиито имена и пол съвпадат с имената на някои от децата, не непременно на собствените им. Корелирана.</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73176E83-FE35-4729-B74E-B4CC39B1061D}" type="slidenum">
              <a:rPr lang="bg-BG" altLang="bg-BG"/>
              <a:pPr/>
              <a:t>65</a:t>
            </a:fld>
            <a:endParaRPr lang="bg-BG" altLang="bg-BG"/>
          </a:p>
        </p:txBody>
      </p:sp>
    </p:spTree>
    <p:extLst>
      <p:ext uri="{BB962C8B-B14F-4D97-AF65-F5344CB8AC3E}">
        <p14:creationId xmlns:p14="http://schemas.microsoft.com/office/powerpoint/2010/main" val="2795411932"/>
      </p:ext>
    </p:extLst>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1115616" y="241685"/>
            <a:ext cx="6781800" cy="654968"/>
          </a:xfrm>
        </p:spPr>
        <p:txBody>
          <a:bodyPr>
            <a:normAutofit/>
          </a:bodyPr>
          <a:lstStyle/>
          <a:p>
            <a:pPr marL="685800" indent="-685800" algn="ctr"/>
            <a:r>
              <a:rPr lang="bg-BG" altLang="bg-BG" sz="3200" dirty="0">
                <a:solidFill>
                  <a:schemeClr val="accent1"/>
                </a:solidFill>
              </a:rPr>
              <a:t>Работа с вложени заявки </a:t>
            </a:r>
          </a:p>
        </p:txBody>
      </p:sp>
      <p:sp>
        <p:nvSpPr>
          <p:cNvPr id="177155" name="Rectangle 3"/>
          <p:cNvSpPr>
            <a:spLocks noGrp="1" noChangeArrowheads="1"/>
          </p:cNvSpPr>
          <p:nvPr>
            <p:ph idx="1"/>
          </p:nvPr>
        </p:nvSpPr>
        <p:spPr>
          <a:xfrm>
            <a:off x="251520" y="609569"/>
            <a:ext cx="8229600" cy="4999957"/>
          </a:xfrm>
        </p:spPr>
        <p:txBody>
          <a:bodyPr>
            <a:normAutofit lnSpcReduction="10000"/>
          </a:bodyPr>
          <a:lstStyle/>
          <a:p>
            <a:pPr marL="533400" indent="-533400" algn="ctr">
              <a:lnSpc>
                <a:spcPct val="80000"/>
              </a:lnSpc>
              <a:buFontTx/>
              <a:buNone/>
            </a:pPr>
            <a:r>
              <a:rPr lang="bg-BG" altLang="bg-BG" sz="2800" dirty="0">
                <a:solidFill>
                  <a:srgbClr val="C00000"/>
                </a:solidFill>
              </a:rPr>
              <a:t>Сравняване на множества </a:t>
            </a:r>
            <a:r>
              <a:rPr lang="en-US" altLang="bg-BG" sz="2800" dirty="0">
                <a:solidFill>
                  <a:srgbClr val="C00000"/>
                </a:solidFill>
              </a:rPr>
              <a:t>– CONTAINS</a:t>
            </a:r>
          </a:p>
          <a:p>
            <a:pPr marL="533400" indent="-533400">
              <a:lnSpc>
                <a:spcPct val="80000"/>
              </a:lnSpc>
              <a:buFontTx/>
              <a:buNone/>
            </a:pPr>
            <a:r>
              <a:rPr lang="bg-BG" altLang="bg-BG" sz="2400" b="1" dirty="0"/>
              <a:t>Заявка </a:t>
            </a:r>
            <a:r>
              <a:rPr lang="en-US" altLang="bg-BG" sz="2400" b="1" dirty="0" smtClean="0"/>
              <a:t>2</a:t>
            </a:r>
            <a:r>
              <a:rPr lang="bg-BG" altLang="bg-BG" sz="2400" b="1" dirty="0" smtClean="0"/>
              <a:t>6:</a:t>
            </a:r>
            <a:r>
              <a:rPr lang="bg-BG" altLang="bg-BG" sz="2400" dirty="0" smtClean="0"/>
              <a:t> </a:t>
            </a:r>
            <a:r>
              <a:rPr lang="bg-BG" altLang="bg-BG" sz="2400" dirty="0"/>
              <a:t>да се изведат имената на всички служители, които работят по </a:t>
            </a:r>
            <a:r>
              <a:rPr lang="bg-BG" altLang="bg-BG" sz="2400" dirty="0">
                <a:solidFill>
                  <a:schemeClr val="accent1"/>
                </a:solidFill>
              </a:rPr>
              <a:t>всички</a:t>
            </a:r>
            <a:r>
              <a:rPr lang="bg-BG" altLang="bg-BG" sz="2400" dirty="0"/>
              <a:t> проекти на отдел номер 5. </a:t>
            </a:r>
          </a:p>
          <a:p>
            <a:pPr marL="594360" lvl="2" indent="0">
              <a:buNone/>
            </a:pPr>
            <a:r>
              <a:rPr lang="bg-BG" sz="2400" dirty="0"/>
              <a:t>Q18: SELECT </a:t>
            </a:r>
            <a:r>
              <a:rPr lang="bg-BG" sz="2400" dirty="0" err="1"/>
              <a:t>Fname</a:t>
            </a:r>
            <a:r>
              <a:rPr lang="bg-BG" sz="2400" dirty="0" smtClean="0"/>
              <a:t>, </a:t>
            </a:r>
            <a:r>
              <a:rPr lang="bg-BG" sz="2400" dirty="0" err="1" smtClean="0"/>
              <a:t>Lname</a:t>
            </a:r>
            <a:endParaRPr lang="en-US" sz="2400" dirty="0" smtClean="0"/>
          </a:p>
          <a:p>
            <a:pPr marL="1371600" lvl="5" indent="0">
              <a:buNone/>
            </a:pPr>
            <a:r>
              <a:rPr lang="bg-BG" sz="2400" dirty="0" smtClean="0"/>
              <a:t>FROM </a:t>
            </a:r>
            <a:r>
              <a:rPr lang="bg-BG" sz="2400" dirty="0"/>
              <a:t>EMPLOYEE</a:t>
            </a:r>
            <a:endParaRPr lang="en-US" sz="2400" dirty="0"/>
          </a:p>
          <a:p>
            <a:pPr marL="1371600" lvl="5" indent="0">
              <a:buNone/>
            </a:pPr>
            <a:r>
              <a:rPr lang="bg-BG" sz="2400" dirty="0"/>
              <a:t>WHERE ((SELECT </a:t>
            </a:r>
            <a:r>
              <a:rPr lang="bg-BG" sz="2400" dirty="0" err="1"/>
              <a:t>Pno</a:t>
            </a:r>
            <a:endParaRPr lang="en-US" sz="2400" dirty="0"/>
          </a:p>
          <a:p>
            <a:pPr marL="2194560" lvl="8" indent="0">
              <a:buNone/>
            </a:pPr>
            <a:r>
              <a:rPr lang="bg-BG" sz="2400" dirty="0"/>
              <a:t>FROM WORKS_ON</a:t>
            </a:r>
            <a:endParaRPr lang="en-US" sz="2400" dirty="0"/>
          </a:p>
          <a:p>
            <a:pPr marL="2194560" lvl="8" indent="0">
              <a:buNone/>
            </a:pPr>
            <a:r>
              <a:rPr lang="bg-BG" sz="2400" dirty="0"/>
              <a:t>WHERE </a:t>
            </a:r>
            <a:r>
              <a:rPr lang="bg-BG" sz="2400" dirty="0" err="1"/>
              <a:t>Ssn</a:t>
            </a:r>
            <a:r>
              <a:rPr lang="bg-BG" sz="2400" dirty="0"/>
              <a:t>=</a:t>
            </a:r>
            <a:r>
              <a:rPr lang="bg-BG" sz="2400" dirty="0" err="1"/>
              <a:t>Essn</a:t>
            </a:r>
            <a:r>
              <a:rPr lang="bg-BG" sz="2400" dirty="0"/>
              <a:t>)</a:t>
            </a:r>
            <a:endParaRPr lang="en-US" sz="2400" dirty="0"/>
          </a:p>
          <a:p>
            <a:pPr marL="0" indent="0">
              <a:buNone/>
            </a:pPr>
            <a:r>
              <a:rPr lang="bg-BG" dirty="0">
                <a:solidFill>
                  <a:srgbClr val="C00000"/>
                </a:solidFill>
              </a:rPr>
              <a:t>CONTAINS</a:t>
            </a:r>
            <a:endParaRPr lang="en-US" dirty="0">
              <a:solidFill>
                <a:srgbClr val="C00000"/>
              </a:solidFill>
            </a:endParaRPr>
          </a:p>
          <a:p>
            <a:pPr marL="1371600" lvl="5" indent="0">
              <a:buNone/>
            </a:pPr>
            <a:r>
              <a:rPr lang="bg-BG" sz="2400" dirty="0"/>
              <a:t>(SELECT </a:t>
            </a:r>
            <a:r>
              <a:rPr lang="bg-BG" sz="2400" dirty="0" err="1" smtClean="0"/>
              <a:t>Pnumber</a:t>
            </a:r>
            <a:endParaRPr lang="en-US" sz="2400" dirty="0" smtClean="0"/>
          </a:p>
          <a:p>
            <a:pPr marL="1371600" lvl="5" indent="0">
              <a:buNone/>
            </a:pPr>
            <a:r>
              <a:rPr lang="bg-BG" sz="2400" dirty="0" smtClean="0"/>
              <a:t>FROM </a:t>
            </a:r>
            <a:r>
              <a:rPr lang="bg-BG" sz="2400" dirty="0"/>
              <a:t>PROJECT</a:t>
            </a:r>
            <a:endParaRPr lang="en-US" sz="2400" dirty="0"/>
          </a:p>
          <a:p>
            <a:pPr marL="1371600" lvl="5" indent="0">
              <a:buNone/>
            </a:pPr>
            <a:r>
              <a:rPr lang="bg-BG" sz="2400" dirty="0"/>
              <a:t>WHERE </a:t>
            </a:r>
            <a:r>
              <a:rPr lang="bg-BG" sz="2400" dirty="0" err="1"/>
              <a:t>Dnum</a:t>
            </a:r>
            <a:r>
              <a:rPr lang="bg-BG" sz="2400" dirty="0"/>
              <a:t>=5))</a:t>
            </a:r>
            <a:endParaRPr lang="en-US"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8651F32D-0E68-47A0-A0B7-5E2754F7C25F}" type="slidenum">
              <a:rPr lang="bg-BG" altLang="bg-BG"/>
              <a:pPr/>
              <a:t>66</a:t>
            </a:fld>
            <a:endParaRPr lang="bg-BG" altLang="bg-BG"/>
          </a:p>
        </p:txBody>
      </p:sp>
    </p:spTree>
    <p:extLst>
      <p:ext uri="{BB962C8B-B14F-4D97-AF65-F5344CB8AC3E}">
        <p14:creationId xmlns:p14="http://schemas.microsoft.com/office/powerpoint/2010/main" val="3324343645"/>
      </p:ext>
    </p:extLst>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a:xfrm>
            <a:off x="1187624" y="404664"/>
            <a:ext cx="6781800" cy="582960"/>
          </a:xfrm>
        </p:spPr>
        <p:txBody>
          <a:bodyPr>
            <a:normAutofit/>
          </a:bodyPr>
          <a:lstStyle/>
          <a:p>
            <a:pPr algn="ctr"/>
            <a:r>
              <a:rPr lang="bg-BG" altLang="bg-BG" sz="3200" dirty="0">
                <a:solidFill>
                  <a:schemeClr val="accent1">
                    <a:lumMod val="75000"/>
                  </a:schemeClr>
                </a:solidFill>
              </a:rPr>
              <a:t>Работа с вложени заявки </a:t>
            </a:r>
          </a:p>
        </p:txBody>
      </p:sp>
      <p:sp>
        <p:nvSpPr>
          <p:cNvPr id="178179" name="Rectangle 3"/>
          <p:cNvSpPr>
            <a:spLocks noGrp="1" noChangeArrowheads="1"/>
          </p:cNvSpPr>
          <p:nvPr>
            <p:ph idx="1"/>
          </p:nvPr>
        </p:nvSpPr>
        <p:spPr>
          <a:xfrm>
            <a:off x="395536" y="908720"/>
            <a:ext cx="8229600" cy="4456112"/>
          </a:xfrm>
        </p:spPr>
        <p:txBody>
          <a:bodyPr/>
          <a:lstStyle/>
          <a:p>
            <a:pPr marL="609600" indent="-609600" algn="ctr">
              <a:buFontTx/>
              <a:buNone/>
            </a:pPr>
            <a:r>
              <a:rPr lang="bg-BG" altLang="bg-BG" sz="2800" dirty="0">
                <a:solidFill>
                  <a:srgbClr val="C00000"/>
                </a:solidFill>
              </a:rPr>
              <a:t>Функция </a:t>
            </a:r>
            <a:r>
              <a:rPr lang="en-US" altLang="bg-BG" sz="2800" dirty="0">
                <a:solidFill>
                  <a:srgbClr val="C00000"/>
                </a:solidFill>
              </a:rPr>
              <a:t>Exists</a:t>
            </a:r>
            <a:endParaRPr lang="bg-BG" altLang="bg-BG" sz="2800" dirty="0">
              <a:solidFill>
                <a:srgbClr val="C00000"/>
              </a:solidFill>
            </a:endParaRPr>
          </a:p>
          <a:p>
            <a:pPr marL="609600" indent="-609600">
              <a:buFontTx/>
              <a:buAutoNum type="arabicPeriod"/>
            </a:pPr>
            <a:r>
              <a:rPr lang="bg-BG" altLang="bg-BG" sz="2400" dirty="0"/>
              <a:t> Проверява дали резултатът на вложена и корелирана заявка съдържа редове или е празно множество</a:t>
            </a:r>
          </a:p>
          <a:p>
            <a:pPr marL="609600" indent="-609600">
              <a:buFontTx/>
              <a:buNone/>
            </a:pPr>
            <a:r>
              <a:rPr lang="bg-BG" altLang="bg-BG" sz="2400" b="1" dirty="0"/>
              <a:t>Заявка </a:t>
            </a:r>
            <a:r>
              <a:rPr lang="bg-BG" altLang="bg-BG" sz="2400" b="1" dirty="0" smtClean="0"/>
              <a:t>27: </a:t>
            </a:r>
            <a:r>
              <a:rPr lang="bg-BG" altLang="bg-BG" sz="2400" dirty="0"/>
              <a:t>да се изведат имената на служителите, които нямат деца.</a:t>
            </a:r>
            <a:endParaRPr lang="en-AU" altLang="bg-BG" sz="2400" dirty="0"/>
          </a:p>
          <a:p>
            <a:pPr marL="0" indent="0">
              <a:buNone/>
            </a:pPr>
            <a:r>
              <a:rPr lang="bg-BG" dirty="0" smtClean="0"/>
              <a:t>Q27: </a:t>
            </a:r>
            <a:r>
              <a:rPr lang="bg-BG" dirty="0"/>
              <a:t>SELECT </a:t>
            </a:r>
            <a:r>
              <a:rPr lang="bg-BG" dirty="0" err="1"/>
              <a:t>Fname</a:t>
            </a:r>
            <a:r>
              <a:rPr lang="bg-BG" dirty="0"/>
              <a:t>, </a:t>
            </a:r>
            <a:r>
              <a:rPr lang="bg-BG" dirty="0" err="1"/>
              <a:t>Lname</a:t>
            </a:r>
            <a:endParaRPr lang="en-US" dirty="0"/>
          </a:p>
          <a:p>
            <a:pPr marL="868680" lvl="3" indent="0">
              <a:buNone/>
            </a:pPr>
            <a:r>
              <a:rPr lang="bg-BG" sz="2400" dirty="0"/>
              <a:t>FROM EMPLOYEE</a:t>
            </a:r>
            <a:endParaRPr lang="en-US" sz="2400" dirty="0"/>
          </a:p>
          <a:p>
            <a:pPr marL="868680" lvl="3" indent="0">
              <a:buNone/>
            </a:pPr>
            <a:r>
              <a:rPr lang="bg-BG" sz="2400" dirty="0"/>
              <a:t>WHERE </a:t>
            </a:r>
            <a:r>
              <a:rPr lang="bg-BG" sz="2400" dirty="0">
                <a:solidFill>
                  <a:srgbClr val="C00000"/>
                </a:solidFill>
              </a:rPr>
              <a:t>NOT EXISTS </a:t>
            </a:r>
            <a:r>
              <a:rPr lang="bg-BG" sz="2400" dirty="0"/>
              <a:t>(SELECT *</a:t>
            </a:r>
            <a:endParaRPr lang="en-US" sz="2400" dirty="0"/>
          </a:p>
          <a:p>
            <a:pPr marL="2194560" lvl="8" indent="0">
              <a:buNone/>
            </a:pPr>
            <a:r>
              <a:rPr lang="bg-BG" sz="2400" dirty="0"/>
              <a:t>FROM </a:t>
            </a:r>
            <a:r>
              <a:rPr lang="bg-BG" sz="2400" dirty="0" err="1"/>
              <a:t>Dependent</a:t>
            </a:r>
            <a:endParaRPr lang="en-US" sz="2400" dirty="0"/>
          </a:p>
          <a:p>
            <a:pPr marL="2194560" lvl="8" indent="0">
              <a:buNone/>
            </a:pPr>
            <a:r>
              <a:rPr lang="bg-BG" sz="2400" dirty="0"/>
              <a:t>WHERE </a:t>
            </a:r>
            <a:r>
              <a:rPr lang="bg-BG" sz="2400" dirty="0" err="1"/>
              <a:t>Ssn</a:t>
            </a:r>
            <a:r>
              <a:rPr lang="bg-BG" sz="2400" dirty="0"/>
              <a:t>=</a:t>
            </a:r>
            <a:r>
              <a:rPr lang="bg-BG" sz="2400" dirty="0" err="1"/>
              <a:t>Essn</a:t>
            </a:r>
            <a:r>
              <a:rPr lang="bg-BG" sz="2400" dirty="0"/>
              <a:t>)</a:t>
            </a:r>
            <a:endParaRPr lang="en-US"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594FA0AE-67FA-4ADE-A329-AF285521A45E}" type="slidenum">
              <a:rPr lang="bg-BG" altLang="bg-BG"/>
              <a:pPr/>
              <a:t>67</a:t>
            </a:fld>
            <a:endParaRPr lang="bg-BG" altLang="bg-BG"/>
          </a:p>
        </p:txBody>
      </p:sp>
    </p:spTree>
    <p:extLst>
      <p:ext uri="{BB962C8B-B14F-4D97-AF65-F5344CB8AC3E}">
        <p14:creationId xmlns:p14="http://schemas.microsoft.com/office/powerpoint/2010/main" val="2224764083"/>
      </p:ext>
    </p:extLst>
  </p:cSld>
  <p:clrMapOvr>
    <a:masterClrMapping/>
  </p:clrMapOvr>
  <p:transition>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a:xfrm>
            <a:off x="1196837" y="325760"/>
            <a:ext cx="6781800" cy="582960"/>
          </a:xfrm>
        </p:spPr>
        <p:txBody>
          <a:bodyPr>
            <a:normAutofit/>
          </a:bodyPr>
          <a:lstStyle/>
          <a:p>
            <a:pPr algn="ctr"/>
            <a:r>
              <a:rPr lang="bg-BG" altLang="bg-BG" sz="3200" dirty="0">
                <a:solidFill>
                  <a:schemeClr val="accent1">
                    <a:lumMod val="75000"/>
                  </a:schemeClr>
                </a:solidFill>
              </a:rPr>
              <a:t>Работа с вложени заявки </a:t>
            </a:r>
          </a:p>
        </p:txBody>
      </p:sp>
      <p:sp>
        <p:nvSpPr>
          <p:cNvPr id="178179" name="Rectangle 3"/>
          <p:cNvSpPr>
            <a:spLocks noGrp="1" noChangeArrowheads="1"/>
          </p:cNvSpPr>
          <p:nvPr>
            <p:ph idx="1"/>
          </p:nvPr>
        </p:nvSpPr>
        <p:spPr>
          <a:xfrm>
            <a:off x="395536" y="1037049"/>
            <a:ext cx="8229600" cy="432048"/>
          </a:xfrm>
        </p:spPr>
        <p:txBody>
          <a:bodyPr>
            <a:normAutofit fontScale="92500" lnSpcReduction="20000"/>
          </a:bodyPr>
          <a:lstStyle/>
          <a:p>
            <a:pPr marL="609600" indent="-609600" algn="ctr">
              <a:buFontTx/>
              <a:buNone/>
            </a:pPr>
            <a:endParaRPr lang="bg-BG" altLang="bg-BG" sz="2800" dirty="0">
              <a:solidFill>
                <a:srgbClr val="C00000"/>
              </a:solidFill>
            </a:endParaRP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594FA0AE-67FA-4ADE-A329-AF285521A45E}" type="slidenum">
              <a:rPr lang="bg-BG" altLang="bg-BG"/>
              <a:pPr/>
              <a:t>68</a:t>
            </a:fld>
            <a:endParaRPr lang="bg-BG" altLang="bg-BG"/>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8881" y="930471"/>
            <a:ext cx="5082910" cy="5200264"/>
          </a:xfrm>
          <a:prstGeom prst="rect">
            <a:avLst/>
          </a:prstGeom>
          <a:ln w="15875">
            <a:solidFill>
              <a:srgbClr val="C00000"/>
            </a:solidFill>
          </a:ln>
        </p:spPr>
      </p:pic>
    </p:spTree>
    <p:extLst>
      <p:ext uri="{BB962C8B-B14F-4D97-AF65-F5344CB8AC3E}">
        <p14:creationId xmlns:p14="http://schemas.microsoft.com/office/powerpoint/2010/main" val="14661717"/>
      </p:ext>
    </p:extLst>
  </p:cSld>
  <p:clrMapOvr>
    <a:masterClrMapping/>
  </p:clrMapOvr>
  <p:transition>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xfrm>
            <a:off x="1187624" y="404664"/>
            <a:ext cx="6781800" cy="582960"/>
          </a:xfrm>
        </p:spPr>
        <p:txBody>
          <a:bodyPr>
            <a:normAutofit/>
          </a:bodyPr>
          <a:lstStyle/>
          <a:p>
            <a:pPr algn="ctr"/>
            <a:r>
              <a:rPr lang="bg-BG" altLang="bg-BG" sz="3200" dirty="0">
                <a:solidFill>
                  <a:schemeClr val="accent1"/>
                </a:solidFill>
              </a:rPr>
              <a:t>Допълнителни възможности на </a:t>
            </a:r>
            <a:r>
              <a:rPr lang="en-US" altLang="bg-BG" sz="3200" dirty="0" smtClean="0">
                <a:solidFill>
                  <a:schemeClr val="accent1"/>
                </a:solidFill>
              </a:rPr>
              <a:t>SQL</a:t>
            </a:r>
            <a:endParaRPr lang="bg-BG" altLang="bg-BG" sz="3200" dirty="0">
              <a:solidFill>
                <a:schemeClr val="accent1"/>
              </a:solidFill>
            </a:endParaRPr>
          </a:p>
        </p:txBody>
      </p:sp>
      <p:sp>
        <p:nvSpPr>
          <p:cNvPr id="227331" name="Rectangle 3"/>
          <p:cNvSpPr>
            <a:spLocks noGrp="1" noChangeArrowheads="1"/>
          </p:cNvSpPr>
          <p:nvPr>
            <p:ph idx="1"/>
          </p:nvPr>
        </p:nvSpPr>
        <p:spPr>
          <a:xfrm>
            <a:off x="761999" y="1152046"/>
            <a:ext cx="7543800" cy="3886200"/>
          </a:xfrm>
        </p:spPr>
        <p:txBody>
          <a:bodyPr>
            <a:normAutofit lnSpcReduction="10000"/>
          </a:bodyPr>
          <a:lstStyle/>
          <a:p>
            <a:pPr marL="457200" lvl="0" indent="-457200">
              <a:buFont typeface="+mj-lt"/>
              <a:buAutoNum type="arabicPeriod"/>
            </a:pPr>
            <a:r>
              <a:rPr lang="bg-BG" dirty="0"/>
              <a:t>Задаване на потребителски представи.</a:t>
            </a:r>
            <a:endParaRPr lang="en-US" dirty="0"/>
          </a:p>
          <a:p>
            <a:pPr marL="457200" lvl="0" indent="-457200">
              <a:buFont typeface="+mj-lt"/>
              <a:buAutoNum type="arabicPeriod"/>
            </a:pPr>
            <a:r>
              <a:rPr lang="bg-BG" dirty="0"/>
              <a:t>Задаване на общи ограничения във формата на твърдения.</a:t>
            </a:r>
            <a:endParaRPr lang="en-US" dirty="0"/>
          </a:p>
          <a:p>
            <a:pPr marL="457200" lvl="0" indent="-457200">
              <a:buFont typeface="+mj-lt"/>
              <a:buAutoNum type="arabicPeriod"/>
            </a:pPr>
            <a:r>
              <a:rPr lang="bg-BG" dirty="0"/>
              <a:t>Разрешаване или отменяне на потребителски права.</a:t>
            </a:r>
            <a:endParaRPr lang="en-US" dirty="0"/>
          </a:p>
          <a:p>
            <a:pPr marL="457200" lvl="0" indent="-457200">
              <a:buFont typeface="+mj-lt"/>
              <a:buAutoNum type="arabicPeriod"/>
            </a:pPr>
            <a:r>
              <a:rPr lang="bg-BG" dirty="0"/>
              <a:t>Методология за вграждането на SQL в език за програмиране. </a:t>
            </a:r>
            <a:endParaRPr lang="en-US" dirty="0"/>
          </a:p>
          <a:p>
            <a:pPr marL="457200" lvl="0" indent="-457200">
              <a:buFont typeface="+mj-lt"/>
              <a:buAutoNum type="arabicPeriod"/>
            </a:pPr>
            <a:r>
              <a:rPr lang="bg-BG" dirty="0"/>
              <a:t>Работа с тригери за автоматично предприемане на действия при настъпване на определени събития.</a:t>
            </a:r>
            <a:endParaRPr lang="en-US" dirty="0"/>
          </a:p>
          <a:p>
            <a:pPr marL="457200" lvl="0" indent="-457200">
              <a:buFont typeface="+mj-lt"/>
              <a:buAutoNum type="arabicPeriod"/>
            </a:pPr>
            <a:r>
              <a:rPr lang="bg-BG" dirty="0"/>
              <a:t>Задаване на абстрактни типове от данни.</a:t>
            </a:r>
            <a:endParaRPr lang="en-US" dirty="0"/>
          </a:p>
          <a:p>
            <a:pPr marL="457200" lvl="0" indent="-457200">
              <a:buFont typeface="+mj-lt"/>
              <a:buAutoNum type="arabicPeriod"/>
            </a:pPr>
            <a:r>
              <a:rPr lang="bg-BG" dirty="0"/>
              <a:t>Връзка с XML.</a:t>
            </a:r>
            <a:endParaRPr lang="en-US"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A2FDFA66-A512-4AF6-9E09-93184E247DBC}" type="slidenum">
              <a:rPr lang="bg-BG" altLang="bg-BG"/>
              <a:pPr/>
              <a:t>69</a:t>
            </a:fld>
            <a:endParaRPr lang="bg-BG" altLang="bg-BG"/>
          </a:p>
        </p:txBody>
      </p:sp>
    </p:spTree>
  </p:cSld>
  <p:clrMapOvr>
    <a:masterClrMapping/>
  </p:clrMapOvr>
  <p:transition>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1187624" y="476672"/>
            <a:ext cx="6781800" cy="582960"/>
          </a:xfrm>
        </p:spPr>
        <p:txBody>
          <a:bodyPr>
            <a:normAutofit/>
          </a:bodyPr>
          <a:lstStyle/>
          <a:p>
            <a:pPr algn="ctr"/>
            <a:r>
              <a:rPr lang="bg-BG" altLang="bg-BG" sz="3200" dirty="0">
                <a:solidFill>
                  <a:schemeClr val="accent1"/>
                </a:solidFill>
              </a:rPr>
              <a:t>Допълнителни възможности на </a:t>
            </a:r>
            <a:r>
              <a:rPr lang="en-US" altLang="bg-BG" sz="3200" dirty="0" smtClean="0">
                <a:solidFill>
                  <a:schemeClr val="accent1"/>
                </a:solidFill>
              </a:rPr>
              <a:t>SQL</a:t>
            </a:r>
            <a:endParaRPr lang="bg-BG" altLang="bg-BG" sz="3200" dirty="0">
              <a:solidFill>
                <a:schemeClr val="accent1"/>
              </a:solidFill>
            </a:endParaRPr>
          </a:p>
        </p:txBody>
      </p:sp>
      <p:sp>
        <p:nvSpPr>
          <p:cNvPr id="230403" name="Rectangle 3"/>
          <p:cNvSpPr>
            <a:spLocks noGrp="1" noChangeArrowheads="1"/>
          </p:cNvSpPr>
          <p:nvPr>
            <p:ph idx="1"/>
          </p:nvPr>
        </p:nvSpPr>
        <p:spPr>
          <a:xfrm>
            <a:off x="755576" y="1052736"/>
            <a:ext cx="7543800" cy="3886200"/>
          </a:xfrm>
        </p:spPr>
        <p:txBody>
          <a:bodyPr>
            <a:normAutofit lnSpcReduction="10000"/>
          </a:bodyPr>
          <a:lstStyle/>
          <a:p>
            <a:pPr marL="609600" indent="-609600" algn="ctr">
              <a:buFontTx/>
              <a:buNone/>
            </a:pPr>
            <a:r>
              <a:rPr lang="bg-BG" altLang="bg-BG" sz="2800" dirty="0">
                <a:solidFill>
                  <a:srgbClr val="C00000"/>
                </a:solidFill>
              </a:rPr>
              <a:t>Явно задаване на операцията “съединение</a:t>
            </a:r>
            <a:r>
              <a:rPr lang="bg-BG" altLang="bg-BG" sz="2800" dirty="0" smtClean="0">
                <a:solidFill>
                  <a:srgbClr val="C00000"/>
                </a:solidFill>
              </a:rPr>
              <a:t>”</a:t>
            </a:r>
            <a:endParaRPr lang="en-US" altLang="bg-BG" sz="2800" dirty="0" smtClean="0">
              <a:solidFill>
                <a:srgbClr val="C00000"/>
              </a:solidFill>
            </a:endParaRPr>
          </a:p>
          <a:p>
            <a:pPr marL="609600" indent="-609600" algn="ctr">
              <a:buFontTx/>
              <a:buNone/>
            </a:pPr>
            <a:endParaRPr lang="bg-BG" altLang="bg-BG" sz="900" dirty="0">
              <a:solidFill>
                <a:srgbClr val="006699"/>
              </a:solidFill>
            </a:endParaRPr>
          </a:p>
          <a:p>
            <a:pPr marL="609600" indent="-609600">
              <a:buFontTx/>
              <a:buNone/>
            </a:pPr>
            <a:r>
              <a:rPr lang="bg-BG" altLang="bg-BG" sz="2800" dirty="0"/>
              <a:t>Типове съединение:</a:t>
            </a:r>
          </a:p>
          <a:p>
            <a:pPr marL="609600" indent="-609600">
              <a:buFontTx/>
              <a:buAutoNum type="arabicPeriod"/>
            </a:pPr>
            <a:r>
              <a:rPr lang="bg-BG" altLang="bg-BG" sz="2800" dirty="0"/>
              <a:t>Съединение от общ вид (</a:t>
            </a:r>
            <a:r>
              <a:rPr lang="en-AU" altLang="bg-BG" sz="2800" dirty="0"/>
              <a:t>theta join</a:t>
            </a:r>
            <a:r>
              <a:rPr lang="bg-BG" altLang="bg-BG" sz="2800" dirty="0"/>
              <a:t>). </a:t>
            </a:r>
          </a:p>
          <a:p>
            <a:pPr marL="609600" indent="-609600">
              <a:buFontTx/>
              <a:buAutoNum type="arabicPeriod"/>
            </a:pPr>
            <a:r>
              <a:rPr lang="bg-BG" altLang="bg-BG" sz="2800" dirty="0"/>
              <a:t>Естествено съединение (</a:t>
            </a:r>
            <a:r>
              <a:rPr lang="en-AU" altLang="bg-BG" sz="2800" dirty="0"/>
              <a:t>natural join</a:t>
            </a:r>
            <a:r>
              <a:rPr lang="bg-BG" altLang="bg-BG" sz="2800" dirty="0"/>
              <a:t>). </a:t>
            </a:r>
          </a:p>
          <a:p>
            <a:pPr marL="609600" indent="-609600">
              <a:buFontTx/>
              <a:buAutoNum type="arabicPeriod"/>
            </a:pPr>
            <a:r>
              <a:rPr lang="bg-BG" altLang="bg-BG" sz="2800" dirty="0"/>
              <a:t>Ляво-външно съединение (</a:t>
            </a:r>
            <a:r>
              <a:rPr lang="en-AU" altLang="bg-BG" sz="2800" dirty="0"/>
              <a:t>left outer join</a:t>
            </a:r>
            <a:r>
              <a:rPr lang="bg-BG" altLang="bg-BG" sz="2800" dirty="0"/>
              <a:t>). </a:t>
            </a:r>
          </a:p>
          <a:p>
            <a:pPr marL="609600" indent="-609600">
              <a:buFontTx/>
              <a:buAutoNum type="arabicPeriod"/>
            </a:pPr>
            <a:r>
              <a:rPr lang="bg-BG" altLang="bg-BG" sz="2800" dirty="0"/>
              <a:t>Дясно-външно съединение (</a:t>
            </a:r>
            <a:r>
              <a:rPr lang="en-AU" altLang="bg-BG" sz="2800" dirty="0"/>
              <a:t>right outer join</a:t>
            </a:r>
            <a:r>
              <a:rPr lang="bg-BG" altLang="bg-BG" sz="2800" dirty="0"/>
              <a:t>).</a:t>
            </a:r>
            <a:r>
              <a:rPr lang="en-AU" altLang="bg-BG" sz="2800" dirty="0"/>
              <a:t> </a:t>
            </a:r>
            <a:endParaRPr lang="bg-BG" altLang="bg-BG" sz="2800" dirty="0"/>
          </a:p>
          <a:p>
            <a:pPr marL="609600" indent="-609600">
              <a:buFontTx/>
              <a:buAutoNum type="arabicPeriod"/>
            </a:pPr>
            <a:r>
              <a:rPr lang="bg-BG" altLang="bg-BG" sz="2800" dirty="0"/>
              <a:t>Пълно съединение (</a:t>
            </a:r>
            <a:r>
              <a:rPr lang="en-AU" altLang="bg-BG" sz="2800" dirty="0"/>
              <a:t>cross-join</a:t>
            </a:r>
            <a:r>
              <a:rPr lang="bg-BG" altLang="bg-BG" sz="2800" dirty="0"/>
              <a:t>), което представлява</a:t>
            </a:r>
            <a:r>
              <a:rPr lang="bg-BG" altLang="bg-BG" dirty="0"/>
              <a:t> </a:t>
            </a:r>
            <a:r>
              <a:rPr lang="bg-BG" altLang="bg-BG" sz="2800" dirty="0"/>
              <a:t>декартово </a:t>
            </a:r>
            <a:r>
              <a:rPr lang="bg-BG" altLang="bg-BG" sz="2800" dirty="0" smtClean="0"/>
              <a:t>произведение</a:t>
            </a:r>
            <a:r>
              <a:rPr lang="en-US" altLang="bg-BG" sz="2800" dirty="0" smtClean="0"/>
              <a:t>.</a:t>
            </a:r>
            <a:endParaRPr lang="bg-BG" altLang="bg-BG" sz="28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9ABC0274-DC8A-49CE-B824-D89FDAABABBB}" type="slidenum">
              <a:rPr lang="bg-BG" altLang="bg-BG"/>
              <a:pPr/>
              <a:t>70</a:t>
            </a:fld>
            <a:endParaRPr lang="bg-BG" altLang="bg-BG"/>
          </a:p>
        </p:txBody>
      </p:sp>
    </p:spTree>
  </p:cSld>
  <p:clrMapOvr>
    <a:masterClrMapping/>
  </p:clrMapOvr>
  <p:transition>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1187624" y="476672"/>
            <a:ext cx="6781800" cy="582960"/>
          </a:xfrm>
        </p:spPr>
        <p:txBody>
          <a:bodyPr>
            <a:normAutofit/>
          </a:bodyPr>
          <a:lstStyle/>
          <a:p>
            <a:pPr algn="ctr"/>
            <a:r>
              <a:rPr lang="bg-BG" altLang="bg-BG" sz="3200" dirty="0">
                <a:solidFill>
                  <a:schemeClr val="accent1"/>
                </a:solidFill>
              </a:rPr>
              <a:t>Допълнителни възможности на </a:t>
            </a:r>
            <a:r>
              <a:rPr lang="en-US" altLang="bg-BG" sz="3200" dirty="0" smtClean="0">
                <a:solidFill>
                  <a:schemeClr val="accent1"/>
                </a:solidFill>
              </a:rPr>
              <a:t>SQL</a:t>
            </a:r>
            <a:endParaRPr lang="bg-BG" altLang="bg-BG" sz="3200" dirty="0">
              <a:solidFill>
                <a:schemeClr val="accent1"/>
              </a:solidFill>
            </a:endParaRPr>
          </a:p>
        </p:txBody>
      </p:sp>
      <p:sp>
        <p:nvSpPr>
          <p:cNvPr id="230403" name="Rectangle 3"/>
          <p:cNvSpPr>
            <a:spLocks noGrp="1" noChangeArrowheads="1"/>
          </p:cNvSpPr>
          <p:nvPr>
            <p:ph idx="1"/>
          </p:nvPr>
        </p:nvSpPr>
        <p:spPr>
          <a:xfrm>
            <a:off x="1122477" y="958220"/>
            <a:ext cx="6840760" cy="701118"/>
          </a:xfrm>
        </p:spPr>
        <p:txBody>
          <a:bodyPr>
            <a:normAutofit/>
          </a:bodyPr>
          <a:lstStyle/>
          <a:p>
            <a:pPr marL="609600" indent="-609600" algn="ctr">
              <a:buFontTx/>
              <a:buNone/>
            </a:pPr>
            <a:r>
              <a:rPr lang="bg-BG" altLang="bg-BG" sz="2800" dirty="0">
                <a:solidFill>
                  <a:srgbClr val="C00000"/>
                </a:solidFill>
              </a:rPr>
              <a:t>Явно задаване на операцията “съединение</a:t>
            </a:r>
            <a:r>
              <a:rPr lang="bg-BG" altLang="bg-BG" sz="2800" dirty="0" smtClean="0">
                <a:solidFill>
                  <a:srgbClr val="C00000"/>
                </a:solidFill>
              </a:rPr>
              <a:t>”</a:t>
            </a:r>
            <a:endParaRPr lang="en-US" altLang="bg-BG" sz="2800" dirty="0" smtClean="0">
              <a:solidFill>
                <a:srgbClr val="C00000"/>
              </a:solidFill>
            </a:endParaRPr>
          </a:p>
          <a:p>
            <a:pPr marL="609600" indent="-609600" algn="ctr">
              <a:buFontTx/>
              <a:buNone/>
            </a:pPr>
            <a:endParaRPr lang="bg-BG" altLang="bg-BG" sz="900" dirty="0">
              <a:solidFill>
                <a:srgbClr val="006699"/>
              </a:solidFill>
            </a:endParaRP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9ABC0274-DC8A-49CE-B824-D89FDAABABBB}" type="slidenum">
              <a:rPr lang="bg-BG" altLang="bg-BG"/>
              <a:pPr/>
              <a:t>71</a:t>
            </a:fld>
            <a:endParaRPr lang="bg-BG" altLang="bg-BG"/>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594033"/>
            <a:ext cx="6408712" cy="4530630"/>
          </a:xfrm>
          <a:prstGeom prst="rect">
            <a:avLst/>
          </a:prstGeom>
        </p:spPr>
      </p:pic>
    </p:spTree>
    <p:extLst>
      <p:ext uri="{BB962C8B-B14F-4D97-AF65-F5344CB8AC3E}">
        <p14:creationId xmlns:p14="http://schemas.microsoft.com/office/powerpoint/2010/main" val="4077947045"/>
      </p:ext>
    </p:extLst>
  </p:cSld>
  <p:clrMapOvr>
    <a:masterClrMapping/>
  </p:clrMapOvr>
  <p:transition>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xfrm>
            <a:off x="1187624" y="404664"/>
            <a:ext cx="6781800" cy="654968"/>
          </a:xfrm>
        </p:spPr>
        <p:txBody>
          <a:bodyPr>
            <a:normAutofit/>
          </a:bodyPr>
          <a:lstStyle/>
          <a:p>
            <a:pPr algn="ctr"/>
            <a:r>
              <a:rPr lang="bg-BG" altLang="bg-BG" sz="3200" dirty="0">
                <a:solidFill>
                  <a:srgbClr val="C00000"/>
                </a:solidFill>
              </a:rPr>
              <a:t>Допълнителни възможности на </a:t>
            </a:r>
            <a:r>
              <a:rPr lang="en-US" altLang="bg-BG" sz="3600" dirty="0" smtClean="0">
                <a:solidFill>
                  <a:srgbClr val="C00000"/>
                </a:solidFill>
              </a:rPr>
              <a:t>SQL</a:t>
            </a:r>
            <a:endParaRPr lang="bg-BG" altLang="bg-BG" sz="3600" dirty="0">
              <a:solidFill>
                <a:srgbClr val="C00000"/>
              </a:solidFill>
            </a:endParaRPr>
          </a:p>
        </p:txBody>
      </p:sp>
      <p:sp>
        <p:nvSpPr>
          <p:cNvPr id="231427" name="Rectangle 3"/>
          <p:cNvSpPr>
            <a:spLocks noGrp="1" noChangeArrowheads="1"/>
          </p:cNvSpPr>
          <p:nvPr>
            <p:ph idx="1"/>
          </p:nvPr>
        </p:nvSpPr>
        <p:spPr>
          <a:xfrm>
            <a:off x="827584" y="1124744"/>
            <a:ext cx="7848872" cy="4320480"/>
          </a:xfrm>
        </p:spPr>
        <p:txBody>
          <a:bodyPr>
            <a:normAutofit/>
          </a:bodyPr>
          <a:lstStyle/>
          <a:p>
            <a:pPr algn="ctr">
              <a:lnSpc>
                <a:spcPct val="90000"/>
              </a:lnSpc>
              <a:buFontTx/>
              <a:buNone/>
            </a:pPr>
            <a:r>
              <a:rPr lang="bg-BG" altLang="bg-BG" sz="2400" dirty="0">
                <a:solidFill>
                  <a:srgbClr val="006699"/>
                </a:solidFill>
              </a:rPr>
              <a:t>Пример</a:t>
            </a:r>
          </a:p>
          <a:p>
            <a:pPr marL="0" indent="0">
              <a:buNone/>
            </a:pPr>
            <a:r>
              <a:rPr lang="bg-BG" dirty="0"/>
              <a:t>Q4: SELECT </a:t>
            </a:r>
            <a:r>
              <a:rPr lang="bg-BG" dirty="0" err="1"/>
              <a:t>E.Fname</a:t>
            </a:r>
            <a:r>
              <a:rPr lang="bg-BG" dirty="0"/>
              <a:t>, </a:t>
            </a:r>
            <a:r>
              <a:rPr lang="bg-BG" dirty="0" err="1"/>
              <a:t>E.Lname</a:t>
            </a:r>
            <a:r>
              <a:rPr lang="bg-BG" dirty="0"/>
              <a:t>, </a:t>
            </a:r>
            <a:r>
              <a:rPr lang="bg-BG" dirty="0" err="1"/>
              <a:t>S.Fname</a:t>
            </a:r>
            <a:r>
              <a:rPr lang="bg-BG" dirty="0"/>
              <a:t>, </a:t>
            </a:r>
            <a:r>
              <a:rPr lang="bg-BG" dirty="0" err="1"/>
              <a:t>S.Lname</a:t>
            </a:r>
            <a:endParaRPr lang="en-US" dirty="0"/>
          </a:p>
          <a:p>
            <a:pPr marL="594360" lvl="2" indent="0">
              <a:buNone/>
            </a:pPr>
            <a:r>
              <a:rPr lang="bg-BG" sz="2400" dirty="0"/>
              <a:t>FROM EMPLOYEE E S</a:t>
            </a:r>
            <a:endParaRPr lang="en-US" sz="2400" dirty="0"/>
          </a:p>
          <a:p>
            <a:pPr marL="594360" lvl="2" indent="0">
              <a:buNone/>
            </a:pPr>
            <a:r>
              <a:rPr lang="bg-BG" sz="2400" dirty="0"/>
              <a:t>WHERE </a:t>
            </a:r>
            <a:r>
              <a:rPr lang="bg-BG" sz="2400" dirty="0" err="1"/>
              <a:t>E.Superssn</a:t>
            </a:r>
            <a:r>
              <a:rPr lang="bg-BG" sz="2400" dirty="0"/>
              <a:t>=</a:t>
            </a:r>
            <a:r>
              <a:rPr lang="bg-BG" sz="2400" dirty="0" err="1"/>
              <a:t>S.Ssn</a:t>
            </a:r>
            <a:endParaRPr lang="en-US" sz="2400" dirty="0"/>
          </a:p>
          <a:p>
            <a:pPr marL="0" indent="0">
              <a:buNone/>
            </a:pPr>
            <a:r>
              <a:rPr lang="bg-BG" dirty="0"/>
              <a:t>Алтернативен запис:</a:t>
            </a:r>
            <a:endParaRPr lang="en-US" dirty="0"/>
          </a:p>
          <a:p>
            <a:pPr marL="0" indent="0">
              <a:buNone/>
            </a:pPr>
            <a:r>
              <a:rPr lang="bg-BG" dirty="0"/>
              <a:t>Q4: SELECT </a:t>
            </a:r>
            <a:r>
              <a:rPr lang="bg-BG" dirty="0" err="1"/>
              <a:t>E.Fname</a:t>
            </a:r>
            <a:r>
              <a:rPr lang="bg-BG" dirty="0"/>
              <a:t>, </a:t>
            </a:r>
            <a:r>
              <a:rPr lang="bg-BG" dirty="0" err="1"/>
              <a:t>E.Lname</a:t>
            </a:r>
            <a:r>
              <a:rPr lang="bg-BG" dirty="0"/>
              <a:t>, </a:t>
            </a:r>
            <a:r>
              <a:rPr lang="bg-BG" dirty="0" err="1"/>
              <a:t>S.Fname</a:t>
            </a:r>
            <a:r>
              <a:rPr lang="bg-BG" dirty="0"/>
              <a:t>, </a:t>
            </a:r>
            <a:r>
              <a:rPr lang="bg-BG" dirty="0" err="1"/>
              <a:t>S.Lname</a:t>
            </a:r>
            <a:endParaRPr lang="en-US" dirty="0"/>
          </a:p>
          <a:p>
            <a:pPr marL="594360" lvl="2" indent="0">
              <a:buNone/>
            </a:pPr>
            <a:r>
              <a:rPr lang="bg-BG" sz="2400" dirty="0"/>
              <a:t>FROM (EMPLOYEE E LEFT OUTER JOIN EMPLOYEE S </a:t>
            </a:r>
            <a:endParaRPr lang="en-US" sz="2400" dirty="0"/>
          </a:p>
          <a:p>
            <a:pPr marL="594360" lvl="2" indent="0">
              <a:buNone/>
            </a:pPr>
            <a:r>
              <a:rPr lang="bg-BG" sz="2400" dirty="0"/>
              <a:t>ON </a:t>
            </a:r>
            <a:r>
              <a:rPr lang="bg-BG" sz="2400" dirty="0" err="1"/>
              <a:t>E.Superssn</a:t>
            </a:r>
            <a:r>
              <a:rPr lang="bg-BG" sz="2400" dirty="0"/>
              <a:t>=</a:t>
            </a:r>
            <a:r>
              <a:rPr lang="bg-BG" sz="2400" dirty="0" err="1"/>
              <a:t>S.Ssn</a:t>
            </a:r>
            <a:r>
              <a:rPr lang="bg-BG" sz="2400" dirty="0"/>
              <a:t>)</a:t>
            </a:r>
            <a:endParaRPr lang="en-US" sz="2400" dirty="0"/>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CD84F0BE-1C92-400E-9348-724BD19749AE}" type="slidenum">
              <a:rPr lang="bg-BG" altLang="bg-BG"/>
              <a:pPr/>
              <a:t>72</a:t>
            </a:fld>
            <a:endParaRPr lang="bg-BG" altLang="bg-BG"/>
          </a:p>
        </p:txBody>
      </p:sp>
    </p:spTree>
  </p:cSld>
  <p:clrMapOvr>
    <a:masterClrMapping/>
  </p:clrMapOvr>
  <p:transition>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1187624" y="404664"/>
            <a:ext cx="6781800" cy="726976"/>
          </a:xfrm>
        </p:spPr>
        <p:txBody>
          <a:bodyPr>
            <a:normAutofit/>
          </a:bodyPr>
          <a:lstStyle/>
          <a:p>
            <a:pPr algn="ctr"/>
            <a:r>
              <a:rPr lang="bg-BG" altLang="bg-BG" sz="3200" dirty="0" smtClean="0">
                <a:solidFill>
                  <a:schemeClr val="accent1"/>
                </a:solidFill>
              </a:rPr>
              <a:t>Резюме</a:t>
            </a:r>
            <a:endParaRPr lang="bg-BG" altLang="bg-BG" sz="3200" dirty="0">
              <a:solidFill>
                <a:schemeClr val="accent1"/>
              </a:solidFill>
            </a:endParaRPr>
          </a:p>
        </p:txBody>
      </p:sp>
      <p:sp>
        <p:nvSpPr>
          <p:cNvPr id="232451" name="Rectangle 3"/>
          <p:cNvSpPr>
            <a:spLocks noGrp="1" noChangeArrowheads="1"/>
          </p:cNvSpPr>
          <p:nvPr>
            <p:ph idx="1"/>
          </p:nvPr>
        </p:nvSpPr>
        <p:spPr>
          <a:xfrm>
            <a:off x="827584" y="1196752"/>
            <a:ext cx="7543800" cy="4464496"/>
          </a:xfrm>
        </p:spPr>
        <p:txBody>
          <a:bodyPr>
            <a:normAutofit fontScale="92500" lnSpcReduction="20000"/>
          </a:bodyPr>
          <a:lstStyle/>
          <a:p>
            <a:pPr marL="533400" indent="-533400">
              <a:buFontTx/>
              <a:buAutoNum type="arabicPeriod"/>
            </a:pPr>
            <a:r>
              <a:rPr lang="bg-BG" altLang="bg-BG" sz="2800" dirty="0"/>
              <a:t>Езикът </a:t>
            </a:r>
            <a:r>
              <a:rPr lang="en-US" altLang="bg-BG" sz="2800" dirty="0"/>
              <a:t>SQL</a:t>
            </a:r>
            <a:r>
              <a:rPr lang="bg-BG" altLang="bg-BG" sz="2800" dirty="0"/>
              <a:t> е непроцедурен език, чрез който се дефинира базата и се задават обработките върху нея.</a:t>
            </a:r>
          </a:p>
          <a:p>
            <a:pPr marL="533400" indent="-533400">
              <a:buFontTx/>
              <a:buAutoNum type="arabicPeriod"/>
            </a:pPr>
            <a:r>
              <a:rPr lang="bg-BG" altLang="bg-BG" sz="2800" dirty="0"/>
              <a:t>Негов основен елемент е командата </a:t>
            </a:r>
            <a:r>
              <a:rPr lang="en-US" altLang="bg-BG" sz="2800" dirty="0"/>
              <a:t>SELECT</a:t>
            </a:r>
            <a:r>
              <a:rPr lang="bg-BG" altLang="bg-BG" sz="2800" dirty="0"/>
              <a:t>, която предоставя основните релационни операции. </a:t>
            </a:r>
          </a:p>
          <a:p>
            <a:pPr marL="533400" indent="-533400">
              <a:buFontTx/>
              <a:buAutoNum type="arabicPeriod"/>
            </a:pPr>
            <a:r>
              <a:rPr lang="bg-BG" altLang="bg-BG" sz="2800" dirty="0"/>
              <a:t>Резултатът от </a:t>
            </a:r>
            <a:r>
              <a:rPr lang="en-US" altLang="bg-BG" sz="2800" dirty="0"/>
              <a:t>SELECT</a:t>
            </a:r>
            <a:r>
              <a:rPr lang="bg-BG" altLang="bg-BG" sz="2800" dirty="0"/>
              <a:t> е таблица, състояща се от една или повече колони и нула или няколко реда. </a:t>
            </a:r>
            <a:endParaRPr lang="en-US" altLang="bg-BG" sz="2800" dirty="0"/>
          </a:p>
          <a:p>
            <a:pPr marL="533400" indent="-533400">
              <a:buFontTx/>
              <a:buAutoNum type="arabicPeriod"/>
            </a:pPr>
            <a:r>
              <a:rPr lang="bg-BG" altLang="bg-BG" sz="2800" dirty="0"/>
              <a:t>Командата </a:t>
            </a:r>
            <a:r>
              <a:rPr lang="en-US" altLang="bg-BG" sz="2800" dirty="0"/>
              <a:t>SELECT </a:t>
            </a:r>
            <a:r>
              <a:rPr lang="bg-BG" altLang="bg-BG" sz="2800" dirty="0"/>
              <a:t>се състои от шест клаузи, като първите две от тях са задължителни. Редът на отделните оператори не може да бъде променян.</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AE5B79D8-C946-4F7C-AAFC-0EBAF4C51F25}" type="slidenum">
              <a:rPr lang="bg-BG" altLang="bg-BG"/>
              <a:pPr/>
              <a:t>73</a:t>
            </a:fld>
            <a:endParaRPr lang="bg-BG" altLang="bg-BG"/>
          </a:p>
        </p:txBody>
      </p:sp>
    </p:spTree>
  </p:cSld>
  <p:clrMapOvr>
    <a:masterClrMapping/>
  </p:clrMapOvr>
  <p:transition>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1187624" y="404664"/>
            <a:ext cx="6781800" cy="726976"/>
          </a:xfrm>
        </p:spPr>
        <p:txBody>
          <a:bodyPr>
            <a:normAutofit/>
          </a:bodyPr>
          <a:lstStyle/>
          <a:p>
            <a:pPr algn="ctr"/>
            <a:r>
              <a:rPr lang="bg-BG" altLang="bg-BG" sz="3200" dirty="0" smtClean="0">
                <a:solidFill>
                  <a:schemeClr val="accent1"/>
                </a:solidFill>
              </a:rPr>
              <a:t>РЕЗЮМЕ</a:t>
            </a:r>
            <a:endParaRPr lang="bg-BG" altLang="bg-BG" sz="3200" dirty="0">
              <a:solidFill>
                <a:schemeClr val="accent1"/>
              </a:solidFill>
            </a:endParaRPr>
          </a:p>
        </p:txBody>
      </p:sp>
      <p:sp>
        <p:nvSpPr>
          <p:cNvPr id="233475" name="Rectangle 3"/>
          <p:cNvSpPr>
            <a:spLocks noGrp="1" noChangeArrowheads="1"/>
          </p:cNvSpPr>
          <p:nvPr>
            <p:ph idx="1"/>
          </p:nvPr>
        </p:nvSpPr>
        <p:spPr>
          <a:xfrm>
            <a:off x="971600" y="1124744"/>
            <a:ext cx="7543800" cy="4752528"/>
          </a:xfrm>
        </p:spPr>
        <p:txBody>
          <a:bodyPr>
            <a:normAutofit lnSpcReduction="10000"/>
          </a:bodyPr>
          <a:lstStyle/>
          <a:p>
            <a:pPr marL="457200" indent="-457200" algn="ctr">
              <a:lnSpc>
                <a:spcPct val="90000"/>
              </a:lnSpc>
              <a:buFontTx/>
              <a:buNone/>
            </a:pPr>
            <a:r>
              <a:rPr lang="bg-BG" altLang="bg-BG" sz="2800" dirty="0">
                <a:solidFill>
                  <a:srgbClr val="C00000"/>
                </a:solidFill>
              </a:rPr>
              <a:t>Общ вид на командата </a:t>
            </a:r>
            <a:r>
              <a:rPr lang="en-US" altLang="bg-BG" sz="2800" dirty="0" smtClean="0">
                <a:solidFill>
                  <a:srgbClr val="C00000"/>
                </a:solidFill>
              </a:rPr>
              <a:t>SELECT</a:t>
            </a:r>
          </a:p>
          <a:p>
            <a:pPr marL="457200" indent="-457200" algn="ctr">
              <a:lnSpc>
                <a:spcPct val="90000"/>
              </a:lnSpc>
              <a:buFontTx/>
              <a:buNone/>
            </a:pPr>
            <a:endParaRPr lang="en-GB" altLang="bg-BG" sz="900" dirty="0"/>
          </a:p>
          <a:p>
            <a:pPr marL="838200" lvl="1" indent="-381000">
              <a:lnSpc>
                <a:spcPct val="90000"/>
              </a:lnSpc>
              <a:buFontTx/>
              <a:buNone/>
            </a:pPr>
            <a:r>
              <a:rPr lang="en-GB" altLang="bg-BG" sz="2400" dirty="0"/>
              <a:t>SELECT [DISTINCT|ALL]{* | &lt;column list&gt;</a:t>
            </a:r>
          </a:p>
          <a:p>
            <a:pPr marL="838200" lvl="1" indent="-381000">
              <a:lnSpc>
                <a:spcPct val="90000"/>
              </a:lnSpc>
              <a:buFontTx/>
              <a:buNone/>
            </a:pPr>
            <a:r>
              <a:rPr lang="en-GB" altLang="bg-BG" sz="2400" dirty="0"/>
              <a:t>FROM &lt;table list&gt;</a:t>
            </a:r>
          </a:p>
          <a:p>
            <a:pPr marL="838200" lvl="1" indent="-381000">
              <a:lnSpc>
                <a:spcPct val="90000"/>
              </a:lnSpc>
              <a:buFontTx/>
              <a:buNone/>
            </a:pPr>
            <a:r>
              <a:rPr lang="en-GB" altLang="bg-BG" sz="2400" dirty="0"/>
              <a:t>[WHERE &lt;condition&gt;]</a:t>
            </a:r>
          </a:p>
          <a:p>
            <a:pPr marL="838200" lvl="1" indent="-381000">
              <a:lnSpc>
                <a:spcPct val="90000"/>
              </a:lnSpc>
              <a:buFontTx/>
              <a:buNone/>
            </a:pPr>
            <a:r>
              <a:rPr lang="en-GB" altLang="bg-BG" sz="2400" dirty="0"/>
              <a:t>[GROUP BY &lt;grouping column(s)&gt;]</a:t>
            </a:r>
          </a:p>
          <a:p>
            <a:pPr marL="838200" lvl="1" indent="-381000">
              <a:lnSpc>
                <a:spcPct val="90000"/>
              </a:lnSpc>
              <a:buFontTx/>
              <a:buNone/>
            </a:pPr>
            <a:r>
              <a:rPr lang="en-GB" altLang="bg-BG" sz="2400" dirty="0"/>
              <a:t>[HAVING &lt;group condition&gt;]</a:t>
            </a:r>
          </a:p>
          <a:p>
            <a:pPr marL="838200" lvl="1" indent="-381000">
              <a:lnSpc>
                <a:spcPct val="90000"/>
              </a:lnSpc>
              <a:buFontTx/>
              <a:buNone/>
            </a:pPr>
            <a:r>
              <a:rPr lang="en-GB" altLang="bg-BG" sz="2400" dirty="0"/>
              <a:t>[ORDER</a:t>
            </a:r>
            <a:r>
              <a:rPr lang="en-GB" altLang="bg-BG" sz="2000" dirty="0"/>
              <a:t> BY </a:t>
            </a:r>
            <a:r>
              <a:rPr lang="en-GB" altLang="bg-BG" sz="2400" dirty="0"/>
              <a:t>&lt;column list</a:t>
            </a:r>
            <a:r>
              <a:rPr lang="en-GB" altLang="bg-BG" sz="2400" dirty="0" smtClean="0"/>
              <a:t>&gt;]</a:t>
            </a:r>
          </a:p>
          <a:p>
            <a:pPr marL="838200" lvl="1" indent="-381000">
              <a:lnSpc>
                <a:spcPct val="90000"/>
              </a:lnSpc>
              <a:buFontTx/>
              <a:buNone/>
            </a:pPr>
            <a:endParaRPr lang="en-US" altLang="bg-BG" sz="2400" dirty="0"/>
          </a:p>
          <a:p>
            <a:pPr marL="457200" indent="-457200">
              <a:lnSpc>
                <a:spcPct val="90000"/>
              </a:lnSpc>
              <a:buFontTx/>
              <a:buAutoNum type="arabicPeriod" startAt="5"/>
            </a:pPr>
            <a:r>
              <a:rPr lang="en-US" altLang="bg-BG" sz="2400" dirty="0"/>
              <a:t>SQL</a:t>
            </a:r>
            <a:r>
              <a:rPr lang="bg-BG" altLang="bg-BG" sz="2400" dirty="0"/>
              <a:t> позволява обновяване на базата чрез командите </a:t>
            </a:r>
            <a:r>
              <a:rPr lang="en-US" altLang="bg-BG" sz="2400" dirty="0"/>
              <a:t>INSERT</a:t>
            </a:r>
            <a:r>
              <a:rPr lang="bg-BG" altLang="bg-BG" sz="2400" dirty="0"/>
              <a:t>, </a:t>
            </a:r>
            <a:r>
              <a:rPr lang="en-US" altLang="bg-BG" sz="2400" dirty="0"/>
              <a:t>DELETE</a:t>
            </a:r>
            <a:r>
              <a:rPr lang="bg-BG" altLang="bg-BG" sz="2400" dirty="0"/>
              <a:t>, </a:t>
            </a:r>
            <a:r>
              <a:rPr lang="en-US" altLang="bg-BG" sz="2400" dirty="0"/>
              <a:t>UPDATE</a:t>
            </a:r>
            <a:r>
              <a:rPr lang="bg-BG" altLang="bg-BG" sz="2400" dirty="0"/>
              <a:t>.</a:t>
            </a:r>
          </a:p>
          <a:p>
            <a:pPr marL="457200" indent="-457200">
              <a:lnSpc>
                <a:spcPct val="90000"/>
              </a:lnSpc>
              <a:buFontTx/>
              <a:buAutoNum type="arabicPeriod" startAt="5"/>
            </a:pPr>
            <a:r>
              <a:rPr lang="bg-BG" altLang="bg-BG" sz="2400" dirty="0"/>
              <a:t>Командите за дефиниране на данните позволяват описването на различните компоненти, изграждащи базата.</a:t>
            </a:r>
          </a:p>
        </p:txBody>
      </p:sp>
      <p:sp>
        <p:nvSpPr>
          <p:cNvPr id="4" name="Date Placeholder 3"/>
          <p:cNvSpPr>
            <a:spLocks noGrp="1"/>
          </p:cNvSpPr>
          <p:nvPr>
            <p:ph type="dt" sz="half" idx="10"/>
          </p:nvPr>
        </p:nvSpPr>
        <p:spPr/>
        <p:txBody>
          <a:bodyPr/>
          <a:lstStyle/>
          <a:p>
            <a:r>
              <a:rPr lang="bg-BG" altLang="bg-BG"/>
              <a:t>Юлиана Пенева</a:t>
            </a:r>
          </a:p>
        </p:txBody>
      </p:sp>
      <p:sp>
        <p:nvSpPr>
          <p:cNvPr id="5" name="Footer Placeholder 4"/>
          <p:cNvSpPr>
            <a:spLocks noGrp="1"/>
          </p:cNvSpPr>
          <p:nvPr>
            <p:ph type="ftr" sz="quarter" idx="11"/>
          </p:nvPr>
        </p:nvSpPr>
        <p:spPr/>
        <p:txBody>
          <a:bodyPr/>
          <a:lstStyle/>
          <a:p>
            <a:r>
              <a:rPr lang="bg-BG" altLang="bg-BG"/>
              <a:t>CSCB405- модул4</a:t>
            </a:r>
          </a:p>
        </p:txBody>
      </p:sp>
      <p:sp>
        <p:nvSpPr>
          <p:cNvPr id="6" name="Slide Number Placeholder 5"/>
          <p:cNvSpPr>
            <a:spLocks noGrp="1"/>
          </p:cNvSpPr>
          <p:nvPr>
            <p:ph type="sldNum" sz="quarter" idx="12"/>
          </p:nvPr>
        </p:nvSpPr>
        <p:spPr/>
        <p:txBody>
          <a:bodyPr/>
          <a:lstStyle/>
          <a:p>
            <a:fld id="{B9129FAB-0B12-49B7-BA8B-E6EACBF5C82E}" type="slidenum">
              <a:rPr lang="bg-BG" altLang="bg-BG"/>
              <a:pPr/>
              <a:t>74</a:t>
            </a:fld>
            <a:endParaRPr lang="bg-BG" altLang="bg-BG"/>
          </a:p>
        </p:txBody>
      </p:sp>
    </p:spTree>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10086</TotalTime>
  <Words>4928</Words>
  <Application>Microsoft Office PowerPoint</Application>
  <PresentationFormat>On-screen Show (4:3)</PresentationFormat>
  <Paragraphs>809</Paragraphs>
  <Slides>74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Arial</vt:lpstr>
      <vt:lpstr>Arial Narrow</vt:lpstr>
      <vt:lpstr>Calibri</vt:lpstr>
      <vt:lpstr>Impact</vt:lpstr>
      <vt:lpstr>Math3Mono</vt:lpstr>
      <vt:lpstr>Symbol</vt:lpstr>
      <vt:lpstr>Times New Roman</vt:lpstr>
      <vt:lpstr>NewsPrint</vt:lpstr>
      <vt:lpstr>CSCB405 Бази от данни и СУБД  Модул 4: Преглед на езика SQL  </vt:lpstr>
      <vt:lpstr>Съдържание </vt:lpstr>
      <vt:lpstr>Основни заявки на SQL </vt:lpstr>
      <vt:lpstr>Основни заявки на SQL </vt:lpstr>
      <vt:lpstr>Основни заявки на SQL </vt:lpstr>
      <vt:lpstr>Основни заявки на SQL</vt:lpstr>
      <vt:lpstr>Основни заявки на SQL </vt:lpstr>
      <vt:lpstr>Основни заявки на SQL </vt:lpstr>
      <vt:lpstr>Основни заявки на SQL </vt:lpstr>
      <vt:lpstr>Основни заявки на SQL</vt:lpstr>
      <vt:lpstr>Основни заявки на SQL </vt:lpstr>
      <vt:lpstr>Основни заявки на SQL </vt:lpstr>
      <vt:lpstr>Основни заявки на SQL</vt:lpstr>
      <vt:lpstr>Основни заявки на SQL</vt:lpstr>
      <vt:lpstr>Основни заявки на SQL</vt:lpstr>
      <vt:lpstr>Основни заявки на SQL</vt:lpstr>
      <vt:lpstr>Основни заявки на SQL</vt:lpstr>
      <vt:lpstr>Основни заявки на SQL </vt:lpstr>
      <vt:lpstr>Основни заявки на SQL</vt:lpstr>
      <vt:lpstr>Основни заявки на SQL </vt:lpstr>
      <vt:lpstr>Основни заявки на SQL</vt:lpstr>
      <vt:lpstr>Основни заявки на SQL</vt:lpstr>
      <vt:lpstr>Основни заявки на SQL </vt:lpstr>
      <vt:lpstr>Основни заявки на SQL</vt:lpstr>
      <vt:lpstr>Основни заявки на SQL </vt:lpstr>
      <vt:lpstr>Агрегатни функции в SQL </vt:lpstr>
      <vt:lpstr>Агрегатни функции в SQL</vt:lpstr>
      <vt:lpstr>Агрегатни функции в SQL </vt:lpstr>
      <vt:lpstr>Агрегатни функции в SQL</vt:lpstr>
      <vt:lpstr>Агрегатни функции в SQL</vt:lpstr>
      <vt:lpstr>Агрегатни функции в SQL</vt:lpstr>
      <vt:lpstr>Групиране и сортиране </vt:lpstr>
      <vt:lpstr>Групиране и сортиране </vt:lpstr>
      <vt:lpstr>Групиране и сортиране </vt:lpstr>
      <vt:lpstr>Групиране и сортиране</vt:lpstr>
      <vt:lpstr>Групиране и сортиране</vt:lpstr>
      <vt:lpstr>Групиране и сортиране</vt:lpstr>
      <vt:lpstr>Групиране и сортиране </vt:lpstr>
      <vt:lpstr>Обновяване на базата</vt:lpstr>
      <vt:lpstr>Обновяване на базата</vt:lpstr>
      <vt:lpstr>Обновяване на базата</vt:lpstr>
      <vt:lpstr>Обновяване на базата</vt:lpstr>
      <vt:lpstr>Обновяване на базата</vt:lpstr>
      <vt:lpstr>Обновяване на базата</vt:lpstr>
      <vt:lpstr>Обновяване на базата</vt:lpstr>
      <vt:lpstr>Обновяване на базата</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Дефиниране на данните</vt:lpstr>
      <vt:lpstr>Работа с вложени заявки </vt:lpstr>
      <vt:lpstr>Работа с вложени заявки</vt:lpstr>
      <vt:lpstr>Работа с вложени заявки </vt:lpstr>
      <vt:lpstr>Работа с вложени заявки</vt:lpstr>
      <vt:lpstr>Работа с вложени заявки </vt:lpstr>
      <vt:lpstr>Работа с вложени заявки </vt:lpstr>
      <vt:lpstr>Работа с вложени заявки </vt:lpstr>
      <vt:lpstr>Работа с вложени заявки </vt:lpstr>
      <vt:lpstr>Допълнителни възможности на SQL</vt:lpstr>
      <vt:lpstr>Допълнителни възможности на SQL</vt:lpstr>
      <vt:lpstr>Допълнителни възможности на SQL</vt:lpstr>
      <vt:lpstr>Допълнителни възможности на SQL</vt:lpstr>
      <vt:lpstr>Резюме</vt:lpstr>
      <vt:lpstr>РЕЗЮМЕ</vt:lpstr>
    </vt:vector>
  </TitlesOfParts>
  <Company>NBU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INFB586 Module 1</dc:title>
  <dc:subject>Files&amp;databases</dc:subject>
  <dc:creator>July Peneva</dc:creator>
  <cp:lastModifiedBy>Windows User</cp:lastModifiedBy>
  <cp:revision>171</cp:revision>
  <dcterms:created xsi:type="dcterms:W3CDTF">2006-09-20T15:43:40Z</dcterms:created>
  <dcterms:modified xsi:type="dcterms:W3CDTF">2018-11-14T08:36:47Z</dcterms:modified>
</cp:coreProperties>
</file>