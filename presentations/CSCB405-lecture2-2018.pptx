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  <p:sldMasterId id="2147483677" r:id="rId2"/>
  </p:sldMasterIdLst>
  <p:notesMasterIdLst>
    <p:notesMasterId r:id="rId44"/>
  </p:notesMasterIdLst>
  <p:handoutMasterIdLst>
    <p:handoutMasterId r:id="rId45"/>
  </p:handoutMasterIdLst>
  <p:sldIdLst>
    <p:sldId id="256" r:id="rId3"/>
    <p:sldId id="257" r:id="rId4"/>
    <p:sldId id="258" r:id="rId5"/>
    <p:sldId id="259" r:id="rId6"/>
    <p:sldId id="260" r:id="rId7"/>
    <p:sldId id="263" r:id="rId8"/>
    <p:sldId id="280" r:id="rId9"/>
    <p:sldId id="264" r:id="rId10"/>
    <p:sldId id="320" r:id="rId11"/>
    <p:sldId id="321" r:id="rId12"/>
    <p:sldId id="322" r:id="rId13"/>
    <p:sldId id="266" r:id="rId14"/>
    <p:sldId id="314" r:id="rId15"/>
    <p:sldId id="268" r:id="rId16"/>
    <p:sldId id="315" r:id="rId17"/>
    <p:sldId id="267" r:id="rId18"/>
    <p:sldId id="265" r:id="rId19"/>
    <p:sldId id="316" r:id="rId20"/>
    <p:sldId id="269" r:id="rId21"/>
    <p:sldId id="331" r:id="rId22"/>
    <p:sldId id="270" r:id="rId23"/>
    <p:sldId id="274" r:id="rId24"/>
    <p:sldId id="290" r:id="rId25"/>
    <p:sldId id="292" r:id="rId26"/>
    <p:sldId id="293" r:id="rId27"/>
    <p:sldId id="328" r:id="rId28"/>
    <p:sldId id="329" r:id="rId29"/>
    <p:sldId id="271" r:id="rId30"/>
    <p:sldId id="291" r:id="rId31"/>
    <p:sldId id="330" r:id="rId32"/>
    <p:sldId id="294" r:id="rId33"/>
    <p:sldId id="295" r:id="rId34"/>
    <p:sldId id="296" r:id="rId35"/>
    <p:sldId id="297" r:id="rId36"/>
    <p:sldId id="306" r:id="rId37"/>
    <p:sldId id="307" r:id="rId38"/>
    <p:sldId id="308" r:id="rId39"/>
    <p:sldId id="309" r:id="rId40"/>
    <p:sldId id="310" r:id="rId41"/>
    <p:sldId id="311" r:id="rId42"/>
    <p:sldId id="332" r:id="rId43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7" autoAdjust="0"/>
    <p:restoredTop sz="94636" autoAdjust="0"/>
  </p:normalViewPr>
  <p:slideViewPr>
    <p:cSldViewPr>
      <p:cViewPr varScale="1">
        <p:scale>
          <a:sx n="117" d="100"/>
          <a:sy n="117" d="100"/>
        </p:scale>
        <p:origin x="17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AFAEE970-5F74-4B4B-975A-EAC6578D4A07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82394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741CAA6E-DE12-420B-AAC6-C7CC2B5DAC5E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3591007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CAA6E-DE12-420B-AAC6-C7CC2B5DAC5E}" type="slidenum">
              <a:rPr lang="bg-BG" altLang="bg-BG" smtClean="0"/>
              <a:pPr/>
              <a:t>26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95227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CAA6E-DE12-420B-AAC6-C7CC2B5DAC5E}" type="slidenum">
              <a:rPr lang="bg-BG" altLang="bg-BG" smtClean="0"/>
              <a:pPr/>
              <a:t>27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95227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7275B8-35F3-4D37-A04F-50393B233CD1}" type="slidenum">
              <a:rPr lang="bg-BG" altLang="bg-BG"/>
              <a:pPr/>
              <a:t>31</a:t>
            </a:fld>
            <a:endParaRPr lang="bg-BG" altLang="bg-BG"/>
          </a:p>
        </p:txBody>
      </p:sp>
      <p:sp>
        <p:nvSpPr>
          <p:cNvPr id="14950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BD1B75-D16E-483F-A7AF-9612D4E14512}" type="slidenum">
              <a:rPr lang="bg-BG" altLang="bg-BG"/>
              <a:pPr/>
              <a:t>32</a:t>
            </a:fld>
            <a:endParaRPr lang="bg-BG" altLang="bg-BG"/>
          </a:p>
        </p:txBody>
      </p:sp>
      <p:sp>
        <p:nvSpPr>
          <p:cNvPr id="15155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2CC381-9464-4133-96EB-393AA01C7284}" type="slidenum">
              <a:rPr lang="bg-BG" altLang="bg-BG"/>
              <a:pPr/>
              <a:t>33</a:t>
            </a:fld>
            <a:endParaRPr lang="bg-BG" altLang="bg-BG"/>
          </a:p>
        </p:txBody>
      </p:sp>
      <p:sp>
        <p:nvSpPr>
          <p:cNvPr id="15360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C054FC-B739-43C0-8817-7C5B4174CE60}" type="slidenum">
              <a:rPr lang="bg-BG" altLang="bg-BG"/>
              <a:pPr/>
              <a:t>34</a:t>
            </a:fld>
            <a:endParaRPr lang="bg-BG" altLang="bg-BG"/>
          </a:p>
        </p:txBody>
      </p:sp>
      <p:sp>
        <p:nvSpPr>
          <p:cNvPr id="15565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27B329-C017-46A4-B547-A074CA38849E}" type="slidenum">
              <a:rPr lang="bg-BG" altLang="bg-BG"/>
              <a:pPr/>
              <a:t>35</a:t>
            </a:fld>
            <a:endParaRPr lang="bg-BG" altLang="bg-BG"/>
          </a:p>
        </p:txBody>
      </p:sp>
      <p:sp>
        <p:nvSpPr>
          <p:cNvPr id="17817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401B2C-65BC-4479-B88E-6FF2943CD25D}" type="slidenum">
              <a:rPr lang="bg-BG" altLang="bg-BG"/>
              <a:pPr/>
              <a:t>36</a:t>
            </a:fld>
            <a:endParaRPr lang="bg-BG" altLang="bg-BG"/>
          </a:p>
        </p:txBody>
      </p:sp>
      <p:sp>
        <p:nvSpPr>
          <p:cNvPr id="18022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CDD01-90B4-44B7-ACDD-5C0C92086B51}" type="slidenum">
              <a:rPr lang="bg-BG" altLang="bg-BG"/>
              <a:pPr/>
              <a:t>37</a:t>
            </a:fld>
            <a:endParaRPr lang="bg-BG" altLang="bg-BG"/>
          </a:p>
        </p:txBody>
      </p:sp>
      <p:sp>
        <p:nvSpPr>
          <p:cNvPr id="18227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246486-8BF5-4DEC-A51B-1E08940C3A17}" type="slidenum">
              <a:rPr lang="bg-BG" altLang="bg-BG"/>
              <a:pPr/>
              <a:t>38</a:t>
            </a:fld>
            <a:endParaRPr lang="bg-BG" altLang="bg-BG"/>
          </a:p>
        </p:txBody>
      </p:sp>
      <p:sp>
        <p:nvSpPr>
          <p:cNvPr id="18432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8E3D2A-C210-4A57-AE84-2B6CB644F99C}" type="slidenum">
              <a:rPr lang="bg-BG" altLang="bg-BG"/>
              <a:pPr/>
              <a:t>39</a:t>
            </a:fld>
            <a:endParaRPr lang="bg-BG" altLang="bg-BG"/>
          </a:p>
        </p:txBody>
      </p:sp>
      <p:sp>
        <p:nvSpPr>
          <p:cNvPr id="18637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B10EA1-5391-4AA0-B3DD-FA431E004FBA}" type="slidenum">
              <a:rPr lang="bg-BG" altLang="bg-BG"/>
              <a:pPr/>
              <a:t>40</a:t>
            </a:fld>
            <a:endParaRPr lang="bg-BG" altLang="bg-BG"/>
          </a:p>
        </p:txBody>
      </p:sp>
      <p:sp>
        <p:nvSpPr>
          <p:cNvPr id="18841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2CC381-9464-4133-96EB-393AA01C7284}" type="slidenum">
              <a:rPr lang="bg-BG" altLang="bg-BG"/>
              <a:pPr/>
              <a:t>41</a:t>
            </a:fld>
            <a:endParaRPr lang="bg-BG" altLang="bg-BG"/>
          </a:p>
        </p:txBody>
      </p:sp>
      <p:sp>
        <p:nvSpPr>
          <p:cNvPr id="15360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3053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7290-128C-46A2-B171-3FA9C0FFDF78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5E1B-406B-426F-8CB3-2E6941477D5C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4CED4-D29B-496E-84FA-A972071E5C1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9965B-BFD7-413D-BEA1-D48E091C417E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622C-5DE6-4760-9692-ED21456732FC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450-C4C0-4614-BAA5-99671A7DEF1D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458D7-C44C-4D12-B2DE-0B117B0A9608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6F829-2EB5-459E-97AA-7CB30E4DD227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6C9A0-953F-433F-A6DC-211E5DD1E504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93865-4272-4E67-83DD-2346845E2C63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4B75D87-6AE5-479E-9185-DF7D28A5BA21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5709505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BF20009-F01C-4AA5-8D1C-8F29406DA9CF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81416837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1" y="1905004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51" y="4344992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2474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5850"/>
            <a:ext cx="762317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92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 rtlCol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lang="en-US" sz="10000" b="0" i="1" kern="1200" baseline="0" dirty="0" smtClean="0">
                <a:ln>
                  <a:solidFill>
                    <a:schemeClr val="tx1">
                      <a:alpha val="21000"/>
                    </a:schemeClr>
                  </a:solidFill>
                </a:ln>
                <a:gradFill>
                  <a:gsLst>
                    <a:gs pos="6000">
                      <a:schemeClr val="accent4">
                        <a:lumMod val="75000"/>
                      </a:schemeClr>
                    </a:gs>
                    <a:gs pos="50000">
                      <a:schemeClr val="accent4">
                        <a:lumMod val="50000"/>
                      </a:schemeClr>
                    </a:gs>
                    <a:gs pos="100000">
                      <a:schemeClr val="bg2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effectLst>
                  <a:outerShdw blurRad="139700" dir="16200000" rotWithShape="0">
                    <a:schemeClr val="tx1">
                      <a:alpha val="34000"/>
                    </a:schemeClr>
                  </a:outerShdw>
                </a:effectLst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4714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74800"/>
      </p:ext>
    </p:extLst>
  </p:cSld>
  <p:clrMapOvr>
    <a:masterClrMapping/>
  </p:clrMapOvr>
  <p:transition>
    <p:fade/>
  </p:transition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9932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76855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757805"/>
            <a:ext cx="4114800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3" y="1757805"/>
            <a:ext cx="4117019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36156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240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2662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404665"/>
      </p:ext>
    </p:extLst>
  </p:cSld>
  <p:clrMapOvr>
    <a:masterClrMapping/>
  </p:clrMapOvr>
  <p:transition>
    <p:fade/>
  </p:transition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8687"/>
      </p:ext>
    </p:extLst>
  </p:cSld>
  <p:clrMapOvr>
    <a:masterClrMapping/>
  </p:clrMapOvr>
  <p:transition>
    <p:fade/>
  </p:transition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" y="6238879"/>
            <a:ext cx="9144001" cy="619125"/>
          </a:xfrm>
          <a:solidFill>
            <a:srgbClr val="FFFF99"/>
          </a:solidFill>
        </p:spPr>
        <p:txBody>
          <a:bodyPr lIns="152394" tIns="76197" rIns="152394" bIns="76197" anchor="b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365693"/>
      </p:ext>
    </p:extLst>
  </p:cSld>
  <p:clrMapOvr>
    <a:masterClrMapping/>
  </p:clrMapOvr>
  <p:transition>
    <p:fade/>
  </p:transition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5850"/>
            <a:ext cx="762317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92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 rtlCol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lang="en-US" sz="10000" b="0" i="1" kern="1200" baseline="0" dirty="0" smtClean="0">
                <a:ln>
                  <a:solidFill>
                    <a:schemeClr val="tx1">
                      <a:alpha val="21000"/>
                    </a:schemeClr>
                  </a:solidFill>
                </a:ln>
                <a:gradFill>
                  <a:gsLst>
                    <a:gs pos="6000">
                      <a:schemeClr val="accent4">
                        <a:lumMod val="75000"/>
                      </a:schemeClr>
                    </a:gs>
                    <a:gs pos="50000">
                      <a:schemeClr val="accent4">
                        <a:lumMod val="50000"/>
                      </a:schemeClr>
                    </a:gs>
                    <a:gs pos="100000">
                      <a:schemeClr val="bg2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effectLst>
                  <a:outerShdw blurRad="139700" dir="16200000" rotWithShape="0">
                    <a:schemeClr val="tx1">
                      <a:alpha val="34000"/>
                    </a:schemeClr>
                  </a:outerShdw>
                </a:effectLst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976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66700"/>
            <a:ext cx="7772400" cy="11049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58000" y="61722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 algn="l" eaLnBrk="0" hangingPunct="0">
              <a:defRPr/>
            </a:pPr>
            <a:fld id="{7EA74707-C7E2-4FD7-B06E-DC5FBD6A61AA}" type="slidenum">
              <a:rPr lang="en-GB" altLang="en-US" sz="2400">
                <a:solidFill>
                  <a:prstClr val="black"/>
                </a:solidFill>
                <a:latin typeface="Times New Roman" pitchFamily="18" charset="0"/>
              </a:rPr>
              <a:pPr algn="l" eaLnBrk="0" hangingPunct="0">
                <a:defRPr/>
              </a:pPr>
              <a:t>‹#›</a:t>
            </a:fld>
            <a:endParaRPr lang="en-GB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261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CE2492D3-F433-41BB-A204-3C26B2EE6079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51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412875"/>
            <a:ext cx="8382000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pic>
        <p:nvPicPr>
          <p:cNvPr id="1028" name="Picture 3" descr="bottomba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9200"/>
            <a:ext cx="9144000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31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transition>
    <p:fade/>
  </p:transition>
  <p:hf hdr="0" ftr="0" dt="0"/>
  <p:txStyles>
    <p:titleStyle>
      <a:lvl1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4800" spc="-150" dirty="0">
          <a:ln w="3175">
            <a:noFill/>
          </a:ln>
          <a:solidFill>
            <a:srgbClr val="005825"/>
          </a:solidFill>
          <a:latin typeface="+mj-lt"/>
          <a:ea typeface="+mn-ea"/>
          <a:cs typeface="Arial" pitchFamily="34" charset="0"/>
        </a:defRPr>
      </a:lvl1pPr>
      <a:lvl2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2pPr>
      <a:lvl3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3pPr>
      <a:lvl4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4pPr>
      <a:lvl5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5825"/>
          </a:solidFill>
          <a:latin typeface="Calibri" pitchFamily="34" charset="0"/>
          <a:cs typeface="Arial" charset="0"/>
        </a:defRPr>
      </a:lvl9pPr>
    </p:titleStyle>
    <p:bodyStyle>
      <a:lvl1pPr marL="396875" indent="-396875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608" y="17342"/>
            <a:ext cx="7317060" cy="3125564"/>
          </a:xfrm>
        </p:spPr>
        <p:txBody>
          <a:bodyPr/>
          <a:lstStyle/>
          <a:p>
            <a:r>
              <a:rPr lang="en-US" altLang="bg-BG" sz="2700" dirty="0" smtClean="0">
                <a:solidFill>
                  <a:srgbClr val="C00000"/>
                </a:solidFill>
              </a:rPr>
              <a:t>CSCB405 </a:t>
            </a:r>
            <a:r>
              <a:rPr lang="bg-BG" altLang="bg-BG" sz="2700" dirty="0" smtClean="0">
                <a:solidFill>
                  <a:srgbClr val="C00000"/>
                </a:solidFill>
              </a:rPr>
              <a:t>Бази от данни и СУБД</a:t>
            </a:r>
            <a:r>
              <a:rPr lang="bg-BG" altLang="bg-BG" sz="2700" dirty="0">
                <a:solidFill>
                  <a:srgbClr val="C00000"/>
                </a:solidFill>
              </a:rPr>
              <a:t/>
            </a:r>
            <a:br>
              <a:rPr lang="bg-BG" altLang="bg-BG" sz="2700" dirty="0">
                <a:solidFill>
                  <a:srgbClr val="C00000"/>
                </a:solidFill>
              </a:rPr>
            </a:br>
            <a:r>
              <a:rPr lang="bg-BG" altLang="bg-BG" sz="2700" dirty="0">
                <a:solidFill>
                  <a:srgbClr val="FF0000"/>
                </a:solidFill>
              </a:rPr>
              <a:t/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/>
              <a:t> Модул </a:t>
            </a:r>
            <a:r>
              <a:rPr lang="en-US" altLang="bg-BG" sz="2700" dirty="0"/>
              <a:t>2</a:t>
            </a:r>
            <a:r>
              <a:rPr lang="bg-BG" altLang="bg-BG" sz="2700" dirty="0"/>
              <a:t>: Моделиране на данните. Архитектура и компоненти на СУБД </a:t>
            </a:r>
            <a:br>
              <a:rPr lang="bg-BG" altLang="bg-BG" sz="2700" dirty="0"/>
            </a:br>
            <a:endParaRPr lang="bg-BG" altLang="bg-BG" sz="27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91680" y="3861048"/>
            <a:ext cx="6146800" cy="14859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bg-BG" altLang="bg-BG" sz="2800" dirty="0"/>
              <a:t>Юлиана Пенева</a:t>
            </a:r>
          </a:p>
          <a:p>
            <a:pPr algn="l">
              <a:lnSpc>
                <a:spcPct val="90000"/>
              </a:lnSpc>
            </a:pPr>
            <a:r>
              <a:rPr lang="bg-BG" altLang="bg-BG" sz="2800" dirty="0"/>
              <a:t>Департамент “Информатика”</a:t>
            </a:r>
          </a:p>
          <a:p>
            <a:pPr algn="l">
              <a:lnSpc>
                <a:spcPct val="90000"/>
              </a:lnSpc>
            </a:pPr>
            <a:r>
              <a:rPr lang="en-US" altLang="bg-BG" sz="2800" dirty="0"/>
              <a:t>july_peneva@abv.bg</a:t>
            </a:r>
            <a:endParaRPr lang="bg-BG" altLang="bg-BG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243888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b="1" dirty="0">
                <a:solidFill>
                  <a:srgbClr val="C00000"/>
                </a:solidFill>
              </a:rPr>
              <a:t>Съдържание</a:t>
            </a:r>
            <a:r>
              <a:rPr lang="bg-BG" altLang="bg-BG" sz="32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476673"/>
            <a:ext cx="8208640" cy="4248472"/>
          </a:xfrm>
        </p:spPr>
        <p:txBody>
          <a:bodyPr>
            <a:normAutofit/>
          </a:bodyPr>
          <a:lstStyle/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Моделиране на данните.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Класификация на моделите.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Архитектура на СУБД.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Езици и интерфейси за работа с базата.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Функционални компоненти на СУБД.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История на моделите на данни.</a:t>
            </a:r>
          </a:p>
          <a:p>
            <a:pPr marL="990600" lvl="1" indent="-533400">
              <a:buFontTx/>
              <a:buNone/>
            </a:pPr>
            <a:r>
              <a:rPr lang="bg-BG" altLang="bg-BG" sz="2400" dirty="0" smtClean="0">
                <a:solidFill>
                  <a:schemeClr val="tx1"/>
                </a:solidFill>
              </a:rPr>
              <a:t>Трябва </a:t>
            </a:r>
            <a:r>
              <a:rPr lang="bg-BG" altLang="bg-BG" sz="2400" dirty="0">
                <a:solidFill>
                  <a:schemeClr val="tx1"/>
                </a:solidFill>
              </a:rPr>
              <a:t>да е усвоен </a:t>
            </a:r>
            <a:r>
              <a:rPr lang="bg-BG" altLang="bg-BG" sz="2400" dirty="0" smtClean="0">
                <a:solidFill>
                  <a:schemeClr val="tx1"/>
                </a:solidFill>
              </a:rPr>
              <a:t>Модул</a:t>
            </a:r>
            <a:r>
              <a:rPr lang="en-US" altLang="bg-BG" sz="2400" dirty="0" smtClean="0">
                <a:solidFill>
                  <a:schemeClr val="tx1"/>
                </a:solidFill>
              </a:rPr>
              <a:t> </a:t>
            </a:r>
            <a:r>
              <a:rPr lang="bg-BG" altLang="bg-BG" sz="2400" dirty="0" smtClean="0">
                <a:solidFill>
                  <a:schemeClr val="tx1"/>
                </a:solidFill>
              </a:rPr>
              <a:t>1</a:t>
            </a:r>
            <a:r>
              <a:rPr lang="bg-BG" altLang="bg-BG" sz="2400" dirty="0">
                <a:solidFill>
                  <a:schemeClr val="tx1"/>
                </a:solidFill>
              </a:rPr>
              <a:t>:  Организиране на данни и информация. Файлове и бази от данни.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F6AE-1505-4A5E-BAB6-53EA251A466F}" type="slidenum">
              <a:rPr lang="bg-BG" altLang="bg-BG"/>
              <a:pPr/>
              <a:t>2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564" y="4365104"/>
            <a:ext cx="2736304" cy="181175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43887" cy="725488"/>
          </a:xfrm>
        </p:spPr>
        <p:txBody>
          <a:bodyPr>
            <a:normAutofit/>
          </a:bodyPr>
          <a:lstStyle/>
          <a:p>
            <a:pPr marL="838200" indent="-838200" algn="ctr"/>
            <a:r>
              <a:rPr lang="bg-BG" altLang="bg-BG" sz="3200" dirty="0">
                <a:solidFill>
                  <a:schemeClr val="accent1"/>
                </a:solidFill>
              </a:rPr>
              <a:t>Моделиране на данните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548680"/>
            <a:ext cx="8229600" cy="4600352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bg-BG" altLang="bg-BG" sz="2800" dirty="0">
                <a:solidFill>
                  <a:srgbClr val="C00000"/>
                </a:solidFill>
              </a:rPr>
              <a:t>Модел на </a:t>
            </a:r>
            <a:r>
              <a:rPr lang="bg-BG" altLang="bg-BG" sz="2800" dirty="0" smtClean="0">
                <a:solidFill>
                  <a:srgbClr val="C00000"/>
                </a:solidFill>
              </a:rPr>
              <a:t>данните</a:t>
            </a:r>
            <a:r>
              <a:rPr lang="en-US" altLang="bg-BG" sz="2800" dirty="0" smtClean="0">
                <a:solidFill>
                  <a:srgbClr val="C00000"/>
                </a:solidFill>
              </a:rPr>
              <a:t> </a:t>
            </a:r>
            <a:r>
              <a:rPr lang="en-US" altLang="bg-BG" sz="2800" dirty="0">
                <a:solidFill>
                  <a:srgbClr val="C00000"/>
                </a:solidFill>
              </a:rPr>
              <a:t>(</a:t>
            </a:r>
            <a:r>
              <a:rPr lang="en-US" altLang="bg-BG" sz="2800" dirty="0" smtClean="0">
                <a:solidFill>
                  <a:srgbClr val="C00000"/>
                </a:solidFill>
              </a:rPr>
              <a:t>data model)</a:t>
            </a:r>
            <a:r>
              <a:rPr lang="bg-BG" altLang="bg-BG" sz="2800" dirty="0" smtClean="0"/>
              <a:t>  </a:t>
            </a:r>
            <a:r>
              <a:rPr lang="bg-BG" altLang="bg-BG" sz="2800" dirty="0"/>
              <a:t>- съвкупност от абстрактни понятия, чрез които се описват свойствата на разработваното </a:t>
            </a:r>
            <a:r>
              <a:rPr lang="bg-BG" altLang="bg-BG" sz="2800" dirty="0" smtClean="0"/>
              <a:t>приложение. </a:t>
            </a:r>
            <a:endParaRPr lang="bg-BG" altLang="bg-BG" sz="2800" dirty="0"/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Всяко приложение притежава:</a:t>
            </a:r>
            <a:endParaRPr lang="bg-BG" altLang="bg-BG" sz="2800" i="1" dirty="0"/>
          </a:p>
          <a:p>
            <a:pPr marL="1371600" lvl="2" indent="-457200"/>
            <a:r>
              <a:rPr lang="bg-BG" altLang="bg-BG" i="1" dirty="0"/>
              <a:t>Статични </a:t>
            </a:r>
            <a:r>
              <a:rPr lang="bg-BG" altLang="bg-BG" i="1" dirty="0" smtClean="0"/>
              <a:t>свойства</a:t>
            </a:r>
            <a:r>
              <a:rPr lang="en-US" altLang="bg-BG" i="1" dirty="0" smtClean="0"/>
              <a:t>  </a:t>
            </a:r>
            <a:r>
              <a:rPr lang="bg-BG" altLang="bg-BG" dirty="0" smtClean="0"/>
              <a:t>- </a:t>
            </a:r>
            <a:r>
              <a:rPr lang="bg-BG" altLang="bg-BG" dirty="0"/>
              <a:t>задават се чрез обекти със съответни атрибути, като се описват взаимодействията между </a:t>
            </a:r>
            <a:r>
              <a:rPr lang="bg-BG" altLang="bg-BG" dirty="0" smtClean="0"/>
              <a:t>тях</a:t>
            </a:r>
            <a:r>
              <a:rPr lang="en-US" altLang="bg-BG" dirty="0" smtClean="0"/>
              <a:t>.</a:t>
            </a:r>
            <a:endParaRPr lang="bg-BG" altLang="bg-BG" i="1" dirty="0"/>
          </a:p>
          <a:p>
            <a:pPr marL="1371600" lvl="2" indent="-457200"/>
            <a:r>
              <a:rPr lang="bg-BG" altLang="bg-BG" i="1" dirty="0"/>
              <a:t>Динамични свойства</a:t>
            </a:r>
            <a:r>
              <a:rPr lang="bg-BG" altLang="bg-BG" dirty="0"/>
              <a:t> - определят се от операциите върху обектите с техните атрибути и връзки между тях.</a:t>
            </a:r>
            <a:endParaRPr lang="bg-BG" altLang="bg-BG" i="1" dirty="0"/>
          </a:p>
          <a:p>
            <a:pPr marL="1371600" lvl="2" indent="-457200"/>
            <a:r>
              <a:rPr lang="bg-BG" altLang="bg-BG" i="1" dirty="0"/>
              <a:t>Ограничения за </a:t>
            </a:r>
            <a:r>
              <a:rPr lang="bg-BG" altLang="bg-BG" i="1" dirty="0" smtClean="0"/>
              <a:t>цялостност</a:t>
            </a:r>
            <a:r>
              <a:rPr lang="en-US" altLang="bg-BG" i="1" dirty="0" smtClean="0"/>
              <a:t>.</a:t>
            </a:r>
            <a:endParaRPr lang="bg-BG" alt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37E-013B-46B7-ACF5-2FACF2B9FF63}" type="slidenum">
              <a:rPr lang="bg-BG" altLang="bg-BG"/>
              <a:pPr/>
              <a:t>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43887" cy="79692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Моделиране на данните 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63597" y="1010792"/>
            <a:ext cx="8229600" cy="4859338"/>
          </a:xfrm>
        </p:spPr>
        <p:txBody>
          <a:bodyPr>
            <a:normAutofit lnSpcReduction="10000"/>
          </a:bodyPr>
          <a:lstStyle/>
          <a:p>
            <a:pPr marL="609600" indent="-609600">
              <a:spcBef>
                <a:spcPct val="0"/>
              </a:spcBef>
              <a:buFontTx/>
              <a:buAutoNum type="arabicPeriod" startAt="3"/>
            </a:pPr>
            <a:r>
              <a:rPr lang="bg-BG" altLang="bg-BG" sz="2800" dirty="0">
                <a:solidFill>
                  <a:srgbClr val="C00000"/>
                </a:solidFill>
              </a:rPr>
              <a:t>Моделиране на данните </a:t>
            </a:r>
            <a:r>
              <a:rPr lang="bg-BG" altLang="bg-BG" sz="2800" dirty="0"/>
              <a:t>- процес, при който на всяко приложение, като се отчита спецификата му, се съпоставя представяне на свойствата и изискванията към обработките. </a:t>
            </a:r>
          </a:p>
          <a:p>
            <a:pPr marL="609600" indent="-609600">
              <a:spcBef>
                <a:spcPct val="0"/>
              </a:spcBef>
              <a:buFontTx/>
              <a:buAutoNum type="arabicPeriod" startAt="3"/>
            </a:pPr>
            <a:r>
              <a:rPr lang="bg-BG" altLang="bg-BG" sz="2800" dirty="0"/>
              <a:t>За да се опише структурата на базата се използува модел на данните.</a:t>
            </a:r>
          </a:p>
          <a:p>
            <a:pPr marL="609600" indent="-609600">
              <a:spcBef>
                <a:spcPct val="0"/>
              </a:spcBef>
              <a:buFontTx/>
              <a:buAutoNum type="arabicPeriod" startAt="3"/>
            </a:pPr>
            <a:r>
              <a:rPr lang="bg-BG" altLang="bg-BG" sz="2800" dirty="0"/>
              <a:t>Компоненти на модела на данните:</a:t>
            </a:r>
          </a:p>
          <a:p>
            <a:pPr marL="1371600" lvl="2" indent="-457200">
              <a:spcBef>
                <a:spcPct val="0"/>
              </a:spcBef>
            </a:pPr>
            <a:r>
              <a:rPr lang="bg-BG" altLang="bg-BG" sz="2400" dirty="0"/>
              <a:t>понятия </a:t>
            </a:r>
            <a:r>
              <a:rPr lang="bg-BG" altLang="bg-BG" sz="2400" dirty="0" smtClean="0"/>
              <a:t>или конструкции (обект, запис,таблица ...) – </a:t>
            </a:r>
            <a:r>
              <a:rPr lang="bg-BG" altLang="bg-BG" sz="2400" dirty="0"/>
              <a:t>описват структура на </a:t>
            </a:r>
            <a:r>
              <a:rPr lang="bg-BG" altLang="bg-BG" sz="2400" dirty="0" smtClean="0"/>
              <a:t>базата</a:t>
            </a:r>
            <a:r>
              <a:rPr lang="en-US" altLang="bg-BG" sz="2400" dirty="0" smtClean="0"/>
              <a:t>;</a:t>
            </a:r>
            <a:r>
              <a:rPr lang="bg-BG" altLang="bg-BG" sz="2400" dirty="0" smtClean="0"/>
              <a:t> </a:t>
            </a:r>
          </a:p>
          <a:p>
            <a:pPr marL="1371600" lvl="2" indent="-457200">
              <a:spcBef>
                <a:spcPct val="0"/>
              </a:spcBef>
            </a:pPr>
            <a:r>
              <a:rPr lang="bg-BG" altLang="bg-BG" sz="2400" dirty="0" smtClean="0"/>
              <a:t>ограничения;</a:t>
            </a:r>
            <a:endParaRPr lang="bg-BG" altLang="bg-BG" sz="2400" dirty="0"/>
          </a:p>
          <a:p>
            <a:pPr marL="1371600" lvl="2" indent="-457200">
              <a:spcBef>
                <a:spcPct val="0"/>
              </a:spcBef>
            </a:pPr>
            <a:r>
              <a:rPr lang="bg-BG" altLang="bg-BG" sz="2400" dirty="0"/>
              <a:t>операции – описват обработките върху базата (извличане на данни, обновяване на данни</a:t>
            </a:r>
            <a:r>
              <a:rPr lang="bg-BG" altLang="bg-BG" sz="2400" dirty="0" smtClean="0"/>
              <a:t>) с помощта на понятията от модела</a:t>
            </a:r>
            <a:r>
              <a:rPr lang="en-US" altLang="bg-BG" sz="2400" dirty="0" smtClean="0"/>
              <a:t>.</a:t>
            </a: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D536C-937C-485D-8EE4-C89B119CA983}" type="slidenum">
              <a:rPr lang="bg-BG" altLang="bg-BG"/>
              <a:pPr/>
              <a:t>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43887" cy="58102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Моделиране на данните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344035" y="1138192"/>
            <a:ext cx="8229600" cy="1872208"/>
          </a:xfrm>
        </p:spPr>
        <p:txBody>
          <a:bodyPr>
            <a:normAutofit/>
          </a:bodyPr>
          <a:lstStyle/>
          <a:p>
            <a:pPr lvl="1" algn="ctr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Схема</a:t>
            </a:r>
            <a:r>
              <a:rPr lang="en-US" altLang="bg-BG" sz="2800" dirty="0" smtClean="0">
                <a:solidFill>
                  <a:srgbClr val="C00000"/>
                </a:solidFill>
              </a:rPr>
              <a:t> (schema)</a:t>
            </a:r>
            <a:endParaRPr lang="bg-BG" altLang="bg-BG" sz="2800" dirty="0" smtClean="0">
              <a:solidFill>
                <a:srgbClr val="C00000"/>
              </a:solidFill>
            </a:endParaRPr>
          </a:p>
          <a:p>
            <a:pPr lvl="1"/>
            <a:r>
              <a:rPr lang="bg-BG" altLang="bg-BG" sz="2400" dirty="0" smtClean="0">
                <a:solidFill>
                  <a:schemeClr val="tx1"/>
                </a:solidFill>
              </a:rPr>
              <a:t>представлява описание </a:t>
            </a:r>
            <a:r>
              <a:rPr lang="bg-BG" altLang="bg-BG" sz="2400" dirty="0">
                <a:solidFill>
                  <a:schemeClr val="tx1"/>
                </a:solidFill>
              </a:rPr>
              <a:t>на базата от </a:t>
            </a:r>
            <a:r>
              <a:rPr lang="bg-BG" altLang="bg-BG" sz="2400" dirty="0" smtClean="0">
                <a:solidFill>
                  <a:schemeClr val="tx1"/>
                </a:solidFill>
              </a:rPr>
              <a:t>данни – структура, типове на данните, ограничения;</a:t>
            </a:r>
          </a:p>
          <a:p>
            <a:pPr lvl="1"/>
            <a:r>
              <a:rPr lang="bg-BG" altLang="bg-BG" sz="2400" dirty="0" smtClean="0">
                <a:solidFill>
                  <a:schemeClr val="tx1"/>
                </a:solidFill>
              </a:rPr>
              <a:t> схемата се представя графично.</a:t>
            </a:r>
            <a:endParaRPr lang="bg-BG" altLang="bg-BG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7D4F-0142-4EA6-B0CE-5B0E5FD35164}" type="slidenum">
              <a:rPr lang="bg-BG" altLang="bg-BG"/>
              <a:pPr/>
              <a:t>5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4035" y="3237711"/>
            <a:ext cx="8355176" cy="19893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2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Моделиране на данните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124744"/>
            <a:ext cx="8496944" cy="929446"/>
          </a:xfrm>
        </p:spPr>
        <p:txBody>
          <a:bodyPr>
            <a:noAutofit/>
          </a:bodyPr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Състояние</a:t>
            </a:r>
            <a:r>
              <a:rPr lang="bg-BG" altLang="bg-BG" sz="2800" dirty="0">
                <a:solidFill>
                  <a:schemeClr val="tx1"/>
                </a:solidFill>
              </a:rPr>
              <a:t> </a:t>
            </a:r>
            <a:r>
              <a:rPr lang="en-US" altLang="bg-BG" sz="2800" dirty="0" smtClean="0">
                <a:solidFill>
                  <a:srgbClr val="C00000"/>
                </a:solidFill>
              </a:rPr>
              <a:t>(instance)</a:t>
            </a:r>
            <a:r>
              <a:rPr lang="en-US" altLang="bg-BG" sz="2800" dirty="0" smtClean="0">
                <a:solidFill>
                  <a:schemeClr val="tx1"/>
                </a:solidFill>
              </a:rPr>
              <a:t> </a:t>
            </a:r>
            <a:endParaRPr lang="bg-BG" altLang="bg-BG" sz="2800" dirty="0" smtClean="0">
              <a:solidFill>
                <a:schemeClr val="tx1"/>
              </a:solidFill>
            </a:endParaRPr>
          </a:p>
          <a:p>
            <a:pPr algn="ctr">
              <a:buFontTx/>
              <a:buNone/>
            </a:pPr>
            <a:r>
              <a:rPr lang="bg-BG" altLang="bg-BG" dirty="0" smtClean="0">
                <a:solidFill>
                  <a:schemeClr val="tx1"/>
                </a:solidFill>
              </a:rPr>
              <a:t>конкретните </a:t>
            </a:r>
            <a:r>
              <a:rPr lang="bg-BG" altLang="bg-BG" dirty="0" smtClean="0">
                <a:solidFill>
                  <a:schemeClr val="tx1"/>
                </a:solidFill>
              </a:rPr>
              <a:t>данни </a:t>
            </a:r>
            <a:r>
              <a:rPr lang="bg-BG" altLang="bg-BG" dirty="0">
                <a:solidFill>
                  <a:schemeClr val="tx1"/>
                </a:solidFill>
              </a:rPr>
              <a:t>в базата във всеки един момент от време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60A8-2CB7-467A-894E-0084B5D3CA8E}" type="slidenum">
              <a:rPr lang="bg-BG" altLang="bg-BG"/>
              <a:pPr/>
              <a:t>6</a:t>
            </a:fld>
            <a:endParaRPr lang="bg-BG" alt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560" y="2276872"/>
            <a:ext cx="7948261" cy="353256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243887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Моделиране на данните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052736"/>
            <a:ext cx="8229600" cy="4456113"/>
          </a:xfrm>
        </p:spPr>
        <p:txBody>
          <a:bodyPr>
            <a:normAutofit/>
          </a:bodyPr>
          <a:lstStyle/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Всеки модел осигурява:</a:t>
            </a:r>
          </a:p>
          <a:p>
            <a:pPr marL="1371600" lvl="2" indent="-457200" algn="just">
              <a:lnSpc>
                <a:spcPct val="90000"/>
              </a:lnSpc>
            </a:pPr>
            <a:r>
              <a:rPr lang="bg-BG" altLang="bg-BG" sz="2800" dirty="0">
                <a:solidFill>
                  <a:srgbClr val="C00000"/>
                </a:solidFill>
              </a:rPr>
              <a:t>Език за дефиниране на данните </a:t>
            </a:r>
          </a:p>
          <a:p>
            <a:pPr marL="1371600" lvl="2" indent="-457200" algn="just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	(Data Definition Language - DDL) – </a:t>
            </a:r>
          </a:p>
          <a:p>
            <a:pPr marL="1371600" lvl="2" indent="-457200" algn="just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	задават се структурата на </a:t>
            </a:r>
            <a:r>
              <a:rPr lang="bg-BG" altLang="bg-BG" sz="2800" dirty="0" smtClean="0">
                <a:solidFill>
                  <a:schemeClr val="tx1"/>
                </a:solidFill>
              </a:rPr>
              <a:t>базата и </a:t>
            </a:r>
            <a:r>
              <a:rPr lang="bg-BG" altLang="bg-BG" sz="2800" dirty="0">
                <a:solidFill>
                  <a:schemeClr val="tx1"/>
                </a:solidFill>
              </a:rPr>
              <a:t>ограниченията за </a:t>
            </a:r>
            <a:r>
              <a:rPr lang="bg-BG" altLang="bg-BG" sz="2800" dirty="0" smtClean="0">
                <a:solidFill>
                  <a:schemeClr val="tx1"/>
                </a:solidFill>
              </a:rPr>
              <a:t>цялостност</a:t>
            </a:r>
            <a:r>
              <a:rPr lang="en-US" altLang="bg-BG" sz="2800" dirty="0">
                <a:solidFill>
                  <a:schemeClr val="tx1"/>
                </a:solidFill>
              </a:rPr>
              <a:t>.</a:t>
            </a:r>
            <a:r>
              <a:rPr lang="bg-BG" altLang="bg-BG" sz="2800" dirty="0" smtClean="0">
                <a:solidFill>
                  <a:schemeClr val="tx1"/>
                </a:solidFill>
              </a:rPr>
              <a:t> </a:t>
            </a:r>
            <a:endParaRPr lang="bg-BG" altLang="bg-BG" sz="2800" dirty="0">
              <a:solidFill>
                <a:schemeClr val="tx1"/>
              </a:solidFill>
            </a:endParaRPr>
          </a:p>
          <a:p>
            <a:pPr marL="1371600" lvl="2" indent="-457200" algn="just">
              <a:lnSpc>
                <a:spcPct val="90000"/>
              </a:lnSpc>
            </a:pPr>
            <a:r>
              <a:rPr lang="bg-BG" altLang="bg-BG" sz="2800" dirty="0">
                <a:solidFill>
                  <a:srgbClr val="C00000"/>
                </a:solidFill>
              </a:rPr>
              <a:t>Език за обработка на данните </a:t>
            </a:r>
          </a:p>
          <a:p>
            <a:pPr marL="1371600" lvl="2" indent="-457200" algn="just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	(Data Manipulation Language - DML) – </a:t>
            </a:r>
          </a:p>
          <a:p>
            <a:pPr marL="1371600" lvl="2" indent="-457200" algn="just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	задават се видовете обработки върху съхраняваната </a:t>
            </a:r>
            <a:r>
              <a:rPr lang="bg-BG" altLang="bg-BG" sz="2800" dirty="0" smtClean="0">
                <a:solidFill>
                  <a:schemeClr val="tx1"/>
                </a:solidFill>
              </a:rPr>
              <a:t>база</a:t>
            </a:r>
            <a:r>
              <a:rPr lang="en-US" altLang="bg-BG" sz="2800" dirty="0">
                <a:solidFill>
                  <a:schemeClr val="tx1"/>
                </a:solidFill>
              </a:rPr>
              <a:t>.</a:t>
            </a:r>
            <a:endParaRPr lang="bg-BG" altLang="bg-BG" sz="28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91880" y="6237312"/>
            <a:ext cx="2133600" cy="365125"/>
          </a:xfrm>
        </p:spPr>
        <p:txBody>
          <a:bodyPr/>
          <a:lstStyle/>
          <a:p>
            <a:r>
              <a:rPr lang="bg-BG" altLang="bg-BG" dirty="0" smtClean="0"/>
              <a:t>Юлиана Пенева</a:t>
            </a:r>
            <a:endParaRPr lang="bg-BG" alt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F2B6-96ED-45C8-B165-898B239CA475}" type="slidenum">
              <a:rPr lang="bg-BG" altLang="bg-BG"/>
              <a:pPr/>
              <a:t>7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131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Класификация на моделите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858593"/>
            <a:ext cx="8568952" cy="5400600"/>
          </a:xfrm>
        </p:spPr>
        <p:txBody>
          <a:bodyPr>
            <a:normAutofit fontScale="85000" lnSpcReduction="20000"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3300" dirty="0" smtClean="0">
                <a:solidFill>
                  <a:srgbClr val="FF0000"/>
                </a:solidFill>
              </a:rPr>
              <a:t>Основни </a:t>
            </a:r>
            <a:r>
              <a:rPr lang="bg-BG" altLang="bg-BG" sz="3300" dirty="0">
                <a:solidFill>
                  <a:srgbClr val="FF0000"/>
                </a:solidFill>
              </a:rPr>
              <a:t>групи модели на </a:t>
            </a:r>
            <a:r>
              <a:rPr lang="bg-BG" altLang="bg-BG" sz="3300" dirty="0" smtClean="0">
                <a:solidFill>
                  <a:srgbClr val="FF0000"/>
                </a:solidFill>
              </a:rPr>
              <a:t>данните</a:t>
            </a:r>
            <a:endParaRPr lang="bg-BG" altLang="bg-BG" sz="3300" dirty="0">
              <a:solidFill>
                <a:srgbClr val="FF0000"/>
              </a:solidFill>
            </a:endParaRPr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Физически (вътрешни, примитивни</a:t>
            </a:r>
            <a:r>
              <a:rPr lang="bg-BG" altLang="bg-BG" sz="2400" dirty="0" smtClean="0"/>
              <a:t>) – използват структури, които съдържат детайли от физическото съхранение на данните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Класически (логически</a:t>
            </a:r>
            <a:r>
              <a:rPr lang="en-US" altLang="bg-BG" sz="2400" dirty="0"/>
              <a:t>, </a:t>
            </a:r>
            <a:r>
              <a:rPr lang="bg-BG" altLang="bg-BG" sz="2400" dirty="0"/>
              <a:t>имплементационни</a:t>
            </a:r>
            <a:r>
              <a:rPr lang="bg-BG" altLang="bg-BG" sz="2400" dirty="0" smtClean="0"/>
              <a:t>)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 smtClean="0"/>
              <a:t>йерархичен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 smtClean="0"/>
              <a:t>мрежов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 smtClean="0"/>
              <a:t>релационен</a:t>
            </a:r>
            <a:r>
              <a:rPr lang="en-US" altLang="bg-BG" sz="2100" dirty="0" smtClean="0"/>
              <a:t>.</a:t>
            </a:r>
            <a:endParaRPr lang="bg-BG" altLang="bg-BG" sz="2100" dirty="0"/>
          </a:p>
          <a:p>
            <a:pPr marL="990600" lvl="1" indent="-5334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Обектно-базирани (концептуални</a:t>
            </a:r>
            <a:r>
              <a:rPr lang="bg-BG" altLang="bg-BG" sz="2400" dirty="0" smtClean="0"/>
              <a:t>) – използват структури, които  са интуитивно близки до потребителя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/>
              <a:t>модел “понятие- връзка</a:t>
            </a:r>
            <a:r>
              <a:rPr lang="bg-BG" altLang="bg-BG" sz="2100" dirty="0" smtClean="0"/>
              <a:t>”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/>
              <a:t>семантичен </a:t>
            </a:r>
            <a:r>
              <a:rPr lang="bg-BG" altLang="bg-BG" sz="2100" dirty="0" smtClean="0"/>
              <a:t>модел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/>
              <a:t>функционален </a:t>
            </a:r>
            <a:r>
              <a:rPr lang="bg-BG" altLang="bg-BG" sz="2100" dirty="0" smtClean="0"/>
              <a:t>модел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/>
              <a:t>обектно-ориентиран </a:t>
            </a:r>
            <a:r>
              <a:rPr lang="bg-BG" altLang="bg-BG" sz="2100" dirty="0" smtClean="0"/>
              <a:t>модел</a:t>
            </a:r>
            <a:r>
              <a:rPr lang="en-US" altLang="bg-BG" sz="2100" dirty="0" smtClean="0"/>
              <a:t>;</a:t>
            </a:r>
            <a:endParaRPr lang="bg-BG" altLang="bg-BG" sz="2100" dirty="0"/>
          </a:p>
          <a:p>
            <a:pPr marL="1752600" lvl="3" indent="-381000">
              <a:lnSpc>
                <a:spcPct val="80000"/>
              </a:lnSpc>
              <a:buFontTx/>
              <a:buChar char="•"/>
            </a:pPr>
            <a:r>
              <a:rPr lang="bg-BG" altLang="bg-BG" sz="2100" dirty="0"/>
              <a:t>обектно- релационен модел </a:t>
            </a:r>
            <a:r>
              <a:rPr lang="en-US" altLang="bg-BG" sz="2100" dirty="0" smtClean="0"/>
              <a:t>.</a:t>
            </a:r>
            <a:endParaRPr lang="bg-BG" altLang="bg-BG" sz="2100" dirty="0" smtClean="0"/>
          </a:p>
          <a:p>
            <a:pPr marL="960120" indent="-457200">
              <a:lnSpc>
                <a:spcPct val="80000"/>
              </a:lnSpc>
              <a:buFont typeface="+mj-lt"/>
              <a:buAutoNum type="arabicPeriod" startAt="4"/>
            </a:pPr>
            <a:r>
              <a:rPr lang="bg-BG" altLang="bg-BG" sz="2400" dirty="0" smtClean="0"/>
              <a:t>Самоописващи се (</a:t>
            </a:r>
            <a:r>
              <a:rPr lang="en-US" altLang="bg-BG" dirty="0" smtClean="0"/>
              <a:t>self-describing</a:t>
            </a:r>
            <a:r>
              <a:rPr lang="bg-BG" altLang="bg-BG" dirty="0" smtClean="0"/>
              <a:t>) – комбинират описанието на данните с техните стойности:</a:t>
            </a:r>
          </a:p>
          <a:p>
            <a:pPr marL="1828800" lvl="3" indent="-457200">
              <a:lnSpc>
                <a:spcPct val="80000"/>
              </a:lnSpc>
            </a:pPr>
            <a:r>
              <a:rPr lang="en-US" altLang="bg-BG" sz="2100" dirty="0" smtClean="0"/>
              <a:t>XML</a:t>
            </a:r>
            <a:r>
              <a:rPr lang="bg-BG" altLang="bg-BG" sz="2100" dirty="0" smtClean="0"/>
              <a:t>;</a:t>
            </a:r>
          </a:p>
          <a:p>
            <a:pPr marL="1828800" lvl="3" indent="-457200">
              <a:lnSpc>
                <a:spcPct val="80000"/>
              </a:lnSpc>
            </a:pPr>
            <a:r>
              <a:rPr lang="en-US" altLang="bg-BG" sz="2100" dirty="0"/>
              <a:t>key-value </a:t>
            </a:r>
            <a:r>
              <a:rPr lang="en-US" altLang="bg-BG" sz="2100" dirty="0" smtClean="0"/>
              <a:t>stores</a:t>
            </a:r>
            <a:r>
              <a:rPr lang="bg-BG" altLang="bg-BG" sz="2100" dirty="0" smtClean="0"/>
              <a:t>;</a:t>
            </a:r>
            <a:r>
              <a:rPr lang="en-US" altLang="bg-BG" sz="2100" dirty="0" smtClean="0"/>
              <a:t> </a:t>
            </a:r>
            <a:endParaRPr lang="bg-BG" altLang="bg-BG" sz="2100" dirty="0" smtClean="0"/>
          </a:p>
          <a:p>
            <a:pPr marL="1828800" lvl="3" indent="-457200">
              <a:lnSpc>
                <a:spcPct val="80000"/>
              </a:lnSpc>
            </a:pPr>
            <a:r>
              <a:rPr lang="en-US" altLang="bg-BG" sz="2100" dirty="0" smtClean="0"/>
              <a:t>N</a:t>
            </a:r>
            <a:r>
              <a:rPr lang="bg-BG" altLang="bg-BG" sz="2100" dirty="0" smtClean="0"/>
              <a:t>о</a:t>
            </a:r>
            <a:r>
              <a:rPr lang="en-US" altLang="bg-BG" sz="2100" dirty="0" smtClean="0"/>
              <a:t>SQL</a:t>
            </a:r>
            <a:r>
              <a:rPr lang="bg-BG" altLang="bg-BG" sz="2100" dirty="0" smtClean="0"/>
              <a:t> системи.</a:t>
            </a:r>
            <a:endParaRPr lang="bg-BG" altLang="bg-BG" sz="21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bg-BG" altLang="bg-BG" sz="900" i="1" dirty="0">
              <a:solidFill>
                <a:srgbClr val="C000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bg-BG" altLang="bg-BG" sz="2800" i="1" dirty="0">
                <a:solidFill>
                  <a:srgbClr val="C00000"/>
                </a:solidFill>
              </a:rPr>
              <a:t>Концептуално моделиране</a:t>
            </a:r>
            <a:r>
              <a:rPr lang="bg-BG" altLang="bg-BG" sz="2800" dirty="0">
                <a:solidFill>
                  <a:srgbClr val="C00000"/>
                </a:solidFill>
              </a:rPr>
              <a:t>  </a:t>
            </a:r>
            <a:r>
              <a:rPr lang="bg-BG" altLang="bg-BG" sz="2800" dirty="0"/>
              <a:t>- процес на изграждане на база от данни, независимо от начина на нейното </a:t>
            </a:r>
            <a:r>
              <a:rPr lang="bg-BG" altLang="bg-BG" sz="2800" dirty="0" smtClean="0"/>
              <a:t>реализиране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Обхващат се всички организационни изисквания към данните! </a:t>
            </a: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806EB-140D-489C-BE83-5FC72D45EA4D}" type="slidenum">
              <a:rPr lang="bg-BG" altLang="bg-BG"/>
              <a:pPr/>
              <a:t>8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sz="3200" dirty="0" smtClean="0">
                <a:solidFill>
                  <a:schemeClr val="accent1"/>
                </a:solidFill>
              </a:rPr>
              <a:t>Релационен модел</a:t>
            </a:r>
            <a:endParaRPr 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9</a:t>
            </a:fld>
            <a:endParaRPr lang="bg-BG" altLang="bg-BG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296" y="1037663"/>
            <a:ext cx="6336704" cy="510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5171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sz="3200" dirty="0" smtClean="0">
                <a:solidFill>
                  <a:schemeClr val="accent1"/>
                </a:solidFill>
              </a:rPr>
              <a:t>Мрежов модел</a:t>
            </a:r>
            <a:endParaRPr 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10</a:t>
            </a:fld>
            <a:endParaRPr lang="bg-BG" altLang="bg-BG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853723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47934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sz="3200" dirty="0" smtClean="0">
                <a:solidFill>
                  <a:schemeClr val="accent1"/>
                </a:solidFill>
              </a:rPr>
              <a:t>Йерархичен модел</a:t>
            </a:r>
            <a:endParaRPr 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11</a:t>
            </a:fld>
            <a:endParaRPr lang="bg-BG" altLang="bg-BG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575450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5941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43887" cy="72548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623094"/>
            <a:ext cx="8229600" cy="4859338"/>
          </a:xfrm>
        </p:spPr>
        <p:txBody>
          <a:bodyPr>
            <a:normAutofit fontScale="92500"/>
          </a:bodyPr>
          <a:lstStyle/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Главна цел на подхода "бази от данни" – разделяне  на потребителските приложения от физическата база ("</a:t>
            </a:r>
            <a:r>
              <a:rPr lang="bg-BG" altLang="bg-BG" sz="2800" dirty="0">
                <a:solidFill>
                  <a:srgbClr val="C00000"/>
                </a:solidFill>
              </a:rPr>
              <a:t>независимост на данните</a:t>
            </a:r>
            <a:r>
              <a:rPr lang="bg-BG" altLang="bg-BG" sz="2800" dirty="0">
                <a:solidFill>
                  <a:schemeClr val="tx1"/>
                </a:solidFill>
              </a:rPr>
              <a:t>“). 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Целта се постига чрез представяне на три нива:</a:t>
            </a:r>
          </a:p>
          <a:p>
            <a:pPr marL="1295400" lvl="2" indent="-381000">
              <a:lnSpc>
                <a:spcPct val="90000"/>
              </a:lnSpc>
            </a:pPr>
            <a:r>
              <a:rPr lang="bg-BG" altLang="bg-BG" sz="2400" dirty="0">
                <a:solidFill>
                  <a:schemeClr val="tx1"/>
                </a:solidFill>
              </a:rPr>
              <a:t>вътрешно (физическо) ниво </a:t>
            </a:r>
            <a:r>
              <a:rPr lang="bg-BG" altLang="bg-BG" sz="2400" dirty="0" smtClean="0">
                <a:solidFill>
                  <a:schemeClr val="tx1"/>
                </a:solidFill>
              </a:rPr>
              <a:t>- включва </a:t>
            </a:r>
            <a:r>
              <a:rPr lang="bg-BG" altLang="bg-BG" sz="2400" dirty="0">
                <a:solidFill>
                  <a:schemeClr val="tx1"/>
                </a:solidFill>
              </a:rPr>
              <a:t>организирането на данните върху физическата среда за </a:t>
            </a:r>
            <a:r>
              <a:rPr lang="bg-BG" altLang="bg-BG" sz="2400" dirty="0" smtClean="0">
                <a:solidFill>
                  <a:schemeClr val="tx1"/>
                </a:solidFill>
              </a:rPr>
              <a:t>съхранение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1295400" lvl="2" indent="-381000">
              <a:lnSpc>
                <a:spcPct val="90000"/>
              </a:lnSpc>
            </a:pPr>
            <a:r>
              <a:rPr lang="bg-BG" altLang="bg-BG" sz="2400" dirty="0">
                <a:solidFill>
                  <a:schemeClr val="tx1"/>
                </a:solidFill>
              </a:rPr>
              <a:t>концептуално (логическо) ниво </a:t>
            </a:r>
            <a:r>
              <a:rPr lang="bg-BG" altLang="bg-BG" sz="2400" dirty="0" smtClean="0">
                <a:solidFill>
                  <a:schemeClr val="tx1"/>
                </a:solidFill>
              </a:rPr>
              <a:t>- обхваща </a:t>
            </a:r>
            <a:r>
              <a:rPr lang="bg-BG" altLang="bg-BG" sz="2400" dirty="0">
                <a:solidFill>
                  <a:schemeClr val="tx1"/>
                </a:solidFill>
              </a:rPr>
              <a:t>моделирането на данните като типове обекти и връзки между </a:t>
            </a:r>
            <a:r>
              <a:rPr lang="bg-BG" altLang="bg-BG" sz="2400" dirty="0" smtClean="0">
                <a:solidFill>
                  <a:schemeClr val="tx1"/>
                </a:solidFill>
              </a:rPr>
              <a:t>тях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r>
              <a:rPr lang="bg-BG" altLang="bg-BG" sz="2400" dirty="0" smtClean="0">
                <a:solidFill>
                  <a:schemeClr val="tx1"/>
                </a:solidFill>
              </a:rPr>
              <a:t> 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1295400" lvl="2" indent="-381000">
              <a:lnSpc>
                <a:spcPct val="90000"/>
              </a:lnSpc>
            </a:pPr>
            <a:r>
              <a:rPr lang="bg-BG" altLang="bg-BG" sz="2400" dirty="0">
                <a:solidFill>
                  <a:schemeClr val="tx1"/>
                </a:solidFill>
              </a:rPr>
              <a:t>външно ниво </a:t>
            </a:r>
            <a:r>
              <a:rPr lang="bg-BG" altLang="bg-BG" sz="2400" dirty="0" smtClean="0">
                <a:solidFill>
                  <a:schemeClr val="tx1"/>
                </a:solidFill>
              </a:rPr>
              <a:t>- включва </a:t>
            </a:r>
            <a:r>
              <a:rPr lang="bg-BG" altLang="bg-BG" sz="2400" dirty="0">
                <a:solidFill>
                  <a:schemeClr val="tx1"/>
                </a:solidFill>
              </a:rPr>
              <a:t>интерпретирането на данните от различните потребителски </a:t>
            </a:r>
            <a:r>
              <a:rPr lang="bg-BG" altLang="bg-BG" sz="2400" dirty="0" smtClean="0">
                <a:solidFill>
                  <a:schemeClr val="tx1"/>
                </a:solidFill>
              </a:rPr>
              <a:t>групи</a:t>
            </a:r>
            <a:r>
              <a:rPr lang="en-US" altLang="bg-BG" sz="2400" dirty="0" smtClean="0">
                <a:solidFill>
                  <a:schemeClr val="tx1"/>
                </a:solidFill>
              </a:rPr>
              <a:t>.</a:t>
            </a:r>
            <a:r>
              <a:rPr lang="bg-BG" altLang="bg-BG" sz="2400" dirty="0" smtClean="0">
                <a:solidFill>
                  <a:schemeClr val="tx1"/>
                </a:solidFill>
              </a:rPr>
              <a:t> 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Тези три нива определят и архитектурата на СУБД като софтуер.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95105-A0B7-472F-89C0-51B8450B3645}" type="slidenum">
              <a:rPr lang="bg-BG" altLang="bg-BG"/>
              <a:pPr/>
              <a:t>12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634" y="5045504"/>
            <a:ext cx="2857500" cy="16002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404664"/>
            <a:ext cx="6781800" cy="582960"/>
          </a:xfrm>
        </p:spPr>
        <p:txBody>
          <a:bodyPr/>
          <a:lstStyle/>
          <a:p>
            <a:pPr algn="ctr"/>
            <a:r>
              <a:rPr lang="bg-BG" altLang="bg-BG" sz="3200" dirty="0">
                <a:solidFill>
                  <a:srgbClr val="AD0101"/>
                </a:solidFill>
              </a:rPr>
              <a:t>Архитектура на СУБД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045594"/>
            <a:ext cx="7632848" cy="482453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bg-BG" sz="3000" dirty="0" smtClean="0">
                <a:solidFill>
                  <a:schemeClr val="accent1"/>
                </a:solidFill>
              </a:rPr>
              <a:t>Още цели </a:t>
            </a:r>
            <a:r>
              <a:rPr lang="bg-BG" sz="3000" dirty="0">
                <a:solidFill>
                  <a:schemeClr val="accent1"/>
                </a:solidFill>
              </a:rPr>
              <a:t>на </a:t>
            </a:r>
            <a:r>
              <a:rPr lang="bg-BG" sz="3000" dirty="0" smtClean="0">
                <a:solidFill>
                  <a:schemeClr val="accent1"/>
                </a:solidFill>
              </a:rPr>
              <a:t>архитектурата на три нива</a:t>
            </a:r>
            <a:endParaRPr lang="bg-BG" sz="3000" dirty="0">
              <a:solidFill>
                <a:schemeClr val="accent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АБД трябва да може да променя структурите за съхранение на базата</a:t>
            </a:r>
            <a:r>
              <a:rPr lang="en-US" dirty="0" smtClean="0"/>
              <a:t> </a:t>
            </a:r>
            <a:r>
              <a:rPr lang="bg-BG" dirty="0" smtClean="0"/>
              <a:t>без това да влияе върху потребителските представи.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Вътрешната структура на базата трябва да не зависи от физическите характеристики на паметта.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АВБ трябва да може да променя концептуалната структура на базата без това да пречи на работата на потребителите.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Всички потребители д</a:t>
            </a:r>
            <a:r>
              <a:rPr lang="bg-BG" dirty="0"/>
              <a:t>о</a:t>
            </a:r>
            <a:r>
              <a:rPr lang="bg-BG" dirty="0" smtClean="0"/>
              <a:t>стъпват еднакви данни.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Отделната потребителска представа е защитена от промени въвеждани в останалите представи.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Потребителите не трябва да знаят как се съхраняняват данните върху физическите носители.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13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4370606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10A2-6182-4F2F-9016-E5FA00CDE4D0}" type="slidenum">
              <a:rPr lang="bg-BG" altLang="bg-BG"/>
              <a:pPr/>
              <a:t>14</a:t>
            </a:fld>
            <a:endParaRPr lang="bg-BG" altLang="bg-BG" dirty="0"/>
          </a:p>
        </p:txBody>
      </p:sp>
      <p:sp>
        <p:nvSpPr>
          <p:cNvPr id="7885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755576" y="260648"/>
            <a:ext cx="8243888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</a:t>
            </a:r>
            <a:r>
              <a:rPr lang="bg-BG" altLang="bg-BG" sz="3200" dirty="0"/>
              <a:t> </a:t>
            </a:r>
          </a:p>
        </p:txBody>
      </p:sp>
      <p:sp>
        <p:nvSpPr>
          <p:cNvPr id="78857" name="Rectangle 9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903663"/>
            <a:ext cx="8229600" cy="2152650"/>
          </a:xfrm>
        </p:spPr>
        <p:txBody>
          <a:bodyPr/>
          <a:lstStyle/>
          <a:p>
            <a:pPr>
              <a:buFontTx/>
              <a:buNone/>
            </a:pPr>
            <a:endParaRPr lang="bg-BG" altLang="bg-BG" sz="2800" dirty="0"/>
          </a:p>
          <a:p>
            <a:pPr>
              <a:buFontTx/>
              <a:buNone/>
            </a:pPr>
            <a:endParaRPr lang="bg-BG" altLang="bg-BG" sz="2800" dirty="0"/>
          </a:p>
          <a:p>
            <a:pPr>
              <a:buFontTx/>
              <a:buNone/>
            </a:pPr>
            <a:endParaRPr lang="bg-BG" altLang="bg-BG" sz="2800" dirty="0"/>
          </a:p>
          <a:p>
            <a:pPr>
              <a:buFontTx/>
              <a:buNone/>
            </a:pPr>
            <a:endParaRPr lang="bg-BG" altLang="bg-BG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37621"/>
            <a:ext cx="6192688" cy="437652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32656"/>
            <a:ext cx="6781800" cy="58296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altLang="bg-BG" sz="3200" smtClean="0">
                <a:solidFill>
                  <a:srgbClr val="AD0101"/>
                </a:solidFill>
              </a:rPr>
              <a:t>Архитектура на СУБД</a:t>
            </a:r>
            <a:r>
              <a:rPr lang="bg-BG" altLang="bg-BG" sz="320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 </a:t>
            </a:r>
            <a:endParaRPr lang="en-GB" b="1" dirty="0">
              <a:latin typeface="Times" pitchFamily="18" charset="0"/>
            </a:endParaRPr>
          </a:p>
        </p:txBody>
      </p:sp>
      <p:pic>
        <p:nvPicPr>
          <p:cNvPr id="34819" name="Picture 6" descr="C02NF01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237" y="1268760"/>
            <a:ext cx="4646294" cy="4032448"/>
          </a:xfrm>
          <a:noFill/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755576" y="908719"/>
            <a:ext cx="3657600" cy="51896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bg-BG" smtClean="0">
                <a:solidFill>
                  <a:schemeClr val="accent1"/>
                </a:solidFill>
              </a:rPr>
              <a:t>Външно ниво:</a:t>
            </a:r>
            <a:endParaRPr lang="en-US" smtClean="0">
              <a:solidFill>
                <a:schemeClr val="accent1"/>
              </a:solidFill>
            </a:endParaRPr>
          </a:p>
          <a:p>
            <a:r>
              <a:rPr lang="bg-BG" smtClean="0"/>
              <a:t>обхваща потребителските представи за базата;</a:t>
            </a:r>
            <a:r>
              <a:rPr lang="en-US" smtClean="0"/>
              <a:t> </a:t>
            </a:r>
          </a:p>
          <a:p>
            <a:r>
              <a:rPr lang="bg-BG" smtClean="0"/>
              <a:t>описва частта от базата, с която работи даден потребител.</a:t>
            </a:r>
            <a:endParaRPr lang="en-US" smtClean="0"/>
          </a:p>
          <a:p>
            <a:pPr marL="0" indent="0">
              <a:buNone/>
            </a:pPr>
            <a:r>
              <a:rPr lang="bg-BG" smtClean="0">
                <a:solidFill>
                  <a:schemeClr val="accent1"/>
                </a:solidFill>
              </a:rPr>
              <a:t>Концептуално ниво:</a:t>
            </a:r>
            <a:endParaRPr lang="en-US" smtClean="0">
              <a:solidFill>
                <a:schemeClr val="accent1"/>
              </a:solidFill>
            </a:endParaRPr>
          </a:p>
          <a:p>
            <a:r>
              <a:rPr lang="bg-BG" smtClean="0"/>
              <a:t>пълна схема на базата;</a:t>
            </a:r>
            <a:r>
              <a:rPr lang="en-US" smtClean="0"/>
              <a:t>  </a:t>
            </a:r>
          </a:p>
          <a:p>
            <a:r>
              <a:rPr lang="bg-BG" smtClean="0"/>
              <a:t>описва какви данни се съхраняват в базата и взаимодействията между тях.</a:t>
            </a:r>
          </a:p>
          <a:p>
            <a:pPr marL="0" indent="0">
              <a:buNone/>
            </a:pPr>
            <a:r>
              <a:rPr lang="bg-BG" smtClean="0">
                <a:solidFill>
                  <a:schemeClr val="accent1"/>
                </a:solidFill>
              </a:rPr>
              <a:t>Вътрешно ниво:</a:t>
            </a:r>
            <a:endParaRPr lang="en-US" smtClean="0">
              <a:solidFill>
                <a:schemeClr val="accent1"/>
              </a:solidFill>
            </a:endParaRPr>
          </a:p>
          <a:p>
            <a:r>
              <a:rPr lang="bg-BG" smtClean="0"/>
              <a:t>физическо представяне на базата в компютъра;</a:t>
            </a:r>
            <a:endParaRPr lang="en-US" smtClean="0"/>
          </a:p>
          <a:p>
            <a:r>
              <a:rPr lang="bg-BG" smtClean="0"/>
              <a:t>описва съхранението на базата.</a:t>
            </a:r>
            <a:endParaRPr lang="bg-BG" dirty="0" smtClean="0"/>
          </a:p>
        </p:txBody>
      </p:sp>
      <p:sp>
        <p:nvSpPr>
          <p:cNvPr id="34820" name="Text Box 8"/>
          <p:cNvSpPr txBox="1">
            <a:spLocks noChangeArrowheads="1"/>
          </p:cNvSpPr>
          <p:nvPr/>
        </p:nvSpPr>
        <p:spPr bwMode="auto">
          <a:xfrm>
            <a:off x="3851920" y="6276975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GB" altLang="en-US" sz="1200" dirty="0"/>
          </a:p>
        </p:txBody>
      </p:sp>
      <p:sp>
        <p:nvSpPr>
          <p:cNvPr id="34821" name="Slide Number Placeholder 3"/>
          <p:cNvSpPr txBox="1">
            <a:spLocks/>
          </p:cNvSpPr>
          <p:nvPr/>
        </p:nvSpPr>
        <p:spPr bwMode="auto">
          <a:xfrm>
            <a:off x="7971135" y="5733256"/>
            <a:ext cx="690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AEFD51C-03F5-4160-9E01-DC48A052F61B}" type="slidenum">
              <a:rPr lang="en-GB" altLang="en-US">
                <a:latin typeface="+mj-lt"/>
              </a:rPr>
              <a:pPr/>
              <a:t>15</a:t>
            </a:fld>
            <a:endParaRPr lang="en-GB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563044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648"/>
            <a:ext cx="8243887" cy="72548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 </a:t>
            </a:r>
          </a:p>
        </p:txBody>
      </p:sp>
      <p:pic>
        <p:nvPicPr>
          <p:cNvPr id="77829" name="Picture 5" descr="pic%20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640" y="1173461"/>
            <a:ext cx="6192838" cy="3879850"/>
          </a:xfrm>
          <a:ln/>
        </p:spPr>
      </p:pic>
      <p:sp>
        <p:nvSpPr>
          <p:cNvPr id="77827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endParaRPr lang="bg-BG" altLang="bg-BG" sz="2000" dirty="0"/>
          </a:p>
          <a:p>
            <a:pPr>
              <a:buFontTx/>
              <a:buNone/>
            </a:pPr>
            <a:endParaRPr lang="bg-BG" altLang="bg-BG" sz="2000" dirty="0"/>
          </a:p>
          <a:p>
            <a:pPr>
              <a:buFontTx/>
              <a:buNone/>
            </a:pPr>
            <a:endParaRPr lang="bg-BG" altLang="bg-BG" sz="2000" dirty="0"/>
          </a:p>
          <a:p>
            <a:pPr>
              <a:buFontTx/>
              <a:buNone/>
            </a:pPr>
            <a:endParaRPr lang="bg-BG" altLang="bg-BG" sz="2000" dirty="0"/>
          </a:p>
          <a:p>
            <a:pPr algn="ctr">
              <a:buFontTx/>
              <a:buNone/>
            </a:pPr>
            <a:r>
              <a:rPr lang="bg-BG" altLang="bg-BG" dirty="0">
                <a:solidFill>
                  <a:srgbClr val="C00000"/>
                </a:solidFill>
              </a:rPr>
              <a:t>Разлики между представянията в трите нива на архитектурата </a:t>
            </a:r>
            <a:r>
              <a:rPr lang="en-US" altLang="bg-BG" dirty="0">
                <a:solidFill>
                  <a:srgbClr val="C00000"/>
                </a:solidFill>
              </a:rPr>
              <a:t>ANSI</a:t>
            </a:r>
            <a:r>
              <a:rPr lang="bg-BG" altLang="bg-BG" dirty="0">
                <a:solidFill>
                  <a:srgbClr val="C00000"/>
                </a:solidFill>
              </a:rPr>
              <a:t>/</a:t>
            </a:r>
            <a:r>
              <a:rPr lang="en-US" altLang="bg-BG" dirty="0">
                <a:solidFill>
                  <a:srgbClr val="C00000"/>
                </a:solidFill>
              </a:rPr>
              <a:t>SPARC</a:t>
            </a:r>
            <a:r>
              <a:rPr lang="bg-BG" altLang="bg-BG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60232" y="5661248"/>
            <a:ext cx="2133600" cy="457200"/>
          </a:xfrm>
        </p:spPr>
        <p:txBody>
          <a:bodyPr/>
          <a:lstStyle/>
          <a:p>
            <a:fld id="{F8642A03-6051-4032-86C8-5AC9EF8C9D24}" type="slidenum">
              <a:rPr lang="bg-BG" altLang="bg-BG"/>
              <a:pPr/>
              <a:t>16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43887" cy="652463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8229600" cy="4931569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>
                <a:solidFill>
                  <a:srgbClr val="C00000"/>
                </a:solidFill>
              </a:rPr>
              <a:t>Независимост на данните </a:t>
            </a:r>
            <a:r>
              <a:rPr lang="bg-BG" altLang="bg-BG" sz="2800" dirty="0">
                <a:solidFill>
                  <a:schemeClr val="tx1"/>
                </a:solidFill>
              </a:rPr>
              <a:t>-  възможност да се променя схемата на едно ниво на системата, без това да налага промяна в схемите на останалите, по-високи </a:t>
            </a:r>
            <a:r>
              <a:rPr lang="bg-BG" altLang="bg-BG" sz="2800" dirty="0" smtClean="0">
                <a:solidFill>
                  <a:schemeClr val="tx1"/>
                </a:solidFill>
              </a:rPr>
              <a:t>нива</a:t>
            </a:r>
            <a:r>
              <a:rPr lang="en-US" altLang="bg-BG" sz="2800" dirty="0" smtClean="0">
                <a:solidFill>
                  <a:schemeClr val="tx1"/>
                </a:solidFill>
              </a:rPr>
              <a:t>.</a:t>
            </a:r>
            <a:endParaRPr lang="bg-BG" altLang="bg-BG" sz="28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Два вида независимост на данните:</a:t>
            </a:r>
          </a:p>
          <a:p>
            <a:pPr marL="1371600" lvl="2" indent="-457200">
              <a:lnSpc>
                <a:spcPct val="80000"/>
              </a:lnSpc>
            </a:pPr>
            <a:r>
              <a:rPr lang="bg-BG" altLang="bg-BG" sz="2200" dirty="0">
                <a:solidFill>
                  <a:srgbClr val="C00000"/>
                </a:solidFill>
              </a:rPr>
              <a:t>логическа</a:t>
            </a:r>
            <a:r>
              <a:rPr lang="bg-BG" altLang="bg-BG" sz="2200" dirty="0">
                <a:solidFill>
                  <a:schemeClr val="tx1"/>
                </a:solidFill>
              </a:rPr>
              <a:t> - възможността да се променя концептуалната схема без да се налагат промени във външната схема или в приложните </a:t>
            </a:r>
            <a:r>
              <a:rPr lang="bg-BG" altLang="bg-BG" sz="2200" dirty="0" smtClean="0">
                <a:solidFill>
                  <a:schemeClr val="tx1"/>
                </a:solidFill>
              </a:rPr>
              <a:t>програми</a:t>
            </a:r>
            <a:r>
              <a:rPr lang="en-US" altLang="bg-BG" sz="2200" dirty="0" smtClean="0">
                <a:solidFill>
                  <a:schemeClr val="tx1"/>
                </a:solidFill>
              </a:rPr>
              <a:t>;</a:t>
            </a:r>
            <a:r>
              <a:rPr lang="bg-BG" altLang="bg-BG" sz="2200" dirty="0" smtClean="0">
                <a:solidFill>
                  <a:schemeClr val="tx1"/>
                </a:solidFill>
              </a:rPr>
              <a:t> </a:t>
            </a:r>
            <a:endParaRPr lang="bg-BG" altLang="bg-BG" sz="2200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</a:pPr>
            <a:r>
              <a:rPr lang="bg-BG" altLang="bg-BG" sz="2200" dirty="0">
                <a:solidFill>
                  <a:srgbClr val="C00000"/>
                </a:solidFill>
              </a:rPr>
              <a:t>физическа</a:t>
            </a:r>
            <a:r>
              <a:rPr lang="bg-BG" altLang="bg-BG" sz="2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bg-BG" altLang="bg-BG" sz="2200" dirty="0">
                <a:solidFill>
                  <a:schemeClr val="tx1"/>
                </a:solidFill>
              </a:rPr>
              <a:t>- възможността да се променя вътрешната схема без това да води до промени в концептуалната или външната </a:t>
            </a:r>
            <a:r>
              <a:rPr lang="bg-BG" altLang="bg-BG" sz="2200" dirty="0" smtClean="0">
                <a:solidFill>
                  <a:schemeClr val="tx1"/>
                </a:solidFill>
              </a:rPr>
              <a:t>схеми</a:t>
            </a:r>
            <a:r>
              <a:rPr lang="en-US" altLang="bg-BG" sz="2200" dirty="0">
                <a:solidFill>
                  <a:schemeClr val="tx1"/>
                </a:solidFill>
              </a:rPr>
              <a:t>.</a:t>
            </a:r>
            <a:r>
              <a:rPr lang="bg-BG" altLang="bg-BG" sz="2200" dirty="0" smtClean="0">
                <a:solidFill>
                  <a:schemeClr val="tx1"/>
                </a:solidFill>
              </a:rPr>
              <a:t> </a:t>
            </a:r>
            <a:endParaRPr lang="bg-BG" altLang="bg-BG" sz="22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Независимостта на данните - основна разлика между </a:t>
            </a:r>
            <a:r>
              <a:rPr lang="bg-BG" altLang="bg-BG" sz="2800" dirty="0" smtClean="0">
                <a:solidFill>
                  <a:schemeClr val="tx1"/>
                </a:solidFill>
              </a:rPr>
              <a:t>файлово</a:t>
            </a:r>
            <a:r>
              <a:rPr lang="en-US" altLang="bg-BG" sz="2800" dirty="0" smtClean="0">
                <a:solidFill>
                  <a:schemeClr val="tx1"/>
                </a:solidFill>
              </a:rPr>
              <a:t> </a:t>
            </a:r>
            <a:r>
              <a:rPr lang="bg-BG" altLang="bg-BG" sz="2800" dirty="0" smtClean="0">
                <a:solidFill>
                  <a:schemeClr val="tx1"/>
                </a:solidFill>
              </a:rPr>
              <a:t>- </a:t>
            </a:r>
            <a:r>
              <a:rPr lang="bg-BG" altLang="bg-BG" sz="2800" dirty="0">
                <a:solidFill>
                  <a:schemeClr val="tx1"/>
                </a:solidFill>
              </a:rPr>
              <a:t>базираните системи и приложенията, разработвани с технология “бази от </a:t>
            </a:r>
            <a:r>
              <a:rPr lang="bg-BG" altLang="bg-BG" sz="2800" dirty="0" smtClean="0">
                <a:solidFill>
                  <a:schemeClr val="tx1"/>
                </a:solidFill>
              </a:rPr>
              <a:t>данни</a:t>
            </a:r>
            <a:r>
              <a:rPr lang="en-US" altLang="bg-BG" sz="2800" dirty="0" smtClean="0">
                <a:solidFill>
                  <a:schemeClr val="tx1"/>
                </a:solidFill>
              </a:rPr>
              <a:t>.</a:t>
            </a:r>
            <a:r>
              <a:rPr lang="bg-BG" altLang="bg-BG" sz="2800" dirty="0" smtClean="0">
                <a:solidFill>
                  <a:schemeClr val="tx1"/>
                </a:solidFill>
              </a:rPr>
              <a:t> </a:t>
            </a:r>
            <a:endParaRPr lang="bg-BG" altLang="bg-BG" sz="28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83CE-3BA2-413C-80F2-09AEA3029B81}" type="slidenum">
              <a:rPr lang="bg-BG" altLang="bg-BG"/>
              <a:pPr/>
              <a:t>17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476672"/>
            <a:ext cx="6781800" cy="915616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>
                <a:solidFill>
                  <a:srgbClr val="AD0101"/>
                </a:solidFill>
              </a:rPr>
              <a:t>Архитектура на </a:t>
            </a:r>
            <a:r>
              <a:rPr lang="bg-BG" altLang="bg-BG" sz="3200" dirty="0" smtClean="0">
                <a:solidFill>
                  <a:srgbClr val="AD0101"/>
                </a:solidFill>
              </a:rPr>
              <a:t>СУБД – независимост на данните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87E8-2469-4877-A872-F5233D073636}" type="slidenum">
              <a:rPr lang="bg-BG" altLang="bg-BG" smtClean="0"/>
              <a:pPr/>
              <a:t>18</a:t>
            </a:fld>
            <a:endParaRPr lang="bg-BG" altLang="bg-BG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2816"/>
            <a:ext cx="7543800" cy="387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0183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43887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07523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</a:rPr>
              <a:t>Архитектурата на три нива осигурява: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Достъп на всички потребители до едни и същи данни.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Независимост на отделните потребителски представи една от друга, т.е. промените на някоя от тях не налагат промени в останалите.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Защита на потребителите от грижи за физическата организация на базата.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Възможност на АБД да променя структурите за съхранение на базата или логическата й структура без това да оказва влияние върху потребителските представи.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45F64-0AF4-40AF-848E-9639D8AFB1AD}" type="slidenum">
              <a:rPr lang="bg-BG" altLang="bg-BG"/>
              <a:pPr/>
              <a:t>19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43887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Архитектура на СУБД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764" y="1023969"/>
            <a:ext cx="6766984" cy="50752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45F64-0AF4-40AF-848E-9639D8AFB1AD}" type="slidenum">
              <a:rPr lang="bg-BG" altLang="bg-BG"/>
              <a:pPr/>
              <a:t>20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378592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8243887" cy="652463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Езици и интерфейси за работа с базата</a:t>
            </a:r>
          </a:p>
        </p:txBody>
      </p:sp>
      <p:sp>
        <p:nvSpPr>
          <p:cNvPr id="83973" name="Rectangle 5"/>
          <p:cNvSpPr>
            <a:spLocks noGrp="1" noChangeArrowheads="1"/>
          </p:cNvSpPr>
          <p:nvPr>
            <p:ph idx="1"/>
          </p:nvPr>
        </p:nvSpPr>
        <p:spPr>
          <a:xfrm>
            <a:off x="468312" y="692150"/>
            <a:ext cx="8352159" cy="5545138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Езици на СУБД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200" dirty="0">
                <a:solidFill>
                  <a:schemeClr val="tx1"/>
                </a:solidFill>
              </a:rPr>
              <a:t>Език за дефиниране на данните </a:t>
            </a:r>
            <a:r>
              <a:rPr lang="en-US" altLang="bg-BG" sz="2200" dirty="0">
                <a:solidFill>
                  <a:schemeClr val="tx1"/>
                </a:solidFill>
              </a:rPr>
              <a:t>(DDL) </a:t>
            </a:r>
            <a:r>
              <a:rPr lang="bg-BG" altLang="bg-BG" sz="2200" dirty="0">
                <a:solidFill>
                  <a:schemeClr val="tx1"/>
                </a:solidFill>
              </a:rPr>
              <a:t>– чрез него се задава концептуалната схема на </a:t>
            </a:r>
            <a:r>
              <a:rPr lang="bg-BG" altLang="bg-BG" sz="2200" dirty="0" smtClean="0">
                <a:solidFill>
                  <a:schemeClr val="tx1"/>
                </a:solidFill>
              </a:rPr>
              <a:t>базата, ограниченията за цялостност и сигурност на базата от </a:t>
            </a:r>
            <a:r>
              <a:rPr lang="bg-BG" altLang="bg-BG" sz="2200" dirty="0">
                <a:solidFill>
                  <a:schemeClr val="tx1"/>
                </a:solidFill>
              </a:rPr>
              <a:t>АБД или </a:t>
            </a:r>
            <a:r>
              <a:rPr lang="bg-BG" altLang="bg-BG" sz="2200" dirty="0" smtClean="0">
                <a:solidFill>
                  <a:schemeClr val="tx1"/>
                </a:solidFill>
              </a:rPr>
              <a:t>от проектанта</a:t>
            </a:r>
            <a:r>
              <a:rPr lang="bg-BG" altLang="bg-BG" sz="2200" dirty="0">
                <a:solidFill>
                  <a:schemeClr val="tx1"/>
                </a:solidFill>
              </a:rPr>
              <a:t>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200" dirty="0">
                <a:solidFill>
                  <a:schemeClr val="tx1"/>
                </a:solidFill>
              </a:rPr>
              <a:t>Език за обработване на данните </a:t>
            </a:r>
            <a:r>
              <a:rPr lang="en-US" altLang="bg-BG" sz="2200" dirty="0">
                <a:solidFill>
                  <a:schemeClr val="tx1"/>
                </a:solidFill>
              </a:rPr>
              <a:t>(DML) </a:t>
            </a:r>
            <a:r>
              <a:rPr lang="bg-BG" altLang="bg-BG" sz="2200" dirty="0">
                <a:solidFill>
                  <a:schemeClr val="tx1"/>
                </a:solidFill>
              </a:rPr>
              <a:t>– чрез него се задават операциите за извличане на данни и обновяване на базата</a:t>
            </a:r>
            <a:r>
              <a:rPr lang="en-US" altLang="bg-BG" sz="2200" dirty="0">
                <a:solidFill>
                  <a:schemeClr val="tx1"/>
                </a:solidFill>
              </a:rPr>
              <a:t>; </a:t>
            </a:r>
            <a:r>
              <a:rPr lang="bg-BG" altLang="bg-BG" sz="2200" dirty="0">
                <a:solidFill>
                  <a:schemeClr val="tx1"/>
                </a:solidFill>
              </a:rPr>
              <a:t>може да бъде вграден в език за програмиране </a:t>
            </a:r>
            <a:r>
              <a:rPr lang="en-US" altLang="bg-BG" sz="2200" dirty="0">
                <a:solidFill>
                  <a:schemeClr val="tx1"/>
                </a:solidFill>
              </a:rPr>
              <a:t>COBOL, C, C++, Java</a:t>
            </a:r>
            <a:r>
              <a:rPr lang="bg-BG" altLang="bg-BG" sz="2200" dirty="0">
                <a:solidFill>
                  <a:schemeClr val="tx1"/>
                </a:solidFill>
              </a:rPr>
              <a:t> или да бъде самостоятелен език (език за заявки); достъп до базата от език за програмиране може да се осъществи чрез библиотека от функции.</a:t>
            </a:r>
            <a:r>
              <a:rPr lang="en-US" altLang="bg-BG" sz="2200" dirty="0">
                <a:solidFill>
                  <a:schemeClr val="tx1"/>
                </a:solidFill>
              </a:rPr>
              <a:t> </a:t>
            </a:r>
            <a:endParaRPr lang="bg-BG" altLang="bg-BG" sz="22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200" dirty="0">
                <a:solidFill>
                  <a:schemeClr val="tx1"/>
                </a:solidFill>
              </a:rPr>
              <a:t>Видове  </a:t>
            </a:r>
            <a:r>
              <a:rPr lang="en-US" altLang="bg-BG" sz="2200" dirty="0">
                <a:solidFill>
                  <a:schemeClr val="tx1"/>
                </a:solidFill>
              </a:rPr>
              <a:t>DML:</a:t>
            </a:r>
          </a:p>
          <a:p>
            <a:pPr marL="1371600" lvl="2" indent="-457200">
              <a:lnSpc>
                <a:spcPct val="80000"/>
              </a:lnSpc>
            </a:pPr>
            <a:r>
              <a:rPr lang="bg-BG" altLang="bg-BG" sz="2200" dirty="0">
                <a:solidFill>
                  <a:schemeClr val="tx1"/>
                </a:solidFill>
              </a:rPr>
              <a:t>н</a:t>
            </a:r>
            <a:r>
              <a:rPr lang="bg-BG" altLang="bg-BG" sz="2200" dirty="0" smtClean="0">
                <a:solidFill>
                  <a:schemeClr val="tx1"/>
                </a:solidFill>
              </a:rPr>
              <a:t>епроцедурен</a:t>
            </a:r>
            <a:r>
              <a:rPr lang="en-US" altLang="bg-BG" sz="2200" dirty="0" smtClean="0">
                <a:solidFill>
                  <a:schemeClr val="tx1"/>
                </a:solidFill>
              </a:rPr>
              <a:t> </a:t>
            </a:r>
            <a:r>
              <a:rPr lang="en-US" altLang="bg-BG" sz="2200" dirty="0">
                <a:solidFill>
                  <a:schemeClr val="tx1"/>
                </a:solidFill>
              </a:rPr>
              <a:t>–  </a:t>
            </a:r>
            <a:r>
              <a:rPr lang="bg-BG" altLang="bg-BG" sz="2200" dirty="0">
                <a:solidFill>
                  <a:schemeClr val="tx1"/>
                </a:solidFill>
              </a:rPr>
              <a:t>указва “какви” данни да бъдат изведени, а не “как” да става  това; може да бъде вграден в език за програмиране или да съществува като самостоятелен език </a:t>
            </a:r>
            <a:r>
              <a:rPr lang="en-US" altLang="bg-BG" sz="2200" dirty="0">
                <a:solidFill>
                  <a:schemeClr val="tx1"/>
                </a:solidFill>
              </a:rPr>
              <a:t>(SQL</a:t>
            </a:r>
            <a:r>
              <a:rPr lang="en-US" altLang="bg-BG" sz="2200" dirty="0" smtClean="0">
                <a:solidFill>
                  <a:schemeClr val="tx1"/>
                </a:solidFill>
              </a:rPr>
              <a:t>)</a:t>
            </a:r>
            <a:r>
              <a:rPr lang="bg-BG" altLang="bg-BG" sz="2200" dirty="0" smtClean="0">
                <a:solidFill>
                  <a:schemeClr val="tx1"/>
                </a:solidFill>
              </a:rPr>
              <a:t>;</a:t>
            </a:r>
            <a:endParaRPr lang="en-US" altLang="bg-BG" sz="2200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</a:pPr>
            <a:r>
              <a:rPr lang="bg-BG" altLang="bg-BG" sz="2200" dirty="0">
                <a:solidFill>
                  <a:schemeClr val="tx1"/>
                </a:solidFill>
              </a:rPr>
              <a:t>п</a:t>
            </a:r>
            <a:r>
              <a:rPr lang="bg-BG" altLang="bg-BG" sz="2200" dirty="0" smtClean="0">
                <a:solidFill>
                  <a:schemeClr val="tx1"/>
                </a:solidFill>
              </a:rPr>
              <a:t>роцедурен</a:t>
            </a:r>
            <a:r>
              <a:rPr lang="en-US" altLang="bg-BG" sz="2200" dirty="0" smtClean="0">
                <a:solidFill>
                  <a:schemeClr val="tx1"/>
                </a:solidFill>
              </a:rPr>
              <a:t> </a:t>
            </a:r>
            <a:r>
              <a:rPr lang="en-US" altLang="bg-BG" sz="2200" dirty="0">
                <a:solidFill>
                  <a:schemeClr val="tx1"/>
                </a:solidFill>
              </a:rPr>
              <a:t>– </a:t>
            </a:r>
            <a:r>
              <a:rPr lang="bg-BG" altLang="bg-BG" sz="2200" dirty="0">
                <a:solidFill>
                  <a:schemeClr val="tx1"/>
                </a:solidFill>
              </a:rPr>
              <a:t>винаги се вгражда в език за програмиране, нуждае се от команда за </a:t>
            </a:r>
            <a:r>
              <a:rPr lang="bg-BG" altLang="bg-BG" sz="2200" dirty="0" smtClean="0">
                <a:solidFill>
                  <a:schemeClr val="tx1"/>
                </a:solidFill>
              </a:rPr>
              <a:t>цикъл;</a:t>
            </a:r>
            <a:endParaRPr lang="bg-BG" altLang="bg-BG" sz="22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200" dirty="0">
                <a:solidFill>
                  <a:schemeClr val="tx1"/>
                </a:solidFill>
              </a:rPr>
              <a:t>Интегриран език –</a:t>
            </a:r>
            <a:r>
              <a:rPr lang="en-US" altLang="bg-BG" sz="2200" dirty="0">
                <a:solidFill>
                  <a:schemeClr val="tx1"/>
                </a:solidFill>
              </a:rPr>
              <a:t> </a:t>
            </a:r>
            <a:r>
              <a:rPr lang="en-US" altLang="bg-BG" sz="2200" dirty="0" smtClean="0">
                <a:solidFill>
                  <a:schemeClr val="tx1"/>
                </a:solidFill>
              </a:rPr>
              <a:t>SQL.</a:t>
            </a:r>
            <a:endParaRPr lang="bg-BG" altLang="bg-BG" sz="2200" dirty="0" smtClean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200" dirty="0" smtClean="0">
                <a:solidFill>
                  <a:schemeClr val="tx1"/>
                </a:solidFill>
              </a:rPr>
              <a:t>Езици от четвърто ниво</a:t>
            </a:r>
            <a:r>
              <a:rPr lang="bg-BG" altLang="bg-BG" sz="2200" dirty="0">
                <a:solidFill>
                  <a:schemeClr val="tx1"/>
                </a:solidFill>
              </a:rPr>
              <a:t> </a:t>
            </a:r>
            <a:r>
              <a:rPr lang="bg-BG" altLang="bg-BG" sz="2200" dirty="0" smtClean="0">
                <a:solidFill>
                  <a:schemeClr val="tx1"/>
                </a:solidFill>
              </a:rPr>
              <a:t>– </a:t>
            </a:r>
            <a:r>
              <a:rPr lang="en-US" altLang="bg-BG" sz="2200" dirty="0" smtClean="0">
                <a:solidFill>
                  <a:schemeClr val="tx1"/>
                </a:solidFill>
              </a:rPr>
              <a:t>4GL.</a:t>
            </a:r>
            <a:endParaRPr lang="bg-BG" altLang="bg-BG" sz="2200" dirty="0" smtClean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DA9E-2D3F-46AE-BCA2-EFD5D6663F84}" type="slidenum">
              <a:rPr lang="bg-BG" altLang="bg-BG"/>
              <a:pPr/>
              <a:t>21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8640"/>
            <a:ext cx="8243888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Езици и интерфейси за работа с базата</a:t>
            </a:r>
            <a:r>
              <a:rPr lang="bg-BG" altLang="bg-BG" sz="3200" dirty="0"/>
              <a:t> </a:t>
            </a:r>
          </a:p>
        </p:txBody>
      </p:sp>
      <p:sp>
        <p:nvSpPr>
          <p:cNvPr id="89095" name="Rectangle 7"/>
          <p:cNvSpPr>
            <a:spLocks noGrp="1" noChangeArrowheads="1"/>
          </p:cNvSpPr>
          <p:nvPr>
            <p:ph idx="1"/>
          </p:nvPr>
        </p:nvSpPr>
        <p:spPr>
          <a:xfrm>
            <a:off x="323528" y="673585"/>
            <a:ext cx="8229600" cy="5328592"/>
          </a:xfrm>
        </p:spPr>
        <p:txBody>
          <a:bodyPr>
            <a:normAutofit fontScale="92500" lnSpcReduction="10000"/>
          </a:bodyPr>
          <a:lstStyle/>
          <a:p>
            <a:pPr marL="609600" indent="-609600" algn="ctr">
              <a:buFontTx/>
              <a:buNone/>
            </a:pPr>
            <a:r>
              <a:rPr lang="bg-BG" altLang="bg-BG" sz="3000" dirty="0">
                <a:solidFill>
                  <a:srgbClr val="C00000"/>
                </a:solidFill>
              </a:rPr>
              <a:t>Интерфейси на СУБД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600" dirty="0">
                <a:solidFill>
                  <a:schemeClr val="tx1"/>
                </a:solidFill>
              </a:rPr>
              <a:t>Самостоятелни езици за заявки – напр. </a:t>
            </a:r>
            <a:r>
              <a:rPr lang="en-US" altLang="bg-BG" sz="2600" dirty="0">
                <a:solidFill>
                  <a:schemeClr val="tx1"/>
                </a:solidFill>
              </a:rPr>
              <a:t>SQL*Plus </a:t>
            </a:r>
            <a:r>
              <a:rPr lang="bg-BG" altLang="bg-BG" sz="2600" dirty="0">
                <a:solidFill>
                  <a:schemeClr val="tx1"/>
                </a:solidFill>
              </a:rPr>
              <a:t>в</a:t>
            </a:r>
            <a:r>
              <a:rPr lang="en-US" altLang="bg-BG" sz="2600" dirty="0">
                <a:solidFill>
                  <a:schemeClr val="tx1"/>
                </a:solidFill>
              </a:rPr>
              <a:t> ORACLE</a:t>
            </a:r>
            <a:r>
              <a:rPr lang="bg-BG" altLang="bg-BG" sz="2600" dirty="0">
                <a:solidFill>
                  <a:schemeClr val="tx1"/>
                </a:solidFill>
              </a:rPr>
              <a:t>, интерактивен </a:t>
            </a:r>
            <a:r>
              <a:rPr lang="en-US" altLang="bg-BG" sz="2600" dirty="0">
                <a:solidFill>
                  <a:schemeClr val="tx1"/>
                </a:solidFill>
              </a:rPr>
              <a:t>SQL</a:t>
            </a:r>
            <a:r>
              <a:rPr lang="bg-BG" altLang="bg-BG" sz="2600" dirty="0">
                <a:solidFill>
                  <a:schemeClr val="tx1"/>
                </a:solidFill>
              </a:rPr>
              <a:t> интерфейс, позволяващ директното въвеждане на </a:t>
            </a:r>
            <a:r>
              <a:rPr lang="en-US" altLang="bg-BG" sz="2600" dirty="0">
                <a:solidFill>
                  <a:schemeClr val="tx1"/>
                </a:solidFill>
              </a:rPr>
              <a:t>SQL </a:t>
            </a:r>
            <a:r>
              <a:rPr lang="bg-BG" altLang="bg-BG" sz="2600" dirty="0" smtClean="0">
                <a:solidFill>
                  <a:schemeClr val="tx1"/>
                </a:solidFill>
              </a:rPr>
              <a:t>заявки</a:t>
            </a:r>
            <a:r>
              <a:rPr lang="en-US" altLang="bg-BG" sz="2600" dirty="0" smtClean="0">
                <a:solidFill>
                  <a:schemeClr val="tx1"/>
                </a:solidFill>
              </a:rPr>
              <a:t>.</a:t>
            </a:r>
            <a:endParaRPr lang="bg-BG" altLang="bg-BG" sz="26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bg-BG" altLang="bg-BG" sz="2600" dirty="0">
                <a:solidFill>
                  <a:schemeClr val="tx1"/>
                </a:solidFill>
              </a:rPr>
              <a:t>Програмни интерфейси - езикът за обработка на базата е вграден в език за програмиране. Подходи:</a:t>
            </a: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вграждане на езика: вграден SQL (за C, C++......), SQLJ (за Java</a:t>
            </a:r>
            <a:r>
              <a:rPr lang="bg-BG" altLang="bg-BG" sz="2400" dirty="0" smtClean="0">
                <a:solidFill>
                  <a:schemeClr val="tx1"/>
                </a:solidFill>
              </a:rPr>
              <a:t>)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извикване на процедури: напр. JDBC за Java, ODBC за други програмни </a:t>
            </a:r>
            <a:r>
              <a:rPr lang="bg-BG" altLang="bg-BG" sz="2400" dirty="0" smtClean="0">
                <a:solidFill>
                  <a:schemeClr val="tx1"/>
                </a:solidFill>
              </a:rPr>
              <a:t>езици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е</a:t>
            </a:r>
            <a:r>
              <a:rPr lang="bg-BG" altLang="bg-BG" sz="2400" dirty="0" smtClean="0">
                <a:solidFill>
                  <a:schemeClr val="tx1"/>
                </a:solidFill>
              </a:rPr>
              <a:t>зик </a:t>
            </a:r>
            <a:r>
              <a:rPr lang="bg-BG" altLang="bg-BG" sz="2400" dirty="0">
                <a:solidFill>
                  <a:schemeClr val="tx1"/>
                </a:solidFill>
              </a:rPr>
              <a:t>за програмиране в базата:  напр. в ORACLE - </a:t>
            </a:r>
            <a:r>
              <a:rPr lang="bg-BG" altLang="bg-BG" sz="2400" dirty="0" smtClean="0">
                <a:solidFill>
                  <a:schemeClr val="tx1"/>
                </a:solidFill>
              </a:rPr>
              <a:t>PL/SQL</a:t>
            </a:r>
            <a:r>
              <a:rPr lang="bg-BG" altLang="bg-BG" sz="2400" dirty="0">
                <a:solidFill>
                  <a:schemeClr val="tx1"/>
                </a:solidFill>
              </a:rPr>
              <a:t>;</a:t>
            </a:r>
            <a:endParaRPr lang="bg-BG" altLang="bg-BG" sz="2400" dirty="0" smtClean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с</a:t>
            </a:r>
            <a:r>
              <a:rPr lang="bg-BG" altLang="bg-BG" sz="2400" dirty="0" smtClean="0">
                <a:solidFill>
                  <a:schemeClr val="tx1"/>
                </a:solidFill>
              </a:rPr>
              <a:t>криптови езици  - </a:t>
            </a:r>
            <a:r>
              <a:rPr lang="en-US" altLang="bg-BG" sz="2400" dirty="0" smtClean="0">
                <a:solidFill>
                  <a:schemeClr val="tx1"/>
                </a:solidFill>
              </a:rPr>
              <a:t>PHP (</a:t>
            </a:r>
            <a:r>
              <a:rPr lang="bg-BG" altLang="bg-BG" sz="2400" dirty="0" smtClean="0">
                <a:solidFill>
                  <a:schemeClr val="tx1"/>
                </a:solidFill>
              </a:rPr>
              <a:t>от страна на клиента</a:t>
            </a:r>
            <a:r>
              <a:rPr lang="en-US" altLang="bg-BG" sz="2400" dirty="0" smtClean="0">
                <a:solidFill>
                  <a:schemeClr val="tx1"/>
                </a:solidFill>
              </a:rPr>
              <a:t>) </a:t>
            </a:r>
            <a:r>
              <a:rPr lang="bg-BG" altLang="bg-BG" sz="2400" dirty="0" smtClean="0">
                <a:solidFill>
                  <a:schemeClr val="tx1"/>
                </a:solidFill>
              </a:rPr>
              <a:t>и</a:t>
            </a:r>
            <a:r>
              <a:rPr lang="en-US" altLang="bg-BG" sz="2400" dirty="0" smtClean="0">
                <a:solidFill>
                  <a:schemeClr val="tx1"/>
                </a:solidFill>
              </a:rPr>
              <a:t> </a:t>
            </a:r>
            <a:r>
              <a:rPr lang="en-US" altLang="bg-BG" sz="2400" dirty="0">
                <a:solidFill>
                  <a:schemeClr val="tx1"/>
                </a:solidFill>
              </a:rPr>
              <a:t>Python </a:t>
            </a:r>
            <a:r>
              <a:rPr lang="en-US" altLang="bg-BG" sz="2400" dirty="0" smtClean="0">
                <a:solidFill>
                  <a:schemeClr val="tx1"/>
                </a:solidFill>
              </a:rPr>
              <a:t>(</a:t>
            </a:r>
            <a:r>
              <a:rPr lang="bg-BG" altLang="bg-BG" sz="2400" dirty="0" smtClean="0">
                <a:solidFill>
                  <a:schemeClr val="tx1"/>
                </a:solidFill>
              </a:rPr>
              <a:t>от страна на сървъра</a:t>
            </a:r>
            <a:r>
              <a:rPr lang="en-US" altLang="bg-BG" sz="2400" dirty="0" smtClean="0">
                <a:solidFill>
                  <a:schemeClr val="tx1"/>
                </a:solidFill>
              </a:rPr>
              <a:t>)</a:t>
            </a:r>
            <a:r>
              <a:rPr lang="bg-BG" altLang="bg-BG" sz="2400" dirty="0" smtClean="0">
                <a:solidFill>
                  <a:schemeClr val="tx1"/>
                </a:solidFill>
              </a:rPr>
              <a:t>.</a:t>
            </a:r>
            <a:endParaRPr lang="bg-BG" altLang="bg-BG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A2098-7961-4AB8-B947-6B976544746F}" type="slidenum">
              <a:rPr lang="bg-BG" altLang="bg-BG"/>
              <a:pPr/>
              <a:t>22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412" y="5687568"/>
            <a:ext cx="1512168" cy="10191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Езици и интерфейси за работа с базата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659234"/>
            <a:ext cx="8229600" cy="5256584"/>
          </a:xfrm>
        </p:spPr>
        <p:txBody>
          <a:bodyPr>
            <a:normAutofit lnSpcReduction="10000"/>
          </a:bodyPr>
          <a:lstStyle/>
          <a:p>
            <a:pPr marL="609600" indent="-609600">
              <a:buFontTx/>
              <a:buAutoNum type="arabicPeriod" startAt="3"/>
            </a:pPr>
            <a:r>
              <a:rPr lang="bg-BG" altLang="bg-BG" sz="2800" dirty="0">
                <a:solidFill>
                  <a:schemeClr val="tx1"/>
                </a:solidFill>
              </a:rPr>
              <a:t>Потребителски “дружелюбни” (</a:t>
            </a:r>
            <a:r>
              <a:rPr lang="en-US" altLang="bg-BG" sz="2800" dirty="0">
                <a:solidFill>
                  <a:schemeClr val="tx1"/>
                </a:solidFill>
              </a:rPr>
              <a:t>user</a:t>
            </a:r>
            <a:r>
              <a:rPr lang="bg-BG" altLang="bg-BG" sz="2800" dirty="0">
                <a:solidFill>
                  <a:schemeClr val="tx1"/>
                </a:solidFill>
              </a:rPr>
              <a:t>-</a:t>
            </a:r>
            <a:r>
              <a:rPr lang="en-US" altLang="bg-BG" sz="2800" dirty="0">
                <a:solidFill>
                  <a:schemeClr val="tx1"/>
                </a:solidFill>
              </a:rPr>
              <a:t>friendly</a:t>
            </a:r>
            <a:r>
              <a:rPr lang="bg-BG" altLang="bg-BG" sz="2800" dirty="0">
                <a:solidFill>
                  <a:schemeClr val="tx1"/>
                </a:solidFill>
              </a:rPr>
              <a:t>) и </a:t>
            </a:r>
            <a:r>
              <a:rPr lang="en-US" altLang="bg-BG" sz="2800" dirty="0">
                <a:solidFill>
                  <a:schemeClr val="tx1"/>
                </a:solidFill>
              </a:rPr>
              <a:t>web</a:t>
            </a:r>
            <a:r>
              <a:rPr lang="bg-BG" altLang="bg-BG" sz="2800" dirty="0">
                <a:solidFill>
                  <a:schemeClr val="tx1"/>
                </a:solidFill>
              </a:rPr>
              <a:t> базирани </a:t>
            </a:r>
            <a:r>
              <a:rPr lang="bg-BG" altLang="bg-BG" sz="2800" dirty="0" smtClean="0">
                <a:solidFill>
                  <a:schemeClr val="tx1"/>
                </a:solidFill>
              </a:rPr>
              <a:t>интерфейси</a:t>
            </a:r>
            <a:r>
              <a:rPr lang="en-US" altLang="bg-BG" sz="2800" dirty="0" smtClean="0">
                <a:solidFill>
                  <a:schemeClr val="tx1"/>
                </a:solidFill>
              </a:rPr>
              <a:t>.</a:t>
            </a:r>
            <a:endParaRPr lang="bg-BG" altLang="bg-BG" sz="28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използващи меню за обхождане в </a:t>
            </a:r>
            <a:r>
              <a:rPr lang="en-US" altLang="bg-BG" sz="2400" dirty="0">
                <a:solidFill>
                  <a:schemeClr val="tx1"/>
                </a:solidFill>
              </a:rPr>
              <a:t>web </a:t>
            </a:r>
            <a:r>
              <a:rPr lang="bg-BG" altLang="bg-BG" sz="2400" dirty="0" smtClean="0">
                <a:solidFill>
                  <a:schemeClr val="tx1"/>
                </a:solidFill>
              </a:rPr>
              <a:t>пространството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използащи форми за начинаещи </a:t>
            </a:r>
            <a:r>
              <a:rPr lang="bg-BG" altLang="bg-BG" sz="2400" dirty="0" smtClean="0">
                <a:solidFill>
                  <a:schemeClr val="tx1"/>
                </a:solidFill>
              </a:rPr>
              <a:t>потребители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графични – техники </a:t>
            </a:r>
            <a:r>
              <a:rPr lang="en-US" altLang="bg-BG" sz="2400" dirty="0">
                <a:solidFill>
                  <a:schemeClr val="tx1"/>
                </a:solidFill>
              </a:rPr>
              <a:t>Point and Click, Drag and Drop</a:t>
            </a:r>
            <a:r>
              <a:rPr lang="bg-BG" altLang="bg-BG" sz="2400" dirty="0">
                <a:solidFill>
                  <a:schemeClr val="tx1"/>
                </a:solidFill>
              </a:rPr>
              <a:t>............. </a:t>
            </a: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на естествен език (заявки на английски</a:t>
            </a:r>
            <a:r>
              <a:rPr lang="bg-BG" altLang="bg-BG" sz="2400" dirty="0" smtClean="0">
                <a:solidFill>
                  <a:schemeClr val="tx1"/>
                </a:solidFill>
              </a:rPr>
              <a:t>)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/>
            <a:r>
              <a:rPr lang="bg-BG" altLang="bg-BG" sz="2400" dirty="0">
                <a:solidFill>
                  <a:schemeClr val="tx1"/>
                </a:solidFill>
              </a:rPr>
              <a:t>комбинации от горепосочените възможности – напр. меню+форма при </a:t>
            </a:r>
            <a:r>
              <a:rPr lang="en-US" altLang="bg-BG" sz="2400" dirty="0">
                <a:solidFill>
                  <a:schemeClr val="tx1"/>
                </a:solidFill>
              </a:rPr>
              <a:t>web </a:t>
            </a:r>
            <a:r>
              <a:rPr lang="bg-BG" altLang="bg-BG" sz="2400" dirty="0">
                <a:solidFill>
                  <a:schemeClr val="tx1"/>
                </a:solidFill>
              </a:rPr>
              <a:t>базираните </a:t>
            </a:r>
            <a:r>
              <a:rPr lang="bg-BG" altLang="bg-BG" sz="2400" dirty="0" smtClean="0">
                <a:solidFill>
                  <a:schemeClr val="tx1"/>
                </a:solidFill>
              </a:rPr>
              <a:t>нитерфейси</a:t>
            </a:r>
            <a:r>
              <a:rPr lang="en-US" altLang="bg-BG" sz="2400" dirty="0" smtClean="0">
                <a:solidFill>
                  <a:schemeClr val="tx1"/>
                </a:solidFill>
              </a:rPr>
              <a:t>.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 startAt="4"/>
            </a:pPr>
            <a:r>
              <a:rPr lang="bg-BG" altLang="bg-BG" sz="2800" dirty="0">
                <a:solidFill>
                  <a:schemeClr val="tx1"/>
                </a:solidFill>
              </a:rPr>
              <a:t>Други типове интерфейси: </a:t>
            </a:r>
            <a:r>
              <a:rPr lang="bg-BG" altLang="bg-BG" sz="2800" dirty="0" smtClean="0">
                <a:solidFill>
                  <a:schemeClr val="tx1"/>
                </a:solidFill>
              </a:rPr>
              <a:t>за работа от мобилно устройство, реч</a:t>
            </a:r>
            <a:r>
              <a:rPr lang="bg-BG" altLang="bg-BG" sz="2800" dirty="0">
                <a:solidFill>
                  <a:schemeClr val="tx1"/>
                </a:solidFill>
              </a:rPr>
              <a:t>, </a:t>
            </a:r>
            <a:r>
              <a:rPr lang="en-US" altLang="bg-BG" sz="2800" dirty="0">
                <a:solidFill>
                  <a:schemeClr val="tx1"/>
                </a:solidFill>
              </a:rPr>
              <a:t>web </a:t>
            </a:r>
            <a:r>
              <a:rPr lang="bg-BG" altLang="bg-BG" sz="2800" dirty="0">
                <a:solidFill>
                  <a:schemeClr val="tx1"/>
                </a:solidFill>
              </a:rPr>
              <a:t>браузер, интерфейси за параметрични потребители, интерфейси за АБД.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5733256"/>
            <a:ext cx="762000" cy="365125"/>
          </a:xfrm>
        </p:spPr>
        <p:txBody>
          <a:bodyPr/>
          <a:lstStyle/>
          <a:p>
            <a:fld id="{853C48AE-2FD7-496D-995F-794A9D0CE933}" type="slidenum">
              <a:rPr lang="bg-BG" altLang="bg-BG"/>
              <a:pPr/>
              <a:t>23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Помощни средства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24075"/>
            <a:ext cx="8229600" cy="4752528"/>
          </a:xfrm>
        </p:spPr>
        <p:txBody>
          <a:bodyPr>
            <a:normAutofit/>
          </a:bodyPr>
          <a:lstStyle/>
          <a:p>
            <a:pPr marL="609600" indent="-609600">
              <a:buFontTx/>
              <a:buAutoNum type="arabicPeriod"/>
            </a:pPr>
            <a:r>
              <a:rPr lang="bg-BG" altLang="bg-BG" sz="2800" dirty="0">
                <a:solidFill>
                  <a:schemeClr val="tx1"/>
                </a:solidFill>
              </a:rPr>
              <a:t>За изпълняване на определени функции:</a:t>
            </a: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зареждане на базата с данни, съхранени във файлове;</a:t>
            </a: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съхраняване (</a:t>
            </a:r>
            <a:r>
              <a:rPr lang="en-US" altLang="bg-BG" sz="2400" dirty="0">
                <a:solidFill>
                  <a:schemeClr val="tx1"/>
                </a:solidFill>
              </a:rPr>
              <a:t>back up) </a:t>
            </a:r>
            <a:r>
              <a:rPr lang="bg-BG" altLang="bg-BG" sz="2400" dirty="0">
                <a:solidFill>
                  <a:schemeClr val="tx1"/>
                </a:solidFill>
              </a:rPr>
              <a:t>копие на базата на магнитна </a:t>
            </a:r>
            <a:r>
              <a:rPr lang="bg-BG" altLang="bg-BG" sz="2400" dirty="0" smtClean="0">
                <a:solidFill>
                  <a:schemeClr val="tx1"/>
                </a:solidFill>
              </a:rPr>
              <a:t>лента</a:t>
            </a:r>
            <a:r>
              <a:rPr lang="en-US" altLang="bg-BG" sz="2400" dirty="0" smtClean="0">
                <a:solidFill>
                  <a:schemeClr val="tx1"/>
                </a:solidFill>
              </a:rPr>
              <a:t>;</a:t>
            </a:r>
            <a:endParaRPr lang="en-US" altLang="bg-BG" sz="24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реорганизиране структурата на файловете, съхраняващи базата;</a:t>
            </a:r>
            <a:endParaRPr lang="en-US" altLang="bg-BG" sz="24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генериране на отчети;</a:t>
            </a:r>
            <a:endParaRPr lang="en-US" altLang="bg-BG" sz="24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следене на производителността;</a:t>
            </a:r>
            <a:endParaRPr lang="en-US" altLang="bg-BG" sz="24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650"/>
              </a:spcBef>
            </a:pPr>
            <a:r>
              <a:rPr lang="bg-BG" altLang="bg-BG" sz="2400" dirty="0">
                <a:solidFill>
                  <a:schemeClr val="tx1"/>
                </a:solidFill>
              </a:rPr>
              <a:t>компресиране на данните, </a:t>
            </a:r>
            <a:r>
              <a:rPr lang="bg-BG" altLang="bg-BG" sz="2400" dirty="0"/>
              <a:t>следене на </a:t>
            </a:r>
            <a:r>
              <a:rPr lang="bg-BG" altLang="bg-BG" sz="2400" dirty="0" smtClean="0"/>
              <a:t>потр</a:t>
            </a:r>
            <a:r>
              <a:rPr lang="en-US" altLang="bg-BG" sz="2400" dirty="0" smtClean="0"/>
              <a:t>e</a:t>
            </a:r>
            <a:r>
              <a:rPr lang="bg-BG" altLang="bg-BG" sz="2400" dirty="0" smtClean="0"/>
              <a:t>бителите </a:t>
            </a:r>
            <a:r>
              <a:rPr lang="bg-BG" altLang="bg-BG" sz="2400" dirty="0"/>
              <a:t>и др.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ACA1-ADC0-40B2-8050-252D156AAD87}" type="slidenum">
              <a:rPr lang="bg-BG" altLang="bg-BG"/>
              <a:pPr/>
              <a:t>24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95827"/>
            <a:ext cx="8243887" cy="72548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Помощни средства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745670"/>
            <a:ext cx="8229600" cy="4680619"/>
          </a:xfrm>
        </p:spPr>
        <p:txBody>
          <a:bodyPr/>
          <a:lstStyle/>
          <a:p>
            <a:pPr marL="457200" indent="-457200">
              <a:spcBef>
                <a:spcPts val="700"/>
              </a:spcBef>
              <a:buFont typeface="Arial" charset="0"/>
              <a:buAutoNum type="arabicPeriod" startAt="2"/>
            </a:pPr>
            <a:r>
              <a:rPr lang="bg-BG" altLang="bg-BG" sz="2800" dirty="0"/>
              <a:t>За организиране на речник на данните.</a:t>
            </a:r>
          </a:p>
          <a:p>
            <a:pPr marL="457200" indent="-457200">
              <a:spcBef>
                <a:spcPts val="700"/>
              </a:spcBef>
              <a:buFont typeface="Arial" charset="0"/>
              <a:buAutoNum type="arabicPeriod" startAt="3"/>
            </a:pPr>
            <a:r>
              <a:rPr lang="bg-BG" altLang="bg-BG" sz="2800" dirty="0"/>
              <a:t>Среди за разработване на приложения и </a:t>
            </a:r>
            <a:r>
              <a:rPr lang="en-US" altLang="bg-BG" sz="2800" dirty="0"/>
              <a:t>CASE (computer-aided software engineering) </a:t>
            </a:r>
            <a:r>
              <a:rPr lang="bg-BG" altLang="bg-BG" sz="2800" dirty="0"/>
              <a:t>средства – предлагат компонент за проектиране на базата. Примери</a:t>
            </a:r>
            <a:r>
              <a:rPr lang="en-US" altLang="bg-BG" sz="2800" dirty="0"/>
              <a:t>:</a:t>
            </a:r>
          </a:p>
          <a:p>
            <a:pPr marL="1257300" lvl="2" indent="-342900">
              <a:spcBef>
                <a:spcPts val="650"/>
              </a:spcBef>
            </a:pPr>
            <a:r>
              <a:rPr lang="en-US" altLang="bg-BG" sz="2400" dirty="0"/>
              <a:t>PowerBuilder (Sybase</a:t>
            </a:r>
            <a:r>
              <a:rPr lang="en-US" altLang="bg-BG" sz="2400" dirty="0" smtClean="0"/>
              <a:t>);</a:t>
            </a:r>
            <a:endParaRPr lang="en-US" altLang="bg-BG" sz="2400" dirty="0"/>
          </a:p>
          <a:p>
            <a:pPr marL="1257300" lvl="2" indent="-342900">
              <a:spcBef>
                <a:spcPts val="650"/>
              </a:spcBef>
            </a:pPr>
            <a:r>
              <a:rPr lang="en-US" altLang="bg-BG" sz="2400" dirty="0" err="1"/>
              <a:t>JBuilder</a:t>
            </a:r>
            <a:r>
              <a:rPr lang="en-US" altLang="bg-BG" sz="2400" dirty="0"/>
              <a:t> </a:t>
            </a:r>
            <a:r>
              <a:rPr lang="en-US" altLang="bg-BG" sz="2400" dirty="0" smtClean="0"/>
              <a:t>(</a:t>
            </a:r>
            <a:r>
              <a:rPr lang="en-US" altLang="bg-BG" sz="2400" dirty="0"/>
              <a:t>E</a:t>
            </a:r>
            <a:r>
              <a:rPr lang="en-US" altLang="bg-BG" sz="2400" dirty="0" smtClean="0"/>
              <a:t>mbarcadero Technologies);</a:t>
            </a:r>
            <a:endParaRPr lang="en-US" altLang="bg-BG" sz="2400" dirty="0"/>
          </a:p>
          <a:p>
            <a:pPr marL="1257300" lvl="2" indent="-342900">
              <a:spcBef>
                <a:spcPts val="650"/>
              </a:spcBef>
            </a:pPr>
            <a:r>
              <a:rPr lang="en-US" altLang="bg-BG" sz="2400" dirty="0" err="1"/>
              <a:t>JDeveloper</a:t>
            </a:r>
            <a:r>
              <a:rPr lang="en-US" altLang="bg-BG" sz="2400" dirty="0"/>
              <a:t> </a:t>
            </a:r>
            <a:r>
              <a:rPr lang="en-US" altLang="bg-BG" sz="2400" dirty="0" smtClean="0"/>
              <a:t>11G </a:t>
            </a:r>
            <a:r>
              <a:rPr lang="en-US" altLang="bg-BG" sz="2400" dirty="0"/>
              <a:t>(Oracle</a:t>
            </a:r>
            <a:r>
              <a:rPr lang="en-US" altLang="bg-BG" sz="2400" dirty="0" smtClean="0"/>
              <a:t>).</a:t>
            </a: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6B1C-C258-40A3-AA8E-97E997BE7284}" type="slidenum">
              <a:rPr lang="bg-BG" altLang="bg-BG"/>
              <a:pPr/>
              <a:t>25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8147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Функции на СУБД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196752"/>
            <a:ext cx="8229600" cy="4680619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Съхраняваване, извличане, обновяване на данните.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Поддържане на достъпен </a:t>
            </a:r>
            <a:r>
              <a:rPr lang="bg-BG" altLang="bg-BG" sz="2800" dirty="0">
                <a:solidFill>
                  <a:schemeClr val="tx1"/>
                </a:solidFill>
              </a:rPr>
              <a:t>за </a:t>
            </a:r>
            <a:r>
              <a:rPr lang="bg-BG" altLang="bg-BG" sz="2800" dirty="0" smtClean="0">
                <a:solidFill>
                  <a:schemeClr val="tx1"/>
                </a:solidFill>
              </a:rPr>
              <a:t>потребителя каталог.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Управление на транзакции. 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Управление на едновременния достъп.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Въстановяване на базата.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Управление на правата за достъп.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Осигуряване независимост на данните.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Поддържане на връзка с данните.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Проверка на ограниченията за цялостност на данните.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Предоставяне на помощни услуги.</a:t>
            </a:r>
            <a:endParaRPr lang="en-US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6B1C-C258-40A3-AA8E-97E997BE7284}" type="slidenum">
              <a:rPr lang="bg-BG" altLang="bg-BG"/>
              <a:pPr/>
              <a:t>26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156290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8147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Каталог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196752"/>
            <a:ext cx="8229600" cy="4680619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Представлява хранилище, в което се описват данните в базата.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Основен компонент на СУБД.</a:t>
            </a: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r>
              <a:rPr lang="bg-BG" altLang="bg-BG" sz="2800" dirty="0" smtClean="0">
                <a:solidFill>
                  <a:schemeClr val="tx1"/>
                </a:solidFill>
              </a:rPr>
              <a:t>В каталога обикновено се съхраняват:</a:t>
            </a:r>
          </a:p>
          <a:p>
            <a:pPr lvl="1">
              <a:spcBef>
                <a:spcPts val="700"/>
              </a:spcBef>
            </a:pPr>
            <a:r>
              <a:rPr lang="bg-BG" altLang="bg-BG" sz="2600" dirty="0" smtClean="0">
                <a:solidFill>
                  <a:schemeClr val="tx1"/>
                </a:solidFill>
              </a:rPr>
              <a:t>име, тип и размер на всяко поле;</a:t>
            </a:r>
          </a:p>
          <a:p>
            <a:pPr lvl="1">
              <a:spcBef>
                <a:spcPts val="700"/>
              </a:spcBef>
            </a:pPr>
            <a:r>
              <a:rPr lang="bg-BG" altLang="bg-BG" sz="2600" dirty="0">
                <a:solidFill>
                  <a:schemeClr val="tx1"/>
                </a:solidFill>
              </a:rPr>
              <a:t>о</a:t>
            </a:r>
            <a:r>
              <a:rPr lang="bg-BG" altLang="bg-BG" sz="2600" dirty="0" smtClean="0">
                <a:solidFill>
                  <a:schemeClr val="tx1"/>
                </a:solidFill>
              </a:rPr>
              <a:t>граничения върху данните;</a:t>
            </a:r>
          </a:p>
          <a:p>
            <a:pPr lvl="1">
              <a:spcBef>
                <a:spcPts val="700"/>
              </a:spcBef>
            </a:pPr>
            <a:r>
              <a:rPr lang="bg-BG" altLang="bg-BG" sz="2600" dirty="0" smtClean="0">
                <a:solidFill>
                  <a:schemeClr val="tx1"/>
                </a:solidFill>
              </a:rPr>
              <a:t> имената на потребителите, които имат достъп до базата;</a:t>
            </a:r>
          </a:p>
          <a:p>
            <a:pPr lvl="1">
              <a:spcBef>
                <a:spcPts val="700"/>
              </a:spcBef>
            </a:pPr>
            <a:r>
              <a:rPr lang="bg-BG" altLang="bg-BG" sz="2600" dirty="0">
                <a:solidFill>
                  <a:schemeClr val="tx1"/>
                </a:solidFill>
              </a:rPr>
              <a:t>с</a:t>
            </a:r>
            <a:r>
              <a:rPr lang="bg-BG" altLang="bg-BG" sz="2600" dirty="0" smtClean="0">
                <a:solidFill>
                  <a:schemeClr val="tx1"/>
                </a:solidFill>
              </a:rPr>
              <a:t>татистика за използването на базата;</a:t>
            </a:r>
          </a:p>
          <a:p>
            <a:pPr lvl="1">
              <a:spcBef>
                <a:spcPts val="700"/>
              </a:spcBef>
            </a:pPr>
            <a:r>
              <a:rPr lang="bg-BG" altLang="bg-BG" sz="2600" dirty="0">
                <a:solidFill>
                  <a:schemeClr val="tx1"/>
                </a:solidFill>
              </a:rPr>
              <a:t>т</a:t>
            </a:r>
            <a:r>
              <a:rPr lang="bg-BG" altLang="bg-BG" sz="2600" dirty="0" smtClean="0">
                <a:solidFill>
                  <a:schemeClr val="tx1"/>
                </a:solidFill>
              </a:rPr>
              <a:t>ип на достъп до дадено поле.</a:t>
            </a:r>
            <a:endParaRPr lang="en-US" altLang="bg-BG" sz="2600" dirty="0">
              <a:solidFill>
                <a:schemeClr val="tx1"/>
              </a:solidFill>
            </a:endParaRPr>
          </a:p>
          <a:p>
            <a:pPr marL="514350" indent="-514350">
              <a:spcBef>
                <a:spcPts val="700"/>
              </a:spcBef>
              <a:buFont typeface="+mj-lt"/>
              <a:buAutoNum type="arabicPeriod"/>
            </a:pPr>
            <a:endParaRPr lang="en-US" altLang="bg-BG" sz="28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6B1C-C258-40A3-AA8E-97E997BE7284}" type="slidenum">
              <a:rPr lang="bg-BG" altLang="bg-BG"/>
              <a:pPr/>
              <a:t>27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2873177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C24B-B907-4228-A64F-95BE5E0D4B14}" type="slidenum">
              <a:rPr lang="bg-BG" altLang="bg-BG"/>
              <a:pPr/>
              <a:t>28</a:t>
            </a:fld>
            <a:endParaRPr lang="bg-BG" altLang="bg-BG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2" y="188913"/>
            <a:ext cx="7704336" cy="72548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Функционални компоненти на СУБД -1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038600" cy="4456113"/>
          </a:xfrm>
        </p:spPr>
        <p:txBody>
          <a:bodyPr/>
          <a:lstStyle/>
          <a:p>
            <a:pPr>
              <a:buFontTx/>
              <a:buNone/>
            </a:pPr>
            <a:endParaRPr lang="bg-BG" altLang="bg-BG" sz="2800" b="1" i="1"/>
          </a:p>
          <a:p>
            <a:pPr>
              <a:buFontTx/>
              <a:buNone/>
            </a:pPr>
            <a:endParaRPr lang="bg-BG" altLang="bg-BG" sz="2400"/>
          </a:p>
          <a:p>
            <a:pPr>
              <a:buFontTx/>
              <a:buNone/>
            </a:pPr>
            <a:endParaRPr lang="bg-BG" altLang="bg-BG" sz="2800" b="1" i="1"/>
          </a:p>
        </p:txBody>
      </p:sp>
      <p:pic>
        <p:nvPicPr>
          <p:cNvPr id="84996" name="Picture 4" descr="fy2-0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1263" y="1093112"/>
            <a:ext cx="6408737" cy="4784725"/>
          </a:xfrm>
          <a:ln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243888" cy="58072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Функционални компоненти на СУБД -2</a:t>
            </a:r>
          </a:p>
        </p:txBody>
      </p:sp>
      <p:pic>
        <p:nvPicPr>
          <p:cNvPr id="145414" name="Picture 6" descr="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979003"/>
            <a:ext cx="6078538" cy="514985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2576-D163-4DFD-81A1-D2C51C360162}" type="slidenum">
              <a:rPr lang="bg-BG" altLang="bg-BG"/>
              <a:pPr/>
              <a:t>29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8" cy="868759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Функционални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компоненти  на модула за управление на 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32576-D163-4DFD-81A1-D2C51C360162}" type="slidenum">
              <a:rPr lang="bg-BG" altLang="bg-BG"/>
              <a:pPr/>
              <a:t>30</a:t>
            </a:fld>
            <a:endParaRPr lang="bg-BG" altLang="bg-BG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168011"/>
            <a:ext cx="4824535" cy="4962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4685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5869" y="180628"/>
            <a:ext cx="7796212" cy="8001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Класификация на СУБД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368927" cy="4662264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 lnSpcReduction="10000"/>
          </a:bodyPr>
          <a:lstStyle/>
          <a:p>
            <a:pPr marL="609600" indent="-609600" defTabSz="457200">
              <a:lnSpc>
                <a:spcPct val="90000"/>
              </a:lnSpc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/>
              <a:t>По модел на данните: </a:t>
            </a:r>
            <a:endParaRPr lang="bg-BG" altLang="bg-BG" dirty="0" smtClean="0"/>
          </a:p>
          <a:p>
            <a:pPr lvl="1" defTabSz="457200">
              <a:lnSpc>
                <a:spcPct val="90000"/>
              </a:lnSpc>
              <a:spcBef>
                <a:spcPts val="70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 smtClean="0"/>
              <a:t>наследени (</a:t>
            </a:r>
            <a:r>
              <a:rPr lang="en-US" altLang="bg-BG" dirty="0" smtClean="0"/>
              <a:t>legacy</a:t>
            </a:r>
            <a:r>
              <a:rPr lang="bg-BG" altLang="bg-BG" dirty="0" smtClean="0"/>
              <a:t>): йерархични и мрежови;</a:t>
            </a:r>
          </a:p>
          <a:p>
            <a:pPr lvl="1" defTabSz="457200">
              <a:lnSpc>
                <a:spcPct val="90000"/>
              </a:lnSpc>
              <a:spcBef>
                <a:spcPts val="70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/>
              <a:t>и</a:t>
            </a:r>
            <a:r>
              <a:rPr lang="bg-BG" altLang="bg-BG" dirty="0" smtClean="0"/>
              <a:t>зползвани </a:t>
            </a:r>
            <a:r>
              <a:rPr lang="bg-BG" altLang="bg-BG" dirty="0"/>
              <a:t>в момента</a:t>
            </a:r>
            <a:r>
              <a:rPr lang="bg-BG" altLang="bg-BG" dirty="0" smtClean="0"/>
              <a:t>: релационни,обектно </a:t>
            </a:r>
            <a:r>
              <a:rPr lang="bg-BG" altLang="bg-BG" dirty="0"/>
              <a:t>- релационни, обектно – </a:t>
            </a:r>
            <a:r>
              <a:rPr lang="bg-BG" altLang="bg-BG" dirty="0" smtClean="0"/>
              <a:t>ориентирани;</a:t>
            </a:r>
          </a:p>
          <a:p>
            <a:pPr lvl="1" defTabSz="457200">
              <a:lnSpc>
                <a:spcPct val="90000"/>
              </a:lnSpc>
              <a:spcBef>
                <a:spcPts val="70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 smtClean="0"/>
              <a:t>последни технологии („писък“): к</a:t>
            </a:r>
            <a:r>
              <a:rPr lang="en-US" altLang="bg-BG" dirty="0" err="1" smtClean="0"/>
              <a:t>ey</a:t>
            </a:r>
            <a:r>
              <a:rPr lang="en-US" altLang="bg-BG" dirty="0" smtClean="0"/>
              <a:t>-value </a:t>
            </a:r>
            <a:r>
              <a:rPr lang="en-US" altLang="bg-BG" dirty="0"/>
              <a:t>storage </a:t>
            </a:r>
            <a:r>
              <a:rPr lang="en-US" altLang="bg-BG" dirty="0" smtClean="0"/>
              <a:t>systems</a:t>
            </a:r>
            <a:r>
              <a:rPr lang="bg-BG" altLang="bg-BG" dirty="0" smtClean="0"/>
              <a:t>;</a:t>
            </a:r>
            <a:r>
              <a:rPr lang="en-US" altLang="bg-BG" dirty="0" smtClean="0"/>
              <a:t> N</a:t>
            </a:r>
            <a:r>
              <a:rPr lang="bg-BG" altLang="bg-BG" dirty="0" smtClean="0"/>
              <a:t>о</a:t>
            </a:r>
            <a:r>
              <a:rPr lang="en-US" altLang="bg-BG" dirty="0" smtClean="0"/>
              <a:t>SQL </a:t>
            </a:r>
            <a:r>
              <a:rPr lang="en-US" altLang="bg-BG" dirty="0"/>
              <a:t>systems: document based, column-based, graph-based and key-value </a:t>
            </a:r>
            <a:r>
              <a:rPr lang="en-US" altLang="bg-BG" dirty="0" smtClean="0"/>
              <a:t>based</a:t>
            </a:r>
            <a:r>
              <a:rPr lang="bg-BG" altLang="bg-BG" dirty="0" smtClean="0"/>
              <a:t>; </a:t>
            </a:r>
            <a:r>
              <a:rPr lang="en-US" altLang="bg-BG" dirty="0" smtClean="0"/>
              <a:t>native </a:t>
            </a:r>
            <a:r>
              <a:rPr lang="en-US" altLang="bg-BG" dirty="0"/>
              <a:t>XML DBMSs.</a:t>
            </a:r>
          </a:p>
          <a:p>
            <a:pPr marL="0" indent="0" defTabSz="457200">
              <a:lnSpc>
                <a:spcPct val="90000"/>
              </a:lnSpc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endParaRPr lang="bg-BG" altLang="bg-BG" dirty="0" smtClean="0"/>
          </a:p>
          <a:p>
            <a:pPr marL="457200" indent="-457200" defTabSz="457200">
              <a:lnSpc>
                <a:spcPct val="90000"/>
              </a:lnSpc>
              <a:spcBef>
                <a:spcPts val="700"/>
              </a:spcBef>
              <a:buFont typeface="+mj-lt"/>
              <a:buAutoNum type="arabicPeriod" startAt="2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 smtClean="0"/>
              <a:t>По </a:t>
            </a:r>
            <a:r>
              <a:rPr lang="bg-BG" altLang="bg-BG" dirty="0"/>
              <a:t>брой </a:t>
            </a:r>
            <a:r>
              <a:rPr lang="bg-BG" altLang="bg-BG" dirty="0" smtClean="0"/>
              <a:t>потребители</a:t>
            </a:r>
            <a:r>
              <a:rPr lang="en-US" altLang="bg-BG" dirty="0" smtClean="0"/>
              <a:t>:</a:t>
            </a:r>
            <a:r>
              <a:rPr lang="bg-BG" altLang="bg-BG" dirty="0" smtClean="0"/>
              <a:t> еднопотребителски </a:t>
            </a:r>
            <a:r>
              <a:rPr lang="bg-BG" altLang="bg-BG" dirty="0"/>
              <a:t>(за ПС)/ </a:t>
            </a:r>
            <a:r>
              <a:rPr lang="bg-BG" altLang="bg-BG" dirty="0" smtClean="0"/>
              <a:t>многопотребителски.</a:t>
            </a:r>
          </a:p>
          <a:p>
            <a:pPr marL="457200" indent="-457200" defTabSz="457200">
              <a:lnSpc>
                <a:spcPct val="90000"/>
              </a:lnSpc>
              <a:spcBef>
                <a:spcPts val="700"/>
              </a:spcBef>
              <a:buFont typeface="+mj-lt"/>
              <a:buAutoNum type="arabicPeriod" startAt="2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endParaRPr lang="bg-BG" altLang="bg-BG" dirty="0" smtClean="0"/>
          </a:p>
          <a:p>
            <a:pPr marL="457200" indent="-457200" defTabSz="457200">
              <a:lnSpc>
                <a:spcPct val="90000"/>
              </a:lnSpc>
              <a:spcBef>
                <a:spcPts val="700"/>
              </a:spcBef>
              <a:buFont typeface="+mj-lt"/>
              <a:buAutoNum type="arabicPeriod" startAt="2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 smtClean="0"/>
              <a:t>По начин на достъп: централизирани </a:t>
            </a:r>
            <a:r>
              <a:rPr lang="en-US" altLang="bg-BG" dirty="0"/>
              <a:t>(</a:t>
            </a:r>
            <a:r>
              <a:rPr lang="bg-BG" altLang="bg-BG" dirty="0"/>
              <a:t>използва се 1 компютър с една база</a:t>
            </a:r>
            <a:r>
              <a:rPr lang="en-US" altLang="bg-BG" dirty="0"/>
              <a:t>)</a:t>
            </a:r>
            <a:r>
              <a:rPr lang="bg-BG" altLang="bg-BG" dirty="0"/>
              <a:t>/</a:t>
            </a:r>
            <a:r>
              <a:rPr lang="en-US" altLang="bg-BG" dirty="0"/>
              <a:t> </a:t>
            </a:r>
            <a:r>
              <a:rPr lang="bg-BG" altLang="bg-BG" dirty="0" smtClean="0"/>
              <a:t>разпределени= клиент/сървър</a:t>
            </a:r>
            <a:r>
              <a:rPr lang="en-US" altLang="bg-BG" dirty="0" smtClean="0"/>
              <a:t>. </a:t>
            </a:r>
            <a:endParaRPr lang="en-US" altLang="bg-B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7C94F-5C06-4548-978E-3CE85EA03EAB}" type="slidenum">
              <a:rPr lang="bg-BG" altLang="bg-BG"/>
              <a:pPr/>
              <a:t>31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48958"/>
            <a:ext cx="7796212" cy="6540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Цени на СУБД</a:t>
            </a:r>
            <a:r>
              <a:rPr lang="en-US" altLang="bg-BG" sz="3200" dirty="0"/>
              <a:t> 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84784"/>
            <a:ext cx="8294688" cy="396044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Autofit/>
          </a:bodyPr>
          <a:lstStyle/>
          <a:p>
            <a:pPr marL="609600" indent="-609600" defTabSz="457200">
              <a:lnSpc>
                <a:spcPct val="90000"/>
              </a:lnSpc>
              <a:spcBef>
                <a:spcPts val="6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Варират от безплатни системи с отворен код (релационни са </a:t>
            </a:r>
            <a:r>
              <a:rPr lang="en-US" altLang="bg-BG" sz="2800" dirty="0"/>
              <a:t>MySQL, PostgreSQL</a:t>
            </a:r>
            <a:r>
              <a:rPr lang="bg-BG" altLang="bg-BG" sz="2800" dirty="0"/>
              <a:t>....) до търговски конфигурации, струващи хиляди </a:t>
            </a:r>
            <a:r>
              <a:rPr lang="bg-BG" altLang="bg-BG" sz="2800" dirty="0" smtClean="0"/>
              <a:t>долари</a:t>
            </a:r>
            <a:r>
              <a:rPr lang="en-US" altLang="bg-BG" sz="2800" dirty="0"/>
              <a:t>.</a:t>
            </a:r>
          </a:p>
          <a:p>
            <a:pPr marL="609600" indent="-609600" defTabSz="457200">
              <a:lnSpc>
                <a:spcPct val="90000"/>
              </a:lnSpc>
              <a:spcBef>
                <a:spcPts val="6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Някои търговски системи предлагат специализирани модули – за работа с </a:t>
            </a:r>
            <a:r>
              <a:rPr lang="en-US" altLang="bg-BG" sz="2800" dirty="0"/>
              <a:t>XML, </a:t>
            </a:r>
            <a:r>
              <a:rPr lang="bg-BG" altLang="bg-BG" sz="2800" dirty="0"/>
              <a:t>за обработка на времеви редове и т.н.</a:t>
            </a:r>
            <a:endParaRPr lang="en-US" altLang="bg-BG" sz="2800" dirty="0"/>
          </a:p>
          <a:p>
            <a:pPr marL="609600" indent="-609600" defTabSz="457200">
              <a:lnSpc>
                <a:spcPct val="90000"/>
              </a:lnSpc>
              <a:spcBef>
                <a:spcPts val="6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Предлагат се различни опции на лицензиране: лиценз за сайт, за максимален брой потребители и др.</a:t>
            </a:r>
            <a:endParaRPr lang="en-US" altLang="bg-BG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4297-9C86-4851-A7F3-69ABBB641FF9}" type="slidenum">
              <a:rPr lang="bg-BG" altLang="bg-BG"/>
              <a:pPr/>
              <a:t>32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3396" y="251793"/>
            <a:ext cx="7796212" cy="7461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r>
              <a:rPr lang="en-US" altLang="bg-BG" sz="3200" dirty="0"/>
              <a:t> 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403396" y="476672"/>
            <a:ext cx="8294687" cy="382332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/>
          </a:bodyPr>
          <a:lstStyle/>
          <a:p>
            <a:pPr marL="990600" lvl="1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Мрежов </a:t>
            </a:r>
            <a:r>
              <a:rPr lang="bg-BG" altLang="bg-BG" sz="2800" dirty="0" smtClean="0"/>
              <a:t>модел</a:t>
            </a:r>
            <a:r>
              <a:rPr lang="en-US" altLang="bg-BG" sz="2800" dirty="0" smtClean="0"/>
              <a:t>.</a:t>
            </a:r>
            <a:endParaRPr lang="en-US" altLang="bg-BG" sz="2800" dirty="0"/>
          </a:p>
          <a:p>
            <a:pPr marL="990600" lvl="1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Йерархичен </a:t>
            </a:r>
            <a:r>
              <a:rPr lang="bg-BG" altLang="bg-BG" sz="2800" dirty="0" smtClean="0"/>
              <a:t>модел.</a:t>
            </a:r>
            <a:endParaRPr lang="en-US" altLang="bg-BG" sz="2800" dirty="0"/>
          </a:p>
          <a:p>
            <a:pPr marL="990600" lvl="1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Релационен </a:t>
            </a:r>
            <a:r>
              <a:rPr lang="bg-BG" altLang="bg-BG" sz="2800" dirty="0" smtClean="0"/>
              <a:t>модел</a:t>
            </a:r>
            <a:r>
              <a:rPr lang="en-US" altLang="bg-BG" sz="2800" dirty="0" smtClean="0"/>
              <a:t>.</a:t>
            </a:r>
            <a:endParaRPr lang="en-US" altLang="bg-BG" sz="2800" dirty="0"/>
          </a:p>
          <a:p>
            <a:pPr marL="990600" lvl="1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Обектно – ориентиран </a:t>
            </a:r>
            <a:r>
              <a:rPr lang="bg-BG" altLang="bg-BG" sz="2800" dirty="0" smtClean="0"/>
              <a:t>модел</a:t>
            </a:r>
            <a:r>
              <a:rPr lang="en-US" altLang="bg-BG" sz="2800" dirty="0" smtClean="0"/>
              <a:t>.</a:t>
            </a:r>
            <a:endParaRPr lang="en-US" altLang="bg-BG" sz="2800" dirty="0"/>
          </a:p>
          <a:p>
            <a:pPr marL="990600" lvl="1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Обектно – релационен </a:t>
            </a:r>
            <a:r>
              <a:rPr lang="bg-BG" altLang="bg-BG" sz="2800" dirty="0" smtClean="0"/>
              <a:t>модел</a:t>
            </a:r>
            <a:r>
              <a:rPr lang="en-US" altLang="bg-BG" sz="2800" dirty="0" smtClean="0"/>
              <a:t>.</a:t>
            </a:r>
            <a:endParaRPr lang="en-US" altLang="bg-BG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530B-C1EC-4299-9444-FD505F247D39}" type="slidenum">
              <a:rPr lang="bg-BG" altLang="bg-BG"/>
              <a:pPr/>
              <a:t>33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239713" y="1125538"/>
            <a:ext cx="8364735" cy="453571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chemeClr val="accent1"/>
                </a:solidFill>
              </a:rPr>
              <a:t>Мрежов модел</a:t>
            </a:r>
            <a:endParaRPr lang="en-US" altLang="bg-BG" sz="2800" b="1" dirty="0">
              <a:solidFill>
                <a:schemeClr val="accent1"/>
              </a:solidFill>
            </a:endParaRPr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Първата СУБД е реализирана от </a:t>
            </a:r>
            <a:r>
              <a:rPr lang="en-US" altLang="bg-BG" sz="2800" dirty="0"/>
              <a:t>Honeywell </a:t>
            </a:r>
            <a:r>
              <a:rPr lang="bg-BG" altLang="bg-BG" sz="2800" dirty="0"/>
              <a:t>през</a:t>
            </a:r>
            <a:r>
              <a:rPr lang="en-US" altLang="bg-BG" sz="2800" dirty="0"/>
              <a:t> 1964-65 (IDS System).</a:t>
            </a:r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Разработен е стандарт на мрежовия  модел - </a:t>
            </a:r>
            <a:r>
              <a:rPr lang="en-US" altLang="bg-BG" sz="2800" dirty="0"/>
              <a:t> CODASYL (Conference on Data Systems Languages) (CODASYL - DBTG report of 1971).</a:t>
            </a:r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dirty="0"/>
              <a:t>Реализиран в множество системи</a:t>
            </a:r>
            <a:r>
              <a:rPr lang="en-US" altLang="bg-BG" sz="2800" dirty="0"/>
              <a:t> </a:t>
            </a:r>
            <a:r>
              <a:rPr lang="en-US" altLang="bg-BG" sz="2800" dirty="0" smtClean="0"/>
              <a:t>– IDMS. </a:t>
            </a:r>
            <a:r>
              <a:rPr lang="en-US" altLang="bg-BG" sz="2800" dirty="0"/>
              <a:t>(</a:t>
            </a:r>
            <a:r>
              <a:rPr lang="en-US" altLang="bg-BG" sz="2800" dirty="0" err="1"/>
              <a:t>Cullinet</a:t>
            </a:r>
            <a:r>
              <a:rPr lang="en-US" altLang="bg-BG" sz="2800" dirty="0"/>
              <a:t> - </a:t>
            </a:r>
            <a:r>
              <a:rPr lang="bg-BG" altLang="bg-BG" sz="2800" dirty="0"/>
              <a:t>понастоящем</a:t>
            </a:r>
            <a:r>
              <a:rPr lang="en-US" altLang="bg-BG" sz="2800" dirty="0"/>
              <a:t> Computer Associates), DMS 1100 (Unisys), IMAGE (H.P. (Hewlett-Packard)), VAX -DBMS (Digital Equipment Corp., next COMPAQ, now H.P.).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5ED34-17FD-40C6-90D6-0CB2B4C60A64}" type="slidenum">
              <a:rPr lang="bg-BG" altLang="bg-BG"/>
              <a:pPr/>
              <a:t>34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124744"/>
            <a:ext cx="8294687" cy="490344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/>
          <a:lstStyle/>
          <a:p>
            <a:pPr marL="0" indent="0" algn="ctr" defTabSz="457200"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chemeClr val="accent1"/>
                </a:solidFill>
              </a:rPr>
              <a:t>Мрежов модел</a:t>
            </a:r>
            <a:endParaRPr lang="en-US" altLang="bg-BG" sz="2800" b="1" dirty="0">
              <a:solidFill>
                <a:schemeClr val="accent1"/>
              </a:solidFill>
            </a:endParaRP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 startAt="4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>
                <a:solidFill>
                  <a:schemeClr val="accent1"/>
                </a:solidFill>
              </a:rPr>
              <a:t>Преимущества:</a:t>
            </a:r>
          </a:p>
          <a:p>
            <a:pPr marL="1074420" lvl="2" indent="-342900" defTabSz="457200">
              <a:spcBef>
                <a:spcPts val="6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м</a:t>
            </a:r>
            <a:r>
              <a:rPr lang="bg-BG" altLang="bg-BG" sz="2400" dirty="0" smtClean="0"/>
              <a:t>огат </a:t>
            </a:r>
            <a:r>
              <a:rPr lang="bg-BG" altLang="bg-BG" sz="2400" dirty="0"/>
              <a:t>да се моделират сложни връзки между </a:t>
            </a:r>
            <a:r>
              <a:rPr lang="bg-BG" altLang="bg-BG" sz="2400" dirty="0" smtClean="0"/>
              <a:t>записите;</a:t>
            </a:r>
            <a:endParaRPr lang="bg-BG" altLang="bg-BG" sz="2400" dirty="0"/>
          </a:p>
          <a:p>
            <a:pPr marL="1074420" lvl="2" indent="-342900" defTabSz="457200">
              <a:spcBef>
                <a:spcPts val="6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е</a:t>
            </a:r>
            <a:r>
              <a:rPr lang="bg-BG" altLang="bg-BG" sz="2400" dirty="0" smtClean="0"/>
              <a:t>зикът </a:t>
            </a:r>
            <a:r>
              <a:rPr lang="bg-BG" altLang="bg-BG" sz="2400" dirty="0"/>
              <a:t>позволява навигация по базата</a:t>
            </a:r>
            <a:r>
              <a:rPr lang="en-US" altLang="bg-BG" sz="2400" dirty="0"/>
              <a:t>; </a:t>
            </a:r>
            <a:r>
              <a:rPr lang="bg-BG" altLang="bg-BG" sz="2400" dirty="0"/>
              <a:t>използват се конструкции от вида</a:t>
            </a:r>
            <a:r>
              <a:rPr lang="en-US" altLang="bg-BG" sz="2400" dirty="0"/>
              <a:t> FIND, FIND member, FIND owner, FIND NEXT within set, GET, </a:t>
            </a:r>
            <a:r>
              <a:rPr lang="bg-BG" altLang="bg-BG" sz="2400" dirty="0"/>
              <a:t>....</a:t>
            </a:r>
            <a:r>
              <a:rPr lang="en-US" altLang="bg-BG" sz="2400" dirty="0"/>
              <a:t>. </a:t>
            </a: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 startAt="5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>
                <a:solidFill>
                  <a:schemeClr val="accent1"/>
                </a:solidFill>
              </a:rPr>
              <a:t>Недостатъци:</a:t>
            </a:r>
          </a:p>
          <a:p>
            <a:pPr marL="1074420" lvl="2" indent="-342900" defTabSz="457200">
              <a:lnSpc>
                <a:spcPct val="80000"/>
              </a:lnSpc>
              <a:spcBef>
                <a:spcPts val="6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б</a:t>
            </a:r>
            <a:r>
              <a:rPr lang="bg-BG" altLang="bg-BG" sz="2400" dirty="0" smtClean="0"/>
              <a:t>азата </a:t>
            </a:r>
            <a:r>
              <a:rPr lang="bg-BG" altLang="bg-BG" sz="2400" dirty="0"/>
              <a:t>се обработва чрез </a:t>
            </a:r>
            <a:r>
              <a:rPr lang="bg-BG" altLang="bg-BG" sz="2400" dirty="0" smtClean="0"/>
              <a:t>програми; </a:t>
            </a:r>
            <a:endParaRPr lang="en-US" altLang="bg-BG" sz="2400" dirty="0"/>
          </a:p>
          <a:p>
            <a:pPr marL="1074420" lvl="2" indent="-342900" defTabSz="457200">
              <a:lnSpc>
                <a:spcPct val="80000"/>
              </a:lnSpc>
              <a:spcBef>
                <a:spcPts val="6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с</a:t>
            </a:r>
            <a:r>
              <a:rPr lang="bg-BG" altLang="bg-BG" sz="2400" dirty="0" smtClean="0"/>
              <a:t>труктурите </a:t>
            </a:r>
            <a:r>
              <a:rPr lang="bg-BG" altLang="bg-BG" sz="2400" dirty="0"/>
              <a:t>за съхранение на базата </a:t>
            </a:r>
            <a:r>
              <a:rPr lang="bg-BG" altLang="bg-BG" sz="2400"/>
              <a:t>участвуват </a:t>
            </a:r>
            <a:r>
              <a:rPr lang="bg-BG" altLang="bg-BG" sz="2400" smtClean="0"/>
              <a:t>при </a:t>
            </a:r>
            <a:r>
              <a:rPr lang="bg-BG" altLang="bg-BG" sz="2400" dirty="0"/>
              <a:t>моделирането на </a:t>
            </a:r>
            <a:r>
              <a:rPr lang="bg-BG" altLang="bg-BG" sz="2400" dirty="0" smtClean="0"/>
              <a:t>връзките;</a:t>
            </a:r>
            <a:endParaRPr lang="bg-BG" altLang="bg-BG" sz="2400" dirty="0"/>
          </a:p>
          <a:p>
            <a:pPr marL="1074420" lvl="2" indent="-342900" defTabSz="457200">
              <a:lnSpc>
                <a:spcPct val="80000"/>
              </a:lnSpc>
              <a:spcBef>
                <a:spcPts val="6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д</a:t>
            </a:r>
            <a:r>
              <a:rPr lang="bg-BG" altLang="bg-BG" sz="2400" dirty="0" smtClean="0"/>
              <a:t>остъпът </a:t>
            </a:r>
            <a:r>
              <a:rPr lang="bg-BG" altLang="bg-BG" sz="2400" dirty="0"/>
              <a:t>до записите се осъществява чрез </a:t>
            </a:r>
            <a:r>
              <a:rPr lang="bg-BG" altLang="bg-BG" sz="2400" dirty="0" smtClean="0"/>
              <a:t>множество </a:t>
            </a:r>
            <a:r>
              <a:rPr lang="bg-BG" altLang="bg-BG" sz="2400" dirty="0"/>
              <a:t>от </a:t>
            </a:r>
            <a:r>
              <a:rPr lang="bg-BG" altLang="bg-BG" sz="2400" dirty="0" smtClean="0"/>
              <a:t>указатели;</a:t>
            </a:r>
            <a:endParaRPr lang="en-US" altLang="bg-BG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30E0-1796-49B8-89C4-4CB243AD42C6}" type="slidenum">
              <a:rPr lang="bg-BG" altLang="bg-BG"/>
              <a:pPr/>
              <a:t>35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71277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115406" y="764704"/>
            <a:ext cx="8294687" cy="3384848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rgbClr val="C00000"/>
                </a:solidFill>
              </a:rPr>
              <a:t>Йерархичен модел</a:t>
            </a:r>
            <a:endParaRPr lang="en-US" altLang="bg-BG" sz="2800" b="1" dirty="0">
              <a:solidFill>
                <a:srgbClr val="C00000"/>
              </a:solidFill>
            </a:endParaRPr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Реализиран съвместно от </a:t>
            </a:r>
            <a:r>
              <a:rPr lang="en-US" altLang="bg-BG" sz="2400" dirty="0"/>
              <a:t>IBM </a:t>
            </a:r>
            <a:r>
              <a:rPr lang="bg-BG" altLang="bg-BG" sz="2400" dirty="0"/>
              <a:t>и</a:t>
            </a:r>
            <a:r>
              <a:rPr lang="en-US" altLang="bg-BG" sz="2400" dirty="0"/>
              <a:t> North American Rockwell </a:t>
            </a:r>
            <a:r>
              <a:rPr lang="bg-BG" altLang="bg-BG" sz="2400" dirty="0"/>
              <a:t>около</a:t>
            </a:r>
            <a:r>
              <a:rPr lang="en-US" altLang="bg-BG" sz="2400" dirty="0"/>
              <a:t> 1965</a:t>
            </a:r>
            <a:r>
              <a:rPr lang="bg-BG" altLang="bg-BG" sz="2400" dirty="0"/>
              <a:t> – резултат </a:t>
            </a:r>
            <a:r>
              <a:rPr lang="en-US" altLang="bg-BG" sz="2400" dirty="0"/>
              <a:t>IMS.</a:t>
            </a:r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en-US" altLang="bg-BG" sz="2400" dirty="0"/>
              <a:t>IMS </a:t>
            </a:r>
            <a:r>
              <a:rPr lang="bg-BG" altLang="bg-BG" sz="2400" dirty="0"/>
              <a:t>е използвана широко по </a:t>
            </a:r>
            <a:r>
              <a:rPr lang="bg-BG" altLang="bg-BG" sz="2400" dirty="0" smtClean="0"/>
              <a:t>света.</a:t>
            </a:r>
            <a:endParaRPr lang="en-US" altLang="bg-BG" sz="2400" dirty="0"/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Йерархичният модел е формализиран на базата на системата</a:t>
            </a:r>
            <a:r>
              <a:rPr lang="en-US" altLang="bg-BG" sz="2400" dirty="0"/>
              <a:t> IMS</a:t>
            </a:r>
            <a:r>
              <a:rPr lang="bg-BG" altLang="bg-BG" sz="2400" dirty="0"/>
              <a:t>.</a:t>
            </a:r>
            <a:endParaRPr lang="en-US" altLang="bg-BG" sz="2400" dirty="0"/>
          </a:p>
          <a:p>
            <a:pPr marL="990600" lvl="1" indent="-533400" defTabSz="457200">
              <a:lnSpc>
                <a:spcPct val="90000"/>
              </a:lnSpc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Други подобни системи</a:t>
            </a:r>
            <a:r>
              <a:rPr lang="en-US" altLang="bg-BG" sz="2400" dirty="0"/>
              <a:t>: System 2k (SAS </a:t>
            </a:r>
            <a:r>
              <a:rPr lang="en-US" altLang="bg-BG" sz="2400" dirty="0" err="1"/>
              <a:t>inc.</a:t>
            </a:r>
            <a:r>
              <a:rPr lang="en-US" altLang="bg-BG" sz="24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448F-96F6-42DB-90BF-D3B3DB9D63A5}" type="slidenum">
              <a:rPr lang="bg-BG" altLang="bg-BG"/>
              <a:pPr/>
              <a:t>36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605980"/>
            <a:ext cx="8294687" cy="52641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/>
          <a:lstStyle/>
          <a:p>
            <a:pPr marL="0" indent="0" algn="ctr" defTabSz="457200"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rgbClr val="C00000"/>
                </a:solidFill>
              </a:rPr>
              <a:t>Йерархичен модел</a:t>
            </a:r>
            <a:endParaRPr lang="en-US" altLang="bg-BG" sz="2800" b="1" dirty="0">
              <a:solidFill>
                <a:srgbClr val="C00000"/>
              </a:solidFill>
            </a:endParaRP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 startAt="4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/>
              <a:t>Преимущества:</a:t>
            </a:r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л</a:t>
            </a:r>
            <a:r>
              <a:rPr lang="bg-BG" altLang="bg-BG" sz="2400" dirty="0" smtClean="0"/>
              <a:t>есно </a:t>
            </a:r>
            <a:r>
              <a:rPr lang="bg-BG" altLang="bg-BG" sz="2400" dirty="0"/>
              <a:t>се представят йерархично организирани </a:t>
            </a:r>
            <a:r>
              <a:rPr lang="bg-BG" altLang="bg-BG" sz="2400" dirty="0" smtClean="0"/>
              <a:t>данни;</a:t>
            </a:r>
            <a:endParaRPr lang="bg-BG" altLang="bg-BG" sz="2400" dirty="0"/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н</a:t>
            </a:r>
            <a:r>
              <a:rPr lang="bg-BG" altLang="bg-BG" sz="2400" dirty="0" smtClean="0"/>
              <a:t>якои </a:t>
            </a:r>
            <a:r>
              <a:rPr lang="bg-BG" altLang="bg-BG" sz="2400" dirty="0"/>
              <a:t>задачи се реализират </a:t>
            </a:r>
            <a:r>
              <a:rPr lang="bg-BG" altLang="bg-BG" sz="2400" dirty="0" smtClean="0"/>
              <a:t>ефективно.</a:t>
            </a:r>
            <a:endParaRPr lang="bg-BG" altLang="bg-BG" sz="2400" dirty="0"/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 startAt="5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dirty="0"/>
              <a:t>Недостатъци:</a:t>
            </a:r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бработките </a:t>
            </a:r>
            <a:r>
              <a:rPr lang="bg-BG" altLang="bg-BG" sz="2400" dirty="0"/>
              <a:t>стават чрез навигация по </a:t>
            </a:r>
            <a:r>
              <a:rPr lang="bg-BG" altLang="bg-BG" sz="2400" dirty="0" smtClean="0"/>
              <a:t>базата</a:t>
            </a:r>
            <a:r>
              <a:rPr lang="bg-BG" altLang="bg-BG" sz="2400" dirty="0"/>
              <a:t>;</a:t>
            </a:r>
            <a:endParaRPr lang="en-US" altLang="bg-BG" sz="2400" dirty="0"/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т</a:t>
            </a:r>
            <a:r>
              <a:rPr lang="bg-BG" altLang="bg-BG" sz="2400" dirty="0" smtClean="0"/>
              <a:t>рудно </a:t>
            </a:r>
            <a:r>
              <a:rPr lang="bg-BG" altLang="bg-BG" sz="2400" dirty="0"/>
              <a:t>приложим модел за бази, където връзките между записите не са </a:t>
            </a:r>
            <a:r>
              <a:rPr lang="bg-BG" altLang="bg-BG" sz="2400" dirty="0" smtClean="0"/>
              <a:t>йерархични;</a:t>
            </a:r>
            <a:endParaRPr lang="en-US" altLang="bg-BG" sz="2400" dirty="0"/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е</a:t>
            </a:r>
            <a:r>
              <a:rPr lang="bg-BG" altLang="bg-BG" sz="2400" dirty="0" smtClean="0"/>
              <a:t>зикът </a:t>
            </a:r>
            <a:r>
              <a:rPr lang="bg-BG" altLang="bg-BG" sz="2400" dirty="0"/>
              <a:t>е процедурен – използват се конструкции от вида</a:t>
            </a:r>
            <a:r>
              <a:rPr lang="en-US" altLang="bg-BG" sz="2400" dirty="0"/>
              <a:t>: GET, GET UNIQUE, GET NEXT, GET NEXT WITHIN </a:t>
            </a:r>
            <a:r>
              <a:rPr lang="en-US" altLang="bg-BG" dirty="0"/>
              <a:t>PARENT,</a:t>
            </a:r>
            <a:r>
              <a:rPr lang="bg-BG" altLang="bg-BG" dirty="0"/>
              <a:t>...................</a:t>
            </a:r>
            <a:r>
              <a:rPr lang="en-US" altLang="bg-BG" dirty="0"/>
              <a:t>.</a:t>
            </a:r>
            <a:endParaRPr lang="bg-BG" altLang="bg-BG" sz="3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FCA-A491-4CAF-AFEC-1FEF8ED4A173}" type="slidenum">
              <a:rPr lang="bg-BG" altLang="bg-BG"/>
              <a:pPr/>
              <a:t>37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196752"/>
            <a:ext cx="8294687" cy="4471392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 lnSpcReduction="10000"/>
          </a:bodyPr>
          <a:lstStyle/>
          <a:p>
            <a:pPr marL="0" indent="0" algn="ctr" defTabSz="457200"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chemeClr val="accent1"/>
                </a:solidFill>
              </a:rPr>
              <a:t>Релационен модел</a:t>
            </a:r>
            <a:endParaRPr lang="en-US" altLang="bg-BG" sz="2800" b="1" dirty="0">
              <a:solidFill>
                <a:schemeClr val="accent1"/>
              </a:solidFill>
            </a:endParaRPr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Предложен през </a:t>
            </a:r>
            <a:r>
              <a:rPr lang="en-US" altLang="bg-BG" sz="2400" dirty="0"/>
              <a:t>1970 </a:t>
            </a:r>
            <a:r>
              <a:rPr lang="bg-BG" altLang="bg-BG" sz="2400" dirty="0"/>
              <a:t>от</a:t>
            </a:r>
            <a:r>
              <a:rPr lang="en-US" altLang="bg-BG" sz="2400" dirty="0"/>
              <a:t> E.F. </a:t>
            </a:r>
            <a:r>
              <a:rPr lang="en-US" altLang="bg-BG" sz="2400" dirty="0" err="1"/>
              <a:t>Codd</a:t>
            </a:r>
            <a:r>
              <a:rPr lang="en-US" altLang="bg-BG" sz="2400" dirty="0"/>
              <a:t> (IBM), </a:t>
            </a:r>
            <a:r>
              <a:rPr lang="bg-BG" altLang="bg-BG" sz="2400" dirty="0"/>
              <a:t>първите търговски системи се появяват в началото на 80-те години.</a:t>
            </a:r>
            <a:endParaRPr lang="en-US" altLang="bg-BG" sz="2400" dirty="0"/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Голяма част от СУБД са релационни: </a:t>
            </a:r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търговски продукти -</a:t>
            </a:r>
            <a:r>
              <a:rPr lang="en-US" altLang="bg-BG" sz="2400" dirty="0"/>
              <a:t> DB2, ORACLE, MS SQL Server, SYBASE, </a:t>
            </a:r>
            <a:r>
              <a:rPr lang="en-US" altLang="bg-BG" sz="2400" dirty="0" smtClean="0"/>
              <a:t>INFORMIX</a:t>
            </a:r>
            <a:r>
              <a:rPr lang="bg-BG" altLang="bg-BG" sz="2400" dirty="0" smtClean="0"/>
              <a:t>,.........................;</a:t>
            </a:r>
            <a:endParaRPr lang="bg-BG" altLang="bg-BG" sz="2400" dirty="0"/>
          </a:p>
          <a:p>
            <a:pPr marL="1074420" lvl="2" indent="-342900" defTabSz="457200">
              <a:spcBef>
                <a:spcPts val="550"/>
              </a:spcBef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реализации с отворен код  - </a:t>
            </a:r>
            <a:r>
              <a:rPr lang="en-US" altLang="bg-BG" sz="2400" dirty="0"/>
              <a:t>MySQL, </a:t>
            </a:r>
            <a:r>
              <a:rPr lang="en-US" altLang="bg-BG" sz="2400" dirty="0" smtClean="0"/>
              <a:t>PostgreSQL</a:t>
            </a:r>
            <a:r>
              <a:rPr lang="bg-BG" altLang="bg-BG" sz="2400" dirty="0" smtClean="0"/>
              <a:t>......</a:t>
            </a:r>
            <a:endParaRPr lang="en-US" altLang="bg-BG" sz="2400" dirty="0"/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 startAt="3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Стандарти за </a:t>
            </a:r>
            <a:r>
              <a:rPr lang="en-US" altLang="bg-BG" sz="2400" dirty="0"/>
              <a:t>SQL: </a:t>
            </a:r>
            <a:r>
              <a:rPr lang="en-US" sz="2400" dirty="0" smtClean="0"/>
              <a:t>SQL-86</a:t>
            </a:r>
            <a:r>
              <a:rPr lang="bg-BG" sz="2400" dirty="0" smtClean="0"/>
              <a:t>, </a:t>
            </a:r>
            <a:r>
              <a:rPr lang="en-US" altLang="bg-BG" sz="2400" dirty="0" smtClean="0"/>
              <a:t>SQL-89 </a:t>
            </a:r>
            <a:r>
              <a:rPr lang="en-US" altLang="bg-BG" sz="2400" dirty="0"/>
              <a:t>(SQL1), SQL-92 (SQL2), SQL-99, </a:t>
            </a:r>
            <a:r>
              <a:rPr lang="en-US" altLang="bg-BG" sz="2400" dirty="0" smtClean="0"/>
              <a:t>SQL</a:t>
            </a:r>
            <a:r>
              <a:rPr lang="bg-BG" altLang="bg-BG" sz="2400" dirty="0" smtClean="0"/>
              <a:t>:200</a:t>
            </a:r>
            <a:r>
              <a:rPr lang="en-US" altLang="bg-BG" sz="2400" dirty="0" smtClean="0"/>
              <a:t>3</a:t>
            </a:r>
            <a:r>
              <a:rPr lang="en-US" altLang="bg-BG" sz="2400" dirty="0"/>
              <a:t>, </a:t>
            </a:r>
            <a:r>
              <a:rPr lang="en-US" sz="2400" dirty="0" smtClean="0"/>
              <a:t>SQL:2006,</a:t>
            </a:r>
            <a:r>
              <a:rPr lang="bg-BG" sz="2400" dirty="0" smtClean="0"/>
              <a:t> </a:t>
            </a:r>
            <a:r>
              <a:rPr lang="en-US" altLang="bg-BG" sz="2400" dirty="0" smtClean="0"/>
              <a:t>SQL-2008</a:t>
            </a:r>
            <a:r>
              <a:rPr lang="en-US" sz="2400" dirty="0" smtClean="0"/>
              <a:t>,  SQL:2011</a:t>
            </a:r>
            <a:r>
              <a:rPr lang="bg-BG" sz="2400" dirty="0" smtClean="0"/>
              <a:t>.</a:t>
            </a:r>
            <a:endParaRPr lang="bg-BG" altLang="bg-BG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E8D0-6E9D-47EE-B087-F3400C13AFB4}" type="slidenum">
              <a:rPr lang="bg-BG" altLang="bg-BG"/>
              <a:pPr/>
              <a:t>38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669999"/>
            <a:ext cx="8294687" cy="432048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/>
          <a:lstStyle/>
          <a:p>
            <a:pPr marL="0" indent="0" algn="ctr" defTabSz="457200"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>
                <a:solidFill>
                  <a:srgbClr val="C00000"/>
                </a:solidFill>
              </a:rPr>
              <a:t>Обектно- ориентиран модел</a:t>
            </a:r>
            <a:endParaRPr lang="en-US" altLang="bg-BG" sz="2800" b="1" dirty="0">
              <a:solidFill>
                <a:srgbClr val="C00000"/>
              </a:solidFill>
            </a:endParaRPr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Позволява използването на базите с обектно- ориентирани езици за програмиране.</a:t>
            </a:r>
            <a:r>
              <a:rPr lang="en-US" altLang="bg-BG" sz="2400" dirty="0"/>
              <a:t> </a:t>
            </a:r>
            <a:endParaRPr lang="bg-BG" altLang="bg-BG" sz="2400" dirty="0"/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Позволява съхраняването на постоянни обекти, създадени чрез</a:t>
            </a:r>
            <a:r>
              <a:rPr lang="en-US" altLang="bg-BG" sz="2400" dirty="0"/>
              <a:t> C++ (</a:t>
            </a:r>
            <a:r>
              <a:rPr lang="bg-BG" altLang="bg-BG" sz="2400" dirty="0"/>
              <a:t>напр.</a:t>
            </a:r>
            <a:r>
              <a:rPr lang="en-US" altLang="bg-BG" sz="2400" dirty="0"/>
              <a:t> OBJECTSTORE </a:t>
            </a:r>
            <a:r>
              <a:rPr lang="bg-BG" altLang="bg-BG" sz="2400" dirty="0"/>
              <a:t>или</a:t>
            </a:r>
            <a:r>
              <a:rPr lang="en-US" altLang="bg-BG" sz="2400" dirty="0"/>
              <a:t> VERSANT)</a:t>
            </a:r>
            <a:r>
              <a:rPr lang="bg-BG" altLang="bg-BG" sz="2400" dirty="0"/>
              <a:t> и</a:t>
            </a:r>
            <a:r>
              <a:rPr lang="en-US" altLang="bg-BG" sz="2400" dirty="0"/>
              <a:t> Smalltalk (</a:t>
            </a:r>
            <a:r>
              <a:rPr lang="bg-BG" altLang="bg-BG" sz="2400" dirty="0"/>
              <a:t>напр.</a:t>
            </a:r>
            <a:r>
              <a:rPr lang="en-US" altLang="bg-BG" sz="2400" dirty="0"/>
              <a:t> GEMSTONE).</a:t>
            </a:r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Експериментални ОО СУБД: </a:t>
            </a:r>
            <a:r>
              <a:rPr lang="en-US" altLang="bg-BG" sz="2400" dirty="0"/>
              <a:t> O2, ORION, IRIS .</a:t>
            </a:r>
            <a:r>
              <a:rPr lang="bg-BG" altLang="bg-BG" sz="2400" dirty="0"/>
              <a:t>.........</a:t>
            </a:r>
            <a:endParaRPr lang="en-US" altLang="bg-BG" sz="2400" dirty="0"/>
          </a:p>
          <a:p>
            <a:pPr marL="990600" lvl="1" indent="-533400" defTabSz="457200">
              <a:spcBef>
                <a:spcPts val="5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Разработени са стандарти за обектна база:</a:t>
            </a:r>
            <a:r>
              <a:rPr lang="en-US" altLang="bg-BG" sz="2400" dirty="0"/>
              <a:t> ODMG-93, ODMG-version 2.0, ODMG-version 3.0.</a:t>
            </a:r>
            <a:endParaRPr lang="bg-BG" altLang="bg-BG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60A6B-8029-46F6-9B25-96135C5D4353}" type="slidenum">
              <a:rPr lang="bg-BG" altLang="bg-BG"/>
              <a:pPr/>
              <a:t>39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46295"/>
            <a:ext cx="7796212" cy="67468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72675"/>
            <a:ext cx="8294688" cy="4536851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/>
          </a:bodyPr>
          <a:lstStyle/>
          <a:p>
            <a:pPr marL="0" indent="0" algn="ctr" defTabSz="457200">
              <a:spcBef>
                <a:spcPts val="70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800" b="1" dirty="0" smtClean="0">
                <a:solidFill>
                  <a:srgbClr val="C00000"/>
                </a:solidFill>
              </a:rPr>
              <a:t>Обектно</a:t>
            </a:r>
            <a:r>
              <a:rPr lang="en-US" altLang="bg-BG" sz="2800" b="1" dirty="0" smtClean="0">
                <a:solidFill>
                  <a:srgbClr val="C00000"/>
                </a:solidFill>
              </a:rPr>
              <a:t> </a:t>
            </a:r>
            <a:r>
              <a:rPr lang="bg-BG" altLang="bg-BG" sz="2800" b="1" dirty="0" smtClean="0">
                <a:solidFill>
                  <a:srgbClr val="C00000"/>
                </a:solidFill>
              </a:rPr>
              <a:t>- </a:t>
            </a:r>
            <a:r>
              <a:rPr lang="bg-BG" altLang="bg-BG" sz="2800" b="1" dirty="0">
                <a:solidFill>
                  <a:srgbClr val="C00000"/>
                </a:solidFill>
              </a:rPr>
              <a:t>релационен  модел</a:t>
            </a:r>
            <a:endParaRPr lang="en-US" altLang="bg-BG" sz="2800" b="1" dirty="0">
              <a:solidFill>
                <a:srgbClr val="C00000"/>
              </a:solidFill>
            </a:endParaRP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Разширява се релационния модел с понятията от обектно ориентираните бази от </a:t>
            </a:r>
            <a:r>
              <a:rPr lang="bg-BG" altLang="bg-BG" sz="2400" dirty="0" smtClean="0"/>
              <a:t>данни.</a:t>
            </a:r>
            <a:endParaRPr lang="bg-BG" altLang="bg-BG" sz="2400" dirty="0"/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Примери на СУБД: </a:t>
            </a:r>
            <a:r>
              <a:rPr lang="en-US" altLang="bg-BG" sz="2400" dirty="0" smtClean="0"/>
              <a:t>Oracle-</a:t>
            </a:r>
            <a:r>
              <a:rPr lang="bg-BG" altLang="bg-BG" sz="2400" dirty="0" smtClean="0"/>
              <a:t>11</a:t>
            </a:r>
            <a:r>
              <a:rPr lang="en-US" altLang="bg-BG" sz="2400" dirty="0" smtClean="0"/>
              <a:t>G, </a:t>
            </a:r>
            <a:r>
              <a:rPr lang="en-US" altLang="bg-BG" sz="2400" dirty="0"/>
              <a:t>DB2, SQL Server </a:t>
            </a:r>
            <a:r>
              <a:rPr lang="bg-BG" altLang="bg-BG" sz="2400" dirty="0"/>
              <a:t>........</a:t>
            </a:r>
            <a:r>
              <a:rPr lang="en-US" altLang="bg-BG" sz="2400" dirty="0"/>
              <a:t>.</a:t>
            </a: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Стандарти: </a:t>
            </a:r>
            <a:r>
              <a:rPr lang="en-US" altLang="bg-BG" sz="2400" dirty="0"/>
              <a:t>SQL-99</a:t>
            </a:r>
            <a:r>
              <a:rPr lang="bg-BG" altLang="bg-BG" sz="2400" dirty="0"/>
              <a:t>,</a:t>
            </a:r>
            <a:r>
              <a:rPr lang="en-US" altLang="bg-BG" sz="2400" dirty="0"/>
              <a:t> SQL-2008</a:t>
            </a:r>
            <a:r>
              <a:rPr lang="en-US" altLang="bg-BG" sz="2400" dirty="0" smtClean="0"/>
              <a:t>.</a:t>
            </a:r>
            <a:endParaRPr lang="bg-BG" altLang="bg-BG" sz="2400" dirty="0" smtClean="0"/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/>
              <a:t>Т</a:t>
            </a:r>
            <a:r>
              <a:rPr lang="bg-BG" altLang="bg-BG" sz="2400" dirty="0" smtClean="0"/>
              <a:t>енденция: разширяване на релационните СУБД с възможности да обработват </a:t>
            </a:r>
            <a:r>
              <a:rPr lang="en-US" altLang="bg-BG" sz="2400" dirty="0" smtClean="0"/>
              <a:t>XML</a:t>
            </a:r>
            <a:r>
              <a:rPr lang="bg-BG" altLang="bg-BG" sz="2400" dirty="0" smtClean="0"/>
              <a:t>.</a:t>
            </a:r>
          </a:p>
          <a:p>
            <a:pPr marL="990600" lvl="1" indent="-533400" defTabSz="457200">
              <a:spcBef>
                <a:spcPts val="650"/>
              </a:spcBef>
              <a:buFont typeface="Arial" charset="0"/>
              <a:buAutoNum type="arabicPeriod"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r>
              <a:rPr lang="bg-BG" altLang="bg-BG" sz="2400" dirty="0" smtClean="0"/>
              <a:t>Терминът „обектно-релационен модел“ все по-рядко се използва на пазара.</a:t>
            </a:r>
          </a:p>
          <a:p>
            <a:pPr marL="457200" lvl="1" indent="0" defTabSz="457200">
              <a:spcBef>
                <a:spcPts val="650"/>
              </a:spcBef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endParaRPr lang="en-US" altLang="bg-BG" sz="2400" dirty="0"/>
          </a:p>
          <a:p>
            <a:pPr marL="990600" lvl="1" indent="-533400" defTabSz="457200">
              <a:spcBef>
                <a:spcPts val="650"/>
              </a:spcBef>
              <a:buFont typeface="Arial" charset="0"/>
              <a:buNone/>
              <a:tabLst>
                <a:tab pos="339725" algn="l"/>
                <a:tab pos="452438" algn="l"/>
                <a:tab pos="909638" algn="l"/>
                <a:tab pos="1366838" algn="l"/>
                <a:tab pos="1824038" algn="l"/>
                <a:tab pos="2281238" algn="l"/>
                <a:tab pos="2738438" algn="l"/>
                <a:tab pos="3195638" algn="l"/>
                <a:tab pos="3652838" algn="l"/>
                <a:tab pos="4110038" algn="l"/>
                <a:tab pos="4567238" algn="l"/>
                <a:tab pos="5024438" algn="l"/>
                <a:tab pos="5481638" algn="l"/>
                <a:tab pos="5938838" algn="l"/>
                <a:tab pos="6396038" algn="l"/>
                <a:tab pos="6853238" algn="l"/>
                <a:tab pos="7310438" algn="l"/>
                <a:tab pos="7767638" algn="l"/>
                <a:tab pos="8224838" algn="l"/>
                <a:tab pos="8682038" algn="l"/>
                <a:tab pos="9139238" algn="l"/>
              </a:tabLst>
            </a:pPr>
            <a:endParaRPr lang="en-US" altLang="bg-BG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57EE-D617-4D16-9D14-F30397A01D38}" type="slidenum">
              <a:rPr lang="bg-BG" altLang="bg-BG"/>
              <a:pPr/>
              <a:t>40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3396" y="251793"/>
            <a:ext cx="7796212" cy="7461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rm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История на моделите на данните</a:t>
            </a:r>
            <a:r>
              <a:rPr lang="en-US" altLang="bg-BG" sz="3200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976128"/>
            <a:ext cx="6768752" cy="507656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530B-C1EC-4299-9444-FD505F247D39}" type="slidenum">
              <a:rPr lang="bg-BG" altLang="bg-BG"/>
              <a:pPr/>
              <a:t>41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12960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chemeClr val="tx1"/>
            </a:solidFill>
            <a:latin typeface="Trebuchet MS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5890</TotalTime>
  <Words>2345</Words>
  <Application>Microsoft Office PowerPoint</Application>
  <PresentationFormat>On-screen Show (4:3)</PresentationFormat>
  <Paragraphs>373</Paragraphs>
  <Slides>41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Narrow</vt:lpstr>
      <vt:lpstr>Calibri</vt:lpstr>
      <vt:lpstr>Impact</vt:lpstr>
      <vt:lpstr>Times</vt:lpstr>
      <vt:lpstr>Times New Roman</vt:lpstr>
      <vt:lpstr>Wingdings</vt:lpstr>
      <vt:lpstr>NewsPrint</vt:lpstr>
      <vt:lpstr>Theme1</vt:lpstr>
      <vt:lpstr>CSCB405 Бази от данни и СУБД   Модул 2: Моделиране на данните. Архитектура и компоненти на СУБД  </vt:lpstr>
      <vt:lpstr>Съдържание </vt:lpstr>
      <vt:lpstr>Моделиране на данните</vt:lpstr>
      <vt:lpstr>Моделиране на данните </vt:lpstr>
      <vt:lpstr>Моделиране на данните</vt:lpstr>
      <vt:lpstr>Моделиране на данните</vt:lpstr>
      <vt:lpstr>Моделиране на данните </vt:lpstr>
      <vt:lpstr>Класификация на моделите </vt:lpstr>
      <vt:lpstr>Релационен модел</vt:lpstr>
      <vt:lpstr>Мрежов модел</vt:lpstr>
      <vt:lpstr>Йерархичен модел</vt:lpstr>
      <vt:lpstr>Архитектура на СУБД</vt:lpstr>
      <vt:lpstr>Архитектура на СУБД</vt:lpstr>
      <vt:lpstr>Архитектура на СУБД </vt:lpstr>
      <vt:lpstr>Архитектура на СУБД </vt:lpstr>
      <vt:lpstr>Архитектура на СУБД </vt:lpstr>
      <vt:lpstr>Архитектура на СУБД</vt:lpstr>
      <vt:lpstr>Архитектура на СУБД – независимост на данните</vt:lpstr>
      <vt:lpstr>Архитектура на СУБД</vt:lpstr>
      <vt:lpstr>Архитектура на СУБД</vt:lpstr>
      <vt:lpstr>Езици и интерфейси за работа с базата</vt:lpstr>
      <vt:lpstr>Езици и интерфейси за работа с базата </vt:lpstr>
      <vt:lpstr>Езици и интерфейси за работа с базата</vt:lpstr>
      <vt:lpstr>Помощни средства</vt:lpstr>
      <vt:lpstr>Помощни средства</vt:lpstr>
      <vt:lpstr>Функции на СУБД</vt:lpstr>
      <vt:lpstr>Каталог</vt:lpstr>
      <vt:lpstr>Функционални компоненти на СУБД -1</vt:lpstr>
      <vt:lpstr>Функционални компоненти на СУБД -2</vt:lpstr>
      <vt:lpstr>Функционални компоненти  на модула за управление на базата</vt:lpstr>
      <vt:lpstr>Класификация на СУБД</vt:lpstr>
      <vt:lpstr>Цени на СУБД </vt:lpstr>
      <vt:lpstr>История на моделите на данните </vt:lpstr>
      <vt:lpstr>История на моделите на данните</vt:lpstr>
      <vt:lpstr>История на моделите на данните</vt:lpstr>
      <vt:lpstr>История на моделите на данните</vt:lpstr>
      <vt:lpstr>История на моделите на данните</vt:lpstr>
      <vt:lpstr>История на моделите на данните</vt:lpstr>
      <vt:lpstr>История на моделите на данните</vt:lpstr>
      <vt:lpstr>История на моделите на данните</vt:lpstr>
      <vt:lpstr>История на моделите на данните 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CSCB405 Module 2</dc:title>
  <dc:subject>Data modeling</dc:subject>
  <dc:creator>July Peneva</dc:creator>
  <cp:lastModifiedBy>Windows User</cp:lastModifiedBy>
  <cp:revision>119</cp:revision>
  <dcterms:created xsi:type="dcterms:W3CDTF">2006-09-20T15:43:40Z</dcterms:created>
  <dcterms:modified xsi:type="dcterms:W3CDTF">2018-10-15T06:18:09Z</dcterms:modified>
</cp:coreProperties>
</file>